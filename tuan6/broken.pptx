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embeddedFontLst>
    <p:embeddedFont>
      <p:font typeface="Alegreya" panose="020B0604020202020204" charset="0"/>
      <p:regular r:id="rId27"/>
    </p:embeddedFont>
    <p:embeddedFont>
      <p:font typeface="Alegreya Bold" panose="020B0604020202020204" charset="0"/>
      <p:regular r:id="rId28"/>
    </p:embeddedFont>
    <p:embeddedFont>
      <p:font typeface="Alegreya SemiBold" panose="020B0604020202020204" charset="0"/>
      <p:regular r:id="rId29"/>
    </p:embeddedFont>
    <p:embeddedFont>
      <p:font typeface="Consolas" panose="020B0609020204030204" pitchFamily="49" charset="0"/>
      <p:regular r:id="rId30"/>
      <p:bold r:id="rId31"/>
      <p:italic r:id="rId32"/>
      <p:boldItalic r:id="rId33"/>
    </p:embeddedFont>
    <p:embeddedFont>
      <p:font typeface="Noto Sans" panose="020B0502040504020204" pitchFamily="34" charset="0"/>
      <p:regular r:id="rId34"/>
    </p:embeddedFont>
    <p:embeddedFont>
      <p:font typeface="Noto Sans Medium" panose="020B0604020202020204"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368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gồm 6 chặng rõ ràng: khởi đầu với lý do NumPy ra đời, đi sâu vào cấu trúc ndarray và kết thúc với các ứng dụng thực tế.</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NumPy không chỉ là một công cụ tiện ích, mà là lớp móng vững chắc của toàn bộ ngành khoa học dữ liệu Python hiện đại.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làn: vòng lặp Python nhiều bước, vector hóa một bước.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Trực quan hoá lưới 3x4: các ô cùng màu tượng trưng cho dữ liệu đồng nhất một kiểu duy nhất, được xếp liền kề nhau trong bộ nhớ vật lý.</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NumPy tối ưu tuyệt đối cho tính toán số học ma trận quy mô lớn, nhưng khi cần bảng dữ liệu đa kiểu có nhãn, Pandas sẽ là công cụ phù hợp hơn.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xử lý ảnh (mỗi bức ảnh là một mảng 3 chiều) đến học máy (trọng số và ma trận đặc trưng), NumPy là cỗ máy tính toán đứng sau tất cả.</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6 tiêu chí cốt lõi: sự khác biệt không chỉ ở cú pháp mà sâu xa nằm ở cách bố trí bộ nhớ và cơ chế tối ưu hoá cấp phần cứng.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dung từng chiều không gian: 0D là điểm, 1D là đường thẳng, 2D là mặt phẳng ma trận, và 3D/nD là khối lập phương xếp chồng.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thuộc tính ndim, shape, size và dtype là kiến thức căn bản nhất mà bất kỳ kỹ sư dữ liệu nào cũng cần kiểm tra đầu tiên khi làm việc với mảng.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shape luôn là tuple, và dtype mặc định của zeros/ones là float64.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Trục số: arange dừng trước stop, linspace đặt đều num điểm kể cả hai đầu.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số dương đếm từ 0 ở đầu, chỉ số âm đếm từ -1 ở cuối; stop luôn bị loại khỏi kết quả.</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j] lấy một ô; a[i] lấy cả hàng; a[:, j] lấy cả cột; a[i1:i2, j1:j2] lấy khối con.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Mask có cùng shape với mảng gốc; chỉ những vị trí True được lấy ra, kết quả luôn là mảng 1D.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Dãy 6 phần tử có thể gấp thành 2×3, rồi hoán vị thành 3×2 mà không đổi dữ liệu.</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vị trí tính riêng: vị trí thứ i của kết quả chỉ phụ thuộc vào x[i] và y[i].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 một hàng của A và một cột của B để thấy từng ô kết quả được tính như thế nào khi dùng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Nhớ: axis là trục bị gộp, không phải trục còn lại.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(2, 3) và (3,) tương thích vì chiều cuối bằng nhau; vector (3,) được trải xuống hai hàng.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(2, 3) cộng (3,) hợp lệ; cộng (2, 1) cũng hợp lệ. Cộng (2, 3) với (2,) lỗi vì 3 và 2 không bằng nhau.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np.mean, np.max, np.min và np.std để tóm tắt một mảng điểm. Biểu đồ cột 5 điểm với đường trung bình 7.9 cần thêm trên slide.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hóa z-score đưa dữ liệu về mean 0 và std 1. Phép nhân và lọc boolean chạy trên cả mảng mà không cần vòng lặp.</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NumPy dựa trên ndarray, vector hóa và broadcasting. Nhắc ba điểm cần nhớ, nêu khi nào nên dùng NumPy và gợi ý ba hướng học tiếp.</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3B94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B7D8E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7C8A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bg>
      <p:bgPr>
        <a:solidFill>
          <a:srgbClr val="B4DFC2"/>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bg>
      <p:bgPr>
        <a:solidFill>
          <a:srgbClr val="F5DA7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677799"/>
            <a:ext cx="5821614" cy="1173361"/>
          </a:xfrm>
          <a:prstGeom prst="rect">
            <a:avLst/>
          </a:prstGeom>
          <a:noFill/>
          <a:ln/>
        </p:spPr>
        <p:txBody>
          <a:bodyPr wrap="square" lIns="0" tIns="0" rIns="0" bIns="0" rtlCol="0" anchor="t">
            <a:normAutofit/>
          </a:bodyPr>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Tìm hiểu thư viện NumPy trong Python</a:t>
            </a:r>
            <a:endParaRPr lang="en-US" sz="4400" dirty="0"/>
          </a:p>
        </p:txBody>
      </p:sp>
      <p:sp>
        <p:nvSpPr>
          <p:cNvPr id="3" name="Shape 1"/>
          <p:cNvSpPr/>
          <p:nvPr/>
        </p:nvSpPr>
        <p:spPr>
          <a:xfrm>
            <a:off x="609585" y="1936849"/>
            <a:ext cx="5821515" cy="12601"/>
          </a:xfrm>
          <a:prstGeom prst="roundRect">
            <a:avLst>
              <a:gd name="adj" fmla="val 49998"/>
            </a:avLst>
          </a:prstGeom>
          <a:solidFill>
            <a:srgbClr val="1D1E1B"/>
          </a:solidFill>
          <a:ln/>
        </p:spPr>
      </p:sp>
      <p:sp>
        <p:nvSpPr>
          <p:cNvPr id="4" name="Text 2"/>
          <p:cNvSpPr/>
          <p:nvPr/>
        </p:nvSpPr>
        <p:spPr>
          <a:xfrm>
            <a:off x="609585" y="2076966"/>
            <a:ext cx="5821614"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Từ ndarray đến broadcasting</a:t>
            </a:r>
            <a:endParaRPr lang="en-US" sz="2200" dirty="0"/>
          </a:p>
        </p:txBody>
      </p:sp>
      <p:pic>
        <p:nvPicPr>
          <p:cNvPr id="5" name="Image 0" descr="preencoded.png"/>
          <p:cNvPicPr>
            <a:picLocks noChangeAspect="1"/>
          </p:cNvPicPr>
          <p:nvPr/>
        </p:nvPicPr>
        <p:blipFill>
          <a:blip r:embed="rId3"/>
          <a:stretch>
            <a:fillRect/>
          </a:stretch>
        </p:blipFill>
        <p:spPr>
          <a:xfrm>
            <a:off x="8107457" y="609600"/>
            <a:ext cx="3474653" cy="167481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Nội dung bài thuyết trình</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lộ trình 6 phần từ khái niệm nền tảng đến thực hành mảng</a:t>
            </a:r>
            <a:endParaRPr lang="en-US" sz="2200" dirty="0"/>
          </a:p>
        </p:txBody>
      </p:sp>
      <p:sp>
        <p:nvSpPr>
          <p:cNvPr id="5" name="Text 3"/>
          <p:cNvSpPr/>
          <p:nvPr/>
        </p:nvSpPr>
        <p:spPr>
          <a:xfrm>
            <a:off x="609585" y="2048073"/>
            <a:ext cx="873004"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01</a:t>
            </a:r>
            <a:endParaRPr lang="en-US" sz="2400" dirty="0"/>
          </a:p>
        </p:txBody>
      </p:sp>
      <p:sp>
        <p:nvSpPr>
          <p:cNvPr id="6" name="Text 4"/>
          <p:cNvSpPr/>
          <p:nvPr/>
        </p:nvSpPr>
        <p:spPr>
          <a:xfrm>
            <a:off x="1035520" y="2097090"/>
            <a:ext cx="4831733"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Giới thiệu NumPy</a:t>
            </a:r>
            <a:endParaRPr lang="en-US" sz="1700" dirty="0"/>
          </a:p>
        </p:txBody>
      </p:sp>
      <p:sp>
        <p:nvSpPr>
          <p:cNvPr id="7" name="Text 5"/>
          <p:cNvSpPr/>
          <p:nvPr/>
        </p:nvSpPr>
        <p:spPr>
          <a:xfrm>
            <a:off x="1035520" y="2492593"/>
            <a:ext cx="5060327"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Định nghĩa, vai trò và vị trí trung tâm trong hệ sinh thái.</a:t>
            </a:r>
            <a:endParaRPr lang="en-US" sz="1600" dirty="0"/>
          </a:p>
        </p:txBody>
      </p:sp>
      <p:sp>
        <p:nvSpPr>
          <p:cNvPr id="8" name="Text 6"/>
          <p:cNvSpPr/>
          <p:nvPr/>
        </p:nvSpPr>
        <p:spPr>
          <a:xfrm>
            <a:off x="6324442" y="2048073"/>
            <a:ext cx="911996"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02</a:t>
            </a:r>
            <a:endParaRPr lang="en-US" sz="2400" dirty="0"/>
          </a:p>
        </p:txBody>
      </p:sp>
      <p:sp>
        <p:nvSpPr>
          <p:cNvPr id="9" name="Text 7"/>
          <p:cNvSpPr/>
          <p:nvPr/>
        </p:nvSpPr>
        <p:spPr>
          <a:xfrm>
            <a:off x="6789369" y="2097090"/>
            <a:ext cx="4792741"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Cấu trúc mảng</a:t>
            </a:r>
            <a:endParaRPr lang="en-US" sz="1700" dirty="0"/>
          </a:p>
        </p:txBody>
      </p:sp>
      <p:sp>
        <p:nvSpPr>
          <p:cNvPr id="10" name="Text 8"/>
          <p:cNvSpPr/>
          <p:nvPr/>
        </p:nvSpPr>
        <p:spPr>
          <a:xfrm>
            <a:off x="6789369" y="2492593"/>
            <a:ext cx="4792741"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Tìm hiểu đối tượng lõi ndarray từ 0D, 1D, 2D đến nD.</a:t>
            </a:r>
            <a:endParaRPr lang="en-US" sz="1600" dirty="0"/>
          </a:p>
        </p:txBody>
      </p:sp>
      <p:sp>
        <p:nvSpPr>
          <p:cNvPr id="11" name="Text 9"/>
          <p:cNvSpPr/>
          <p:nvPr/>
        </p:nvSpPr>
        <p:spPr>
          <a:xfrm>
            <a:off x="609585" y="3748385"/>
            <a:ext cx="895526"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03</a:t>
            </a:r>
            <a:endParaRPr lang="en-US" sz="2400" dirty="0"/>
          </a:p>
        </p:txBody>
      </p:sp>
      <p:sp>
        <p:nvSpPr>
          <p:cNvPr id="12" name="Text 10"/>
          <p:cNvSpPr/>
          <p:nvPr/>
        </p:nvSpPr>
        <p:spPr>
          <a:xfrm>
            <a:off x="1058042" y="3797402"/>
            <a:ext cx="4809211"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Tạo mảng</a:t>
            </a:r>
            <a:endParaRPr lang="en-US" sz="1700" dirty="0"/>
          </a:p>
        </p:txBody>
      </p:sp>
      <p:sp>
        <p:nvSpPr>
          <p:cNvPr id="13" name="Text 11"/>
          <p:cNvSpPr/>
          <p:nvPr/>
        </p:nvSpPr>
        <p:spPr>
          <a:xfrm>
            <a:off x="1058042" y="4192905"/>
            <a:ext cx="5037805"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Khởi tạo mảng đồng nhất và quản lý kiểu dữ liệu dtype.</a:t>
            </a:r>
            <a:endParaRPr lang="en-US" sz="1600" dirty="0"/>
          </a:p>
        </p:txBody>
      </p:sp>
      <p:sp>
        <p:nvSpPr>
          <p:cNvPr id="14" name="Text 12"/>
          <p:cNvSpPr/>
          <p:nvPr/>
        </p:nvSpPr>
        <p:spPr>
          <a:xfrm>
            <a:off x="6324442" y="3748385"/>
            <a:ext cx="907134"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04</a:t>
            </a:r>
            <a:endParaRPr lang="en-US" sz="2400" dirty="0"/>
          </a:p>
        </p:txBody>
      </p:sp>
      <p:sp>
        <p:nvSpPr>
          <p:cNvPr id="15" name="Text 13"/>
          <p:cNvSpPr/>
          <p:nvPr/>
        </p:nvSpPr>
        <p:spPr>
          <a:xfrm>
            <a:off x="6784508" y="3797402"/>
            <a:ext cx="4797603"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Truy cập dữ liệu</a:t>
            </a:r>
            <a:endParaRPr lang="en-US" sz="1700" dirty="0"/>
          </a:p>
        </p:txBody>
      </p:sp>
      <p:sp>
        <p:nvSpPr>
          <p:cNvPr id="16" name="Text 14"/>
          <p:cNvSpPr/>
          <p:nvPr/>
        </p:nvSpPr>
        <p:spPr>
          <a:xfrm>
            <a:off x="6784508" y="4192905"/>
            <a:ext cx="4797603"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Kỹ thuật indexing, slicing và các thuộc tính cấu trúc then chốt.</a:t>
            </a:r>
            <a:endParaRPr lang="en-US" sz="1600" dirty="0"/>
          </a:p>
        </p:txBody>
      </p:sp>
      <p:sp>
        <p:nvSpPr>
          <p:cNvPr id="17" name="Text 15"/>
          <p:cNvSpPr/>
          <p:nvPr/>
        </p:nvSpPr>
        <p:spPr>
          <a:xfrm>
            <a:off x="609585" y="5220097"/>
            <a:ext cx="895824"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05</a:t>
            </a:r>
            <a:endParaRPr lang="en-US" sz="2400" dirty="0"/>
          </a:p>
        </p:txBody>
      </p:sp>
      <p:sp>
        <p:nvSpPr>
          <p:cNvPr id="18" name="Text 16"/>
          <p:cNvSpPr/>
          <p:nvPr/>
        </p:nvSpPr>
        <p:spPr>
          <a:xfrm>
            <a:off x="1058340" y="5269114"/>
            <a:ext cx="4808913"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Phép toán và broadcasting</a:t>
            </a:r>
            <a:endParaRPr lang="en-US" sz="1700" dirty="0"/>
          </a:p>
        </p:txBody>
      </p:sp>
      <p:sp>
        <p:nvSpPr>
          <p:cNvPr id="19" name="Text 17"/>
          <p:cNvSpPr/>
          <p:nvPr/>
        </p:nvSpPr>
        <p:spPr>
          <a:xfrm>
            <a:off x="1058340" y="5664617"/>
            <a:ext cx="5037508" cy="284460"/>
          </a:xfrm>
          <a:prstGeom prst="rect">
            <a:avLst/>
          </a:prstGeom>
          <a:noFill/>
          <a:ln/>
        </p:spPr>
        <p:txBody>
          <a:bodyPr wrap="none" lIns="0" tIns="0" rIns="0" bIns="0" rtlCol="0" anchor="t"/>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Xử lý vector hoá tốc độ cao thay thế vòng lặp Python.</a:t>
            </a:r>
            <a:endParaRPr lang="en-US" sz="1600" dirty="0"/>
          </a:p>
        </p:txBody>
      </p:sp>
      <p:sp>
        <p:nvSpPr>
          <p:cNvPr id="20" name="Text 18"/>
          <p:cNvSpPr/>
          <p:nvPr/>
        </p:nvSpPr>
        <p:spPr>
          <a:xfrm>
            <a:off x="6324442" y="5220097"/>
            <a:ext cx="907432" cy="304800"/>
          </a:xfrm>
          <a:prstGeom prst="rect">
            <a:avLst/>
          </a:prstGeom>
          <a:noFill/>
          <a:ln/>
        </p:spPr>
        <p:txBody>
          <a:bodyPr wrap="none" lIns="0" tIns="0" rIns="0" bIns="0" rtlCol="0" anchor="t"/>
          <a:lstStyle/>
          <a:p>
            <a:pPr marL="0" indent="0" algn="l">
              <a:lnSpc>
                <a:spcPct val="83000"/>
              </a:lnSpc>
              <a:buNone/>
            </a:pPr>
            <a:r>
              <a:rPr lang="en-US" sz="2400" dirty="0">
                <a:solidFill>
                  <a:srgbClr val="2B2A26"/>
                </a:solidFill>
                <a:latin typeface="Alegreya SemiBold" pitchFamily="34" charset="0"/>
                <a:ea typeface="Alegreya SemiBold" pitchFamily="34" charset="-122"/>
                <a:cs typeface="Alegreya SemiBold" pitchFamily="34" charset="0"/>
              </a:rPr>
              <a:t>06</a:t>
            </a:r>
            <a:endParaRPr lang="en-US" sz="2400" dirty="0"/>
          </a:p>
        </p:txBody>
      </p:sp>
      <p:sp>
        <p:nvSpPr>
          <p:cNvPr id="21" name="Text 19"/>
          <p:cNvSpPr/>
          <p:nvPr/>
        </p:nvSpPr>
        <p:spPr>
          <a:xfrm>
            <a:off x="6784805" y="5269114"/>
            <a:ext cx="479730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Ví dụ và kết luận</a:t>
            </a:r>
            <a:endParaRPr lang="en-US" sz="1700" dirty="0"/>
          </a:p>
        </p:txBody>
      </p:sp>
      <p:sp>
        <p:nvSpPr>
          <p:cNvPr id="22" name="Text 20"/>
          <p:cNvSpPr/>
          <p:nvPr/>
        </p:nvSpPr>
        <p:spPr>
          <a:xfrm>
            <a:off x="6784805" y="5664617"/>
            <a:ext cx="4797305" cy="568920"/>
          </a:xfrm>
          <a:prstGeom prst="rect">
            <a:avLst/>
          </a:prstGeom>
          <a:noFill/>
          <a:ln/>
        </p:spPr>
        <p:txBody>
          <a:bodyPr wrap="square" lIns="0" tIns="0" rIns="0" bIns="0" rtlCol="0" anchor="t">
            <a:normAutofit/>
          </a:bodyPr>
          <a:lstStyle/>
          <a:p>
            <a:pPr marL="0" indent="0" algn="l">
              <a:lnSpc>
                <a:spcPct val="117000"/>
              </a:lnSpc>
              <a:buNone/>
            </a:pPr>
            <a:r>
              <a:rPr lang="en-US" sz="1600" dirty="0">
                <a:solidFill>
                  <a:srgbClr val="2B2A26"/>
                </a:solidFill>
                <a:latin typeface="Alegreya" pitchFamily="34" charset="0"/>
                <a:ea typeface="Alegreya" pitchFamily="34" charset="-122"/>
                <a:cs typeface="Alegreya" pitchFamily="34" charset="0"/>
              </a:rPr>
              <a:t>Ứng dụng thực tế trong thị giác máy tính, AI và khoa học dữ liệu.</a:t>
            </a:r>
            <a:endParaRPr lang="en-US" sz="1600" dirty="0"/>
          </a:p>
        </p:txBody>
      </p:sp>
      <p:sp>
        <p:nvSpPr>
          <p:cNvPr id="23" name="Shape 21"/>
          <p:cNvSpPr/>
          <p:nvPr/>
        </p:nvSpPr>
        <p:spPr>
          <a:xfrm>
            <a:off x="6089498" y="2087166"/>
            <a:ext cx="12700" cy="1471712"/>
          </a:xfrm>
          <a:prstGeom prst="rect">
            <a:avLst/>
          </a:prstGeom>
          <a:solidFill>
            <a:srgbClr val="6E6A60"/>
          </a:solidFill>
          <a:ln/>
        </p:spPr>
      </p:sp>
      <p:sp>
        <p:nvSpPr>
          <p:cNvPr id="24" name="Shape 22"/>
          <p:cNvSpPr/>
          <p:nvPr/>
        </p:nvSpPr>
        <p:spPr>
          <a:xfrm>
            <a:off x="609585" y="3552527"/>
            <a:ext cx="5486263" cy="12700"/>
          </a:xfrm>
          <a:prstGeom prst="rect">
            <a:avLst/>
          </a:prstGeom>
          <a:solidFill>
            <a:srgbClr val="6E6A60"/>
          </a:solidFill>
          <a:ln/>
        </p:spPr>
      </p:sp>
      <p:sp>
        <p:nvSpPr>
          <p:cNvPr id="25" name="Shape 23"/>
          <p:cNvSpPr/>
          <p:nvPr/>
        </p:nvSpPr>
        <p:spPr>
          <a:xfrm>
            <a:off x="6089498" y="3558877"/>
            <a:ext cx="12700" cy="1471712"/>
          </a:xfrm>
          <a:prstGeom prst="rect">
            <a:avLst/>
          </a:prstGeom>
          <a:solidFill>
            <a:srgbClr val="6E6A60"/>
          </a:solidFill>
          <a:ln/>
        </p:spPr>
      </p:sp>
      <p:sp>
        <p:nvSpPr>
          <p:cNvPr id="26" name="Shape 24"/>
          <p:cNvSpPr/>
          <p:nvPr/>
        </p:nvSpPr>
        <p:spPr>
          <a:xfrm>
            <a:off x="6095848" y="3552527"/>
            <a:ext cx="5486263" cy="12700"/>
          </a:xfrm>
          <a:prstGeom prst="rect">
            <a:avLst/>
          </a:prstGeom>
          <a:solidFill>
            <a:srgbClr val="6E6A60"/>
          </a:solidFill>
          <a:ln/>
        </p:spPr>
      </p:sp>
      <p:sp>
        <p:nvSpPr>
          <p:cNvPr id="27" name="Shape 25"/>
          <p:cNvSpPr/>
          <p:nvPr/>
        </p:nvSpPr>
        <p:spPr>
          <a:xfrm>
            <a:off x="609585" y="5024239"/>
            <a:ext cx="5486263" cy="12700"/>
          </a:xfrm>
          <a:prstGeom prst="rect">
            <a:avLst/>
          </a:prstGeom>
          <a:solidFill>
            <a:srgbClr val="6E6A60"/>
          </a:solidFill>
          <a:ln/>
        </p:spPr>
      </p:sp>
      <p:sp>
        <p:nvSpPr>
          <p:cNvPr id="28" name="Shape 26"/>
          <p:cNvSpPr/>
          <p:nvPr/>
        </p:nvSpPr>
        <p:spPr>
          <a:xfrm>
            <a:off x="6089498" y="5030589"/>
            <a:ext cx="12700" cy="1471712"/>
          </a:xfrm>
          <a:prstGeom prst="rect">
            <a:avLst/>
          </a:prstGeom>
          <a:solidFill>
            <a:srgbClr val="6E6A60"/>
          </a:solidFill>
          <a:ln/>
        </p:spPr>
      </p:sp>
      <p:sp>
        <p:nvSpPr>
          <p:cNvPr id="29" name="Shape 27"/>
          <p:cNvSpPr/>
          <p:nvPr/>
        </p:nvSpPr>
        <p:spPr>
          <a:xfrm>
            <a:off x="6095848" y="5024239"/>
            <a:ext cx="5486263" cy="12700"/>
          </a:xfrm>
          <a:prstGeom prst="rect">
            <a:avLst/>
          </a:prstGeom>
          <a:solidFill>
            <a:srgbClr val="6E6A60"/>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NumPy là gì?</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numerical python — cột trụ tính toán hiệu năng cao</a:t>
            </a:r>
            <a:endParaRPr lang="en-US" sz="2200" dirty="0"/>
          </a:p>
        </p:txBody>
      </p:sp>
      <p:sp>
        <p:nvSpPr>
          <p:cNvPr id="5" name="Text 3"/>
          <p:cNvSpPr/>
          <p:nvPr/>
        </p:nvSpPr>
        <p:spPr>
          <a:xfrm>
            <a:off x="609585" y="2087166"/>
            <a:ext cx="5912893" cy="2516981"/>
          </a:xfrm>
          <a:prstGeom prst="rect">
            <a:avLst/>
          </a:prstGeom>
          <a:noFill/>
          <a:ln/>
        </p:spPr>
        <p:txBody>
          <a:bodyPr wrap="square" lIns="0" tIns="0" rIns="0" bIns="0" rtlCol="0" anchor="t">
            <a:normAutofit fontScale="92500"/>
          </a:bodyPr>
          <a:lstStyle/>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Định nghĩa.</a:t>
            </a:r>
            <a:r>
              <a:rPr lang="en-US" sz="1600" dirty="0">
                <a:solidFill>
                  <a:srgbClr val="2B2A26"/>
                </a:solidFill>
                <a:latin typeface="Alegreya" pitchFamily="34" charset="0"/>
                <a:ea typeface="Alegreya" pitchFamily="34" charset="-122"/>
                <a:cs typeface="Alegreya" pitchFamily="34" charset="0"/>
              </a:rPr>
              <a:t> NumPy (viết tắt của Numerical Python) là thư viện mã nguồn mở hàng đầu trong Python phục vụ tính toán khoa học và kỹ thuật số.</a:t>
            </a:r>
            <a:endParaRPr lang="en-US" sz="1600" dirty="0"/>
          </a:p>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Lõi ndarray.</a:t>
            </a:r>
            <a:r>
              <a:rPr lang="en-US" sz="1600" dirty="0">
                <a:solidFill>
                  <a:srgbClr val="2B2A26"/>
                </a:solidFill>
                <a:latin typeface="Alegreya" pitchFamily="34" charset="0"/>
                <a:ea typeface="Alegreya" pitchFamily="34" charset="-122"/>
                <a:cs typeface="Alegreya" pitchFamily="34" charset="0"/>
              </a:rPr>
              <a:t> Cung cấp cấu trúc mảng đa chiều hiệu năng cao cùng kho hàm toán học đồ sộ hỗ trợ đại số tuyến tính, biến đổi Fourier và xử lý ma trận.</a:t>
            </a:r>
            <a:endParaRPr lang="en-US" sz="1600" dirty="0"/>
          </a:p>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0"/>
              </a:rPr>
              <a:t>Nền tảng sinh thái.</a:t>
            </a:r>
            <a:r>
              <a:rPr lang="en-US" sz="1600" dirty="0">
                <a:solidFill>
                  <a:srgbClr val="2B2A26"/>
                </a:solidFill>
                <a:latin typeface="Alegreya" pitchFamily="34" charset="0"/>
                <a:ea typeface="Alegreya" pitchFamily="34" charset="-122"/>
                <a:cs typeface="Alegreya" pitchFamily="34" charset="0"/>
              </a:rPr>
              <a:t> Mọi thư viện cao cấp như Pandas, SciPy, Scikit-learn, TensorFlow và PyTorch đều xây dựng trên định dạng mảng của NumPy.</a:t>
            </a:r>
            <a:endParaRPr lang="en-US" sz="1600" dirty="0"/>
          </a:p>
        </p:txBody>
      </p:sp>
      <p:pic>
        <p:nvPicPr>
          <p:cNvPr id="6" name="Image 0" descr="preencoded.png"/>
          <p:cNvPicPr>
            <a:picLocks noChangeAspect="1"/>
          </p:cNvPicPr>
          <p:nvPr/>
        </p:nvPicPr>
        <p:blipFill>
          <a:blip r:embed="rId3"/>
          <a:stretch>
            <a:fillRect/>
          </a:stretch>
        </p:blipFill>
        <p:spPr>
          <a:xfrm>
            <a:off x="7132062" y="2451795"/>
            <a:ext cx="2529221" cy="1219101"/>
          </a:xfrm>
          <a:prstGeom prst="rect">
            <a:avLst/>
          </a:prstGeom>
        </p:spPr>
      </p:pic>
      <p:sp>
        <p:nvSpPr>
          <p:cNvPr id="7" name="Shape 4"/>
          <p:cNvSpPr/>
          <p:nvPr/>
        </p:nvSpPr>
        <p:spPr>
          <a:xfrm>
            <a:off x="7132062" y="3791545"/>
            <a:ext cx="4450048" cy="2092127"/>
          </a:xfrm>
          <a:prstGeom prst="rect">
            <a:avLst/>
          </a:prstGeom>
          <a:solidFill>
            <a:srgbClr val="FFFCF5"/>
          </a:solidFill>
          <a:ln w="12700">
            <a:solidFill>
              <a:srgbClr val="1D1E1B"/>
            </a:solidFill>
            <a:prstDash val="solid"/>
          </a:ln>
        </p:spPr>
      </p:sp>
      <p:sp>
        <p:nvSpPr>
          <p:cNvPr id="8" name="Text 5"/>
          <p:cNvSpPr/>
          <p:nvPr/>
        </p:nvSpPr>
        <p:spPr>
          <a:xfrm>
            <a:off x="7373307" y="3988713"/>
            <a:ext cx="3967460" cy="259060"/>
          </a:xfrm>
          <a:prstGeom prst="rect">
            <a:avLst/>
          </a:prstGeom>
          <a:noFill/>
          <a:ln/>
        </p:spPr>
        <p:txBody>
          <a:bodyPr wrap="none" lIns="0" tIns="0" rIns="0" bIns="0" rtlCol="0" anchor="t"/>
          <a:lstStyle/>
          <a:p>
            <a:pPr marL="0" indent="0" algn="ctr">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Kiểm tra cài đặt &amp; phiên bản</a:t>
            </a:r>
            <a:endParaRPr lang="en-US" sz="1700" dirty="0"/>
          </a:p>
        </p:txBody>
      </p:sp>
      <p:sp>
        <p:nvSpPr>
          <p:cNvPr id="9" name="Text 6"/>
          <p:cNvSpPr/>
          <p:nvPr/>
        </p:nvSpPr>
        <p:spPr>
          <a:xfrm>
            <a:off x="7373356" y="4387155"/>
            <a:ext cx="3967460" cy="643731"/>
          </a:xfrm>
          <a:prstGeom prst="rect">
            <a:avLst/>
          </a:prstGeom>
          <a:noFill/>
          <a:ln/>
        </p:spPr>
        <p:txBody>
          <a:bodyPr wrap="square" lIns="0" tIns="0" rIns="0" bIns="0" rtlCol="0" anchor="t"/>
          <a:lstStyle/>
          <a:p>
            <a:pPr marL="0" indent="0" algn="ctr">
              <a:lnSpc>
                <a:spcPct val="117000"/>
              </a:lnSpc>
              <a:spcAft>
                <a:spcPts val="900"/>
              </a:spcAft>
              <a:buNone/>
            </a:pPr>
            <a:r>
              <a:rPr lang="en-US" sz="1400" dirty="0">
                <a:solidFill>
                  <a:srgbClr val="2B2A26"/>
                </a:solidFill>
                <a:highlight>
                  <a:srgbClr val="FFFCF5"/>
                </a:highlight>
                <a:latin typeface="Consolas" pitchFamily="34" charset="0"/>
                <a:ea typeface="Consolas" pitchFamily="34" charset="-122"/>
                <a:cs typeface="Consolas" pitchFamily="34" charset="0"/>
              </a:rPr>
              <a:t>import numpy as np</a:t>
            </a:r>
            <a:endParaRPr lang="en-US" sz="1400" dirty="0"/>
          </a:p>
          <a:p>
            <a:pPr marL="0" indent="0" algn="ctr">
              <a:lnSpc>
                <a:spcPct val="117000"/>
              </a:lnSpc>
              <a:buNone/>
            </a:pPr>
            <a:r>
              <a:rPr lang="en-US" sz="1400" dirty="0">
                <a:solidFill>
                  <a:srgbClr val="2B2A26"/>
                </a:solidFill>
                <a:highlight>
                  <a:srgbClr val="FFFCF5"/>
                </a:highlight>
                <a:latin typeface="Consolas" pitchFamily="34" charset="0"/>
                <a:ea typeface="Consolas" pitchFamily="34" charset="-122"/>
                <a:cs typeface="Consolas" pitchFamily="34" charset="0"/>
              </a:rPr>
              <a:t>print(np.__version__)</a:t>
            </a:r>
            <a:endParaRPr lang="en-US" sz="1400" dirty="0"/>
          </a:p>
        </p:txBody>
      </p:sp>
      <p:sp>
        <p:nvSpPr>
          <p:cNvPr id="10" name="Shape 7"/>
          <p:cNvSpPr/>
          <p:nvPr/>
        </p:nvSpPr>
        <p:spPr>
          <a:xfrm>
            <a:off x="8702457" y="5200749"/>
            <a:ext cx="1309159" cy="31651"/>
          </a:xfrm>
          <a:prstGeom prst="roundRect">
            <a:avLst>
              <a:gd name="adj" fmla="val 49998"/>
            </a:avLst>
          </a:prstGeom>
          <a:solidFill>
            <a:srgbClr val="6E6A60"/>
          </a:solidFill>
          <a:ln/>
        </p:spPr>
      </p:sp>
      <p:sp>
        <p:nvSpPr>
          <p:cNvPr id="11" name="Text 8"/>
          <p:cNvSpPr/>
          <p:nvPr/>
        </p:nvSpPr>
        <p:spPr>
          <a:xfrm>
            <a:off x="7132062" y="5402679"/>
            <a:ext cx="4450048" cy="290810"/>
          </a:xfrm>
          <a:prstGeom prst="rect">
            <a:avLst/>
          </a:prstGeom>
          <a:noFill/>
          <a:ln/>
        </p:spPr>
        <p:txBody>
          <a:bodyPr wrap="none" lIns="0" tIns="0" rIns="0" bIns="0" rtlCol="0" anchor="t"/>
          <a:lstStyle/>
          <a:p>
            <a:pPr marL="0" indent="0" algn="ctr">
              <a:lnSpc>
                <a:spcPct val="117000"/>
              </a:lnSpc>
              <a:buNone/>
            </a:pPr>
            <a:r>
              <a:rPr lang="en-US" sz="1600" b="1" dirty="0">
                <a:solidFill>
                  <a:srgbClr val="2B2A26"/>
                </a:solidFill>
                <a:latin typeface="Alegreya Bold" pitchFamily="34" charset="0"/>
                <a:ea typeface="Alegreya Bold" pitchFamily="34" charset="-122"/>
                <a:cs typeface="Alegreya Bold" pitchFamily="34" charset="0"/>
              </a:rPr>
              <a:t>Kết quả: </a:t>
            </a:r>
            <a:r>
              <a:rPr lang="en-US" sz="1600" b="1" dirty="0">
                <a:solidFill>
                  <a:srgbClr val="2B2A26"/>
                </a:solidFill>
                <a:highlight>
                  <a:srgbClr val="FFFCF5"/>
                </a:highlight>
                <a:latin typeface="Consolas" pitchFamily="34" charset="0"/>
                <a:ea typeface="Consolas" pitchFamily="34" charset="-122"/>
                <a:cs typeface="Consolas" pitchFamily="34" charset="0"/>
              </a:rPr>
              <a:t>2.5.4</a:t>
            </a:r>
            <a:endParaRPr lang="en-US" sz="1600" dirty="0"/>
          </a:p>
        </p:txBody>
      </p:sp>
      <p:sp>
        <p:nvSpPr>
          <p:cNvPr id="12" name="Shape 9"/>
          <p:cNvSpPr/>
          <p:nvPr/>
        </p:nvSpPr>
        <p:spPr>
          <a:xfrm>
            <a:off x="9474856" y="5402362"/>
            <a:ext cx="484671" cy="273050"/>
          </a:xfrm>
          <a:prstGeom prst="roundRect">
            <a:avLst>
              <a:gd name="adj" fmla="val 11163"/>
            </a:avLst>
          </a:prstGeom>
          <a:solidFill>
            <a:srgbClr val="FFFCF5"/>
          </a:solidFill>
          <a:ln/>
        </p:spPr>
      </p:sp>
      <p:sp>
        <p:nvSpPr>
          <p:cNvPr id="13" name="Shape 10"/>
          <p:cNvSpPr/>
          <p:nvPr/>
        </p:nvSpPr>
        <p:spPr>
          <a:xfrm>
            <a:off x="6820920" y="2087166"/>
            <a:ext cx="12700" cy="4161234"/>
          </a:xfrm>
          <a:prstGeom prst="rect">
            <a:avLst/>
          </a:prstGeom>
          <a:solidFill>
            <a:srgbClr val="6E6A60"/>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NumPy giải quyết vấn đề gì?</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Code ngắn, gần ký hiệu toán</a:t>
            </a:r>
            <a:endParaRPr lang="en-US" sz="2200" dirty="0"/>
          </a:p>
        </p:txBody>
      </p:sp>
      <p:sp>
        <p:nvSpPr>
          <p:cNvPr id="5" name="Text 3"/>
          <p:cNvSpPr/>
          <p:nvPr/>
        </p:nvSpPr>
        <p:spPr>
          <a:xfrm>
            <a:off x="609585" y="3538537"/>
            <a:ext cx="4206075" cy="1258491"/>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Dữ liệu số lớn.</a:t>
            </a:r>
            <a:r>
              <a:rPr lang="en-US" sz="1600" dirty="0">
                <a:solidFill>
                  <a:srgbClr val="2B2A26"/>
                </a:solidFill>
                <a:latin typeface="Alegreya" pitchFamily="34" charset="0"/>
                <a:ea typeface="Alegreya" pitchFamily="34" charset="-122"/>
                <a:cs typeface="Alegreya" pitchFamily="34" charset="0"/>
              </a:rPr>
              <a:t> list chứa object và cần vòng lặp Python.</a:t>
            </a:r>
            <a:endParaRPr lang="en-US" sz="1600" dirty="0"/>
          </a:p>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0"/>
              </a:rPr>
              <a:t>NumPy.</a:t>
            </a:r>
            <a:r>
              <a:rPr lang="en-US" sz="1600" dirty="0">
                <a:solidFill>
                  <a:srgbClr val="2B2A26"/>
                </a:solidFill>
                <a:latin typeface="Alegreya" pitchFamily="34" charset="0"/>
                <a:ea typeface="Alegreya" pitchFamily="34" charset="-122"/>
                <a:cs typeface="Alegreya" pitchFamily="34" charset="0"/>
              </a:rPr>
              <a:t> Lưu dữ liệu đồng nhất, xử lý bằng code C đã biên dịch.</a:t>
            </a:r>
            <a:endParaRPr lang="en-US" sz="1600" dirty="0"/>
          </a:p>
        </p:txBody>
      </p:sp>
      <p:sp>
        <p:nvSpPr>
          <p:cNvPr id="6" name="Shape 4"/>
          <p:cNvSpPr/>
          <p:nvPr/>
        </p:nvSpPr>
        <p:spPr>
          <a:xfrm>
            <a:off x="5272749" y="2653109"/>
            <a:ext cx="3002284" cy="3029248"/>
          </a:xfrm>
          <a:prstGeom prst="rect">
            <a:avLst/>
          </a:prstGeom>
          <a:solidFill>
            <a:srgbClr val="FFFCF5"/>
          </a:solidFill>
          <a:ln w="12700">
            <a:solidFill>
              <a:srgbClr val="1D1E1B"/>
            </a:solidFill>
            <a:prstDash val="solid"/>
          </a:ln>
        </p:spPr>
      </p:sp>
      <p:sp>
        <p:nvSpPr>
          <p:cNvPr id="7" name="Text 5"/>
          <p:cNvSpPr/>
          <p:nvPr/>
        </p:nvSpPr>
        <p:spPr>
          <a:xfrm>
            <a:off x="5514043" y="2824877"/>
            <a:ext cx="2519696"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Python list</a:t>
            </a:r>
            <a:endParaRPr lang="en-US" sz="1700" dirty="0"/>
          </a:p>
        </p:txBody>
      </p:sp>
      <p:sp>
        <p:nvSpPr>
          <p:cNvPr id="8" name="Text 6"/>
          <p:cNvSpPr/>
          <p:nvPr/>
        </p:nvSpPr>
        <p:spPr>
          <a:xfrm>
            <a:off x="5514043" y="3224113"/>
            <a:ext cx="2760990"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Phép nhân * 2</a:t>
            </a:r>
            <a:endParaRPr lang="en-US" sz="1250" dirty="0"/>
          </a:p>
        </p:txBody>
      </p:sp>
      <p:sp>
        <p:nvSpPr>
          <p:cNvPr id="9" name="Shape 7"/>
          <p:cNvSpPr/>
          <p:nvPr/>
        </p:nvSpPr>
        <p:spPr>
          <a:xfrm>
            <a:off x="5514043" y="3658295"/>
            <a:ext cx="2519696" cy="1056481"/>
          </a:xfrm>
          <a:prstGeom prst="roundRect">
            <a:avLst>
              <a:gd name="adj" fmla="val 1082"/>
            </a:avLst>
          </a:prstGeom>
          <a:solidFill>
            <a:srgbClr val="FFFCF5"/>
          </a:solidFill>
          <a:ln/>
        </p:spPr>
      </p:sp>
      <p:sp>
        <p:nvSpPr>
          <p:cNvPr id="10" name="Text 8"/>
          <p:cNvSpPr/>
          <p:nvPr/>
        </p:nvSpPr>
        <p:spPr>
          <a:xfrm>
            <a:off x="5757818" y="3861495"/>
            <a:ext cx="2032148" cy="650081"/>
          </a:xfrm>
          <a:prstGeom prst="rect">
            <a:avLst/>
          </a:prstGeom>
          <a:noFill/>
          <a:ln/>
        </p:spPr>
        <p:txBody>
          <a:bodyPr wrap="square" lIns="0" tIns="0" rIns="0" bIns="0" rtlCol="0" anchor="t">
            <a:normAutofit fontScale="77500" lnSpcReduction="20000"/>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 2, 3, 4] * 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 2, 3, 4, 1, 2, 3, 4]</a:t>
            </a:r>
            <a:endParaRPr lang="en-US" sz="1600" dirty="0"/>
          </a:p>
        </p:txBody>
      </p:sp>
      <p:sp>
        <p:nvSpPr>
          <p:cNvPr id="11" name="Text 9"/>
          <p:cNvSpPr/>
          <p:nvPr/>
        </p:nvSpPr>
        <p:spPr>
          <a:xfrm>
            <a:off x="5514043" y="4943376"/>
            <a:ext cx="2760990" cy="248841"/>
          </a:xfrm>
          <a:prstGeom prst="rect">
            <a:avLst/>
          </a:prstGeom>
          <a:noFill/>
          <a:ln/>
        </p:spPr>
        <p:txBody>
          <a:bodyPr wrap="none" lIns="0" tIns="0" rIns="0" bIns="0" rtlCol="0" anchor="t"/>
          <a:lstStyle/>
          <a:p>
            <a:pPr marL="0" indent="0" algn="l">
              <a:lnSpc>
                <a:spcPct val="117000"/>
              </a:lnSpc>
              <a:buNone/>
            </a:pPr>
            <a:r>
              <a:rPr lang="en-US" sz="1400" dirty="0">
                <a:solidFill>
                  <a:srgbClr val="45423B"/>
                </a:solidFill>
                <a:latin typeface="Alegreya" pitchFamily="34" charset="0"/>
                <a:ea typeface="Alegreya" pitchFamily="34" charset="-122"/>
                <a:cs typeface="Alegreya" pitchFamily="34" charset="0"/>
              </a:rPr>
              <a:t>Vòng lặp Python: nhiều bước.</a:t>
            </a:r>
            <a:endParaRPr lang="en-US" sz="1400" dirty="0"/>
          </a:p>
        </p:txBody>
      </p:sp>
      <p:sp>
        <p:nvSpPr>
          <p:cNvPr id="12" name="Shape 10"/>
          <p:cNvSpPr/>
          <p:nvPr/>
        </p:nvSpPr>
        <p:spPr>
          <a:xfrm>
            <a:off x="8579826" y="2653109"/>
            <a:ext cx="3002284" cy="3029248"/>
          </a:xfrm>
          <a:prstGeom prst="rect">
            <a:avLst/>
          </a:prstGeom>
          <a:solidFill>
            <a:srgbClr val="FFFCF5"/>
          </a:solidFill>
          <a:ln w="12700">
            <a:solidFill>
              <a:srgbClr val="931A45"/>
            </a:solidFill>
            <a:prstDash val="solid"/>
          </a:ln>
        </p:spPr>
      </p:sp>
      <p:sp>
        <p:nvSpPr>
          <p:cNvPr id="13" name="Text 11"/>
          <p:cNvSpPr/>
          <p:nvPr/>
        </p:nvSpPr>
        <p:spPr>
          <a:xfrm>
            <a:off x="8821120" y="2824877"/>
            <a:ext cx="2519696" cy="259060"/>
          </a:xfrm>
          <a:prstGeom prst="rect">
            <a:avLst/>
          </a:prstGeom>
          <a:noFill/>
          <a:ln/>
        </p:spPr>
        <p:txBody>
          <a:bodyPr wrap="none" lIns="0" tIns="0" rIns="0" bIns="0" rtlCol="0" anchor="t"/>
          <a:lstStyle/>
          <a:p>
            <a:pPr marL="0" indent="0" algn="l">
              <a:lnSpc>
                <a:spcPct val="100000"/>
              </a:lnSpc>
              <a:buNone/>
            </a:pPr>
            <a:r>
              <a:rPr lang="en-US" sz="1700" b="1" i="1" dirty="0">
                <a:solidFill>
                  <a:srgbClr val="931A45"/>
                </a:solidFill>
                <a:latin typeface="Alegreya Bold" pitchFamily="34" charset="0"/>
                <a:ea typeface="Alegreya Bold" pitchFamily="34" charset="-122"/>
                <a:cs typeface="Alegreya Bold" pitchFamily="34" charset="0"/>
              </a:rPr>
              <a:t>NumPy array</a:t>
            </a:r>
            <a:endParaRPr lang="en-US" sz="1700" dirty="0"/>
          </a:p>
        </p:txBody>
      </p:sp>
      <p:sp>
        <p:nvSpPr>
          <p:cNvPr id="14" name="Text 12"/>
          <p:cNvSpPr/>
          <p:nvPr/>
        </p:nvSpPr>
        <p:spPr>
          <a:xfrm>
            <a:off x="8821120" y="3224113"/>
            <a:ext cx="2760990"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Phép toán trên từng phần tử</a:t>
            </a:r>
            <a:endParaRPr lang="en-US" sz="1250" dirty="0"/>
          </a:p>
        </p:txBody>
      </p:sp>
      <p:sp>
        <p:nvSpPr>
          <p:cNvPr id="15" name="Shape 13"/>
          <p:cNvSpPr/>
          <p:nvPr/>
        </p:nvSpPr>
        <p:spPr>
          <a:xfrm>
            <a:off x="8821120" y="3658295"/>
            <a:ext cx="2519696" cy="1381522"/>
          </a:xfrm>
          <a:prstGeom prst="roundRect">
            <a:avLst>
              <a:gd name="adj" fmla="val 827"/>
            </a:avLst>
          </a:prstGeom>
          <a:solidFill>
            <a:srgbClr val="FFFCF5"/>
          </a:solidFill>
          <a:ln/>
        </p:spPr>
      </p:sp>
      <p:sp>
        <p:nvSpPr>
          <p:cNvPr id="16" name="Text 14"/>
          <p:cNvSpPr/>
          <p:nvPr/>
        </p:nvSpPr>
        <p:spPr>
          <a:xfrm>
            <a:off x="9064894" y="3861495"/>
            <a:ext cx="2032148" cy="975122"/>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np.array([1, 2, 3, 4]) * 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[2 4 6 8]</a:t>
            </a:r>
            <a:endParaRPr lang="en-US" sz="1600" dirty="0"/>
          </a:p>
        </p:txBody>
      </p:sp>
      <p:sp>
        <p:nvSpPr>
          <p:cNvPr id="17" name="Text 15"/>
          <p:cNvSpPr/>
          <p:nvPr/>
        </p:nvSpPr>
        <p:spPr>
          <a:xfrm>
            <a:off x="8821120" y="5268416"/>
            <a:ext cx="2760990" cy="248841"/>
          </a:xfrm>
          <a:prstGeom prst="rect">
            <a:avLst/>
          </a:prstGeom>
          <a:noFill/>
          <a:ln/>
        </p:spPr>
        <p:txBody>
          <a:bodyPr wrap="none" lIns="0" tIns="0" rIns="0" bIns="0" rtlCol="0" anchor="t"/>
          <a:lstStyle/>
          <a:p>
            <a:pPr marL="0" indent="0" algn="l">
              <a:lnSpc>
                <a:spcPct val="117000"/>
              </a:lnSpc>
              <a:buNone/>
            </a:pPr>
            <a:r>
              <a:rPr lang="en-US" sz="1400" b="1" dirty="0">
                <a:solidFill>
                  <a:srgbClr val="931A45"/>
                </a:solidFill>
                <a:latin typeface="Alegreya Bold" pitchFamily="34" charset="0"/>
                <a:ea typeface="Alegreya Bold" pitchFamily="34" charset="-122"/>
                <a:cs typeface="Alegreya Bold" pitchFamily="34" charset="0"/>
              </a:rPr>
              <a:t>Vector hóa: một bước.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ndarray: đối tượng trung tâm</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khối mảng đồng nhất dạng lưới chữ nhật liên tục trong bộ nhớ</a:t>
            </a:r>
            <a:endParaRPr lang="en-US" sz="2200" dirty="0"/>
          </a:p>
        </p:txBody>
      </p:sp>
      <p:sp>
        <p:nvSpPr>
          <p:cNvPr id="5" name="Text 3"/>
          <p:cNvSpPr/>
          <p:nvPr/>
        </p:nvSpPr>
        <p:spPr>
          <a:xfrm>
            <a:off x="609585" y="2763838"/>
            <a:ext cx="4206075" cy="2807791"/>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Khái niệm cốt lõi.</a:t>
            </a:r>
            <a:r>
              <a:rPr lang="en-US" sz="1600" dirty="0">
                <a:solidFill>
                  <a:srgbClr val="2B2A26"/>
                </a:solidFill>
                <a:latin typeface="Alegreya" pitchFamily="34" charset="0"/>
                <a:ea typeface="Alegreya" pitchFamily="34" charset="-122"/>
                <a:cs typeface="Alegreya" pitchFamily="34" charset="0"/>
              </a:rPr>
              <a:t> </a:t>
            </a:r>
            <a:r>
              <a:rPr lang="en-US" sz="1600" dirty="0">
                <a:solidFill>
                  <a:srgbClr val="2B2A26"/>
                </a:solidFill>
                <a:highlight>
                  <a:srgbClr val="FFFCF5"/>
                </a:highlight>
                <a:latin typeface="Consolas" pitchFamily="34" charset="0"/>
                <a:ea typeface="Consolas" pitchFamily="34" charset="-122"/>
                <a:cs typeface="Consolas" pitchFamily="34" charset="0"/>
              </a:rPr>
              <a:t>ndarray</a:t>
            </a:r>
            <a:r>
              <a:rPr lang="en-US" sz="1600" dirty="0">
                <a:solidFill>
                  <a:srgbClr val="2B2A26"/>
                </a:solidFill>
                <a:latin typeface="Alegreya" pitchFamily="34" charset="0"/>
                <a:ea typeface="Alegreya" pitchFamily="34" charset="-122"/>
                <a:cs typeface="Alegreya" pitchFamily="34" charset="0"/>
              </a:rPr>
              <a:t> (N-dimensional array) là cấu trúc trung tâm chi phối mọi tác vụ trong NumPy.</a:t>
            </a:r>
            <a:endParaRPr lang="en-US" sz="1600" dirty="0"/>
          </a:p>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Tính đồng nhất.</a:t>
            </a:r>
            <a:r>
              <a:rPr lang="en-US" sz="1600" dirty="0">
                <a:solidFill>
                  <a:srgbClr val="2B2A26"/>
                </a:solidFill>
                <a:latin typeface="Alegreya" pitchFamily="34" charset="0"/>
                <a:ea typeface="Alegreya" pitchFamily="34" charset="-122"/>
                <a:cs typeface="Alegreya" pitchFamily="34" charset="0"/>
              </a:rPr>
              <a:t> Mọi phần tử bắt buộc phải có cùng kiểu dữ liệu (dtype), giúp loại bỏ chi phí kiểm tra kiểu lúc chạy.</a:t>
            </a:r>
            <a:endParaRPr lang="en-US" sz="1600" dirty="0"/>
          </a:p>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0"/>
              </a:rPr>
              <a:t>Lưới chuẩn mực.</a:t>
            </a:r>
            <a:r>
              <a:rPr lang="en-US" sz="1600" dirty="0">
                <a:solidFill>
                  <a:srgbClr val="2B2A26"/>
                </a:solidFill>
                <a:latin typeface="Alegreya" pitchFamily="34" charset="0"/>
                <a:ea typeface="Alegreya" pitchFamily="34" charset="-122"/>
                <a:cs typeface="Alegreya" pitchFamily="34" charset="0"/>
              </a:rPr>
              <a:t> Kích thước cố định sau khi khởi tạo, tổ chức dưới dạng lưới chữ nhật hoàn hảo, không có răng cưa.</a:t>
            </a:r>
            <a:endParaRPr lang="en-US" sz="1600" dirty="0"/>
          </a:p>
        </p:txBody>
      </p:sp>
      <p:sp>
        <p:nvSpPr>
          <p:cNvPr id="6" name="Shape 4"/>
          <p:cNvSpPr/>
          <p:nvPr/>
        </p:nvSpPr>
        <p:spPr>
          <a:xfrm>
            <a:off x="5272749" y="2750046"/>
            <a:ext cx="6309361" cy="2835473"/>
          </a:xfrm>
          <a:prstGeom prst="rect">
            <a:avLst/>
          </a:prstGeom>
          <a:solidFill>
            <a:srgbClr val="FFFCF5"/>
          </a:solidFill>
          <a:ln w="12700">
            <a:solidFill>
              <a:srgbClr val="1D1E1B"/>
            </a:solidFill>
            <a:prstDash val="solid"/>
          </a:ln>
        </p:spPr>
      </p:sp>
      <p:sp>
        <p:nvSpPr>
          <p:cNvPr id="7" name="Text 5"/>
          <p:cNvSpPr/>
          <p:nvPr/>
        </p:nvSpPr>
        <p:spPr>
          <a:xfrm>
            <a:off x="5272749" y="3006427"/>
            <a:ext cx="6309361" cy="206375"/>
          </a:xfrm>
          <a:prstGeom prst="rect">
            <a:avLst/>
          </a:prstGeom>
          <a:noFill/>
          <a:ln/>
        </p:spPr>
        <p:txBody>
          <a:bodyPr wrap="none" lIns="0" tIns="0" rIns="0" bIns="0" rtlCol="0" anchor="t"/>
          <a:lstStyle/>
          <a:p>
            <a:pPr marL="0" indent="0" algn="ctr">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mô hình lưới 3 hàng × 4 cột (shape: 3, 4)</a:t>
            </a:r>
            <a:endParaRPr lang="en-US" sz="1300" dirty="0"/>
          </a:p>
        </p:txBody>
      </p:sp>
      <p:sp>
        <p:nvSpPr>
          <p:cNvPr id="8" name="Shape 6"/>
          <p:cNvSpPr/>
          <p:nvPr/>
        </p:nvSpPr>
        <p:spPr>
          <a:xfrm>
            <a:off x="5564842" y="3324721"/>
            <a:ext cx="1355096" cy="452041"/>
          </a:xfrm>
          <a:prstGeom prst="rect">
            <a:avLst/>
          </a:prstGeom>
          <a:solidFill>
            <a:srgbClr val="B7D8EF"/>
          </a:solidFill>
          <a:ln/>
        </p:spPr>
      </p:sp>
      <p:sp>
        <p:nvSpPr>
          <p:cNvPr id="9" name="Text 7"/>
          <p:cNvSpPr/>
          <p:nvPr/>
        </p:nvSpPr>
        <p:spPr>
          <a:xfrm>
            <a:off x="6165795" y="3426321"/>
            <a:ext cx="754143"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10</a:t>
            </a:r>
            <a:endParaRPr lang="en-US" sz="1400" dirty="0"/>
          </a:p>
        </p:txBody>
      </p:sp>
      <p:sp>
        <p:nvSpPr>
          <p:cNvPr id="10" name="Shape 8"/>
          <p:cNvSpPr/>
          <p:nvPr/>
        </p:nvSpPr>
        <p:spPr>
          <a:xfrm>
            <a:off x="7072334" y="3324721"/>
            <a:ext cx="1278898" cy="452041"/>
          </a:xfrm>
          <a:prstGeom prst="rect">
            <a:avLst/>
          </a:prstGeom>
          <a:solidFill>
            <a:srgbClr val="B7D8EF"/>
          </a:solidFill>
          <a:ln/>
        </p:spPr>
      </p:sp>
      <p:sp>
        <p:nvSpPr>
          <p:cNvPr id="11" name="Text 9"/>
          <p:cNvSpPr/>
          <p:nvPr/>
        </p:nvSpPr>
        <p:spPr>
          <a:xfrm>
            <a:off x="7636974" y="3426321"/>
            <a:ext cx="714258"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12</a:t>
            </a:r>
            <a:endParaRPr lang="en-US" sz="1400" dirty="0"/>
          </a:p>
        </p:txBody>
      </p:sp>
      <p:sp>
        <p:nvSpPr>
          <p:cNvPr id="12" name="Shape 10"/>
          <p:cNvSpPr/>
          <p:nvPr/>
        </p:nvSpPr>
        <p:spPr>
          <a:xfrm>
            <a:off x="8503628" y="3324721"/>
            <a:ext cx="1278898" cy="452041"/>
          </a:xfrm>
          <a:prstGeom prst="rect">
            <a:avLst/>
          </a:prstGeom>
          <a:solidFill>
            <a:srgbClr val="B7D8EF"/>
          </a:solidFill>
          <a:ln/>
        </p:spPr>
      </p:sp>
      <p:sp>
        <p:nvSpPr>
          <p:cNvPr id="13" name="Text 11"/>
          <p:cNvSpPr/>
          <p:nvPr/>
        </p:nvSpPr>
        <p:spPr>
          <a:xfrm>
            <a:off x="9073228" y="3426321"/>
            <a:ext cx="709297"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15</a:t>
            </a:r>
            <a:endParaRPr lang="en-US" sz="1400" dirty="0"/>
          </a:p>
        </p:txBody>
      </p:sp>
      <p:sp>
        <p:nvSpPr>
          <p:cNvPr id="14" name="Shape 12"/>
          <p:cNvSpPr/>
          <p:nvPr/>
        </p:nvSpPr>
        <p:spPr>
          <a:xfrm>
            <a:off x="9934922" y="3324721"/>
            <a:ext cx="1355096" cy="452041"/>
          </a:xfrm>
          <a:prstGeom prst="rect">
            <a:avLst/>
          </a:prstGeom>
          <a:solidFill>
            <a:srgbClr val="B7D8EF"/>
          </a:solidFill>
          <a:ln/>
        </p:spPr>
      </p:sp>
      <p:sp>
        <p:nvSpPr>
          <p:cNvPr id="15" name="Text 13"/>
          <p:cNvSpPr/>
          <p:nvPr/>
        </p:nvSpPr>
        <p:spPr>
          <a:xfrm>
            <a:off x="10537958" y="3426321"/>
            <a:ext cx="75205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18</a:t>
            </a:r>
            <a:endParaRPr lang="en-US" sz="1400" dirty="0"/>
          </a:p>
        </p:txBody>
      </p:sp>
      <p:sp>
        <p:nvSpPr>
          <p:cNvPr id="16" name="Shape 14"/>
          <p:cNvSpPr/>
          <p:nvPr/>
        </p:nvSpPr>
        <p:spPr>
          <a:xfrm>
            <a:off x="5564842" y="3929062"/>
            <a:ext cx="1355096" cy="452041"/>
          </a:xfrm>
          <a:prstGeom prst="rect">
            <a:avLst/>
          </a:prstGeom>
          <a:solidFill>
            <a:srgbClr val="B7D8EF"/>
          </a:solidFill>
          <a:ln/>
        </p:spPr>
      </p:sp>
      <p:sp>
        <p:nvSpPr>
          <p:cNvPr id="17" name="Text 15"/>
          <p:cNvSpPr/>
          <p:nvPr/>
        </p:nvSpPr>
        <p:spPr>
          <a:xfrm>
            <a:off x="6167581" y="4030663"/>
            <a:ext cx="752357"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21</a:t>
            </a:r>
            <a:endParaRPr lang="en-US" sz="1400" dirty="0"/>
          </a:p>
        </p:txBody>
      </p:sp>
      <p:sp>
        <p:nvSpPr>
          <p:cNvPr id="18" name="Shape 16"/>
          <p:cNvSpPr/>
          <p:nvPr/>
        </p:nvSpPr>
        <p:spPr>
          <a:xfrm>
            <a:off x="7072334" y="3929062"/>
            <a:ext cx="1278898" cy="452041"/>
          </a:xfrm>
          <a:prstGeom prst="rect">
            <a:avLst/>
          </a:prstGeom>
          <a:solidFill>
            <a:srgbClr val="B7D8EF"/>
          </a:solidFill>
          <a:ln/>
        </p:spPr>
      </p:sp>
      <p:sp>
        <p:nvSpPr>
          <p:cNvPr id="19" name="Text 17"/>
          <p:cNvSpPr/>
          <p:nvPr/>
        </p:nvSpPr>
        <p:spPr>
          <a:xfrm>
            <a:off x="7627052" y="4030663"/>
            <a:ext cx="724180"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24</a:t>
            </a:r>
            <a:endParaRPr lang="en-US" sz="1400" dirty="0"/>
          </a:p>
        </p:txBody>
      </p:sp>
      <p:sp>
        <p:nvSpPr>
          <p:cNvPr id="20" name="Shape 18"/>
          <p:cNvSpPr/>
          <p:nvPr/>
        </p:nvSpPr>
        <p:spPr>
          <a:xfrm>
            <a:off x="8503628" y="3929062"/>
            <a:ext cx="1278898" cy="452041"/>
          </a:xfrm>
          <a:prstGeom prst="rect">
            <a:avLst/>
          </a:prstGeom>
          <a:solidFill>
            <a:srgbClr val="B7D8EF"/>
          </a:solidFill>
          <a:ln/>
        </p:spPr>
      </p:sp>
      <p:sp>
        <p:nvSpPr>
          <p:cNvPr id="21" name="Text 19"/>
          <p:cNvSpPr/>
          <p:nvPr/>
        </p:nvSpPr>
        <p:spPr>
          <a:xfrm>
            <a:off x="9062116" y="4030663"/>
            <a:ext cx="72040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27</a:t>
            </a:r>
            <a:endParaRPr lang="en-US" sz="1400" dirty="0"/>
          </a:p>
        </p:txBody>
      </p:sp>
      <p:sp>
        <p:nvSpPr>
          <p:cNvPr id="22" name="Shape 20"/>
          <p:cNvSpPr/>
          <p:nvPr/>
        </p:nvSpPr>
        <p:spPr>
          <a:xfrm>
            <a:off x="9934922" y="3929062"/>
            <a:ext cx="1355096" cy="452041"/>
          </a:xfrm>
          <a:prstGeom prst="rect">
            <a:avLst/>
          </a:prstGeom>
          <a:solidFill>
            <a:srgbClr val="B7D8EF"/>
          </a:solidFill>
          <a:ln/>
        </p:spPr>
      </p:sp>
      <p:sp>
        <p:nvSpPr>
          <p:cNvPr id="23" name="Text 21"/>
          <p:cNvSpPr/>
          <p:nvPr/>
        </p:nvSpPr>
        <p:spPr>
          <a:xfrm>
            <a:off x="10529525" y="4030663"/>
            <a:ext cx="760493"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30</a:t>
            </a:r>
            <a:endParaRPr lang="en-US" sz="1400" dirty="0"/>
          </a:p>
        </p:txBody>
      </p:sp>
      <p:sp>
        <p:nvSpPr>
          <p:cNvPr id="24" name="Shape 22"/>
          <p:cNvSpPr/>
          <p:nvPr/>
        </p:nvSpPr>
        <p:spPr>
          <a:xfrm>
            <a:off x="5564842" y="4533404"/>
            <a:ext cx="1355096" cy="452041"/>
          </a:xfrm>
          <a:prstGeom prst="rect">
            <a:avLst/>
          </a:prstGeom>
          <a:solidFill>
            <a:srgbClr val="B7D8EF"/>
          </a:solidFill>
          <a:ln/>
        </p:spPr>
      </p:sp>
      <p:sp>
        <p:nvSpPr>
          <p:cNvPr id="25" name="Text 23"/>
          <p:cNvSpPr/>
          <p:nvPr/>
        </p:nvSpPr>
        <p:spPr>
          <a:xfrm>
            <a:off x="6165894" y="4635004"/>
            <a:ext cx="754044"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33</a:t>
            </a:r>
            <a:endParaRPr lang="en-US" sz="1400" dirty="0"/>
          </a:p>
        </p:txBody>
      </p:sp>
      <p:sp>
        <p:nvSpPr>
          <p:cNvPr id="26" name="Shape 24"/>
          <p:cNvSpPr/>
          <p:nvPr/>
        </p:nvSpPr>
        <p:spPr>
          <a:xfrm>
            <a:off x="7072334" y="4533404"/>
            <a:ext cx="1278898" cy="452041"/>
          </a:xfrm>
          <a:prstGeom prst="rect">
            <a:avLst/>
          </a:prstGeom>
          <a:solidFill>
            <a:srgbClr val="B7D8EF"/>
          </a:solidFill>
          <a:ln/>
        </p:spPr>
      </p:sp>
      <p:sp>
        <p:nvSpPr>
          <p:cNvPr id="27" name="Text 25"/>
          <p:cNvSpPr/>
          <p:nvPr/>
        </p:nvSpPr>
        <p:spPr>
          <a:xfrm>
            <a:off x="7632013" y="4635004"/>
            <a:ext cx="71921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36</a:t>
            </a:r>
            <a:endParaRPr lang="en-US" sz="1400" dirty="0"/>
          </a:p>
        </p:txBody>
      </p:sp>
      <p:sp>
        <p:nvSpPr>
          <p:cNvPr id="28" name="Shape 26"/>
          <p:cNvSpPr/>
          <p:nvPr/>
        </p:nvSpPr>
        <p:spPr>
          <a:xfrm>
            <a:off x="8503628" y="4533404"/>
            <a:ext cx="1278898" cy="452041"/>
          </a:xfrm>
          <a:prstGeom prst="rect">
            <a:avLst/>
          </a:prstGeom>
          <a:solidFill>
            <a:srgbClr val="B7D8EF"/>
          </a:solidFill>
          <a:ln/>
        </p:spPr>
      </p:sp>
      <p:sp>
        <p:nvSpPr>
          <p:cNvPr id="29" name="Text 27"/>
          <p:cNvSpPr/>
          <p:nvPr/>
        </p:nvSpPr>
        <p:spPr>
          <a:xfrm>
            <a:off x="9063605" y="4635004"/>
            <a:ext cx="718921"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39</a:t>
            </a:r>
            <a:endParaRPr lang="en-US" sz="1400" dirty="0"/>
          </a:p>
        </p:txBody>
      </p:sp>
      <p:sp>
        <p:nvSpPr>
          <p:cNvPr id="30" name="Shape 28"/>
          <p:cNvSpPr/>
          <p:nvPr/>
        </p:nvSpPr>
        <p:spPr>
          <a:xfrm>
            <a:off x="9934922" y="4533404"/>
            <a:ext cx="1355096" cy="452041"/>
          </a:xfrm>
          <a:prstGeom prst="rect">
            <a:avLst/>
          </a:prstGeom>
          <a:solidFill>
            <a:srgbClr val="B7D8EF"/>
          </a:solidFill>
          <a:ln/>
        </p:spPr>
      </p:sp>
      <p:sp>
        <p:nvSpPr>
          <p:cNvPr id="31" name="Text 29"/>
          <p:cNvSpPr/>
          <p:nvPr/>
        </p:nvSpPr>
        <p:spPr>
          <a:xfrm>
            <a:off x="10527739" y="4635004"/>
            <a:ext cx="762279" cy="248841"/>
          </a:xfrm>
          <a:prstGeom prst="rect">
            <a:avLst/>
          </a:prstGeom>
          <a:noFill/>
          <a:ln/>
        </p:spPr>
        <p:txBody>
          <a:bodyPr wrap="none" lIns="0" tIns="0" rIns="0" bIns="0" rtlCol="0" anchor="t"/>
          <a:lstStyle/>
          <a:p>
            <a:pPr marL="0" indent="0" algn="l">
              <a:lnSpc>
                <a:spcPct val="117000"/>
              </a:lnSpc>
              <a:buNone/>
            </a:pPr>
            <a:r>
              <a:rPr lang="en-US" sz="1400" b="1" dirty="0">
                <a:solidFill>
                  <a:srgbClr val="000000"/>
                </a:solidFill>
                <a:latin typeface="Alegreya Bold" pitchFamily="34" charset="0"/>
                <a:ea typeface="Alegreya Bold" pitchFamily="34" charset="-122"/>
                <a:cs typeface="Alegreya Bold" pitchFamily="34" charset="0"/>
              </a:rPr>
              <a:t>42</a:t>
            </a:r>
            <a:endParaRPr lang="en-US" sz="1400" dirty="0"/>
          </a:p>
        </p:txBody>
      </p:sp>
      <p:sp>
        <p:nvSpPr>
          <p:cNvPr id="32" name="Text 30"/>
          <p:cNvSpPr/>
          <p:nvPr/>
        </p:nvSpPr>
        <p:spPr>
          <a:xfrm>
            <a:off x="5272749" y="5138638"/>
            <a:ext cx="6309361" cy="206375"/>
          </a:xfrm>
          <a:prstGeom prst="rect">
            <a:avLst/>
          </a:prstGeom>
          <a:noFill/>
          <a:ln/>
        </p:spPr>
        <p:txBody>
          <a:bodyPr wrap="none" lIns="0" tIns="0" rIns="0" bIns="0" rtlCol="0" anchor="t"/>
          <a:lstStyle/>
          <a:p>
            <a:pPr marL="0" indent="0" algn="ctr">
              <a:lnSpc>
                <a:spcPct val="108000"/>
              </a:lnSpc>
              <a:buNone/>
            </a:pPr>
            <a:r>
              <a:rPr lang="en-US" sz="1250" i="1" dirty="0">
                <a:solidFill>
                  <a:srgbClr val="931A45"/>
                </a:solidFill>
                <a:latin typeface="Alegreya" pitchFamily="34" charset="0"/>
                <a:ea typeface="Alegreya" pitchFamily="34" charset="-122"/>
                <a:cs typeface="Alegreya" pitchFamily="34" charset="0"/>
              </a:rPr>
              <a:t>Cùng dtype (int64) · Lưu trữ tuần tự trong RAM · Truy cập O(1)</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Ưu điểm và giới hạn</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cân bằng giữa tốc độ tính toán thuần tuý và sự linh hoạt cấu trúc</a:t>
            </a:r>
            <a:endParaRPr lang="en-US" sz="2200" dirty="0"/>
          </a:p>
        </p:txBody>
      </p:sp>
      <p:sp>
        <p:nvSpPr>
          <p:cNvPr id="5" name="Shape 3"/>
          <p:cNvSpPr/>
          <p:nvPr/>
        </p:nvSpPr>
        <p:spPr>
          <a:xfrm>
            <a:off x="609585" y="2087166"/>
            <a:ext cx="5257668" cy="4161234"/>
          </a:xfrm>
          <a:prstGeom prst="rect">
            <a:avLst/>
          </a:prstGeom>
          <a:solidFill>
            <a:srgbClr val="FFFCF5"/>
          </a:solidFill>
          <a:ln w="12700">
            <a:solidFill>
              <a:srgbClr val="1D1E1B"/>
            </a:solidFill>
            <a:prstDash val="solid"/>
          </a:ln>
        </p:spPr>
      </p:sp>
      <p:sp>
        <p:nvSpPr>
          <p:cNvPr id="6" name="Text 4"/>
          <p:cNvSpPr/>
          <p:nvPr/>
        </p:nvSpPr>
        <p:spPr>
          <a:xfrm>
            <a:off x="901677" y="2360533"/>
            <a:ext cx="4673483" cy="259060"/>
          </a:xfrm>
          <a:prstGeom prst="rect">
            <a:avLst/>
          </a:prstGeom>
          <a:noFill/>
          <a:ln/>
        </p:spPr>
        <p:txBody>
          <a:bodyPr wrap="none" lIns="0" tIns="0" rIns="0" bIns="0" rtlCol="0" anchor="t"/>
          <a:lstStyle/>
          <a:p>
            <a:pPr marL="0" indent="0" algn="l">
              <a:lnSpc>
                <a:spcPct val="100000"/>
              </a:lnSpc>
              <a:buNone/>
            </a:pPr>
            <a:r>
              <a:rPr lang="en-US" sz="1700" b="1" i="1" dirty="0">
                <a:solidFill>
                  <a:srgbClr val="931A45"/>
                </a:solidFill>
                <a:latin typeface="Alegreya Bold" pitchFamily="34" charset="0"/>
                <a:ea typeface="Alegreya Bold" pitchFamily="34" charset="-122"/>
                <a:cs typeface="Alegreya Bold" pitchFamily="34" charset="0"/>
              </a:rPr>
              <a:t>▲ Điểm mạnh nổi bật</a:t>
            </a:r>
            <a:endParaRPr lang="en-US" sz="1700" dirty="0"/>
          </a:p>
        </p:txBody>
      </p:sp>
      <p:sp>
        <p:nvSpPr>
          <p:cNvPr id="7" name="Shape 5"/>
          <p:cNvSpPr/>
          <p:nvPr/>
        </p:nvSpPr>
        <p:spPr>
          <a:xfrm>
            <a:off x="901677" y="2808188"/>
            <a:ext cx="1542218" cy="31651"/>
          </a:xfrm>
          <a:prstGeom prst="roundRect">
            <a:avLst>
              <a:gd name="adj" fmla="val 49998"/>
            </a:avLst>
          </a:prstGeom>
          <a:solidFill>
            <a:srgbClr val="931A45"/>
          </a:solidFill>
          <a:ln/>
        </p:spPr>
      </p:sp>
      <p:sp>
        <p:nvSpPr>
          <p:cNvPr id="8" name="Text 6"/>
          <p:cNvSpPr/>
          <p:nvPr/>
        </p:nvSpPr>
        <p:spPr>
          <a:xfrm>
            <a:off x="901677" y="3009801"/>
            <a:ext cx="4673483" cy="2352675"/>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Vector hoá:</a:t>
            </a:r>
            <a:r>
              <a:rPr lang="en-US" sz="1400" dirty="0">
                <a:solidFill>
                  <a:srgbClr val="2B2A26"/>
                </a:solidFill>
                <a:latin typeface="Alegreya" pitchFamily="34" charset="0"/>
                <a:ea typeface="Alegreya" pitchFamily="34" charset="-122"/>
                <a:cs typeface="Alegreya" pitchFamily="34" charset="0"/>
              </a:rPr>
              <a:t> Triệt tiêu các vòng lặp for thủ công bằng các phép toán ma trận tức thì.</a:t>
            </a:r>
            <a:endParaRPr lang="en-US" sz="1400" dirty="0"/>
          </a:p>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Cú pháp súc tích:</a:t>
            </a:r>
            <a:r>
              <a:rPr lang="en-US" sz="1400" dirty="0">
                <a:solidFill>
                  <a:srgbClr val="2B2A26"/>
                </a:solidFill>
                <a:latin typeface="Alegreya" pitchFamily="34" charset="0"/>
                <a:ea typeface="Alegreya" pitchFamily="34" charset="-122"/>
                <a:cs typeface="Alegreya" pitchFamily="34" charset="0"/>
              </a:rPr>
              <a:t> Biểu diễn công thức toán học ngắn gọn, gần gũi với ký hiệu đại số.</a:t>
            </a:r>
            <a:endParaRPr lang="en-US" sz="1400" dirty="0"/>
          </a:p>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Kho hàm phong phú:</a:t>
            </a:r>
            <a:r>
              <a:rPr lang="en-US" sz="1400" dirty="0">
                <a:solidFill>
                  <a:srgbClr val="2B2A26"/>
                </a:solidFill>
                <a:latin typeface="Alegreya" pitchFamily="34" charset="0"/>
                <a:ea typeface="Alegreya" pitchFamily="34" charset="-122"/>
                <a:cs typeface="Alegreya" pitchFamily="34" charset="0"/>
              </a:rPr>
              <a:t> Tích hợp đầy đủ công cụ thống kê, đại số tuyến tính, số ngẫu nhiên.</a:t>
            </a:r>
            <a:endParaRPr lang="en-US" sz="1400" dirty="0"/>
          </a:p>
          <a:p>
            <a:pPr marL="0" indent="0" algn="l">
              <a:lnSpc>
                <a:spcPct val="117000"/>
              </a:lnSpc>
              <a:buNone/>
            </a:pPr>
            <a:r>
              <a:rPr lang="en-US" sz="1400" b="1" dirty="0">
                <a:solidFill>
                  <a:srgbClr val="2B2A26"/>
                </a:solidFill>
                <a:latin typeface="Alegreya Bold" pitchFamily="34" charset="0"/>
                <a:ea typeface="Alegreya Bold" pitchFamily="34" charset="-122"/>
                <a:cs typeface="Alegreya Bold" pitchFamily="34" charset="0"/>
              </a:rPr>
              <a:t>Hệ sinh thái:</a:t>
            </a:r>
            <a:r>
              <a:rPr lang="en-US" sz="1400" dirty="0">
                <a:solidFill>
                  <a:srgbClr val="2B2A26"/>
                </a:solidFill>
                <a:latin typeface="Alegreya" pitchFamily="34" charset="0"/>
                <a:ea typeface="Alegreya" pitchFamily="34" charset="-122"/>
                <a:cs typeface="Alegreya" pitchFamily="34" charset="0"/>
              </a:rPr>
              <a:t> Tiêu chuẩn chung tương thích hoàn hảo với Pandas, Scikit-learn, PyTorch.</a:t>
            </a:r>
            <a:endParaRPr lang="en-US" sz="1400" dirty="0"/>
          </a:p>
        </p:txBody>
      </p:sp>
      <p:sp>
        <p:nvSpPr>
          <p:cNvPr id="9" name="Shape 7"/>
          <p:cNvSpPr/>
          <p:nvPr/>
        </p:nvSpPr>
        <p:spPr>
          <a:xfrm>
            <a:off x="6324442" y="2087166"/>
            <a:ext cx="5257668" cy="4161234"/>
          </a:xfrm>
          <a:prstGeom prst="rect">
            <a:avLst/>
          </a:prstGeom>
          <a:solidFill>
            <a:srgbClr val="FFFCF5"/>
          </a:solidFill>
          <a:ln w="12700">
            <a:solidFill>
              <a:srgbClr val="6E6A60"/>
            </a:solidFill>
            <a:prstDash val="solid"/>
          </a:ln>
        </p:spPr>
      </p:sp>
      <p:sp>
        <p:nvSpPr>
          <p:cNvPr id="10" name="Text 8"/>
          <p:cNvSpPr/>
          <p:nvPr/>
        </p:nvSpPr>
        <p:spPr>
          <a:xfrm>
            <a:off x="6616534" y="2360533"/>
            <a:ext cx="4673483" cy="259060"/>
          </a:xfrm>
          <a:prstGeom prst="rect">
            <a:avLst/>
          </a:prstGeom>
          <a:noFill/>
          <a:ln/>
        </p:spPr>
        <p:txBody>
          <a:bodyPr wrap="none" lIns="0" tIns="0" rIns="0" bIns="0" rtlCol="0" anchor="t"/>
          <a:lstStyle/>
          <a:p>
            <a:pPr marL="0" indent="0" algn="l">
              <a:lnSpc>
                <a:spcPct val="100000"/>
              </a:lnSpc>
              <a:buNone/>
            </a:pPr>
            <a:r>
              <a:rPr lang="en-US" sz="1700" b="1" i="1" dirty="0">
                <a:solidFill>
                  <a:srgbClr val="45423B"/>
                </a:solidFill>
                <a:latin typeface="Alegreya Bold" pitchFamily="34" charset="0"/>
                <a:ea typeface="Alegreya Bold" pitchFamily="34" charset="-122"/>
                <a:cs typeface="Alegreya Bold" pitchFamily="34" charset="0"/>
              </a:rPr>
              <a:t>▼ Giới hạn cần lưu ý</a:t>
            </a:r>
            <a:endParaRPr lang="en-US" sz="1700" dirty="0"/>
          </a:p>
        </p:txBody>
      </p:sp>
      <p:sp>
        <p:nvSpPr>
          <p:cNvPr id="11" name="Shape 9"/>
          <p:cNvSpPr/>
          <p:nvPr/>
        </p:nvSpPr>
        <p:spPr>
          <a:xfrm>
            <a:off x="6616534" y="2808188"/>
            <a:ext cx="1542218" cy="31651"/>
          </a:xfrm>
          <a:prstGeom prst="roundRect">
            <a:avLst>
              <a:gd name="adj" fmla="val 49998"/>
            </a:avLst>
          </a:prstGeom>
          <a:solidFill>
            <a:srgbClr val="6E6A60"/>
          </a:solidFill>
          <a:ln/>
        </p:spPr>
      </p:sp>
      <p:sp>
        <p:nvSpPr>
          <p:cNvPr id="12" name="Text 10"/>
          <p:cNvSpPr/>
          <p:nvPr/>
        </p:nvSpPr>
        <p:spPr>
          <a:xfrm>
            <a:off x="6616534" y="3009801"/>
            <a:ext cx="4673483" cy="2352675"/>
          </a:xfrm>
          <a:prstGeom prst="rect">
            <a:avLst/>
          </a:prstGeom>
          <a:noFill/>
          <a:ln/>
        </p:spPr>
        <p:txBody>
          <a:bodyPr wrap="square" lIns="0" tIns="0" rIns="0" bIns="0" rtlCol="0" anchor="t">
            <a:normAutofit/>
          </a:bodyPr>
          <a:lstStyle/>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Đồng nhất bắt buộc:</a:t>
            </a:r>
            <a:r>
              <a:rPr lang="en-US" sz="1400" dirty="0">
                <a:solidFill>
                  <a:srgbClr val="2B2A26"/>
                </a:solidFill>
                <a:latin typeface="Alegreya" pitchFamily="34" charset="0"/>
                <a:ea typeface="Alegreya" pitchFamily="34" charset="-122"/>
                <a:cs typeface="Alegreya" pitchFamily="34" charset="0"/>
              </a:rPr>
              <a:t> Toàn bộ mảng phải cùng kiểu dữ liệu, không chứa lẫn chuỗi và số.</a:t>
            </a:r>
            <a:endParaRPr lang="en-US" sz="1400" dirty="0"/>
          </a:p>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Kích thước cố định:</a:t>
            </a:r>
            <a:r>
              <a:rPr lang="en-US" sz="1400" dirty="0">
                <a:solidFill>
                  <a:srgbClr val="2B2A26"/>
                </a:solidFill>
                <a:latin typeface="Alegreya" pitchFamily="34" charset="0"/>
                <a:ea typeface="Alegreya" pitchFamily="34" charset="-122"/>
                <a:cs typeface="Alegreya" pitchFamily="34" charset="0"/>
              </a:rPr>
              <a:t> Không thể thêm bớt phần tử tại chỗ (in-place append) như list.</a:t>
            </a:r>
            <a:endParaRPr lang="en-US" sz="1400" dirty="0"/>
          </a:p>
          <a:p>
            <a:pPr marL="0" indent="0" algn="l">
              <a:lnSpc>
                <a:spcPct val="117000"/>
              </a:lnSpc>
              <a:spcAft>
                <a:spcPts val="900"/>
              </a:spcAft>
              <a:buNone/>
            </a:pPr>
            <a:r>
              <a:rPr lang="en-US" sz="1400" b="1" dirty="0">
                <a:solidFill>
                  <a:srgbClr val="2B2A26"/>
                </a:solidFill>
                <a:latin typeface="Alegreya Bold" pitchFamily="34" charset="0"/>
                <a:ea typeface="Alegreya Bold" pitchFamily="34" charset="-122"/>
                <a:cs typeface="Alegreya Bold" pitchFamily="34" charset="0"/>
              </a:rPr>
              <a:t>Không thay thế Pandas:</a:t>
            </a:r>
            <a:r>
              <a:rPr lang="en-US" sz="1400" dirty="0">
                <a:solidFill>
                  <a:srgbClr val="2B2A26"/>
                </a:solidFill>
                <a:latin typeface="Alegreya" pitchFamily="34" charset="0"/>
                <a:ea typeface="Alegreya" pitchFamily="34" charset="-122"/>
                <a:cs typeface="Alegreya" pitchFamily="34" charset="0"/>
              </a:rPr>
              <a:t> Kém tối ưu cho dữ liệu dạng bảng chứa cột hỗn hợp có tên.</a:t>
            </a:r>
            <a:endParaRPr lang="en-US" sz="1400" dirty="0"/>
          </a:p>
          <a:p>
            <a:pPr marL="0" indent="0" algn="l">
              <a:lnSpc>
                <a:spcPct val="117000"/>
              </a:lnSpc>
              <a:buNone/>
            </a:pPr>
            <a:r>
              <a:rPr lang="en-US" sz="1400" b="1" dirty="0">
                <a:solidFill>
                  <a:srgbClr val="2B2A26"/>
                </a:solidFill>
                <a:latin typeface="Alegreya Bold" pitchFamily="34" charset="0"/>
                <a:ea typeface="Alegreya Bold" pitchFamily="34" charset="-122"/>
                <a:cs typeface="Alegreya Bold" pitchFamily="34" charset="0"/>
              </a:rPr>
              <a:t>Bài toán quy mô nhỏ:</a:t>
            </a:r>
            <a:r>
              <a:rPr lang="en-US" sz="1400" dirty="0">
                <a:solidFill>
                  <a:srgbClr val="2B2A26"/>
                </a:solidFill>
                <a:latin typeface="Alegreya" pitchFamily="34" charset="0"/>
                <a:ea typeface="Alegreya" pitchFamily="34" charset="-122"/>
                <a:cs typeface="Alegreya" pitchFamily="34" charset="0"/>
              </a:rPr>
              <a:t> Với vài phần tử đơn giản, chi phí khởi tạo có thể chậm hơn list.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Ứng dụng thực tế</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trọng tâm xử lý số học trong các lĩnh vực công nghệ mũi nhọn</a:t>
            </a:r>
            <a:endParaRPr lang="en-US" sz="2200" dirty="0"/>
          </a:p>
        </p:txBody>
      </p:sp>
      <p:sp>
        <p:nvSpPr>
          <p:cNvPr id="5" name="Shape 3"/>
          <p:cNvSpPr/>
          <p:nvPr/>
        </p:nvSpPr>
        <p:spPr>
          <a:xfrm>
            <a:off x="609585" y="2087166"/>
            <a:ext cx="3555911" cy="2008882"/>
          </a:xfrm>
          <a:prstGeom prst="roundRect">
            <a:avLst>
              <a:gd name="adj" fmla="val 569"/>
            </a:avLst>
          </a:prstGeom>
          <a:solidFill>
            <a:srgbClr val="FFFCF5"/>
          </a:solidFill>
          <a:ln/>
        </p:spPr>
      </p:sp>
      <p:sp>
        <p:nvSpPr>
          <p:cNvPr id="6" name="Shape 4"/>
          <p:cNvSpPr/>
          <p:nvPr/>
        </p:nvSpPr>
        <p:spPr>
          <a:xfrm>
            <a:off x="812780" y="2137966"/>
            <a:ext cx="634984" cy="635000"/>
          </a:xfrm>
          <a:prstGeom prst="ellipse">
            <a:avLst/>
          </a:prstGeom>
          <a:solidFill>
            <a:srgbClr val="931A45"/>
          </a:solidFill>
          <a:ln w="12700">
            <a:solidFill>
              <a:srgbClr val="D89E6F"/>
            </a:solidFill>
            <a:prstDash val="solid"/>
          </a:ln>
        </p:spPr>
      </p:sp>
      <p:pic>
        <p:nvPicPr>
          <p:cNvPr id="7" name="Image 0" descr="preencoded.png"/>
          <p:cNvPicPr>
            <a:picLocks noChangeAspect="1"/>
          </p:cNvPicPr>
          <p:nvPr/>
        </p:nvPicPr>
        <p:blipFill>
          <a:blip r:embed="rId3"/>
          <a:stretch>
            <a:fillRect/>
          </a:stretch>
        </p:blipFill>
        <p:spPr>
          <a:xfrm>
            <a:off x="977876" y="2303066"/>
            <a:ext cx="304792" cy="304800"/>
          </a:xfrm>
          <a:prstGeom prst="rect">
            <a:avLst/>
          </a:prstGeom>
        </p:spPr>
      </p:pic>
      <p:sp>
        <p:nvSpPr>
          <p:cNvPr id="8" name="Text 5"/>
          <p:cNvSpPr/>
          <p:nvPr/>
        </p:nvSpPr>
        <p:spPr>
          <a:xfrm>
            <a:off x="812780" y="2903540"/>
            <a:ext cx="3149521"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Khoa học &amp; Kỹ thuật</a:t>
            </a:r>
            <a:endParaRPr lang="en-US" sz="1700" dirty="0"/>
          </a:p>
        </p:txBody>
      </p:sp>
      <p:sp>
        <p:nvSpPr>
          <p:cNvPr id="9" name="Text 6"/>
          <p:cNvSpPr/>
          <p:nvPr/>
        </p:nvSpPr>
        <p:spPr>
          <a:xfrm>
            <a:off x="812780" y="3298726"/>
            <a:ext cx="3149521"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Giải phương trình vi phân, biến đổi tín hiệu số và mô phỏng vật lý đại số.</a:t>
            </a:r>
            <a:endParaRPr lang="en-US" sz="1400" dirty="0"/>
          </a:p>
        </p:txBody>
      </p:sp>
      <p:sp>
        <p:nvSpPr>
          <p:cNvPr id="10" name="Shape 7"/>
          <p:cNvSpPr/>
          <p:nvPr/>
        </p:nvSpPr>
        <p:spPr>
          <a:xfrm>
            <a:off x="4317892" y="2087166"/>
            <a:ext cx="3555911" cy="2008882"/>
          </a:xfrm>
          <a:prstGeom prst="roundRect">
            <a:avLst>
              <a:gd name="adj" fmla="val 569"/>
            </a:avLst>
          </a:prstGeom>
          <a:solidFill>
            <a:srgbClr val="FFFCF5"/>
          </a:solidFill>
          <a:ln/>
        </p:spPr>
      </p:sp>
      <p:sp>
        <p:nvSpPr>
          <p:cNvPr id="11" name="Shape 8"/>
          <p:cNvSpPr/>
          <p:nvPr/>
        </p:nvSpPr>
        <p:spPr>
          <a:xfrm>
            <a:off x="4521087" y="2137966"/>
            <a:ext cx="634984" cy="635000"/>
          </a:xfrm>
          <a:prstGeom prst="ellipse">
            <a:avLst/>
          </a:prstGeom>
          <a:solidFill>
            <a:srgbClr val="931A45"/>
          </a:solidFill>
          <a:ln w="12700">
            <a:solidFill>
              <a:srgbClr val="D89E6F"/>
            </a:solidFill>
            <a:prstDash val="solid"/>
          </a:ln>
        </p:spPr>
      </p:sp>
      <p:pic>
        <p:nvPicPr>
          <p:cNvPr id="12" name="Image 1" descr="preencoded.png"/>
          <p:cNvPicPr>
            <a:picLocks noChangeAspect="1"/>
          </p:cNvPicPr>
          <p:nvPr/>
        </p:nvPicPr>
        <p:blipFill>
          <a:blip r:embed="rId4"/>
          <a:stretch>
            <a:fillRect/>
          </a:stretch>
        </p:blipFill>
        <p:spPr>
          <a:xfrm>
            <a:off x="4686183" y="2303066"/>
            <a:ext cx="304792" cy="304800"/>
          </a:xfrm>
          <a:prstGeom prst="rect">
            <a:avLst/>
          </a:prstGeom>
        </p:spPr>
      </p:pic>
      <p:sp>
        <p:nvSpPr>
          <p:cNvPr id="13" name="Text 9"/>
          <p:cNvSpPr/>
          <p:nvPr/>
        </p:nvSpPr>
        <p:spPr>
          <a:xfrm>
            <a:off x="4521087" y="2903540"/>
            <a:ext cx="3149521"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Xử lý hình ảnh</a:t>
            </a:r>
            <a:endParaRPr lang="en-US" sz="1700" dirty="0"/>
          </a:p>
        </p:txBody>
      </p:sp>
      <p:sp>
        <p:nvSpPr>
          <p:cNvPr id="14" name="Text 10"/>
          <p:cNvSpPr/>
          <p:nvPr/>
        </p:nvSpPr>
        <p:spPr>
          <a:xfrm>
            <a:off x="4521087" y="3298726"/>
            <a:ext cx="3149521"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Biểu diễn ảnh thành ma trận điểm ảnh 3 chiều (chiều cao × chiều rộng × 3 kênh màu RGB).</a:t>
            </a:r>
            <a:endParaRPr lang="en-US" sz="1400" dirty="0"/>
          </a:p>
        </p:txBody>
      </p:sp>
      <p:sp>
        <p:nvSpPr>
          <p:cNvPr id="15" name="Shape 11"/>
          <p:cNvSpPr/>
          <p:nvPr/>
        </p:nvSpPr>
        <p:spPr>
          <a:xfrm>
            <a:off x="8026199" y="2087166"/>
            <a:ext cx="3555911" cy="2008882"/>
          </a:xfrm>
          <a:prstGeom prst="roundRect">
            <a:avLst>
              <a:gd name="adj" fmla="val 569"/>
            </a:avLst>
          </a:prstGeom>
          <a:solidFill>
            <a:srgbClr val="FFFCF5"/>
          </a:solidFill>
          <a:ln/>
        </p:spPr>
      </p:sp>
      <p:sp>
        <p:nvSpPr>
          <p:cNvPr id="16" name="Shape 12"/>
          <p:cNvSpPr/>
          <p:nvPr/>
        </p:nvSpPr>
        <p:spPr>
          <a:xfrm>
            <a:off x="8229394" y="2137966"/>
            <a:ext cx="634984" cy="635000"/>
          </a:xfrm>
          <a:prstGeom prst="ellipse">
            <a:avLst/>
          </a:prstGeom>
          <a:solidFill>
            <a:srgbClr val="931A45"/>
          </a:solidFill>
          <a:ln w="12700">
            <a:solidFill>
              <a:srgbClr val="D89E6F"/>
            </a:solidFill>
            <a:prstDash val="solid"/>
          </a:ln>
        </p:spPr>
      </p:sp>
      <p:pic>
        <p:nvPicPr>
          <p:cNvPr id="17" name="Image 2" descr="preencoded.png"/>
          <p:cNvPicPr>
            <a:picLocks noChangeAspect="1"/>
          </p:cNvPicPr>
          <p:nvPr/>
        </p:nvPicPr>
        <p:blipFill>
          <a:blip r:embed="rId5"/>
          <a:stretch>
            <a:fillRect/>
          </a:stretch>
        </p:blipFill>
        <p:spPr>
          <a:xfrm>
            <a:off x="8394490" y="2303066"/>
            <a:ext cx="304792" cy="304800"/>
          </a:xfrm>
          <a:prstGeom prst="rect">
            <a:avLst/>
          </a:prstGeom>
        </p:spPr>
      </p:pic>
      <p:sp>
        <p:nvSpPr>
          <p:cNvPr id="18" name="Text 13"/>
          <p:cNvSpPr/>
          <p:nvPr/>
        </p:nvSpPr>
        <p:spPr>
          <a:xfrm>
            <a:off x="8229394" y="2903540"/>
            <a:ext cx="3149521"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Thống kê dữ liệu</a:t>
            </a:r>
            <a:endParaRPr lang="en-US" sz="1700" dirty="0"/>
          </a:p>
        </p:txBody>
      </p:sp>
      <p:sp>
        <p:nvSpPr>
          <p:cNvPr id="19" name="Text 14"/>
          <p:cNvSpPr/>
          <p:nvPr/>
        </p:nvSpPr>
        <p:spPr>
          <a:xfrm>
            <a:off x="8229394" y="3298726"/>
            <a:ext cx="3149521" cy="746522"/>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Tính nhanh trung bình, phương sai, tương quan và trích xuất phân phối mẫu dữ liệu lớn.</a:t>
            </a:r>
            <a:endParaRPr lang="en-US" sz="1400" dirty="0"/>
          </a:p>
        </p:txBody>
      </p:sp>
      <p:sp>
        <p:nvSpPr>
          <p:cNvPr id="20" name="Shape 15"/>
          <p:cNvSpPr/>
          <p:nvPr/>
        </p:nvSpPr>
        <p:spPr>
          <a:xfrm>
            <a:off x="609585" y="4248448"/>
            <a:ext cx="5410065" cy="2008882"/>
          </a:xfrm>
          <a:prstGeom prst="roundRect">
            <a:avLst>
              <a:gd name="adj" fmla="val 569"/>
            </a:avLst>
          </a:prstGeom>
          <a:solidFill>
            <a:srgbClr val="FFFCF5"/>
          </a:solidFill>
          <a:ln/>
        </p:spPr>
      </p:sp>
      <p:sp>
        <p:nvSpPr>
          <p:cNvPr id="21" name="Shape 16"/>
          <p:cNvSpPr/>
          <p:nvPr/>
        </p:nvSpPr>
        <p:spPr>
          <a:xfrm>
            <a:off x="812780" y="4299248"/>
            <a:ext cx="634984" cy="635000"/>
          </a:xfrm>
          <a:prstGeom prst="ellipse">
            <a:avLst/>
          </a:prstGeom>
          <a:solidFill>
            <a:srgbClr val="931A45"/>
          </a:solidFill>
          <a:ln w="12700">
            <a:solidFill>
              <a:srgbClr val="D89E6F"/>
            </a:solidFill>
            <a:prstDash val="solid"/>
          </a:ln>
        </p:spPr>
      </p:sp>
      <p:pic>
        <p:nvPicPr>
          <p:cNvPr id="22" name="Image 3" descr="preencoded.png"/>
          <p:cNvPicPr>
            <a:picLocks noChangeAspect="1"/>
          </p:cNvPicPr>
          <p:nvPr/>
        </p:nvPicPr>
        <p:blipFill>
          <a:blip r:embed="rId6"/>
          <a:stretch>
            <a:fillRect/>
          </a:stretch>
        </p:blipFill>
        <p:spPr>
          <a:xfrm>
            <a:off x="977876" y="4464348"/>
            <a:ext cx="304792" cy="304800"/>
          </a:xfrm>
          <a:prstGeom prst="rect">
            <a:avLst/>
          </a:prstGeom>
        </p:spPr>
      </p:pic>
      <p:sp>
        <p:nvSpPr>
          <p:cNvPr id="23" name="Text 17"/>
          <p:cNvSpPr/>
          <p:nvPr/>
        </p:nvSpPr>
        <p:spPr>
          <a:xfrm>
            <a:off x="812780" y="5064822"/>
            <a:ext cx="500367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Học máy &amp; Deep Learning</a:t>
            </a:r>
            <a:endParaRPr lang="en-US" sz="1700" dirty="0"/>
          </a:p>
        </p:txBody>
      </p:sp>
      <p:sp>
        <p:nvSpPr>
          <p:cNvPr id="24" name="Text 18"/>
          <p:cNvSpPr/>
          <p:nvPr/>
        </p:nvSpPr>
        <p:spPr>
          <a:xfrm>
            <a:off x="812780" y="5460008"/>
            <a:ext cx="500367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Biểu diễn vector đặc trưng, trọng số mạng nơ-ron và tính tích vô hướng ma trận.</a:t>
            </a:r>
            <a:endParaRPr lang="en-US" sz="1400" dirty="0"/>
          </a:p>
        </p:txBody>
      </p:sp>
      <p:sp>
        <p:nvSpPr>
          <p:cNvPr id="25" name="Shape 19"/>
          <p:cNvSpPr/>
          <p:nvPr/>
        </p:nvSpPr>
        <p:spPr>
          <a:xfrm>
            <a:off x="6172046" y="4248448"/>
            <a:ext cx="5410065" cy="2008882"/>
          </a:xfrm>
          <a:prstGeom prst="roundRect">
            <a:avLst>
              <a:gd name="adj" fmla="val 569"/>
            </a:avLst>
          </a:prstGeom>
          <a:solidFill>
            <a:srgbClr val="FFFCF5"/>
          </a:solidFill>
          <a:ln/>
        </p:spPr>
      </p:sp>
      <p:sp>
        <p:nvSpPr>
          <p:cNvPr id="26" name="Shape 20"/>
          <p:cNvSpPr/>
          <p:nvPr/>
        </p:nvSpPr>
        <p:spPr>
          <a:xfrm>
            <a:off x="6375241" y="4299248"/>
            <a:ext cx="634984" cy="635000"/>
          </a:xfrm>
          <a:prstGeom prst="ellipse">
            <a:avLst/>
          </a:prstGeom>
          <a:solidFill>
            <a:srgbClr val="931A45"/>
          </a:solidFill>
          <a:ln w="12700">
            <a:solidFill>
              <a:srgbClr val="D89E6F"/>
            </a:solidFill>
            <a:prstDash val="solid"/>
          </a:ln>
        </p:spPr>
      </p:sp>
      <p:pic>
        <p:nvPicPr>
          <p:cNvPr id="27" name="Image 4" descr="preencoded.png"/>
          <p:cNvPicPr>
            <a:picLocks noChangeAspect="1"/>
          </p:cNvPicPr>
          <p:nvPr/>
        </p:nvPicPr>
        <p:blipFill>
          <a:blip r:embed="rId7"/>
          <a:stretch>
            <a:fillRect/>
          </a:stretch>
        </p:blipFill>
        <p:spPr>
          <a:xfrm>
            <a:off x="6540336" y="4464348"/>
            <a:ext cx="304792" cy="304800"/>
          </a:xfrm>
          <a:prstGeom prst="rect">
            <a:avLst/>
          </a:prstGeom>
        </p:spPr>
      </p:pic>
      <p:sp>
        <p:nvSpPr>
          <p:cNvPr id="28" name="Text 21"/>
          <p:cNvSpPr/>
          <p:nvPr/>
        </p:nvSpPr>
        <p:spPr>
          <a:xfrm>
            <a:off x="6375241" y="5064822"/>
            <a:ext cx="5003675"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Mô phỏng số học</a:t>
            </a:r>
            <a:endParaRPr lang="en-US" sz="1700" dirty="0"/>
          </a:p>
        </p:txBody>
      </p:sp>
      <p:sp>
        <p:nvSpPr>
          <p:cNvPr id="29" name="Text 22"/>
          <p:cNvSpPr/>
          <p:nvPr/>
        </p:nvSpPr>
        <p:spPr>
          <a:xfrm>
            <a:off x="6375241" y="5460008"/>
            <a:ext cx="5003675"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Dự báo khí tượng, khí động học dòng chảy và mô phỏng tài chính rủi ro định lượng.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56684"/>
            <a:ext cx="10972526" cy="412849"/>
          </a:xfrm>
          <a:prstGeom prst="rect">
            <a:avLst/>
          </a:prstGeom>
          <a:noFill/>
          <a:ln/>
        </p:spPr>
        <p:txBody>
          <a:bodyPr wrap="none" lIns="0" tIns="0" rIns="0" bIns="0" rtlCol="0" anchor="t"/>
          <a:lstStyle/>
          <a:p>
            <a:pPr marL="0" indent="0" algn="l">
              <a:lnSpc>
                <a:spcPct val="87000"/>
              </a:lnSpc>
              <a:buNone/>
            </a:pPr>
            <a:r>
              <a:rPr lang="en-US" sz="3100" kern="100" spc="-46" dirty="0">
                <a:solidFill>
                  <a:srgbClr val="1D1E1B"/>
                </a:solidFill>
                <a:latin typeface="Noto Sans Medium" pitchFamily="34" charset="0"/>
                <a:ea typeface="Noto Sans Medium" pitchFamily="34" charset="-122"/>
                <a:cs typeface="Noto Sans Medium" pitchFamily="34" charset="0"/>
              </a:rPr>
              <a:t>Python list và NumPy array</a:t>
            </a:r>
            <a:endParaRPr lang="en-US" sz="3100" dirty="0"/>
          </a:p>
        </p:txBody>
      </p:sp>
      <p:sp>
        <p:nvSpPr>
          <p:cNvPr id="3" name="Shape 1"/>
          <p:cNvSpPr/>
          <p:nvPr/>
        </p:nvSpPr>
        <p:spPr>
          <a:xfrm>
            <a:off x="609585" y="1161256"/>
            <a:ext cx="10972526" cy="12601"/>
          </a:xfrm>
          <a:prstGeom prst="roundRect">
            <a:avLst>
              <a:gd name="adj" fmla="val 49998"/>
            </a:avLst>
          </a:prstGeom>
          <a:solidFill>
            <a:srgbClr val="1D1E1B"/>
          </a:solidFill>
          <a:ln/>
        </p:spPr>
      </p:sp>
      <p:sp>
        <p:nvSpPr>
          <p:cNvPr id="4" name="Text 2"/>
          <p:cNvSpPr/>
          <p:nvPr/>
        </p:nvSpPr>
        <p:spPr>
          <a:xfrm>
            <a:off x="609585" y="1282560"/>
            <a:ext cx="10972526" cy="298648"/>
          </a:xfrm>
          <a:prstGeom prst="rect">
            <a:avLst/>
          </a:prstGeom>
          <a:noFill/>
          <a:ln/>
        </p:spPr>
        <p:txBody>
          <a:bodyPr wrap="none" lIns="0" tIns="0" rIns="0" bIns="62872" rtlCol="0" anchor="t"/>
          <a:lstStyle/>
          <a:p>
            <a:pPr marL="0" indent="0" algn="l">
              <a:lnSpc>
                <a:spcPct val="100000"/>
              </a:lnSpc>
              <a:buNone/>
            </a:pPr>
            <a:r>
              <a:rPr lang="en-US" sz="1550" i="1" dirty="0">
                <a:solidFill>
                  <a:srgbClr val="2B2A26"/>
                </a:solidFill>
                <a:latin typeface="Alegreya" pitchFamily="34" charset="0"/>
                <a:ea typeface="Alegreya" pitchFamily="34" charset="-122"/>
                <a:cs typeface="Alegreya" pitchFamily="34" charset="0"/>
              </a:rPr>
              <a:t>bảng so sánh chi tiết giữa danh sách động và cấu trúc mảng tối ưu</a:t>
            </a:r>
            <a:endParaRPr lang="en-US" sz="1550" dirty="0"/>
          </a:p>
        </p:txBody>
      </p:sp>
      <p:graphicFrame>
        <p:nvGraphicFramePr>
          <p:cNvPr id="9" name="Table 0"/>
          <p:cNvGraphicFramePr>
            <a:graphicFrameLocks noGrp="1"/>
          </p:cNvGraphicFramePr>
          <p:nvPr>
            <p:extLst>
              <p:ext uri="{D42A27DB-BD31-4B8C-83A1-F6EECF244321}">
                <p14:modId xmlns:p14="http://schemas.microsoft.com/office/powerpoint/2010/main" val="2937701354"/>
              </p:ext>
            </p:extLst>
          </p:nvPr>
        </p:nvGraphicFramePr>
        <p:xfrm>
          <a:off x="609585" y="1645741"/>
          <a:ext cx="10972526" cy="5211731"/>
        </p:xfrm>
        <a:graphic>
          <a:graphicData uri="http://schemas.openxmlformats.org/drawingml/2006/table">
            <a:tbl>
              <a:tblPr/>
              <a:tblGrid>
                <a:gridCol w="1958827">
                  <a:extLst>
                    <a:ext uri="{9D8B030D-6E8A-4147-A177-3AD203B41FA5}">
                      <a16:colId xmlns:a16="http://schemas.microsoft.com/office/drawing/2014/main" val="20000"/>
                    </a:ext>
                  </a:extLst>
                </a:gridCol>
                <a:gridCol w="3666140">
                  <a:extLst>
                    <a:ext uri="{9D8B030D-6E8A-4147-A177-3AD203B41FA5}">
                      <a16:colId xmlns:a16="http://schemas.microsoft.com/office/drawing/2014/main" val="20001"/>
                    </a:ext>
                  </a:extLst>
                </a:gridCol>
                <a:gridCol w="4044750">
                  <a:extLst>
                    <a:ext uri="{9D8B030D-6E8A-4147-A177-3AD203B41FA5}">
                      <a16:colId xmlns:a16="http://schemas.microsoft.com/office/drawing/2014/main" val="20002"/>
                    </a:ext>
                  </a:extLst>
                </a:gridCol>
                <a:gridCol w="765751">
                  <a:extLst>
                    <a:ext uri="{9D8B030D-6E8A-4147-A177-3AD203B41FA5}">
                      <a16:colId xmlns:a16="http://schemas.microsoft.com/office/drawing/2014/main" val="20003"/>
                    </a:ext>
                  </a:extLst>
                </a:gridCol>
                <a:gridCol w="537058">
                  <a:extLst>
                    <a:ext uri="{9D8B030D-6E8A-4147-A177-3AD203B41FA5}">
                      <a16:colId xmlns:a16="http://schemas.microsoft.com/office/drawing/2014/main" val="20004"/>
                    </a:ext>
                  </a:extLst>
                </a:gridCol>
              </a:tblGrid>
              <a:tr h="320766">
                <a:tc>
                  <a:txBody>
                    <a:bodyPr/>
                    <a:lstStyle/>
                    <a:p>
                      <a:pPr marL="0" indent="0" algn="l">
                        <a:buNone/>
                      </a:pPr>
                      <a:r>
                        <a:rPr lang="en-US" sz="1200" b="1" i="1" dirty="0">
                          <a:solidFill>
                            <a:srgbClr val="1D1E1B"/>
                          </a:solidFill>
                          <a:latin typeface="Alegreya" pitchFamily="34" charset="0"/>
                          <a:ea typeface="Alegreya" pitchFamily="34" charset="-122"/>
                          <a:cs typeface="Alegreya" pitchFamily="34" charset="0"/>
                        </a:rPr>
                        <a:t>Tiêu chí</a:t>
                      </a:r>
                      <a:endParaRPr lang="en-US" sz="120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200" b="1" i="1" dirty="0">
                          <a:solidFill>
                            <a:srgbClr val="1D1E1B"/>
                          </a:solidFill>
                          <a:latin typeface="Alegreya" pitchFamily="34" charset="0"/>
                          <a:ea typeface="Alegreya" pitchFamily="34" charset="-122"/>
                          <a:cs typeface="Alegreya" pitchFamily="34" charset="0"/>
                        </a:rPr>
                        <a:t>Python list</a:t>
                      </a:r>
                      <a:endParaRPr lang="en-US" sz="120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200" b="1" i="1" dirty="0">
                          <a:solidFill>
                            <a:srgbClr val="1D1E1B"/>
                          </a:solidFill>
                          <a:latin typeface="Alegreya" pitchFamily="34" charset="0"/>
                          <a:ea typeface="Alegreya" pitchFamily="34" charset="-122"/>
                          <a:cs typeface="Alegreya" pitchFamily="34" charset="0"/>
                        </a:rPr>
                        <a:t>NumPy array</a:t>
                      </a:r>
                      <a:endParaRPr lang="en-US" sz="120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0"/>
                  </a:ext>
                </a:extLst>
              </a:tr>
              <a:tr h="303800">
                <a:tc>
                  <a:txBody>
                    <a:bodyPr/>
                    <a:lstStyle/>
                    <a:p>
                      <a:pPr marL="0" indent="0" algn="l">
                        <a:buNone/>
                      </a:pPr>
                      <a:r>
                        <a:rPr lang="en-US" sz="1150" kern="100" spc="11" dirty="0">
                          <a:solidFill>
                            <a:srgbClr val="2B2A26"/>
                          </a:solidFill>
                          <a:latin typeface="Noto Sans" pitchFamily="34" charset="0"/>
                          <a:ea typeface="Noto Sans" pitchFamily="34" charset="-122"/>
                          <a:cs typeface="Noto Sans" pitchFamily="34" charset="0"/>
                        </a:rPr>
                        <a:t>Kiểu dữ liệu</a:t>
                      </a:r>
                      <a:endParaRPr lang="en-US" sz="1150" dirty="0">
                        <a:latin typeface="Noto Sans" charset="0"/>
                        <a:ea typeface="Noto Sans" charset="0"/>
                        <a:cs typeface="Noto Sans"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2B2A26"/>
                          </a:solidFill>
                          <a:latin typeface="Alegreya" pitchFamily="34" charset="0"/>
                          <a:ea typeface="Alegreya" pitchFamily="34" charset="-122"/>
                          <a:cs typeface="Alegreya" pitchFamily="34" charset="0"/>
                        </a:rPr>
                        <a:t>Hỗn hợp (chứa số, chuỗi, object tuỳ ý)</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931A45"/>
                          </a:solidFill>
                          <a:latin typeface="Alegreya" pitchFamily="34" charset="0"/>
                          <a:ea typeface="Alegreya" pitchFamily="34" charset="-122"/>
                          <a:cs typeface="Alegreya" pitchFamily="34" charset="0"/>
                        </a:rPr>
                        <a:t>Đồng nhất, duy nhất một dtype</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1"/>
                  </a:ext>
                </a:extLst>
              </a:tr>
              <a:tr h="310150">
                <a:tc>
                  <a:txBody>
                    <a:bodyPr/>
                    <a:lstStyle/>
                    <a:p>
                      <a:pPr marL="0" indent="0" algn="l">
                        <a:buNone/>
                      </a:pPr>
                      <a:r>
                        <a:rPr lang="en-US" sz="1150" kern="100" spc="11" dirty="0">
                          <a:solidFill>
                            <a:srgbClr val="2B2A26"/>
                          </a:solidFill>
                          <a:latin typeface="Noto Sans" pitchFamily="34" charset="0"/>
                          <a:ea typeface="Noto Sans" pitchFamily="34" charset="-122"/>
                          <a:cs typeface="Noto Sans" pitchFamily="34" charset="0"/>
                        </a:rPr>
                        <a:t>Phép toán * 2</a:t>
                      </a:r>
                      <a:endParaRPr lang="en-US" sz="1150" dirty="0">
                        <a:latin typeface="Noto Sans" charset="0"/>
                        <a:ea typeface="Noto Sans" charset="0"/>
                        <a:cs typeface="Noto Sans"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2B2A26"/>
                          </a:solidFill>
                          <a:latin typeface="Alegreya" pitchFamily="34" charset="0"/>
                          <a:ea typeface="Alegreya" pitchFamily="34" charset="-122"/>
                          <a:cs typeface="Alegreya" pitchFamily="34" charset="0"/>
                        </a:rPr>
                        <a:t>Lặp danh sách: </a:t>
                      </a:r>
                      <a:r>
                        <a:rPr lang="en-US" sz="1150" dirty="0">
                          <a:solidFill>
                            <a:srgbClr val="2B2A26"/>
                          </a:solidFill>
                          <a:latin typeface="Consolas" pitchFamily="34" charset="0"/>
                          <a:ea typeface="Consolas" pitchFamily="34" charset="-122"/>
                          <a:cs typeface="Consolas" pitchFamily="34" charset="0"/>
                        </a:rPr>
                        <a:t>[1,2]*2 → [1,2,1,2]</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931A45"/>
                          </a:solidFill>
                          <a:latin typeface="Alegreya" pitchFamily="34" charset="0"/>
                          <a:ea typeface="Alegreya" pitchFamily="34" charset="-122"/>
                          <a:cs typeface="Alegreya" pitchFamily="34" charset="0"/>
                        </a:rPr>
                        <a:t>Nhân từng phần tử: </a:t>
                      </a:r>
                      <a:r>
                        <a:rPr lang="en-US" sz="1150" dirty="0">
                          <a:solidFill>
                            <a:srgbClr val="931A45"/>
                          </a:solidFill>
                          <a:latin typeface="Consolas" pitchFamily="34" charset="0"/>
                          <a:ea typeface="Consolas" pitchFamily="34" charset="-122"/>
                          <a:cs typeface="Consolas" pitchFamily="34" charset="0"/>
                        </a:rPr>
                        <a:t>array([2, 4])</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2"/>
                  </a:ext>
                </a:extLst>
              </a:tr>
              <a:tr h="1667429">
                <a:tc>
                  <a:txBody>
                    <a:bodyPr/>
                    <a:lstStyle/>
                    <a:p>
                      <a:pPr marL="0" indent="0" algn="l">
                        <a:buNone/>
                      </a:pPr>
                      <a:r>
                        <a:rPr lang="en-US" sz="1150" kern="100" spc="11" dirty="0">
                          <a:solidFill>
                            <a:srgbClr val="2B2A26"/>
                          </a:solidFill>
                          <a:latin typeface="Noto Sans" pitchFamily="34" charset="0"/>
                          <a:ea typeface="Noto Sans" pitchFamily="34" charset="-122"/>
                          <a:cs typeface="Noto Sans" pitchFamily="34" charset="0"/>
                        </a:rPr>
                        <a:t>Mảng nhiều chiều</a:t>
                      </a:r>
                      <a:endParaRPr lang="en-US" sz="1150" dirty="0">
                        <a:latin typeface="Noto Sans" charset="0"/>
                        <a:ea typeface="Noto Sans" charset="0"/>
                        <a:cs typeface="Noto Sans"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a:solidFill>
                            <a:srgbClr val="2B2A26"/>
                          </a:solidFill>
                          <a:latin typeface="Alegreya" pitchFamily="34" charset="0"/>
                          <a:ea typeface="Alegreya" pitchFamily="34" charset="-122"/>
                          <a:cs typeface="Alegreya" pitchFamily="34" charset="0"/>
                        </a:rPr>
                        <a:t>List </a:t>
                      </a:r>
                      <a:r>
                        <a:rPr lang="en-US" sz="1150" dirty="0" err="1">
                          <a:solidFill>
                            <a:srgbClr val="2B2A26"/>
                          </a:solidFill>
                          <a:latin typeface="Alegreya" pitchFamily="34" charset="0"/>
                          <a:ea typeface="Alegreya" pitchFamily="34" charset="-122"/>
                          <a:cs typeface="Alegreya" pitchFamily="34" charset="0"/>
                        </a:rPr>
                        <a:t>lồng</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nhau</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có</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thể</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răng</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cưa</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lệch</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độ</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dài</a:t>
                      </a:r>
                      <a:endParaRPr lang="en-US" sz="1150" dirty="0">
                        <a:latin typeface="Alegreya" charset="0"/>
                        <a:ea typeface="Alegreya" charset="0"/>
                        <a:cs typeface="Alegreya" charset="0"/>
                      </a:endParaRPr>
                    </a:p>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err="1">
                          <a:solidFill>
                            <a:srgbClr val="2B2A26"/>
                          </a:solidFill>
                          <a:latin typeface="Alegreya" pitchFamily="34" charset="0"/>
                          <a:ea typeface="Alegreya" pitchFamily="34" charset="-122"/>
                          <a:cs typeface="Alegreya" pitchFamily="34" charset="0"/>
                        </a:rPr>
                        <a:t>Mảng</a:t>
                      </a:r>
                      <a:r>
                        <a:rPr lang="en-US" sz="1150" dirty="0">
                          <a:solidFill>
                            <a:srgbClr val="2B2A26"/>
                          </a:solidFill>
                          <a:latin typeface="Alegreya" pitchFamily="34" charset="0"/>
                          <a:ea typeface="Alegreya" pitchFamily="34" charset="-122"/>
                          <a:cs typeface="Alegreya" pitchFamily="34" charset="0"/>
                        </a:rPr>
                        <a:t> N </a:t>
                      </a:r>
                      <a:r>
                        <a:rPr lang="en-US" sz="1150" dirty="0" err="1">
                          <a:solidFill>
                            <a:srgbClr val="2B2A26"/>
                          </a:solidFill>
                          <a:latin typeface="Alegreya" pitchFamily="34" charset="0"/>
                          <a:ea typeface="Alegreya" pitchFamily="34" charset="-122"/>
                          <a:cs typeface="Alegreya" pitchFamily="34" charset="0"/>
                        </a:rPr>
                        <a:t>chiều</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kích</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thước</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lưới</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chuẩn</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xác</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định</a:t>
                      </a:r>
                      <a:endParaRPr lang="en-US" sz="1150" dirty="0">
                        <a:latin typeface="Alegreya" charset="0"/>
                        <a:ea typeface="Alegreya" charset="0"/>
                        <a:cs typeface="Alegreya" charset="0"/>
                      </a:endParaRPr>
                    </a:p>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3"/>
                  </a:ext>
                </a:extLst>
              </a:tr>
              <a:tr h="303800">
                <a:tc>
                  <a:txBody>
                    <a:bodyPr/>
                    <a:lstStyle/>
                    <a:p>
                      <a:pPr marL="0" indent="0" algn="l">
                        <a:buNone/>
                      </a:pPr>
                      <a:r>
                        <a:rPr lang="en-US" sz="1150" kern="100" spc="11" dirty="0">
                          <a:solidFill>
                            <a:srgbClr val="2B2A26"/>
                          </a:solidFill>
                          <a:latin typeface="Noto Sans" pitchFamily="34" charset="0"/>
                          <a:ea typeface="Noto Sans" pitchFamily="34" charset="-122"/>
                          <a:cs typeface="Noto Sans" pitchFamily="34" charset="0"/>
                        </a:rPr>
                        <a:t>Vùng bộ nhớ</a:t>
                      </a:r>
                      <a:endParaRPr lang="en-US" sz="1150" dirty="0">
                        <a:latin typeface="Noto Sans" charset="0"/>
                        <a:ea typeface="Noto Sans" charset="0"/>
                        <a:cs typeface="Noto Sans"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2B2A26"/>
                          </a:solidFill>
                          <a:latin typeface="Alegreya" pitchFamily="34" charset="0"/>
                          <a:ea typeface="Alegreya" pitchFamily="34" charset="-122"/>
                          <a:cs typeface="Alegreya" pitchFamily="34" charset="0"/>
                        </a:rPr>
                        <a:t>Con trỏ đối tượng phân tán trong RAM</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931A45"/>
                          </a:solidFill>
                          <a:latin typeface="Alegreya" pitchFamily="34" charset="0"/>
                          <a:ea typeface="Alegreya" pitchFamily="34" charset="-122"/>
                          <a:cs typeface="Alegreya" pitchFamily="34" charset="0"/>
                        </a:rPr>
                        <a:t>Khối bộ nhớ liền mạch, nhỏ gọn</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4"/>
                  </a:ext>
                </a:extLst>
              </a:tr>
              <a:tr h="303800">
                <a:tc>
                  <a:txBody>
                    <a:bodyPr/>
                    <a:lstStyle/>
                    <a:p>
                      <a:pPr marL="0" indent="0" algn="l">
                        <a:buNone/>
                      </a:pPr>
                      <a:r>
                        <a:rPr lang="en-US" sz="1150" kern="100" spc="11" dirty="0">
                          <a:solidFill>
                            <a:srgbClr val="2B2A26"/>
                          </a:solidFill>
                          <a:latin typeface="Noto Sans" pitchFamily="34" charset="0"/>
                          <a:ea typeface="Noto Sans" pitchFamily="34" charset="-122"/>
                          <a:cs typeface="Noto Sans" pitchFamily="34" charset="0"/>
                        </a:rPr>
                        <a:t>Hiệu năng</a:t>
                      </a:r>
                      <a:endParaRPr lang="en-US" sz="1150" dirty="0">
                        <a:latin typeface="Noto Sans" charset="0"/>
                        <a:ea typeface="Noto Sans" charset="0"/>
                        <a:cs typeface="Noto Sans"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2B2A26"/>
                          </a:solidFill>
                          <a:latin typeface="Alegreya" pitchFamily="34" charset="0"/>
                          <a:ea typeface="Alegreya" pitchFamily="34" charset="-122"/>
                          <a:cs typeface="Alegreya" pitchFamily="34" charset="0"/>
                        </a:rPr>
                        <a:t>Chậm do vòng lặp bytecode thông dịch</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lgn="l">
                        <a:buNone/>
                      </a:pPr>
                      <a:r>
                        <a:rPr lang="en-US" sz="1150" dirty="0">
                          <a:solidFill>
                            <a:srgbClr val="931A45"/>
                          </a:solidFill>
                          <a:latin typeface="Alegreya" pitchFamily="34" charset="0"/>
                          <a:ea typeface="Alegreya" pitchFamily="34" charset="-122"/>
                          <a:cs typeface="Alegreya" pitchFamily="34" charset="0"/>
                        </a:rPr>
                        <a:t>Cực nhanh nhờ vector hoá mã nguồn C</a:t>
                      </a: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tc>
                  <a:txBody>
                    <a:bodyPr/>
                    <a:lstStyle/>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1D1E1B"/>
                      </a:solidFill>
                      <a:prstDash val="solid"/>
                      <a:round/>
                      <a:headEnd type="none" w="med" len="med"/>
                      <a:tailEnd type="none" w="med" len="med"/>
                    </a:lnB>
                  </a:tcPr>
                </a:tc>
                <a:extLst>
                  <a:ext uri="{0D108BD9-81ED-4DB2-BD59-A6C34878D82A}">
                    <a16:rowId xmlns:a16="http://schemas.microsoft.com/office/drawing/2014/main" val="10005"/>
                  </a:ext>
                </a:extLst>
              </a:tr>
              <a:tr h="20019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err="1">
                          <a:solidFill>
                            <a:srgbClr val="2B2A26"/>
                          </a:solidFill>
                          <a:latin typeface="Alegreya" pitchFamily="34" charset="0"/>
                          <a:ea typeface="Alegreya" pitchFamily="34" charset="-122"/>
                          <a:cs typeface="Alegreya" pitchFamily="34" charset="0"/>
                        </a:rPr>
                        <a:t>Kích</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thước</a:t>
                      </a:r>
                      <a:endParaRPr lang="en-US" sz="1150" dirty="0">
                        <a:latin typeface="Alegreya" charset="0"/>
                        <a:ea typeface="Alegreya" charset="0"/>
                        <a:cs typeface="Alegreya" charset="0"/>
                      </a:endParaRPr>
                    </a:p>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a:solidFill>
                            <a:srgbClr val="2B2A26"/>
                          </a:solidFill>
                          <a:latin typeface="Alegreya" pitchFamily="34" charset="0"/>
                          <a:ea typeface="Alegreya" pitchFamily="34" charset="-122"/>
                          <a:cs typeface="Alegreya" pitchFamily="34" charset="0"/>
                        </a:rPr>
                        <a:t>Linh </a:t>
                      </a:r>
                      <a:r>
                        <a:rPr lang="en-US" sz="1150" dirty="0" err="1">
                          <a:solidFill>
                            <a:srgbClr val="2B2A26"/>
                          </a:solidFill>
                          <a:latin typeface="Alegreya" pitchFamily="34" charset="0"/>
                          <a:ea typeface="Alegreya" pitchFamily="34" charset="-122"/>
                          <a:cs typeface="Alegreya" pitchFamily="34" charset="0"/>
                        </a:rPr>
                        <a:t>hoạt</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thêm</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bớt</a:t>
                      </a:r>
                      <a:r>
                        <a:rPr lang="en-US" sz="1150" dirty="0">
                          <a:solidFill>
                            <a:srgbClr val="2B2A26"/>
                          </a:solidFill>
                          <a:latin typeface="Alegreya" pitchFamily="34" charset="0"/>
                          <a:ea typeface="Alegreya" pitchFamily="34" charset="-122"/>
                          <a:cs typeface="Alegreya" pitchFamily="34" charset="0"/>
                        </a:rPr>
                        <a:t> (</a:t>
                      </a:r>
                      <a:r>
                        <a:rPr lang="en-US" sz="1150" dirty="0">
                          <a:solidFill>
                            <a:srgbClr val="2B2A26"/>
                          </a:solidFill>
                          <a:latin typeface="Consolas" pitchFamily="34" charset="0"/>
                          <a:ea typeface="Consolas" pitchFamily="34" charset="-122"/>
                          <a:cs typeface="Consolas" pitchFamily="34" charset="0"/>
                        </a:rPr>
                        <a:t>append</a:t>
                      </a:r>
                      <a:r>
                        <a:rPr lang="en-US" sz="1150" dirty="0">
                          <a:solidFill>
                            <a:srgbClr val="2B2A26"/>
                          </a:solidFill>
                          <a:latin typeface="Alegreya" pitchFamily="34" charset="0"/>
                          <a:ea typeface="Alegreya" pitchFamily="34" charset="-122"/>
                          <a:cs typeface="Alegreya" pitchFamily="34" charset="0"/>
                        </a:rPr>
                        <a:t>, </a:t>
                      </a:r>
                      <a:r>
                        <a:rPr lang="en-US" sz="1150" dirty="0">
                          <a:solidFill>
                            <a:srgbClr val="2B2A26"/>
                          </a:solidFill>
                          <a:latin typeface="Consolas" pitchFamily="34" charset="0"/>
                          <a:ea typeface="Consolas" pitchFamily="34" charset="-122"/>
                          <a:cs typeface="Consolas" pitchFamily="34" charset="0"/>
                        </a:rPr>
                        <a:t>pop</a:t>
                      </a:r>
                      <a:r>
                        <a:rPr lang="en-US" sz="1150" dirty="0">
                          <a:solidFill>
                            <a:srgbClr val="2B2A26"/>
                          </a:solidFill>
                          <a:latin typeface="Alegreya" pitchFamily="34" charset="0"/>
                          <a:ea typeface="Alegreya" pitchFamily="34" charset="-122"/>
                          <a:cs typeface="Alegreya" pitchFamily="34" charset="0"/>
                        </a:rPr>
                        <a:t>)</a:t>
                      </a:r>
                      <a:endParaRPr lang="en-US" sz="1150" dirty="0">
                        <a:latin typeface="Alegreya" charset="0"/>
                        <a:ea typeface="Alegreya" charset="0"/>
                        <a:cs typeface="Alegreya" charset="0"/>
                      </a:endParaRPr>
                    </a:p>
                    <a:p>
                      <a:pPr marL="0" indent="0">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dirty="0" err="1">
                          <a:solidFill>
                            <a:srgbClr val="2B2A26"/>
                          </a:solidFill>
                          <a:latin typeface="Alegreya" pitchFamily="34" charset="0"/>
                          <a:ea typeface="Alegreya" pitchFamily="34" charset="-122"/>
                          <a:cs typeface="Alegreya" pitchFamily="34" charset="0"/>
                        </a:rPr>
                        <a:t>Cố</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định</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sau</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khi</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tạo</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thay</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đổi</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cần</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tạo</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mảng</a:t>
                      </a:r>
                      <a:r>
                        <a:rPr lang="en-US" sz="1150" dirty="0">
                          <a:solidFill>
                            <a:srgbClr val="2B2A26"/>
                          </a:solidFill>
                          <a:latin typeface="Alegreya" pitchFamily="34" charset="0"/>
                          <a:ea typeface="Alegreya" pitchFamily="34" charset="-122"/>
                          <a:cs typeface="Alegreya" pitchFamily="34" charset="0"/>
                        </a:rPr>
                        <a:t> </a:t>
                      </a:r>
                      <a:r>
                        <a:rPr lang="en-US" sz="1150" dirty="0" err="1">
                          <a:solidFill>
                            <a:srgbClr val="2B2A26"/>
                          </a:solidFill>
                          <a:latin typeface="Alegreya" pitchFamily="34" charset="0"/>
                          <a:ea typeface="Alegreya" pitchFamily="34" charset="-122"/>
                          <a:cs typeface="Alegreya" pitchFamily="34" charset="0"/>
                        </a:rPr>
                        <a:t>mới</a:t>
                      </a:r>
                      <a:r>
                        <a:rPr lang="en-US" sz="1150" dirty="0">
                          <a:solidFill>
                            <a:srgbClr val="2B2A26"/>
                          </a:solidFill>
                          <a:latin typeface="Alegreya" pitchFamily="34" charset="0"/>
                          <a:ea typeface="Alegreya" pitchFamily="34" charset="-122"/>
                          <a:cs typeface="Alegreya" pitchFamily="34" charset="0"/>
                        </a:rPr>
                        <a:t>)</a:t>
                      </a:r>
                      <a:endParaRPr lang="en-US" sz="1150" dirty="0">
                        <a:latin typeface="Alegreya" charset="0"/>
                        <a:ea typeface="Alegreya" charset="0"/>
                        <a:cs typeface="Alegreya" charset="0"/>
                      </a:endParaRPr>
                    </a:p>
                    <a:p>
                      <a:pPr marL="0" indent="0" algn="l">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indent="0" algn="l">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indent="0" algn="l">
                        <a:buNone/>
                      </a:pPr>
                      <a:endParaRPr lang="en-US" sz="1150" dirty="0">
                        <a:latin typeface="Alegreya" charset="0"/>
                        <a:ea typeface="Alegreya" charset="0"/>
                        <a:cs typeface="Alegreya" charset="0"/>
                      </a:endParaRPr>
                    </a:p>
                  </a:txBody>
                  <a:tcPr marL="64008" marR="177796" marT="63498" marB="63498"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1D1E1B"/>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Cấu trúc mảng: 0D, 1D, 2D, nD</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từ một điểm vô hướng đơn lẻ đến không gian tensor nhiều chiều</a:t>
            </a:r>
            <a:endParaRPr lang="en-US" sz="2200" dirty="0"/>
          </a:p>
        </p:txBody>
      </p:sp>
      <p:sp>
        <p:nvSpPr>
          <p:cNvPr id="5" name="Shape 3"/>
          <p:cNvSpPr/>
          <p:nvPr/>
        </p:nvSpPr>
        <p:spPr>
          <a:xfrm>
            <a:off x="609585" y="2087166"/>
            <a:ext cx="2514537" cy="4161234"/>
          </a:xfrm>
          <a:prstGeom prst="rect">
            <a:avLst/>
          </a:prstGeom>
          <a:solidFill>
            <a:srgbClr val="FFFCF5"/>
          </a:solidFill>
          <a:ln w="12700">
            <a:solidFill>
              <a:srgbClr val="6E6A60"/>
            </a:solidFill>
            <a:prstDash val="solid"/>
          </a:ln>
        </p:spPr>
      </p:sp>
      <p:sp>
        <p:nvSpPr>
          <p:cNvPr id="6" name="Text 4"/>
          <p:cNvSpPr/>
          <p:nvPr/>
        </p:nvSpPr>
        <p:spPr>
          <a:xfrm>
            <a:off x="800080" y="2165747"/>
            <a:ext cx="2324042"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0-D SCALAR</a:t>
            </a:r>
            <a:endParaRPr lang="en-US" sz="1300" dirty="0"/>
          </a:p>
        </p:txBody>
      </p:sp>
      <p:sp>
        <p:nvSpPr>
          <p:cNvPr id="7" name="Text 5"/>
          <p:cNvSpPr/>
          <p:nvPr/>
        </p:nvSpPr>
        <p:spPr>
          <a:xfrm>
            <a:off x="800080" y="2449515"/>
            <a:ext cx="2133547"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Một giá trị</a:t>
            </a:r>
            <a:endParaRPr lang="en-US" sz="1700" dirty="0"/>
          </a:p>
        </p:txBody>
      </p:sp>
      <p:sp>
        <p:nvSpPr>
          <p:cNvPr id="8" name="Text 6"/>
          <p:cNvSpPr/>
          <p:nvPr/>
        </p:nvSpPr>
        <p:spPr>
          <a:xfrm>
            <a:off x="800080" y="2844701"/>
            <a:ext cx="2133547"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Điểm số học đơn lẻ, không có chiều toạ độ.</a:t>
            </a:r>
            <a:endParaRPr lang="en-US" sz="1400" dirty="0"/>
          </a:p>
        </p:txBody>
      </p:sp>
      <p:sp>
        <p:nvSpPr>
          <p:cNvPr id="9" name="Shape 7"/>
          <p:cNvSpPr/>
          <p:nvPr/>
        </p:nvSpPr>
        <p:spPr>
          <a:xfrm>
            <a:off x="800080" y="3570982"/>
            <a:ext cx="2133547" cy="1056481"/>
          </a:xfrm>
          <a:prstGeom prst="roundRect">
            <a:avLst>
              <a:gd name="adj" fmla="val 1082"/>
            </a:avLst>
          </a:prstGeom>
          <a:solidFill>
            <a:srgbClr val="FFFCF5"/>
          </a:solidFill>
          <a:ln/>
        </p:spPr>
      </p:sp>
      <p:sp>
        <p:nvSpPr>
          <p:cNvPr id="10" name="Text 8"/>
          <p:cNvSpPr/>
          <p:nvPr/>
        </p:nvSpPr>
        <p:spPr>
          <a:xfrm>
            <a:off x="1043854" y="3774182"/>
            <a:ext cx="1645998" cy="650081"/>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np.array(7)</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shape: ()</a:t>
            </a:r>
            <a:endParaRPr lang="en-US" sz="1600" dirty="0"/>
          </a:p>
        </p:txBody>
      </p:sp>
      <p:sp>
        <p:nvSpPr>
          <p:cNvPr id="11" name="Text 9"/>
          <p:cNvSpPr/>
          <p:nvPr/>
        </p:nvSpPr>
        <p:spPr>
          <a:xfrm>
            <a:off x="800080" y="4856857"/>
            <a:ext cx="2324042"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Biểu tượng: dấu chấm đơn vị</a:t>
            </a:r>
            <a:endParaRPr lang="en-US" sz="1250" dirty="0"/>
          </a:p>
        </p:txBody>
      </p:sp>
      <p:sp>
        <p:nvSpPr>
          <p:cNvPr id="12" name="Shape 10"/>
          <p:cNvSpPr/>
          <p:nvPr/>
        </p:nvSpPr>
        <p:spPr>
          <a:xfrm>
            <a:off x="3428914" y="2087166"/>
            <a:ext cx="2514537" cy="4161234"/>
          </a:xfrm>
          <a:prstGeom prst="rect">
            <a:avLst/>
          </a:prstGeom>
          <a:solidFill>
            <a:srgbClr val="FFFCF5"/>
          </a:solidFill>
          <a:ln w="12700">
            <a:solidFill>
              <a:srgbClr val="6E6A60"/>
            </a:solidFill>
            <a:prstDash val="solid"/>
          </a:ln>
        </p:spPr>
      </p:sp>
      <p:sp>
        <p:nvSpPr>
          <p:cNvPr id="13" name="Text 11"/>
          <p:cNvSpPr/>
          <p:nvPr/>
        </p:nvSpPr>
        <p:spPr>
          <a:xfrm>
            <a:off x="3619409" y="2165747"/>
            <a:ext cx="2324042"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1-D VECTOR</a:t>
            </a:r>
            <a:endParaRPr lang="en-US" sz="1300" dirty="0"/>
          </a:p>
        </p:txBody>
      </p:sp>
      <p:sp>
        <p:nvSpPr>
          <p:cNvPr id="14" name="Text 12"/>
          <p:cNvSpPr/>
          <p:nvPr/>
        </p:nvSpPr>
        <p:spPr>
          <a:xfrm>
            <a:off x="3619409" y="2449515"/>
            <a:ext cx="2133547"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Dãy 1 chiều</a:t>
            </a:r>
            <a:endParaRPr lang="en-US" sz="1700" dirty="0"/>
          </a:p>
        </p:txBody>
      </p:sp>
      <p:sp>
        <p:nvSpPr>
          <p:cNvPr id="15" name="Text 13"/>
          <p:cNvSpPr/>
          <p:nvPr/>
        </p:nvSpPr>
        <p:spPr>
          <a:xfrm>
            <a:off x="3619409" y="2844701"/>
            <a:ext cx="2133547"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Chuỗi phần tử liên tiếp theo một trục duy nhất.</a:t>
            </a:r>
            <a:endParaRPr lang="en-US" sz="1400" dirty="0"/>
          </a:p>
        </p:txBody>
      </p:sp>
      <p:sp>
        <p:nvSpPr>
          <p:cNvPr id="16" name="Shape 14"/>
          <p:cNvSpPr/>
          <p:nvPr/>
        </p:nvSpPr>
        <p:spPr>
          <a:xfrm>
            <a:off x="3619409" y="3570982"/>
            <a:ext cx="2133547" cy="1056481"/>
          </a:xfrm>
          <a:prstGeom prst="roundRect">
            <a:avLst>
              <a:gd name="adj" fmla="val 1082"/>
            </a:avLst>
          </a:prstGeom>
          <a:solidFill>
            <a:srgbClr val="FFFCF5"/>
          </a:solidFill>
          <a:ln/>
        </p:spPr>
      </p:sp>
      <p:sp>
        <p:nvSpPr>
          <p:cNvPr id="17" name="Text 15"/>
          <p:cNvSpPr/>
          <p:nvPr/>
        </p:nvSpPr>
        <p:spPr>
          <a:xfrm>
            <a:off x="3863184" y="3774182"/>
            <a:ext cx="1645998" cy="650081"/>
          </a:xfrm>
          <a:prstGeom prst="rect">
            <a:avLst/>
          </a:prstGeom>
          <a:noFill/>
          <a:ln/>
        </p:spPr>
        <p:txBody>
          <a:bodyPr wrap="square" lIns="0" tIns="0" rIns="0" bIns="0" rtlCol="0" anchor="t">
            <a:normAutofit fontScale="77500" lnSpcReduction="20000"/>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np.array([1, 2, 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shape: (3,)</a:t>
            </a:r>
            <a:endParaRPr lang="en-US" sz="1600" dirty="0"/>
          </a:p>
        </p:txBody>
      </p:sp>
      <p:sp>
        <p:nvSpPr>
          <p:cNvPr id="18" name="Text 16"/>
          <p:cNvSpPr/>
          <p:nvPr/>
        </p:nvSpPr>
        <p:spPr>
          <a:xfrm>
            <a:off x="3619409" y="4856857"/>
            <a:ext cx="2324042"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Biểu tượng: một hàng các ô</a:t>
            </a:r>
            <a:endParaRPr lang="en-US" sz="1250" dirty="0"/>
          </a:p>
        </p:txBody>
      </p:sp>
      <p:sp>
        <p:nvSpPr>
          <p:cNvPr id="19" name="Shape 17"/>
          <p:cNvSpPr/>
          <p:nvPr/>
        </p:nvSpPr>
        <p:spPr>
          <a:xfrm>
            <a:off x="6248244" y="2087166"/>
            <a:ext cx="2514537" cy="4161234"/>
          </a:xfrm>
          <a:prstGeom prst="rect">
            <a:avLst/>
          </a:prstGeom>
          <a:solidFill>
            <a:srgbClr val="FFFCF5"/>
          </a:solidFill>
          <a:ln w="12700">
            <a:solidFill>
              <a:srgbClr val="931A45"/>
            </a:solidFill>
            <a:prstDash val="solid"/>
          </a:ln>
        </p:spPr>
      </p:sp>
      <p:sp>
        <p:nvSpPr>
          <p:cNvPr id="20" name="Text 18"/>
          <p:cNvSpPr/>
          <p:nvPr/>
        </p:nvSpPr>
        <p:spPr>
          <a:xfrm>
            <a:off x="6438739" y="2165747"/>
            <a:ext cx="2324042"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931A45"/>
                </a:solidFill>
                <a:latin typeface="Noto Sans Medium" pitchFamily="34" charset="0"/>
                <a:ea typeface="Noto Sans Medium" pitchFamily="34" charset="-122"/>
                <a:cs typeface="Noto Sans Medium" pitchFamily="34" charset="0"/>
              </a:rPr>
              <a:t>2-D MATRIX</a:t>
            </a:r>
            <a:endParaRPr lang="en-US" sz="1300" dirty="0"/>
          </a:p>
        </p:txBody>
      </p:sp>
      <p:sp>
        <p:nvSpPr>
          <p:cNvPr id="21" name="Text 19"/>
          <p:cNvSpPr/>
          <p:nvPr/>
        </p:nvSpPr>
        <p:spPr>
          <a:xfrm>
            <a:off x="6438739" y="2449515"/>
            <a:ext cx="2133547" cy="259060"/>
          </a:xfrm>
          <a:prstGeom prst="rect">
            <a:avLst/>
          </a:prstGeom>
          <a:noFill/>
          <a:ln/>
        </p:spPr>
        <p:txBody>
          <a:bodyPr wrap="none" lIns="0" tIns="0" rIns="0" bIns="0" rtlCol="0" anchor="t"/>
          <a:lstStyle/>
          <a:p>
            <a:pPr marL="0" indent="0" algn="l">
              <a:lnSpc>
                <a:spcPct val="100000"/>
              </a:lnSpc>
              <a:buNone/>
            </a:pPr>
            <a:r>
              <a:rPr lang="en-US" sz="1700" b="1" i="1" dirty="0">
                <a:solidFill>
                  <a:srgbClr val="931A45"/>
                </a:solidFill>
                <a:latin typeface="Alegreya Bold" pitchFamily="34" charset="0"/>
                <a:ea typeface="Alegreya Bold" pitchFamily="34" charset="-122"/>
                <a:cs typeface="Alegreya Bold" pitchFamily="34" charset="0"/>
              </a:rPr>
              <a:t>Bảng ma trận</a:t>
            </a:r>
            <a:endParaRPr lang="en-US" sz="1700" dirty="0"/>
          </a:p>
        </p:txBody>
      </p:sp>
      <p:sp>
        <p:nvSpPr>
          <p:cNvPr id="22" name="Text 20"/>
          <p:cNvSpPr/>
          <p:nvPr/>
        </p:nvSpPr>
        <p:spPr>
          <a:xfrm>
            <a:off x="6438739" y="2844701"/>
            <a:ext cx="2133547"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Tổ chức dạng hàng và cột giao thoa (2 trục).</a:t>
            </a:r>
            <a:endParaRPr lang="en-US" sz="1400" dirty="0"/>
          </a:p>
        </p:txBody>
      </p:sp>
      <p:sp>
        <p:nvSpPr>
          <p:cNvPr id="23" name="Shape 21"/>
          <p:cNvSpPr/>
          <p:nvPr/>
        </p:nvSpPr>
        <p:spPr>
          <a:xfrm>
            <a:off x="6438739" y="3570982"/>
            <a:ext cx="2133547" cy="1381522"/>
          </a:xfrm>
          <a:prstGeom prst="roundRect">
            <a:avLst>
              <a:gd name="adj" fmla="val 827"/>
            </a:avLst>
          </a:prstGeom>
          <a:solidFill>
            <a:srgbClr val="FFFCF5"/>
          </a:solidFill>
          <a:ln/>
        </p:spPr>
      </p:sp>
      <p:sp>
        <p:nvSpPr>
          <p:cNvPr id="24" name="Text 22"/>
          <p:cNvSpPr/>
          <p:nvPr/>
        </p:nvSpPr>
        <p:spPr>
          <a:xfrm>
            <a:off x="6682513" y="3774182"/>
            <a:ext cx="1645998" cy="975122"/>
          </a:xfrm>
          <a:prstGeom prst="rect">
            <a:avLst/>
          </a:prstGeom>
          <a:noFill/>
          <a:ln/>
        </p:spPr>
        <p:txBody>
          <a:bodyPr wrap="square" lIns="0" tIns="0" rIns="0" bIns="0" rtlCol="0" anchor="t">
            <a:normAutofit fontScale="77500" lnSpcReduction="20000"/>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np.array([[1,2,3],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[4,5,6]])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shape: (2, 3)</a:t>
            </a:r>
            <a:endParaRPr lang="en-US" sz="1600" dirty="0"/>
          </a:p>
        </p:txBody>
      </p:sp>
      <p:sp>
        <p:nvSpPr>
          <p:cNvPr id="25" name="Text 23"/>
          <p:cNvSpPr/>
          <p:nvPr/>
        </p:nvSpPr>
        <p:spPr>
          <a:xfrm>
            <a:off x="6438739" y="5181898"/>
            <a:ext cx="2324042"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Biểu tượng: lưới bảng chữ nhật</a:t>
            </a:r>
            <a:endParaRPr lang="en-US" sz="1250" dirty="0"/>
          </a:p>
        </p:txBody>
      </p:sp>
      <p:sp>
        <p:nvSpPr>
          <p:cNvPr id="26" name="Shape 24"/>
          <p:cNvSpPr/>
          <p:nvPr/>
        </p:nvSpPr>
        <p:spPr>
          <a:xfrm>
            <a:off x="9067573" y="2087166"/>
            <a:ext cx="2514537" cy="4161234"/>
          </a:xfrm>
          <a:prstGeom prst="rect">
            <a:avLst/>
          </a:prstGeom>
          <a:solidFill>
            <a:srgbClr val="FFFCF5"/>
          </a:solidFill>
          <a:ln w="12700">
            <a:solidFill>
              <a:srgbClr val="6E6A60"/>
            </a:solidFill>
            <a:prstDash val="solid"/>
          </a:ln>
        </p:spPr>
      </p:sp>
      <p:sp>
        <p:nvSpPr>
          <p:cNvPr id="27" name="Text 25"/>
          <p:cNvSpPr/>
          <p:nvPr/>
        </p:nvSpPr>
        <p:spPr>
          <a:xfrm>
            <a:off x="9258068" y="2165747"/>
            <a:ext cx="2324042"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3-D / N-D TENSOR</a:t>
            </a:r>
            <a:endParaRPr lang="en-US" sz="1300" dirty="0"/>
          </a:p>
        </p:txBody>
      </p:sp>
      <p:sp>
        <p:nvSpPr>
          <p:cNvPr id="28" name="Text 26"/>
          <p:cNvSpPr/>
          <p:nvPr/>
        </p:nvSpPr>
        <p:spPr>
          <a:xfrm>
            <a:off x="9258068" y="2449515"/>
            <a:ext cx="2133547" cy="259060"/>
          </a:xfrm>
          <a:prstGeom prst="rect">
            <a:avLst/>
          </a:prstGeom>
          <a:noFill/>
          <a:ln/>
        </p:spPr>
        <p:txBody>
          <a:bodyPr wrap="none" lIns="0" tIns="0" rIns="0" bIns="0" rtlCol="0" anchor="t"/>
          <a:lstStyle/>
          <a:p>
            <a:pPr marL="0" indent="0" algn="l">
              <a:lnSpc>
                <a:spcPct val="100000"/>
              </a:lnSpc>
              <a:buNone/>
            </a:pPr>
            <a:r>
              <a:rPr lang="en-US" sz="1700" b="1" i="1" dirty="0">
                <a:solidFill>
                  <a:srgbClr val="2B2A26"/>
                </a:solidFill>
                <a:latin typeface="Alegreya Bold" pitchFamily="34" charset="0"/>
                <a:ea typeface="Alegreya Bold" pitchFamily="34" charset="-122"/>
                <a:cs typeface="Alegreya Bold" pitchFamily="34" charset="0"/>
              </a:rPr>
              <a:t>Khối đa chiều</a:t>
            </a:r>
            <a:endParaRPr lang="en-US" sz="1700" dirty="0"/>
          </a:p>
        </p:txBody>
      </p:sp>
      <p:sp>
        <p:nvSpPr>
          <p:cNvPr id="29" name="Text 27"/>
          <p:cNvSpPr/>
          <p:nvPr/>
        </p:nvSpPr>
        <p:spPr>
          <a:xfrm>
            <a:off x="9258068" y="2844701"/>
            <a:ext cx="2133547"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Tập hợp các bảng 2D xếp chồng theo chiều sâu.</a:t>
            </a:r>
            <a:endParaRPr lang="en-US" sz="1400" dirty="0"/>
          </a:p>
        </p:txBody>
      </p:sp>
      <p:sp>
        <p:nvSpPr>
          <p:cNvPr id="30" name="Shape 28"/>
          <p:cNvSpPr/>
          <p:nvPr/>
        </p:nvSpPr>
        <p:spPr>
          <a:xfrm>
            <a:off x="9258068" y="3570982"/>
            <a:ext cx="2133547" cy="1056481"/>
          </a:xfrm>
          <a:prstGeom prst="roundRect">
            <a:avLst>
              <a:gd name="adj" fmla="val 1082"/>
            </a:avLst>
          </a:prstGeom>
          <a:solidFill>
            <a:srgbClr val="FFFCF5"/>
          </a:solidFill>
          <a:ln/>
        </p:spPr>
      </p:sp>
      <p:sp>
        <p:nvSpPr>
          <p:cNvPr id="31" name="Text 29"/>
          <p:cNvSpPr/>
          <p:nvPr/>
        </p:nvSpPr>
        <p:spPr>
          <a:xfrm>
            <a:off x="9501843" y="3774182"/>
            <a:ext cx="1645998" cy="650081"/>
          </a:xfrm>
          <a:prstGeom prst="rect">
            <a:avLst/>
          </a:prstGeom>
          <a:noFill/>
          <a:ln/>
        </p:spPr>
        <p:txBody>
          <a:bodyPr wrap="square" lIns="0" tIns="0" rIns="0" bIns="0" rtlCol="0" anchor="t">
            <a:normAutofit fontScale="77500" lnSpcReduction="20000"/>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np.zeros((2, 3, 4))</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shape: (2, 3, 4)</a:t>
            </a:r>
            <a:endParaRPr lang="en-US" sz="1600" dirty="0"/>
          </a:p>
        </p:txBody>
      </p:sp>
      <p:sp>
        <p:nvSpPr>
          <p:cNvPr id="32" name="Text 30"/>
          <p:cNvSpPr/>
          <p:nvPr/>
        </p:nvSpPr>
        <p:spPr>
          <a:xfrm>
            <a:off x="9258068" y="4856857"/>
            <a:ext cx="2324042"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Biểu tượng: khối hộp không gian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Bốn thuộc tính quan trọng</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tấm "hộ chiếu nhận diện" của bất kỳ mảng ndarray nào</a:t>
            </a:r>
            <a:endParaRPr lang="en-US" sz="2200" dirty="0"/>
          </a:p>
        </p:txBody>
      </p:sp>
      <p:sp>
        <p:nvSpPr>
          <p:cNvPr id="5" name="Text 3"/>
          <p:cNvSpPr/>
          <p:nvPr/>
        </p:nvSpPr>
        <p:spPr>
          <a:xfrm>
            <a:off x="609585" y="2456656"/>
            <a:ext cx="4206075" cy="1258491"/>
          </a:xfrm>
          <a:prstGeom prst="rect">
            <a:avLst/>
          </a:prstGeom>
          <a:noFill/>
          <a:ln/>
        </p:spPr>
        <p:txBody>
          <a:bodyPr wrap="square" lIns="0" tIns="0" rIns="0" bIns="0" rtlCol="0" anchor="t">
            <a:normAutofit fontScale="92500"/>
          </a:bodyPr>
          <a:lstStyle/>
          <a:p>
            <a:pPr marL="0" indent="0" algn="l">
              <a:lnSpc>
                <a:spcPct val="117000"/>
              </a:lnSpc>
              <a:spcAft>
                <a:spcPts val="900"/>
              </a:spcAft>
              <a:buNone/>
            </a:pPr>
            <a:r>
              <a:rPr lang="en-US" sz="1600" b="1" i="1" dirty="0">
                <a:solidFill>
                  <a:srgbClr val="2B2A26"/>
                </a:solidFill>
                <a:latin typeface="Alegreya Bold" pitchFamily="34" charset="0"/>
                <a:ea typeface="Alegreya Bold" pitchFamily="34" charset="-122"/>
                <a:cs typeface="Alegreya Bold" pitchFamily="34" charset="0"/>
              </a:rPr>
              <a:t>Hộ chiếu mảng.</a:t>
            </a:r>
            <a:r>
              <a:rPr lang="en-US" sz="1600" dirty="0">
                <a:solidFill>
                  <a:srgbClr val="2B2A26"/>
                </a:solidFill>
                <a:latin typeface="Alegreya" pitchFamily="34" charset="0"/>
                <a:ea typeface="Alegreya" pitchFamily="34" charset="-122"/>
                <a:cs typeface="Alegreya" pitchFamily="34" charset="0"/>
              </a:rPr>
              <a:t> Khi nhận bất kỳ mảng NumPy nào, 4 thuộc tính này cho biết tức thì hình dạng, dung lượng và cách thức biểu diễn dữ liệu bên trong.</a:t>
            </a:r>
            <a:endParaRPr lang="en-US" sz="1600" dirty="0"/>
          </a:p>
          <a:p>
            <a:pPr marL="0" indent="0" algn="l">
              <a:lnSpc>
                <a:spcPct val="117000"/>
              </a:lnSpc>
              <a:buNone/>
            </a:pPr>
            <a:r>
              <a:rPr lang="en-US" sz="1600" b="1" i="1" dirty="0">
                <a:solidFill>
                  <a:srgbClr val="2B2A26"/>
                </a:solidFill>
                <a:latin typeface="Alegreya Bold" pitchFamily="34" charset="0"/>
                <a:ea typeface="Alegreya Bold" pitchFamily="34" charset="-122"/>
                <a:cs typeface="Alegreya Bold" pitchFamily="34" charset="0"/>
              </a:rPr>
              <a:t>Ví dụ minh hoạ:</a:t>
            </a:r>
            <a:endParaRPr lang="en-US" sz="1600" dirty="0"/>
          </a:p>
        </p:txBody>
      </p:sp>
      <p:sp>
        <p:nvSpPr>
          <p:cNvPr id="6" name="Shape 4"/>
          <p:cNvSpPr/>
          <p:nvPr/>
        </p:nvSpPr>
        <p:spPr>
          <a:xfrm>
            <a:off x="609585" y="3943747"/>
            <a:ext cx="4206075" cy="1706563"/>
          </a:xfrm>
          <a:prstGeom prst="roundRect">
            <a:avLst>
              <a:gd name="adj" fmla="val 670"/>
            </a:avLst>
          </a:prstGeom>
          <a:solidFill>
            <a:srgbClr val="FFFCF5"/>
          </a:solidFill>
          <a:ln/>
        </p:spPr>
      </p:sp>
      <p:sp>
        <p:nvSpPr>
          <p:cNvPr id="7" name="Text 5"/>
          <p:cNvSpPr/>
          <p:nvPr/>
        </p:nvSpPr>
        <p:spPr>
          <a:xfrm>
            <a:off x="853359" y="4146947"/>
            <a:ext cx="3718527" cy="130016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arr = np.array([</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[10, 20, 30],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[40, 50, 60]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272749" y="3242072"/>
          <a:ext cx="6309361" cy="2416727"/>
        </p:xfrm>
        <a:graphic>
          <a:graphicData uri="http://schemas.openxmlformats.org/drawingml/2006/table">
            <a:tbl>
              <a:tblPr/>
              <a:tblGrid>
                <a:gridCol w="1275921">
                  <a:extLst>
                    <a:ext uri="{9D8B030D-6E8A-4147-A177-3AD203B41FA5}">
                      <a16:colId xmlns:a16="http://schemas.microsoft.com/office/drawing/2014/main" val="20000"/>
                    </a:ext>
                  </a:extLst>
                </a:gridCol>
                <a:gridCol w="2642030">
                  <a:extLst>
                    <a:ext uri="{9D8B030D-6E8A-4147-A177-3AD203B41FA5}">
                      <a16:colId xmlns:a16="http://schemas.microsoft.com/office/drawing/2014/main" val="20001"/>
                    </a:ext>
                  </a:extLst>
                </a:gridCol>
                <a:gridCol w="2391410">
                  <a:extLst>
                    <a:ext uri="{9D8B030D-6E8A-4147-A177-3AD203B41FA5}">
                      <a16:colId xmlns:a16="http://schemas.microsoft.com/office/drawing/2014/main" val="20002"/>
                    </a:ext>
                  </a:extLst>
                </a:gridCol>
              </a:tblGrid>
              <a:tr h="466019">
                <a:tc>
                  <a:txBody>
                    <a:bodyPr/>
                    <a:lstStyle/>
                    <a:p>
                      <a:pPr marL="0" indent="0" algn="l">
                        <a:buNone/>
                      </a:pPr>
                      <a:r>
                        <a:rPr lang="en-US" sz="1600" b="1" dirty="0">
                          <a:solidFill>
                            <a:srgbClr val="2B2A26"/>
                          </a:solidFill>
                          <a:latin typeface="Consolas" pitchFamily="34" charset="0"/>
                          <a:ea typeface="Consolas" pitchFamily="34" charset="-122"/>
                          <a:cs typeface="Consolas" pitchFamily="34" charset="0"/>
                        </a:rPr>
                        <a:t>arr.ndim</a:t>
                      </a:r>
                      <a:endParaRPr lang="en-US" sz="1600" dirty="0">
                        <a:latin typeface="Consolas" charset="0"/>
                        <a:ea typeface="Consolas" charset="0"/>
                        <a:cs typeface="Consolas"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FFFCF5"/>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Số chiều (trục) của mảng</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FFFCF5"/>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b="1" dirty="0">
                          <a:solidFill>
                            <a:srgbClr val="931A45"/>
                          </a:solidFill>
                          <a:latin typeface="Alegreya" pitchFamily="34" charset="0"/>
                          <a:ea typeface="Alegreya" pitchFamily="34" charset="-122"/>
                          <a:cs typeface="Alegreya" pitchFamily="34" charset="0"/>
                        </a:rPr>
                        <a:t>2 (hai chiều)</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FFFCF5"/>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0"/>
                  </a:ext>
                </a:extLst>
              </a:tr>
              <a:tr h="466019">
                <a:tc>
                  <a:txBody>
                    <a:bodyPr/>
                    <a:lstStyle/>
                    <a:p>
                      <a:pPr marL="0" indent="0" algn="l">
                        <a:buNone/>
                      </a:pPr>
                      <a:r>
                        <a:rPr lang="en-US" sz="1600" b="1" dirty="0">
                          <a:solidFill>
                            <a:srgbClr val="2B2A26"/>
                          </a:solidFill>
                          <a:latin typeface="Consolas" pitchFamily="34" charset="0"/>
                          <a:ea typeface="Consolas" pitchFamily="34" charset="-122"/>
                          <a:cs typeface="Consolas" pitchFamily="34" charset="0"/>
                        </a:rPr>
                        <a:t>arr.shape</a:t>
                      </a:r>
                      <a:endParaRPr lang="en-US" sz="1600" dirty="0">
                        <a:latin typeface="Consolas" charset="0"/>
                        <a:ea typeface="Consolas" charset="0"/>
                        <a:cs typeface="Consolas"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Tuple kích thước từng chiều</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b="1" dirty="0">
                          <a:solidFill>
                            <a:srgbClr val="931A45"/>
                          </a:solidFill>
                          <a:latin typeface="Alegreya" pitchFamily="34" charset="0"/>
                          <a:ea typeface="Alegreya" pitchFamily="34" charset="-122"/>
                          <a:cs typeface="Alegreya" pitchFamily="34" charset="0"/>
                        </a:rPr>
                        <a:t>(2, 3) (2 hàng, 3 cột)</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1"/>
                  </a:ext>
                </a:extLst>
              </a:tr>
              <a:tr h="466019">
                <a:tc>
                  <a:txBody>
                    <a:bodyPr/>
                    <a:lstStyle/>
                    <a:p>
                      <a:pPr marL="0" indent="0" algn="l">
                        <a:buNone/>
                      </a:pPr>
                      <a:r>
                        <a:rPr lang="en-US" sz="1600" b="1" dirty="0">
                          <a:solidFill>
                            <a:srgbClr val="2B2A26"/>
                          </a:solidFill>
                          <a:latin typeface="Consolas" pitchFamily="34" charset="0"/>
                          <a:ea typeface="Consolas" pitchFamily="34" charset="-122"/>
                          <a:cs typeface="Consolas" pitchFamily="34" charset="0"/>
                        </a:rPr>
                        <a:t>arr.size</a:t>
                      </a:r>
                      <a:endParaRPr lang="en-US" sz="1600" dirty="0">
                        <a:latin typeface="Consolas" charset="0"/>
                        <a:ea typeface="Consolas" charset="0"/>
                        <a:cs typeface="Consolas"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Tổng số phần tử trong mảng</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b="1" dirty="0">
                          <a:solidFill>
                            <a:srgbClr val="931A45"/>
                          </a:solidFill>
                          <a:latin typeface="Alegreya" pitchFamily="34" charset="0"/>
                          <a:ea typeface="Alegreya" pitchFamily="34" charset="-122"/>
                          <a:cs typeface="Alegreya" pitchFamily="34" charset="0"/>
                        </a:rPr>
                        <a:t>6 (2 × 3 = 6 ô)</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2"/>
                  </a:ext>
                </a:extLst>
              </a:tr>
              <a:tr h="453319">
                <a:tc>
                  <a:txBody>
                    <a:bodyPr/>
                    <a:lstStyle/>
                    <a:p>
                      <a:pPr marL="0" indent="0" algn="l">
                        <a:buNone/>
                      </a:pPr>
                      <a:r>
                        <a:rPr lang="en-US" sz="1600" b="1" dirty="0">
                          <a:solidFill>
                            <a:srgbClr val="2B2A26"/>
                          </a:solidFill>
                          <a:latin typeface="Consolas" pitchFamily="34" charset="0"/>
                          <a:ea typeface="Consolas" pitchFamily="34" charset="-122"/>
                          <a:cs typeface="Consolas" pitchFamily="34" charset="0"/>
                        </a:rPr>
                        <a:t>arr.dtype</a:t>
                      </a:r>
                      <a:endParaRPr lang="en-US" sz="1600" dirty="0">
                        <a:latin typeface="Consolas" charset="0"/>
                        <a:ea typeface="Consolas" charset="0"/>
                        <a:cs typeface="Consolas"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FFCF5"/>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Kiểu dữ liệu của các phần tử</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FFCF5"/>
                      </a:solidFill>
                      <a:prstDash val="solid"/>
                      <a:round/>
                      <a:headEnd type="none" w="med" len="med"/>
                      <a:tailEnd type="none" w="med" len="med"/>
                    </a:lnB>
                    <a:solidFill>
                      <a:srgbClr val="FFFCF5"/>
                    </a:solidFill>
                  </a:tcPr>
                </a:tc>
                <a:tc>
                  <a:txBody>
                    <a:bodyPr/>
                    <a:lstStyle/>
                    <a:p>
                      <a:pPr marL="0" indent="0" algn="l">
                        <a:buNone/>
                      </a:pPr>
                      <a:r>
                        <a:rPr lang="en-US" sz="1600" b="1" dirty="0">
                          <a:solidFill>
                            <a:srgbClr val="931A45"/>
                          </a:solidFill>
                          <a:latin typeface="Alegreya" pitchFamily="34" charset="0"/>
                          <a:ea typeface="Alegreya" pitchFamily="34" charset="-122"/>
                          <a:cs typeface="Alegreya" pitchFamily="34" charset="0"/>
                        </a:rPr>
                        <a:t>int64 (số nguyên 64-bit)</a:t>
                      </a:r>
                      <a:endParaRPr lang="en-US" sz="1600" dirty="0">
                        <a:latin typeface="Alegreya" charset="0"/>
                        <a:ea typeface="Alegreya" charset="0"/>
                        <a:cs typeface="Alegreya" charset="0"/>
                      </a:endParaRPr>
                    </a:p>
                  </a:txBody>
                  <a:tcPr marL="152396" marR="152396" marT="81278" marB="81278" anchor="ctr">
                    <a:lnL w="12700" cap="flat" cmpd="sng" algn="ctr">
                      <a:solidFill>
                        <a:srgbClr val="FFFCF5"/>
                      </a:solidFill>
                      <a:prstDash val="solid"/>
                      <a:round/>
                      <a:headEnd type="none" w="med" len="med"/>
                      <a:tailEnd type="none" w="med" len="med"/>
                    </a:lnL>
                    <a:lnR w="12700" cap="flat" cmpd="sng" algn="ctr">
                      <a:solidFill>
                        <a:srgbClr val="FFFCF5"/>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FFCF5"/>
                      </a:solidFill>
                      <a:prstDash val="solid"/>
                      <a:round/>
                      <a:headEnd type="none" w="med" len="med"/>
                      <a:tailEnd type="none" w="med" len="med"/>
                    </a:lnB>
                    <a:solidFill>
                      <a:srgbClr val="FFFCF5"/>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Tạo mảng (1): array, zeros, ones</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tạo mảng từ list, từ shape và kiểu dữ liệu mặc định</a:t>
            </a:r>
            <a:endParaRPr lang="en-US" sz="2200" dirty="0"/>
          </a:p>
        </p:txBody>
      </p:sp>
      <p:sp>
        <p:nvSpPr>
          <p:cNvPr id="5" name="Shape 3"/>
          <p:cNvSpPr/>
          <p:nvPr/>
        </p:nvSpPr>
        <p:spPr>
          <a:xfrm>
            <a:off x="609585" y="2087166"/>
            <a:ext cx="5333867" cy="4259659"/>
          </a:xfrm>
          <a:prstGeom prst="rect">
            <a:avLst/>
          </a:prstGeom>
          <a:solidFill>
            <a:srgbClr val="FFFCF5"/>
          </a:solidFill>
          <a:ln w="12700">
            <a:solidFill>
              <a:srgbClr val="6E6A60"/>
            </a:solidFill>
            <a:prstDash val="solid"/>
          </a:ln>
        </p:spPr>
      </p:sp>
      <p:sp>
        <p:nvSpPr>
          <p:cNvPr id="6" name="Text 4"/>
          <p:cNvSpPr/>
          <p:nvPr/>
        </p:nvSpPr>
        <p:spPr>
          <a:xfrm>
            <a:off x="850879" y="2343547"/>
            <a:ext cx="5092573"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7" name="Shape 5"/>
          <p:cNvSpPr/>
          <p:nvPr/>
        </p:nvSpPr>
        <p:spPr>
          <a:xfrm>
            <a:off x="850879" y="2763441"/>
            <a:ext cx="4851279" cy="1706563"/>
          </a:xfrm>
          <a:prstGeom prst="roundRect">
            <a:avLst>
              <a:gd name="adj" fmla="val 670"/>
            </a:avLst>
          </a:prstGeom>
          <a:solidFill>
            <a:srgbClr val="FFFCF5"/>
          </a:solidFill>
          <a:ln/>
        </p:spPr>
      </p:sp>
      <p:sp>
        <p:nvSpPr>
          <p:cNvPr id="8" name="Text 6"/>
          <p:cNvSpPr/>
          <p:nvPr/>
        </p:nvSpPr>
        <p:spPr>
          <a:xfrm>
            <a:off x="1094653" y="2966641"/>
            <a:ext cx="4363730" cy="130016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np.array([[1, 2, 3], [4, 5, 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np.zeros((2, 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np.ones(3, dtype=np.int64)</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np.array([1, 2.5, 3]).dtype</a:t>
            </a:r>
            <a:endParaRPr lang="en-US" sz="1600" dirty="0"/>
          </a:p>
        </p:txBody>
      </p:sp>
      <p:sp>
        <p:nvSpPr>
          <p:cNvPr id="9" name="Text 7"/>
          <p:cNvSpPr/>
          <p:nvPr/>
        </p:nvSpPr>
        <p:spPr>
          <a:xfrm>
            <a:off x="850879" y="4698603"/>
            <a:ext cx="4851279" cy="497681"/>
          </a:xfrm>
          <a:prstGeom prst="rect">
            <a:avLst/>
          </a:prstGeom>
          <a:noFill/>
          <a:ln/>
        </p:spPr>
        <p:txBody>
          <a:bodyPr wrap="square" lIns="0" tIns="0" rIns="0" bIns="0" rtlCol="0" anchor="t">
            <a:normAutofit/>
          </a:bodyPr>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np.array() tạo mảng từ list; zeros/ones nhận shape dạng tuple; mặc định float64, chỉ định dtype khi cần.</a:t>
            </a:r>
            <a:endParaRPr lang="en-US" sz="1400" dirty="0"/>
          </a:p>
        </p:txBody>
      </p:sp>
      <p:sp>
        <p:nvSpPr>
          <p:cNvPr id="10" name="Shape 8"/>
          <p:cNvSpPr/>
          <p:nvPr/>
        </p:nvSpPr>
        <p:spPr>
          <a:xfrm>
            <a:off x="6248244" y="2087166"/>
            <a:ext cx="5333867" cy="4259659"/>
          </a:xfrm>
          <a:prstGeom prst="rect">
            <a:avLst/>
          </a:prstGeom>
          <a:solidFill>
            <a:srgbClr val="FFFCF5"/>
          </a:solidFill>
          <a:ln w="12700">
            <a:solidFill>
              <a:srgbClr val="6E6A60"/>
            </a:solidFill>
            <a:prstDash val="solid"/>
          </a:ln>
        </p:spPr>
      </p:sp>
      <p:sp>
        <p:nvSpPr>
          <p:cNvPr id="11" name="Text 9"/>
          <p:cNvSpPr/>
          <p:nvPr/>
        </p:nvSpPr>
        <p:spPr>
          <a:xfrm>
            <a:off x="6489538" y="2343547"/>
            <a:ext cx="5092573"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KẾT QUẢ</a:t>
            </a:r>
            <a:endParaRPr lang="en-US" sz="1300" dirty="0"/>
          </a:p>
        </p:txBody>
      </p:sp>
      <p:sp>
        <p:nvSpPr>
          <p:cNvPr id="12" name="Shape 10"/>
          <p:cNvSpPr/>
          <p:nvPr/>
        </p:nvSpPr>
        <p:spPr>
          <a:xfrm>
            <a:off x="6489538" y="2763441"/>
            <a:ext cx="4851279" cy="2356644"/>
          </a:xfrm>
          <a:prstGeom prst="roundRect">
            <a:avLst>
              <a:gd name="adj" fmla="val 485"/>
            </a:avLst>
          </a:prstGeom>
          <a:solidFill>
            <a:srgbClr val="FFFCF5"/>
          </a:solidFill>
          <a:ln/>
        </p:spPr>
      </p:sp>
      <p:sp>
        <p:nvSpPr>
          <p:cNvPr id="13" name="Text 11"/>
          <p:cNvSpPr/>
          <p:nvPr/>
        </p:nvSpPr>
        <p:spPr>
          <a:xfrm>
            <a:off x="6733312" y="2966641"/>
            <a:ext cx="4363730" cy="195024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 2 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[4 5 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[[0. 0. 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[0. 0. 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 1 1]</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float64</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89538" y="5348684"/>
          <a:ext cx="4851279" cy="731422"/>
        </p:xfrm>
        <a:graphic>
          <a:graphicData uri="http://schemas.openxmlformats.org/drawingml/2006/table">
            <a:tbl>
              <a:tblPr/>
              <a:tblGrid>
                <a:gridCol w="1617060">
                  <a:extLst>
                    <a:ext uri="{9D8B030D-6E8A-4147-A177-3AD203B41FA5}">
                      <a16:colId xmlns:a16="http://schemas.microsoft.com/office/drawing/2014/main" val="20000"/>
                    </a:ext>
                  </a:extLst>
                </a:gridCol>
                <a:gridCol w="1617060">
                  <a:extLst>
                    <a:ext uri="{9D8B030D-6E8A-4147-A177-3AD203B41FA5}">
                      <a16:colId xmlns:a16="http://schemas.microsoft.com/office/drawing/2014/main" val="20001"/>
                    </a:ext>
                  </a:extLst>
                </a:gridCol>
                <a:gridCol w="1617159">
                  <a:extLst>
                    <a:ext uri="{9D8B030D-6E8A-4147-A177-3AD203B41FA5}">
                      <a16:colId xmlns:a16="http://schemas.microsoft.com/office/drawing/2014/main" val="20002"/>
                    </a:ext>
                  </a:extLst>
                </a:gridCol>
              </a:tblGrid>
              <a:tr h="731422">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Rỗng: shape (2, 3)</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Toàn 0</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Toàn 1</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09585" y="671434"/>
            <a:ext cx="10972526" cy="533698"/>
          </a:xfrm>
          <a:prstGeom prst="rect">
            <a:avLst/>
          </a:prstGeom>
          <a:noFill/>
          <a:ln/>
        </p:spPr>
        <p:txBody>
          <a:bodyPr wrap="none" lIns="0" tIns="0" rIns="0" bIns="0" rtlCol="0" anchor="t"/>
          <a:lstStyle/>
          <a:p>
            <a:pPr marL="0" indent="0" algn="l">
              <a:lnSpc>
                <a:spcPct val="87000"/>
              </a:lnSpc>
              <a:buNone/>
            </a:pPr>
            <a:r>
              <a:rPr lang="en-US" sz="4000" kern="100" spc="-60" dirty="0">
                <a:solidFill>
                  <a:srgbClr val="1D1E1B"/>
                </a:solidFill>
                <a:latin typeface="Noto Sans Medium" pitchFamily="34" charset="0"/>
                <a:ea typeface="Noto Sans Medium" pitchFamily="34" charset="-122"/>
                <a:cs typeface="Noto Sans Medium" pitchFamily="34" charset="0"/>
              </a:rPr>
              <a:t>Tạo mảng (2): arange, linspace, eye</a:t>
            </a:r>
            <a:endParaRPr lang="en-US" sz="4000" dirty="0"/>
          </a:p>
        </p:txBody>
      </p:sp>
      <p:sp>
        <p:nvSpPr>
          <p:cNvPr id="3" name="Shape 1"/>
          <p:cNvSpPr/>
          <p:nvPr/>
        </p:nvSpPr>
        <p:spPr>
          <a:xfrm>
            <a:off x="609585" y="1292523"/>
            <a:ext cx="10972526" cy="12601"/>
          </a:xfrm>
          <a:prstGeom prst="roundRect">
            <a:avLst>
              <a:gd name="adj" fmla="val 49998"/>
            </a:avLst>
          </a:prstGeom>
          <a:solidFill>
            <a:srgbClr val="1D1E1B"/>
          </a:solidFill>
          <a:ln/>
        </p:spPr>
      </p:sp>
      <p:sp>
        <p:nvSpPr>
          <p:cNvPr id="4" name="Text 2"/>
          <p:cNvSpPr/>
          <p:nvPr/>
        </p:nvSpPr>
        <p:spPr>
          <a:xfrm>
            <a:off x="609585" y="1426026"/>
            <a:ext cx="10972526" cy="410071"/>
          </a:xfrm>
          <a:prstGeom prst="rect">
            <a:avLst/>
          </a:prstGeom>
          <a:noFill/>
          <a:ln/>
        </p:spPr>
        <p:txBody>
          <a:bodyPr wrap="none" lIns="0" tIns="0" rIns="0" bIns="105079" rtlCol="0" anchor="t"/>
          <a:lstStyle/>
          <a:p>
            <a:pPr marL="0" indent="0" algn="l">
              <a:lnSpc>
                <a:spcPct val="100000"/>
              </a:lnSpc>
              <a:buNone/>
            </a:pPr>
            <a:r>
              <a:rPr lang="en-US" sz="2000" i="1" dirty="0">
                <a:solidFill>
                  <a:srgbClr val="2B2A26"/>
                </a:solidFill>
                <a:latin typeface="Alegreya" pitchFamily="34" charset="0"/>
                <a:ea typeface="Alegreya" pitchFamily="34" charset="-122"/>
                <a:cs typeface="Alegreya" pitchFamily="34" charset="0"/>
              </a:rPr>
              <a:t>dãy theo bước, dãy chia đều và ma trận đơn vị</a:t>
            </a:r>
            <a:endParaRPr lang="en-US" sz="2000" dirty="0"/>
          </a:p>
        </p:txBody>
      </p:sp>
      <p:sp>
        <p:nvSpPr>
          <p:cNvPr id="5" name="Shape 3"/>
          <p:cNvSpPr/>
          <p:nvPr/>
        </p:nvSpPr>
        <p:spPr>
          <a:xfrm>
            <a:off x="609585" y="1947366"/>
            <a:ext cx="5333867" cy="2629098"/>
          </a:xfrm>
          <a:prstGeom prst="rect">
            <a:avLst/>
          </a:prstGeom>
          <a:solidFill>
            <a:srgbClr val="FFFCF5"/>
          </a:solidFill>
          <a:ln w="12700">
            <a:solidFill>
              <a:srgbClr val="6E6A60"/>
            </a:solidFill>
            <a:prstDash val="solid"/>
          </a:ln>
        </p:spPr>
      </p:sp>
      <p:sp>
        <p:nvSpPr>
          <p:cNvPr id="6" name="Text 4"/>
          <p:cNvSpPr/>
          <p:nvPr/>
        </p:nvSpPr>
        <p:spPr>
          <a:xfrm>
            <a:off x="800080" y="2097286"/>
            <a:ext cx="5143371" cy="187722"/>
          </a:xfrm>
          <a:prstGeom prst="rect">
            <a:avLst/>
          </a:prstGeom>
          <a:noFill/>
          <a:ln/>
        </p:spPr>
        <p:txBody>
          <a:bodyPr wrap="none" lIns="0" tIns="0" rIns="0" bIns="0" rtlCol="0" anchor="t"/>
          <a:lstStyle/>
          <a:p>
            <a:pPr marL="0" indent="0" algn="l">
              <a:lnSpc>
                <a:spcPct val="104000"/>
              </a:lnSpc>
              <a:buNone/>
            </a:pPr>
            <a:r>
              <a:rPr lang="en-US" sz="1200" kern="100" spc="12" dirty="0">
                <a:solidFill>
                  <a:srgbClr val="2B2A26"/>
                </a:solidFill>
                <a:latin typeface="Noto Sans Medium" pitchFamily="34" charset="0"/>
                <a:ea typeface="Noto Sans Medium" pitchFamily="34" charset="-122"/>
                <a:cs typeface="Noto Sans Medium" pitchFamily="34" charset="0"/>
              </a:rPr>
              <a:t>CODE</a:t>
            </a:r>
            <a:endParaRPr lang="en-US" sz="1200" dirty="0"/>
          </a:p>
        </p:txBody>
      </p:sp>
      <p:sp>
        <p:nvSpPr>
          <p:cNvPr id="7" name="Shape 5"/>
          <p:cNvSpPr/>
          <p:nvPr/>
        </p:nvSpPr>
        <p:spPr>
          <a:xfrm>
            <a:off x="800080" y="2482652"/>
            <a:ext cx="4952876" cy="1256506"/>
          </a:xfrm>
          <a:prstGeom prst="roundRect">
            <a:avLst>
              <a:gd name="adj" fmla="val 910"/>
            </a:avLst>
          </a:prstGeom>
          <a:solidFill>
            <a:srgbClr val="FFFCF5"/>
          </a:solidFill>
          <a:ln/>
        </p:spPr>
      </p:sp>
      <p:sp>
        <p:nvSpPr>
          <p:cNvPr id="8" name="Text 6"/>
          <p:cNvSpPr/>
          <p:nvPr/>
        </p:nvSpPr>
        <p:spPr>
          <a:xfrm>
            <a:off x="1021828" y="2667397"/>
            <a:ext cx="4509379" cy="88701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np.arange(0, 10, 2)</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np.linspace(0, 1, 5)</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np.eye(3)</a:t>
            </a:r>
            <a:endParaRPr lang="en-US" sz="1450" dirty="0"/>
          </a:p>
        </p:txBody>
      </p:sp>
      <p:sp>
        <p:nvSpPr>
          <p:cNvPr id="9" name="Shape 7"/>
          <p:cNvSpPr/>
          <p:nvPr/>
        </p:nvSpPr>
        <p:spPr>
          <a:xfrm>
            <a:off x="6248244" y="1947366"/>
            <a:ext cx="5333867" cy="2629098"/>
          </a:xfrm>
          <a:prstGeom prst="rect">
            <a:avLst/>
          </a:prstGeom>
          <a:solidFill>
            <a:srgbClr val="FFFCF5"/>
          </a:solidFill>
          <a:ln w="12700">
            <a:solidFill>
              <a:srgbClr val="6E6A60"/>
            </a:solidFill>
            <a:prstDash val="solid"/>
          </a:ln>
        </p:spPr>
      </p:sp>
      <p:sp>
        <p:nvSpPr>
          <p:cNvPr id="10" name="Text 8"/>
          <p:cNvSpPr/>
          <p:nvPr/>
        </p:nvSpPr>
        <p:spPr>
          <a:xfrm>
            <a:off x="6438739" y="2071886"/>
            <a:ext cx="5143371" cy="187722"/>
          </a:xfrm>
          <a:prstGeom prst="rect">
            <a:avLst/>
          </a:prstGeom>
          <a:noFill/>
          <a:ln/>
        </p:spPr>
        <p:txBody>
          <a:bodyPr wrap="none" lIns="0" tIns="0" rIns="0" bIns="0" rtlCol="0" anchor="t"/>
          <a:lstStyle/>
          <a:p>
            <a:pPr marL="0" indent="0" algn="l">
              <a:lnSpc>
                <a:spcPct val="104000"/>
              </a:lnSpc>
              <a:buNone/>
            </a:pPr>
            <a:r>
              <a:rPr lang="en-US" sz="1200" kern="100" spc="12" dirty="0">
                <a:solidFill>
                  <a:srgbClr val="2B2A26"/>
                </a:solidFill>
                <a:latin typeface="Noto Sans Medium" pitchFamily="34" charset="0"/>
                <a:ea typeface="Noto Sans Medium" pitchFamily="34" charset="-122"/>
                <a:cs typeface="Noto Sans Medium" pitchFamily="34" charset="0"/>
              </a:rPr>
              <a:t>KẾT QUẢ</a:t>
            </a:r>
            <a:endParaRPr lang="en-US" sz="1200" dirty="0"/>
          </a:p>
        </p:txBody>
      </p:sp>
      <p:sp>
        <p:nvSpPr>
          <p:cNvPr id="11" name="Shape 9"/>
          <p:cNvSpPr/>
          <p:nvPr/>
        </p:nvSpPr>
        <p:spPr>
          <a:xfrm>
            <a:off x="6438739" y="2457252"/>
            <a:ext cx="4952876" cy="1847850"/>
          </a:xfrm>
          <a:prstGeom prst="roundRect">
            <a:avLst>
              <a:gd name="adj" fmla="val 619"/>
            </a:avLst>
          </a:prstGeom>
          <a:solidFill>
            <a:srgbClr val="FFFCF5"/>
          </a:solidFill>
          <a:ln/>
        </p:spPr>
      </p:sp>
      <p:sp>
        <p:nvSpPr>
          <p:cNvPr id="12" name="Text 10"/>
          <p:cNvSpPr/>
          <p:nvPr/>
        </p:nvSpPr>
        <p:spPr>
          <a:xfrm>
            <a:off x="6660487" y="2641997"/>
            <a:ext cx="4509379" cy="1478359"/>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[0 2 4 6 8]</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[0.   0.25 0.5  0.75 1.  ]</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[[1. 0. 0.]</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 [0. 1. 0.]</a:t>
            </a:r>
            <a:endParaRPr lang="en-US" sz="1450" dirty="0"/>
          </a:p>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0"/>
              </a:rPr>
              <a:t> [0. 0. 1.]]</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09585" y="4728766"/>
          <a:ext cx="10972525" cy="2123029"/>
        </p:xfrm>
        <a:graphic>
          <a:graphicData uri="http://schemas.openxmlformats.org/drawingml/2006/table">
            <a:tbl>
              <a:tblPr/>
              <a:tblGrid>
                <a:gridCol w="2633398">
                  <a:extLst>
                    <a:ext uri="{9D8B030D-6E8A-4147-A177-3AD203B41FA5}">
                      <a16:colId xmlns:a16="http://schemas.microsoft.com/office/drawing/2014/main" val="20000"/>
                    </a:ext>
                  </a:extLst>
                </a:gridCol>
                <a:gridCol w="3291698">
                  <a:extLst>
                    <a:ext uri="{9D8B030D-6E8A-4147-A177-3AD203B41FA5}">
                      <a16:colId xmlns:a16="http://schemas.microsoft.com/office/drawing/2014/main" val="20001"/>
                    </a:ext>
                  </a:extLst>
                </a:gridCol>
                <a:gridCol w="5047429">
                  <a:extLst>
                    <a:ext uri="{9D8B030D-6E8A-4147-A177-3AD203B41FA5}">
                      <a16:colId xmlns:a16="http://schemas.microsoft.com/office/drawing/2014/main" val="20002"/>
                    </a:ext>
                  </a:extLst>
                </a:gridCol>
              </a:tblGrid>
              <a:tr h="304197">
                <a:tc>
                  <a:txBody>
                    <a:bodyPr/>
                    <a:lstStyle/>
                    <a:p>
                      <a:pPr marL="0" indent="0" algn="l">
                        <a:buNone/>
                      </a:pPr>
                      <a:r>
                        <a:rPr lang="en-US" sz="1450" dirty="0">
                          <a:solidFill>
                            <a:srgbClr val="1D1E1B"/>
                          </a:solidFill>
                          <a:latin typeface="Alegreya" pitchFamily="34" charset="0"/>
                          <a:ea typeface="Alegreya" pitchFamily="34" charset="-122"/>
                          <a:cs typeface="Alegreya" pitchFamily="34" charset="0"/>
                        </a:rPr>
                        <a:t>Hàm</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1D1E1B"/>
                          </a:solidFill>
                          <a:latin typeface="Alegreya" pitchFamily="34" charset="0"/>
                          <a:ea typeface="Alegreya" pitchFamily="34" charset="-122"/>
                          <a:cs typeface="Alegreya" pitchFamily="34" charset="0"/>
                        </a:rPr>
                        <a:t>Dùng khi</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1D1E1B"/>
                          </a:solidFill>
                          <a:latin typeface="Alegreya" pitchFamily="34" charset="0"/>
                          <a:ea typeface="Alegreya" pitchFamily="34" charset="-122"/>
                          <a:cs typeface="Alegreya" pitchFamily="34" charset="0"/>
                        </a:rPr>
                        <a:t>Điểm cần nhớ</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B4DFC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0"/>
                  </a:ext>
                </a:extLst>
              </a:tr>
              <a:tr h="30419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np.array(seq)</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Có sẵn dữ liệu</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Tự suy ra dtype</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1"/>
                  </a:ext>
                </a:extLst>
              </a:tr>
              <a:tr h="30419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np.zeros(shape)</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Toàn 0</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Mặc định float64</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2"/>
                  </a:ext>
                </a:extLst>
              </a:tr>
              <a:tr h="30419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np.ones(shape)</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Toàn 1</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Mặc định float64</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3"/>
                  </a:ext>
                </a:extLst>
              </a:tr>
              <a:tr h="30419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np.arange(start, stop, step)</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Dãy theo bước</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Không gồm stop</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4"/>
                  </a:ext>
                </a:extLst>
              </a:tr>
              <a:tr h="30419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np.linspace(start, stop, num)</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num điểm chia đều</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Mặc định gồm stop</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5"/>
                  </a:ext>
                </a:extLst>
              </a:tr>
              <a:tr h="297847">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np.eye(n)</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Ma trận đơn vị</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tc>
                  <a:txBody>
                    <a:bodyPr/>
                    <a:lstStyle/>
                    <a:p>
                      <a:pPr marL="0" indent="0" algn="l">
                        <a:buNone/>
                      </a:pPr>
                      <a:r>
                        <a:rPr lang="en-US" sz="1450" dirty="0">
                          <a:solidFill>
                            <a:srgbClr val="2B2A26"/>
                          </a:solidFill>
                          <a:latin typeface="Alegreya" pitchFamily="34" charset="0"/>
                          <a:ea typeface="Alegreya" pitchFamily="34" charset="-122"/>
                          <a:cs typeface="Alegreya" pitchFamily="34" charset="0"/>
                        </a:rPr>
                        <a:t>Đường chéo chính bằng 1</a:t>
                      </a:r>
                      <a:endParaRPr lang="en-US" sz="1450" dirty="0">
                        <a:latin typeface="Alegreya" charset="0"/>
                        <a:ea typeface="Alegreya" charset="0"/>
                        <a:cs typeface="Alegreya" charset="0"/>
                      </a:endParaRPr>
                    </a:p>
                  </a:txBody>
                  <a:tcPr marL="64008" marR="177796" marT="25399" marB="25399" anchor="ctr">
                    <a:lnL w="12700" cap="flat" cmpd="sng" algn="ctr">
                      <a:solidFill>
                        <a:srgbClr val="B4DFC2"/>
                      </a:solidFill>
                      <a:prstDash val="solid"/>
                      <a:round/>
                      <a:headEnd type="none" w="med" len="med"/>
                      <a:tailEnd type="none" w="med" len="med"/>
                    </a:lnL>
                    <a:lnR w="12700" cap="flat" cmpd="sng" algn="ctr">
                      <a:solidFill>
                        <a:srgbClr val="B4DFC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B4DFC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09585" y="667917"/>
            <a:ext cx="10972526" cy="518120"/>
          </a:xfrm>
          <a:prstGeom prst="rect">
            <a:avLst/>
          </a:prstGeom>
          <a:noFill/>
          <a:ln/>
        </p:spPr>
        <p:txBody>
          <a:bodyPr wrap="none" lIns="0" tIns="0" rIns="0" bIns="0" rtlCol="0" anchor="t"/>
          <a:lstStyle/>
          <a:p>
            <a:pPr marL="0" indent="0" algn="l">
              <a:lnSpc>
                <a:spcPct val="87000"/>
              </a:lnSpc>
              <a:buNone/>
            </a:pPr>
            <a:r>
              <a:rPr lang="en-US" sz="3900" kern="100" spc="-58" dirty="0">
                <a:solidFill>
                  <a:srgbClr val="1D1E1B"/>
                </a:solidFill>
                <a:latin typeface="Noto Sans Medium" pitchFamily="34" charset="0"/>
                <a:ea typeface="Noto Sans Medium" pitchFamily="34" charset="-122"/>
                <a:cs typeface="Noto Sans Medium" pitchFamily="34" charset="0"/>
              </a:rPr>
              <a:t>Indexing và slicing mảng 1D</a:t>
            </a:r>
            <a:endParaRPr lang="en-US" sz="3900" dirty="0"/>
          </a:p>
        </p:txBody>
      </p:sp>
      <p:sp>
        <p:nvSpPr>
          <p:cNvPr id="3" name="Shape 1"/>
          <p:cNvSpPr/>
          <p:nvPr/>
        </p:nvSpPr>
        <p:spPr>
          <a:xfrm>
            <a:off x="609585" y="1275655"/>
            <a:ext cx="10972526" cy="12601"/>
          </a:xfrm>
          <a:prstGeom prst="roundRect">
            <a:avLst>
              <a:gd name="adj" fmla="val 49998"/>
            </a:avLst>
          </a:prstGeom>
          <a:solidFill>
            <a:srgbClr val="1D1E1B"/>
          </a:solidFill>
          <a:ln/>
        </p:spPr>
      </p:sp>
      <p:sp>
        <p:nvSpPr>
          <p:cNvPr id="4" name="Text 2"/>
          <p:cNvSpPr/>
          <p:nvPr/>
        </p:nvSpPr>
        <p:spPr>
          <a:xfrm>
            <a:off x="609585" y="1405329"/>
            <a:ext cx="10972526" cy="395089"/>
          </a:xfrm>
          <a:prstGeom prst="rect">
            <a:avLst/>
          </a:prstGeom>
          <a:noFill/>
          <a:ln/>
        </p:spPr>
        <p:txBody>
          <a:bodyPr wrap="none" lIns="0" tIns="0" rIns="0" bIns="99044" rtlCol="0" anchor="t"/>
          <a:lstStyle/>
          <a:p>
            <a:pPr marL="0" indent="0" algn="l">
              <a:lnSpc>
                <a:spcPct val="100000"/>
              </a:lnSpc>
              <a:buNone/>
            </a:pPr>
            <a:r>
              <a:rPr lang="en-US" sz="1950" i="1" dirty="0">
                <a:solidFill>
                  <a:srgbClr val="2B2A26"/>
                </a:solidFill>
                <a:latin typeface="Alegreya" pitchFamily="34" charset="0"/>
                <a:ea typeface="Alegreya" pitchFamily="34" charset="-122"/>
                <a:cs typeface="Alegreya" pitchFamily="34" charset="0"/>
              </a:rPr>
              <a:t>chỉ số từ 0, chỉ số âm đếm từ cuối</a:t>
            </a:r>
            <a:endParaRPr lang="en-US" sz="1950" dirty="0"/>
          </a:p>
        </p:txBody>
      </p:sp>
      <p:sp>
        <p:nvSpPr>
          <p:cNvPr id="5" name="Shape 3"/>
          <p:cNvSpPr/>
          <p:nvPr/>
        </p:nvSpPr>
        <p:spPr>
          <a:xfrm>
            <a:off x="609585" y="1907381"/>
            <a:ext cx="5333867" cy="4947245"/>
          </a:xfrm>
          <a:prstGeom prst="rect">
            <a:avLst/>
          </a:prstGeom>
          <a:solidFill>
            <a:srgbClr val="FFFCF5"/>
          </a:solidFill>
          <a:ln w="12700">
            <a:solidFill>
              <a:srgbClr val="6E6A60"/>
            </a:solidFill>
            <a:prstDash val="solid"/>
          </a:ln>
        </p:spPr>
      </p:sp>
      <p:sp>
        <p:nvSpPr>
          <p:cNvPr id="6" name="Text 4"/>
          <p:cNvSpPr/>
          <p:nvPr/>
        </p:nvSpPr>
        <p:spPr>
          <a:xfrm>
            <a:off x="800080" y="2007868"/>
            <a:ext cx="5143371" cy="182265"/>
          </a:xfrm>
          <a:prstGeom prst="rect">
            <a:avLst/>
          </a:prstGeom>
          <a:noFill/>
          <a:ln/>
        </p:spPr>
        <p:txBody>
          <a:bodyPr wrap="none" lIns="0" tIns="0" rIns="0" bIns="0" rtlCol="0" anchor="t"/>
          <a:lstStyle/>
          <a:p>
            <a:pPr marL="0" indent="0" algn="l">
              <a:lnSpc>
                <a:spcPct val="104000"/>
              </a:lnSpc>
              <a:buNone/>
            </a:pPr>
            <a:r>
              <a:rPr lang="en-US" sz="1150" kern="100" spc="11" dirty="0">
                <a:solidFill>
                  <a:srgbClr val="2B2A26"/>
                </a:solidFill>
                <a:latin typeface="Noto Sans Medium" pitchFamily="34" charset="0"/>
                <a:ea typeface="Noto Sans Medium" pitchFamily="34" charset="-122"/>
                <a:cs typeface="Noto Sans Medium" pitchFamily="34" charset="0"/>
              </a:rPr>
              <a:t>CODE</a:t>
            </a:r>
            <a:endParaRPr lang="en-US" sz="1150" dirty="0"/>
          </a:p>
        </p:txBody>
      </p:sp>
      <p:sp>
        <p:nvSpPr>
          <p:cNvPr id="7" name="Shape 5"/>
          <p:cNvSpPr/>
          <p:nvPr/>
        </p:nvSpPr>
        <p:spPr>
          <a:xfrm>
            <a:off x="800080" y="2380357"/>
            <a:ext cx="4952876" cy="2081609"/>
          </a:xfrm>
          <a:prstGeom prst="roundRect">
            <a:avLst>
              <a:gd name="adj" fmla="val 549"/>
            </a:avLst>
          </a:prstGeom>
          <a:solidFill>
            <a:srgbClr val="FFFCF5"/>
          </a:solidFill>
          <a:ln/>
        </p:spPr>
      </p:sp>
      <p:sp>
        <p:nvSpPr>
          <p:cNvPr id="8" name="Text 6"/>
          <p:cNvSpPr/>
          <p:nvPr/>
        </p:nvSpPr>
        <p:spPr>
          <a:xfrm>
            <a:off x="1015379" y="2559745"/>
            <a:ext cx="4522277" cy="1722834"/>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 = np.array([0, 10, 20, 30, 40, 50])</a:t>
            </a:r>
            <a:endParaRPr lang="en-US" sz="140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c[1]</a:t>
            </a:r>
            <a:endParaRPr lang="en-US" sz="140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c[-1]</a:t>
            </a:r>
            <a:endParaRPr lang="en-US" sz="140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c[1:4]</a:t>
            </a:r>
            <a:endParaRPr lang="en-US" sz="140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c[::2]</a:t>
            </a:r>
            <a:endParaRPr lang="en-US" sz="1400" dirty="0"/>
          </a:p>
          <a:p>
            <a:pPr marL="0" indent="0" algn="l">
              <a:lnSpc>
                <a:spcPct val="133000"/>
              </a:lnSpc>
              <a:buNone/>
            </a:pPr>
            <a:r>
              <a:rPr lang="en-US" sz="1400" dirty="0">
                <a:solidFill>
                  <a:srgbClr val="24292E"/>
                </a:solidFill>
                <a:latin typeface="Consolas" pitchFamily="34" charset="0"/>
                <a:ea typeface="Consolas" pitchFamily="34" charset="-122"/>
                <a:cs typeface="Consolas" pitchFamily="34" charset="0"/>
              </a:rPr>
              <a:t>c[::-1]</a:t>
            </a:r>
            <a:endParaRPr lang="en-US" sz="1400" dirty="0"/>
          </a:p>
        </p:txBody>
      </p:sp>
      <p:sp>
        <p:nvSpPr>
          <p:cNvPr id="9" name="Text 7"/>
          <p:cNvSpPr/>
          <p:nvPr/>
        </p:nvSpPr>
        <p:spPr>
          <a:xfrm>
            <a:off x="800080" y="4664420"/>
            <a:ext cx="5143371" cy="206970"/>
          </a:xfrm>
          <a:prstGeom prst="rect">
            <a:avLst/>
          </a:prstGeom>
          <a:noFill/>
          <a:ln/>
        </p:spPr>
        <p:txBody>
          <a:bodyPr wrap="none" lIns="0" tIns="0" rIns="0" bIns="0" rtlCol="0" anchor="t"/>
          <a:lstStyle/>
          <a:p>
            <a:pPr marL="0" indent="0" algn="l">
              <a:lnSpc>
                <a:spcPct val="110000"/>
              </a:lnSpc>
              <a:buNone/>
            </a:pPr>
            <a:r>
              <a:rPr lang="en-US" sz="1250" dirty="0">
                <a:solidFill>
                  <a:srgbClr val="2B2A26"/>
                </a:solidFill>
                <a:latin typeface="Alegreya" pitchFamily="34" charset="0"/>
                <a:ea typeface="Alegreya" pitchFamily="34" charset="-122"/>
                <a:cs typeface="Alegreya" pitchFamily="34" charset="0"/>
              </a:rPr>
              <a:t>start:stop:step, phần tử stop bị loại; [::-1] đảo ngược mảng.</a:t>
            </a:r>
            <a:endParaRPr lang="en-US" sz="1250" dirty="0"/>
          </a:p>
        </p:txBody>
      </p:sp>
      <p:sp>
        <p:nvSpPr>
          <p:cNvPr id="10" name="Shape 8"/>
          <p:cNvSpPr/>
          <p:nvPr/>
        </p:nvSpPr>
        <p:spPr>
          <a:xfrm>
            <a:off x="6248244" y="1907381"/>
            <a:ext cx="5333867" cy="4947245"/>
          </a:xfrm>
          <a:prstGeom prst="rect">
            <a:avLst/>
          </a:prstGeom>
          <a:solidFill>
            <a:srgbClr val="FFFCF5"/>
          </a:solidFill>
          <a:ln w="12700">
            <a:solidFill>
              <a:srgbClr val="6E6A60"/>
            </a:solidFill>
            <a:prstDash val="solid"/>
          </a:ln>
        </p:spPr>
      </p:sp>
      <p:sp>
        <p:nvSpPr>
          <p:cNvPr id="11" name="Text 9"/>
          <p:cNvSpPr/>
          <p:nvPr/>
        </p:nvSpPr>
        <p:spPr>
          <a:xfrm>
            <a:off x="6438739" y="2007868"/>
            <a:ext cx="5143371" cy="182265"/>
          </a:xfrm>
          <a:prstGeom prst="rect">
            <a:avLst/>
          </a:prstGeom>
          <a:noFill/>
          <a:ln/>
        </p:spPr>
        <p:txBody>
          <a:bodyPr wrap="none" lIns="0" tIns="0" rIns="0" bIns="0" rtlCol="0" anchor="t"/>
          <a:lstStyle/>
          <a:p>
            <a:pPr marL="0" indent="0" algn="l">
              <a:lnSpc>
                <a:spcPct val="104000"/>
              </a:lnSpc>
              <a:buNone/>
            </a:pPr>
            <a:r>
              <a:rPr lang="en-US" sz="1150" kern="100" spc="11" dirty="0">
                <a:solidFill>
                  <a:srgbClr val="2B2A26"/>
                </a:solidFill>
                <a:latin typeface="Noto Sans Medium" pitchFamily="34" charset="0"/>
                <a:ea typeface="Noto Sans Medium" pitchFamily="34" charset="-122"/>
                <a:cs typeface="Noto Sans Medium" pitchFamily="34" charset="0"/>
              </a:rPr>
              <a:t>KẾT QUẢ</a:t>
            </a:r>
            <a:endParaRPr lang="en-US" sz="1150" dirty="0"/>
          </a:p>
        </p:txBody>
      </p:sp>
      <p:sp>
        <p:nvSpPr>
          <p:cNvPr id="12" name="Shape 10"/>
          <p:cNvSpPr/>
          <p:nvPr/>
        </p:nvSpPr>
        <p:spPr>
          <a:xfrm>
            <a:off x="6438739" y="2380357"/>
            <a:ext cx="4952876" cy="1794470"/>
          </a:xfrm>
          <a:prstGeom prst="roundRect">
            <a:avLst>
              <a:gd name="adj" fmla="val 637"/>
            </a:avLst>
          </a:prstGeom>
          <a:solidFill>
            <a:srgbClr val="FFFCF5"/>
          </a:solidFill>
          <a:ln/>
        </p:spPr>
      </p:sp>
      <p:sp>
        <p:nvSpPr>
          <p:cNvPr id="13" name="Text 11"/>
          <p:cNvSpPr/>
          <p:nvPr/>
        </p:nvSpPr>
        <p:spPr>
          <a:xfrm>
            <a:off x="6654038" y="2559745"/>
            <a:ext cx="4522277" cy="1435695"/>
          </a:xfrm>
          <a:prstGeom prst="rect">
            <a:avLst/>
          </a:prstGeom>
          <a:noFill/>
          <a:ln/>
        </p:spPr>
        <p:txBody>
          <a:bodyPr wrap="square" lIns="0" tIns="0" rIns="0" bIns="0" rtlCol="0" anchor="t">
            <a:normAutofit/>
          </a:bodyPr>
          <a:lstStyle/>
          <a:p>
            <a:pPr marL="0" indent="0" algn="l">
              <a:lnSpc>
                <a:spcPct val="133000"/>
              </a:lnSpc>
              <a:buNone/>
            </a:pPr>
            <a:r>
              <a:rPr lang="en-US" sz="1400" dirty="0">
                <a:solidFill>
                  <a:srgbClr val="005CC5"/>
                </a:solidFill>
                <a:latin typeface="Consolas" pitchFamily="34" charset="0"/>
                <a:ea typeface="Consolas" pitchFamily="34" charset="-122"/>
                <a:cs typeface="Consolas" pitchFamily="34" charset="0"/>
              </a:rPr>
              <a:t>10</a:t>
            </a:r>
            <a:endParaRPr lang="en-US" sz="1400" dirty="0"/>
          </a:p>
          <a:p>
            <a:pPr marL="0" indent="0" algn="l">
              <a:lnSpc>
                <a:spcPct val="133000"/>
              </a:lnSpc>
              <a:buNone/>
            </a:pPr>
            <a:r>
              <a:rPr lang="en-US" sz="1400" dirty="0">
                <a:solidFill>
                  <a:srgbClr val="005CC5"/>
                </a:solidFill>
                <a:latin typeface="Consolas" pitchFamily="34" charset="0"/>
                <a:ea typeface="Consolas" pitchFamily="34" charset="-122"/>
                <a:cs typeface="Consolas" pitchFamily="34" charset="0"/>
              </a:rPr>
              <a:t>50</a:t>
            </a:r>
            <a:endParaRPr lang="en-US" sz="1400" dirty="0"/>
          </a:p>
          <a:p>
            <a:pPr marL="0" indent="0" algn="l">
              <a:lnSpc>
                <a:spcPct val="133000"/>
              </a:lnSpc>
              <a:buNone/>
            </a:pPr>
            <a:r>
              <a:rPr lang="en-US" sz="1400" dirty="0">
                <a:solidFill>
                  <a:srgbClr val="005CC5"/>
                </a:solidFill>
                <a:latin typeface="Consolas" pitchFamily="34" charset="0"/>
                <a:ea typeface="Consolas" pitchFamily="34" charset="-122"/>
                <a:cs typeface="Consolas" pitchFamily="34" charset="0"/>
              </a:rPr>
              <a:t>[10 20 30]</a:t>
            </a:r>
            <a:endParaRPr lang="en-US" sz="1400" dirty="0"/>
          </a:p>
          <a:p>
            <a:pPr marL="0" indent="0" algn="l">
              <a:lnSpc>
                <a:spcPct val="133000"/>
              </a:lnSpc>
              <a:buNone/>
            </a:pPr>
            <a:r>
              <a:rPr lang="en-US" sz="1400" dirty="0">
                <a:solidFill>
                  <a:srgbClr val="005CC5"/>
                </a:solidFill>
                <a:latin typeface="Consolas" pitchFamily="34" charset="0"/>
                <a:ea typeface="Consolas" pitchFamily="34" charset="-122"/>
                <a:cs typeface="Consolas" pitchFamily="34" charset="0"/>
              </a:rPr>
              <a:t>[ 0 20 40]</a:t>
            </a:r>
            <a:endParaRPr lang="en-US" sz="1400" dirty="0"/>
          </a:p>
          <a:p>
            <a:pPr marL="0" indent="0" algn="l">
              <a:lnSpc>
                <a:spcPct val="133000"/>
              </a:lnSpc>
              <a:buNone/>
            </a:pPr>
            <a:r>
              <a:rPr lang="en-US" sz="1400" dirty="0">
                <a:solidFill>
                  <a:srgbClr val="005CC5"/>
                </a:solidFill>
                <a:latin typeface="Consolas" pitchFamily="34" charset="0"/>
                <a:ea typeface="Consolas" pitchFamily="34" charset="-122"/>
                <a:cs typeface="Consolas" pitchFamily="34" charset="0"/>
              </a:rPr>
              <a:t>[50 40 30 20 10  0]</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38739" y="4376638"/>
          <a:ext cx="4952876" cy="766346"/>
        </p:xfrm>
        <a:graphic>
          <a:graphicData uri="http://schemas.openxmlformats.org/drawingml/2006/table">
            <a:tbl>
              <a:tblPr/>
              <a:tblGrid>
                <a:gridCol w="825413">
                  <a:extLst>
                    <a:ext uri="{9D8B030D-6E8A-4147-A177-3AD203B41FA5}">
                      <a16:colId xmlns:a16="http://schemas.microsoft.com/office/drawing/2014/main" val="20000"/>
                    </a:ext>
                  </a:extLst>
                </a:gridCol>
                <a:gridCol w="825413">
                  <a:extLst>
                    <a:ext uri="{9D8B030D-6E8A-4147-A177-3AD203B41FA5}">
                      <a16:colId xmlns:a16="http://schemas.microsoft.com/office/drawing/2014/main" val="20001"/>
                    </a:ext>
                  </a:extLst>
                </a:gridCol>
                <a:gridCol w="825413">
                  <a:extLst>
                    <a:ext uri="{9D8B030D-6E8A-4147-A177-3AD203B41FA5}">
                      <a16:colId xmlns:a16="http://schemas.microsoft.com/office/drawing/2014/main" val="20002"/>
                    </a:ext>
                  </a:extLst>
                </a:gridCol>
                <a:gridCol w="825413">
                  <a:extLst>
                    <a:ext uri="{9D8B030D-6E8A-4147-A177-3AD203B41FA5}">
                      <a16:colId xmlns:a16="http://schemas.microsoft.com/office/drawing/2014/main" val="20003"/>
                    </a:ext>
                  </a:extLst>
                </a:gridCol>
                <a:gridCol w="825413">
                  <a:extLst>
                    <a:ext uri="{9D8B030D-6E8A-4147-A177-3AD203B41FA5}">
                      <a16:colId xmlns:a16="http://schemas.microsoft.com/office/drawing/2014/main" val="20004"/>
                    </a:ext>
                  </a:extLst>
                </a:gridCol>
                <a:gridCol w="825811">
                  <a:extLst>
                    <a:ext uri="{9D8B030D-6E8A-4147-A177-3AD203B41FA5}">
                      <a16:colId xmlns:a16="http://schemas.microsoft.com/office/drawing/2014/main" val="20005"/>
                    </a:ext>
                  </a:extLst>
                </a:gridCol>
              </a:tblGrid>
              <a:tr h="386348">
                <a:tc>
                  <a:txBody>
                    <a:bodyPr/>
                    <a:lstStyle/>
                    <a:p>
                      <a:pPr marL="0" indent="0" algn="l">
                        <a:buNone/>
                      </a:pPr>
                      <a:r>
                        <a:rPr lang="en-US" sz="1400" dirty="0">
                          <a:solidFill>
                            <a:srgbClr val="931A45"/>
                          </a:solidFill>
                          <a:latin typeface="Alegreya" pitchFamily="34" charset="0"/>
                          <a:ea typeface="Alegreya" pitchFamily="34" charset="-122"/>
                          <a:cs typeface="Alegreya" pitchFamily="34" charset="0"/>
                        </a:rPr>
                        <a:t>0</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1</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2</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3</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4</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5</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0"/>
                  </a:ext>
                </a:extLst>
              </a:tr>
              <a:tr h="379998">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-6</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-5</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-4</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-3</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-2</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400" dirty="0">
                          <a:solidFill>
                            <a:srgbClr val="2B2A26"/>
                          </a:solidFill>
                          <a:latin typeface="Alegreya" pitchFamily="34" charset="0"/>
                          <a:ea typeface="Alegreya" pitchFamily="34" charset="-122"/>
                          <a:cs typeface="Alegreya" pitchFamily="34" charset="0"/>
                        </a:rPr>
                        <a:t>-1</a:t>
                      </a:r>
                      <a:endParaRPr lang="en-US" sz="1400" dirty="0">
                        <a:latin typeface="Alegreya" charset="0"/>
                        <a:ea typeface="Alegreya" charset="0"/>
                        <a:cs typeface="Alegreya" charset="0"/>
                      </a:endParaRPr>
                    </a:p>
                  </a:txBody>
                  <a:tcPr marL="134584" marR="134584" marT="71778" marB="717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1"/>
                  </a:ext>
                </a:extLst>
              </a:tr>
            </a:tbl>
          </a:graphicData>
        </a:graphic>
      </p:graphicFrame>
      <p:pic>
        <p:nvPicPr>
          <p:cNvPr id="15" name="Image 0" descr="preencoded.png"/>
          <p:cNvPicPr>
            <a:picLocks noChangeAspect="1"/>
          </p:cNvPicPr>
          <p:nvPr/>
        </p:nvPicPr>
        <p:blipFill>
          <a:blip r:embed="rId3"/>
          <a:stretch>
            <a:fillRect/>
          </a:stretch>
        </p:blipFill>
        <p:spPr>
          <a:xfrm>
            <a:off x="6438739" y="5249763"/>
            <a:ext cx="4564444" cy="1218704"/>
          </a:xfrm>
          <a:prstGeom prst="rect">
            <a:avLst/>
          </a:prstGeom>
        </p:spPr>
      </p:pic>
      <p:sp>
        <p:nvSpPr>
          <p:cNvPr id="16" name="Text 12"/>
          <p:cNvSpPr/>
          <p:nvPr/>
        </p:nvSpPr>
        <p:spPr>
          <a:xfrm>
            <a:off x="6438739" y="6534823"/>
            <a:ext cx="5143371" cy="182166"/>
          </a:xfrm>
          <a:prstGeom prst="rect">
            <a:avLst/>
          </a:prstGeom>
          <a:noFill/>
          <a:ln/>
        </p:spPr>
        <p:txBody>
          <a:bodyPr wrap="none" lIns="0" tIns="0" rIns="0" bIns="0" rtlCol="0" anchor="t"/>
          <a:lstStyle/>
          <a:p>
            <a:pPr marL="0" indent="0" algn="l">
              <a:lnSpc>
                <a:spcPct val="108000"/>
              </a:lnSpc>
              <a:buNone/>
            </a:pPr>
            <a:r>
              <a:rPr lang="en-US" sz="1100" i="1" dirty="0">
                <a:solidFill>
                  <a:srgbClr val="2B2A26"/>
                </a:solidFill>
                <a:latin typeface="Alegreya" pitchFamily="34" charset="0"/>
                <a:ea typeface="Alegreya" pitchFamily="34" charset="-122"/>
                <a:cs typeface="Alegreya" pitchFamily="34" charset="0"/>
              </a:rPr>
              <a:t>Nguồn: NumPy Documentation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Indexing mảng 2D</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lấy một phần tử, một hàng, một cột hoặc khối con</a:t>
            </a:r>
            <a:endParaRPr lang="en-US" sz="2200" dirty="0"/>
          </a:p>
        </p:txBody>
      </p:sp>
      <p:sp>
        <p:nvSpPr>
          <p:cNvPr id="5" name="Shape 3"/>
          <p:cNvSpPr/>
          <p:nvPr/>
        </p:nvSpPr>
        <p:spPr>
          <a:xfrm>
            <a:off x="609585" y="2087166"/>
            <a:ext cx="5333867" cy="4571504"/>
          </a:xfrm>
          <a:prstGeom prst="rect">
            <a:avLst/>
          </a:prstGeom>
          <a:solidFill>
            <a:srgbClr val="FFFCF5"/>
          </a:solidFill>
          <a:ln w="12700">
            <a:solidFill>
              <a:srgbClr val="6E6A60"/>
            </a:solidFill>
            <a:prstDash val="solid"/>
          </a:ln>
        </p:spPr>
      </p:sp>
      <p:sp>
        <p:nvSpPr>
          <p:cNvPr id="6" name="Text 4"/>
          <p:cNvSpPr/>
          <p:nvPr/>
        </p:nvSpPr>
        <p:spPr>
          <a:xfrm>
            <a:off x="800080"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7" name="Shape 5"/>
          <p:cNvSpPr/>
          <p:nvPr/>
        </p:nvSpPr>
        <p:spPr>
          <a:xfrm>
            <a:off x="800080" y="2636441"/>
            <a:ext cx="4952876" cy="2681684"/>
          </a:xfrm>
          <a:prstGeom prst="roundRect">
            <a:avLst>
              <a:gd name="adj" fmla="val 426"/>
            </a:avLst>
          </a:prstGeom>
          <a:solidFill>
            <a:srgbClr val="FFFCF5"/>
          </a:solidFill>
          <a:ln/>
        </p:spPr>
      </p:sp>
      <p:sp>
        <p:nvSpPr>
          <p:cNvPr id="8" name="Text 6"/>
          <p:cNvSpPr/>
          <p:nvPr/>
        </p:nvSpPr>
        <p:spPr>
          <a:xfrm>
            <a:off x="1043854" y="2839641"/>
            <a:ext cx="4465327" cy="227528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 np.array([[10, 11, 12, 13],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[20, 21, 22, 23],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[30, 31, 32, 33]])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b[0, 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b[1]</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b[0:2, 1:3]</a:t>
            </a:r>
            <a:endParaRPr lang="en-US" sz="1600" dirty="0"/>
          </a:p>
        </p:txBody>
      </p:sp>
      <p:sp>
        <p:nvSpPr>
          <p:cNvPr id="9" name="Shape 7"/>
          <p:cNvSpPr/>
          <p:nvPr/>
        </p:nvSpPr>
        <p:spPr>
          <a:xfrm>
            <a:off x="6248244" y="2087166"/>
            <a:ext cx="5333867" cy="4571504"/>
          </a:xfrm>
          <a:prstGeom prst="rect">
            <a:avLst/>
          </a:prstGeom>
          <a:solidFill>
            <a:srgbClr val="FFFCF5"/>
          </a:solidFill>
          <a:ln w="12700">
            <a:solidFill>
              <a:srgbClr val="6E6A60"/>
            </a:solidFill>
            <a:prstDash val="solid"/>
          </a:ln>
        </p:spPr>
      </p:sp>
      <p:sp>
        <p:nvSpPr>
          <p:cNvPr id="10" name="Text 8"/>
          <p:cNvSpPr/>
          <p:nvPr/>
        </p:nvSpPr>
        <p:spPr>
          <a:xfrm>
            <a:off x="6438739"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KẾT QUẢ</a:t>
            </a:r>
            <a:endParaRPr lang="en-US" sz="1300" dirty="0"/>
          </a:p>
        </p:txBody>
      </p:sp>
      <p:sp>
        <p:nvSpPr>
          <p:cNvPr id="11" name="Shape 9"/>
          <p:cNvSpPr/>
          <p:nvPr/>
        </p:nvSpPr>
        <p:spPr>
          <a:xfrm>
            <a:off x="6438739" y="2636441"/>
            <a:ext cx="4952876" cy="2031603"/>
          </a:xfrm>
          <a:prstGeom prst="roundRect">
            <a:avLst>
              <a:gd name="adj" fmla="val 563"/>
            </a:avLst>
          </a:prstGeom>
          <a:solidFill>
            <a:srgbClr val="FFFCF5"/>
          </a:solidFill>
          <a:ln/>
        </p:spPr>
      </p:sp>
      <p:sp>
        <p:nvSpPr>
          <p:cNvPr id="12" name="Text 10"/>
          <p:cNvSpPr/>
          <p:nvPr/>
        </p:nvSpPr>
        <p:spPr>
          <a:xfrm>
            <a:off x="6682513" y="2839641"/>
            <a:ext cx="4465327" cy="162520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005CC5"/>
                </a:solidFill>
                <a:latin typeface="Consolas" pitchFamily="34" charset="0"/>
                <a:ea typeface="Consolas" pitchFamily="34" charset="-122"/>
                <a:cs typeface="Consolas" pitchFamily="34" charset="0"/>
              </a:rPr>
              <a:t>10</a:t>
            </a:r>
            <a:endParaRPr lang="en-US" sz="1600" dirty="0"/>
          </a:p>
          <a:p>
            <a:pPr marL="0" indent="0" algn="l">
              <a:lnSpc>
                <a:spcPct val="133000"/>
              </a:lnSpc>
              <a:buNone/>
            </a:pPr>
            <a:r>
              <a:rPr lang="en-US" sz="1600" dirty="0">
                <a:solidFill>
                  <a:srgbClr val="005CC5"/>
                </a:solidFill>
                <a:latin typeface="Consolas" pitchFamily="34" charset="0"/>
                <a:ea typeface="Consolas" pitchFamily="34" charset="-122"/>
                <a:cs typeface="Consolas" pitchFamily="34" charset="0"/>
              </a:rPr>
              <a:t>[20 21 22 23]</a:t>
            </a:r>
            <a:endParaRPr lang="en-US" sz="1600" dirty="0"/>
          </a:p>
          <a:p>
            <a:pPr marL="0" indent="0" algn="l">
              <a:lnSpc>
                <a:spcPct val="133000"/>
              </a:lnSpc>
              <a:buNone/>
            </a:pPr>
            <a:r>
              <a:rPr lang="en-US" sz="1600" dirty="0">
                <a:solidFill>
                  <a:srgbClr val="005CC5"/>
                </a:solidFill>
                <a:latin typeface="Consolas" pitchFamily="34" charset="0"/>
                <a:ea typeface="Consolas" pitchFamily="34" charset="-122"/>
                <a:cs typeface="Consolas" pitchFamily="34" charset="0"/>
              </a:rPr>
              <a:t>[12 22 32]</a:t>
            </a:r>
            <a:endParaRPr lang="en-US" sz="1600" dirty="0"/>
          </a:p>
          <a:p>
            <a:pPr marL="0" indent="0" algn="l">
              <a:lnSpc>
                <a:spcPct val="133000"/>
              </a:lnSpc>
              <a:buNone/>
            </a:pPr>
            <a:r>
              <a:rPr lang="en-US" sz="1600" dirty="0">
                <a:solidFill>
                  <a:srgbClr val="005CC5"/>
                </a:solidFill>
                <a:latin typeface="Consolas" pitchFamily="34" charset="0"/>
                <a:ea typeface="Consolas" pitchFamily="34" charset="-122"/>
                <a:cs typeface="Consolas" pitchFamily="34" charset="0"/>
              </a:rPr>
              <a:t>[[11 12]</a:t>
            </a:r>
            <a:endParaRPr lang="en-US" sz="1600" dirty="0"/>
          </a:p>
          <a:p>
            <a:pPr marL="0" indent="0" algn="l">
              <a:lnSpc>
                <a:spcPct val="133000"/>
              </a:lnSpc>
              <a:buNone/>
            </a:pPr>
            <a:r>
              <a:rPr lang="en-US" sz="1600" dirty="0">
                <a:solidFill>
                  <a:srgbClr val="005CC5"/>
                </a:solidFill>
                <a:latin typeface="Consolas" pitchFamily="34" charset="0"/>
                <a:ea typeface="Consolas" pitchFamily="34" charset="-122"/>
                <a:cs typeface="Consolas" pitchFamily="34" charset="0"/>
              </a:rPr>
              <a:t> [21 22]]</a:t>
            </a:r>
            <a:endParaRPr lang="en-US" sz="1600" dirty="0"/>
          </a:p>
        </p:txBody>
      </p:sp>
      <p:pic>
        <p:nvPicPr>
          <p:cNvPr id="13" name="Image 0" descr="preencoded.png"/>
          <p:cNvPicPr>
            <a:picLocks noChangeAspect="1"/>
          </p:cNvPicPr>
          <p:nvPr/>
        </p:nvPicPr>
        <p:blipFill>
          <a:blip r:embed="rId3"/>
          <a:stretch>
            <a:fillRect/>
          </a:stretch>
        </p:blipFill>
        <p:spPr>
          <a:xfrm>
            <a:off x="6438739" y="5017294"/>
            <a:ext cx="4441416" cy="1219101"/>
          </a:xfrm>
          <a:prstGeom prst="rect">
            <a:avLst/>
          </a:prstGeom>
        </p:spPr>
      </p:pic>
      <p:sp>
        <p:nvSpPr>
          <p:cNvPr id="14" name="Text 11"/>
          <p:cNvSpPr/>
          <p:nvPr/>
        </p:nvSpPr>
        <p:spPr>
          <a:xfrm>
            <a:off x="6438739" y="6338788"/>
            <a:ext cx="5143371"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Nguồn: NumPy Documentation</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Boolean indexing</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lọc phần tử bằng điều kiện đúng/sai</a:t>
            </a:r>
            <a:endParaRPr lang="en-US" sz="2200" dirty="0"/>
          </a:p>
        </p:txBody>
      </p:sp>
      <p:sp>
        <p:nvSpPr>
          <p:cNvPr id="5" name="Shape 3"/>
          <p:cNvSpPr/>
          <p:nvPr/>
        </p:nvSpPr>
        <p:spPr>
          <a:xfrm>
            <a:off x="609585" y="2087166"/>
            <a:ext cx="5333867" cy="3751659"/>
          </a:xfrm>
          <a:prstGeom prst="rect">
            <a:avLst/>
          </a:prstGeom>
          <a:solidFill>
            <a:srgbClr val="FFFCF5"/>
          </a:solidFill>
          <a:ln w="12700">
            <a:solidFill>
              <a:srgbClr val="6E6A60"/>
            </a:solidFill>
            <a:prstDash val="solid"/>
          </a:ln>
        </p:spPr>
      </p:sp>
      <p:sp>
        <p:nvSpPr>
          <p:cNvPr id="6" name="Text 4"/>
          <p:cNvSpPr/>
          <p:nvPr/>
        </p:nvSpPr>
        <p:spPr>
          <a:xfrm>
            <a:off x="850879" y="2343547"/>
            <a:ext cx="5092573"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7" name="Shape 5"/>
          <p:cNvSpPr/>
          <p:nvPr/>
        </p:nvSpPr>
        <p:spPr>
          <a:xfrm>
            <a:off x="850879" y="2763441"/>
            <a:ext cx="4851279" cy="2356644"/>
          </a:xfrm>
          <a:prstGeom prst="roundRect">
            <a:avLst>
              <a:gd name="adj" fmla="val 485"/>
            </a:avLst>
          </a:prstGeom>
          <a:solidFill>
            <a:srgbClr val="FFFCF5"/>
          </a:solidFill>
          <a:ln/>
        </p:spPr>
      </p:sp>
      <p:sp>
        <p:nvSpPr>
          <p:cNvPr id="8" name="Text 6"/>
          <p:cNvSpPr/>
          <p:nvPr/>
        </p:nvSpPr>
        <p:spPr>
          <a:xfrm>
            <a:off x="1094653" y="2966641"/>
            <a:ext cx="4363730" cy="195024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 np.array([[10, 11, 12, 13],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[20, 21, 22, 23],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[30, 31, 32, 33]])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&gt; 21</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b[b &gt; 21]</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b[(b &gt; 11) &amp; (b &lt; 31)]</a:t>
            </a:r>
            <a:endParaRPr lang="en-US" sz="1600" dirty="0"/>
          </a:p>
        </p:txBody>
      </p:sp>
      <p:sp>
        <p:nvSpPr>
          <p:cNvPr id="9" name="Text 7"/>
          <p:cNvSpPr/>
          <p:nvPr/>
        </p:nvSpPr>
        <p:spPr>
          <a:xfrm>
            <a:off x="850879" y="5348684"/>
            <a:ext cx="5092573" cy="248841"/>
          </a:xfrm>
          <a:prstGeom prst="rect">
            <a:avLst/>
          </a:prstGeom>
          <a:noFill/>
          <a:ln/>
        </p:spPr>
        <p:txBody>
          <a:bodyPr wrap="none" lIns="0" tIns="0" rIns="0" bIns="0" rtlCol="0" anchor="t"/>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Kết hợp điều kiện bằng &amp;, | và đặt trong ngoặc đơn.</a:t>
            </a:r>
            <a:endParaRPr lang="en-US" sz="1400" dirty="0"/>
          </a:p>
        </p:txBody>
      </p:sp>
      <p:sp>
        <p:nvSpPr>
          <p:cNvPr id="10" name="Shape 8"/>
          <p:cNvSpPr/>
          <p:nvPr/>
        </p:nvSpPr>
        <p:spPr>
          <a:xfrm>
            <a:off x="6248244" y="2087166"/>
            <a:ext cx="5333867" cy="3751659"/>
          </a:xfrm>
          <a:prstGeom prst="rect">
            <a:avLst/>
          </a:prstGeom>
          <a:solidFill>
            <a:srgbClr val="FFFCF5"/>
          </a:solidFill>
          <a:ln w="12700">
            <a:solidFill>
              <a:srgbClr val="6E6A60"/>
            </a:solidFill>
            <a:prstDash val="solid"/>
          </a:ln>
        </p:spPr>
      </p:sp>
      <p:sp>
        <p:nvSpPr>
          <p:cNvPr id="11" name="Text 9"/>
          <p:cNvSpPr/>
          <p:nvPr/>
        </p:nvSpPr>
        <p:spPr>
          <a:xfrm>
            <a:off x="6489538" y="2343547"/>
            <a:ext cx="5092573"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KẾT QUẢ</a:t>
            </a:r>
            <a:endParaRPr lang="en-US" sz="1300" dirty="0"/>
          </a:p>
        </p:txBody>
      </p:sp>
      <p:sp>
        <p:nvSpPr>
          <p:cNvPr id="12" name="Shape 10"/>
          <p:cNvSpPr/>
          <p:nvPr/>
        </p:nvSpPr>
        <p:spPr>
          <a:xfrm>
            <a:off x="6489538" y="2763441"/>
            <a:ext cx="4851279" cy="1056481"/>
          </a:xfrm>
          <a:prstGeom prst="roundRect">
            <a:avLst>
              <a:gd name="adj" fmla="val 1082"/>
            </a:avLst>
          </a:prstGeom>
          <a:solidFill>
            <a:srgbClr val="FFFCF5"/>
          </a:solidFill>
          <a:ln/>
        </p:spPr>
      </p:sp>
      <p:sp>
        <p:nvSpPr>
          <p:cNvPr id="13" name="Text 11"/>
          <p:cNvSpPr/>
          <p:nvPr/>
        </p:nvSpPr>
        <p:spPr>
          <a:xfrm>
            <a:off x="6733312" y="2966641"/>
            <a:ext cx="4363730" cy="650081"/>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[22 23 30 31 32 33]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[12 13 20 21 22]</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89538" y="4048522"/>
          <a:ext cx="4851279" cy="731422"/>
        </p:xfrm>
        <a:graphic>
          <a:graphicData uri="http://schemas.openxmlformats.org/drawingml/2006/table">
            <a:tbl>
              <a:tblPr/>
              <a:tblGrid>
                <a:gridCol w="1617060">
                  <a:extLst>
                    <a:ext uri="{9D8B030D-6E8A-4147-A177-3AD203B41FA5}">
                      <a16:colId xmlns:a16="http://schemas.microsoft.com/office/drawing/2014/main" val="20000"/>
                    </a:ext>
                  </a:extLst>
                </a:gridCol>
                <a:gridCol w="1617060">
                  <a:extLst>
                    <a:ext uri="{9D8B030D-6E8A-4147-A177-3AD203B41FA5}">
                      <a16:colId xmlns:a16="http://schemas.microsoft.com/office/drawing/2014/main" val="20001"/>
                    </a:ext>
                  </a:extLst>
                </a:gridCol>
                <a:gridCol w="1617159">
                  <a:extLst>
                    <a:ext uri="{9D8B030D-6E8A-4147-A177-3AD203B41FA5}">
                      <a16:colId xmlns:a16="http://schemas.microsoft.com/office/drawing/2014/main" val="20002"/>
                    </a:ext>
                  </a:extLst>
                </a:gridCol>
              </a:tblGrid>
              <a:tr h="731422">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Lưới gốc</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Mask True/False</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Dãy kết quả 1D</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09585" y="672872"/>
            <a:ext cx="10972526" cy="566043"/>
          </a:xfrm>
          <a:prstGeom prst="rect">
            <a:avLst/>
          </a:prstGeom>
          <a:noFill/>
          <a:ln/>
        </p:spPr>
        <p:txBody>
          <a:bodyPr wrap="none" lIns="0" tIns="0" rIns="0" bIns="0" rtlCol="0" anchor="t"/>
          <a:lstStyle/>
          <a:p>
            <a:pPr marL="0" indent="0" algn="l">
              <a:lnSpc>
                <a:spcPct val="88000"/>
              </a:lnSpc>
              <a:buNone/>
            </a:pPr>
            <a:r>
              <a:rPr lang="en-US" sz="4250" kern="100" spc="-64" dirty="0">
                <a:solidFill>
                  <a:srgbClr val="1D1E1B"/>
                </a:solidFill>
                <a:latin typeface="Noto Sans Medium" pitchFamily="34" charset="0"/>
                <a:ea typeface="Noto Sans Medium" pitchFamily="34" charset="-122"/>
                <a:cs typeface="Noto Sans Medium" pitchFamily="34" charset="0"/>
              </a:rPr>
              <a:t>reshape() và .T</a:t>
            </a:r>
            <a:endParaRPr lang="en-US" sz="4250" dirty="0"/>
          </a:p>
        </p:txBody>
      </p:sp>
      <p:sp>
        <p:nvSpPr>
          <p:cNvPr id="3" name="Shape 1"/>
          <p:cNvSpPr/>
          <p:nvPr/>
        </p:nvSpPr>
        <p:spPr>
          <a:xfrm>
            <a:off x="609585" y="1327646"/>
            <a:ext cx="10972526" cy="12601"/>
          </a:xfrm>
          <a:prstGeom prst="roundRect">
            <a:avLst>
              <a:gd name="adj" fmla="val 49998"/>
            </a:avLst>
          </a:prstGeom>
          <a:solidFill>
            <a:srgbClr val="1D1E1B"/>
          </a:solidFill>
          <a:ln/>
        </p:spPr>
      </p:sp>
      <p:sp>
        <p:nvSpPr>
          <p:cNvPr id="4" name="Text 2"/>
          <p:cNvSpPr/>
          <p:nvPr/>
        </p:nvSpPr>
        <p:spPr>
          <a:xfrm>
            <a:off x="609585" y="1464069"/>
            <a:ext cx="10972526" cy="441623"/>
          </a:xfrm>
          <a:prstGeom prst="rect">
            <a:avLst/>
          </a:prstGeom>
          <a:noFill/>
          <a:ln/>
        </p:spPr>
        <p:txBody>
          <a:bodyPr wrap="none" lIns="0" tIns="0" rIns="0" bIns="118204" rtlCol="0" anchor="t"/>
          <a:lstStyle/>
          <a:p>
            <a:pPr marL="0" indent="0" algn="l">
              <a:lnSpc>
                <a:spcPct val="100000"/>
              </a:lnSpc>
              <a:buNone/>
            </a:pPr>
            <a:r>
              <a:rPr lang="en-US" sz="2100" i="1" dirty="0">
                <a:solidFill>
                  <a:srgbClr val="2B2A26"/>
                </a:solidFill>
                <a:latin typeface="Alegreya" pitchFamily="34" charset="0"/>
                <a:ea typeface="Alegreya" pitchFamily="34" charset="-122"/>
                <a:cs typeface="Alegreya" pitchFamily="34" charset="0"/>
              </a:rPr>
              <a:t>đổi hình dạng mảng, tổng số phần tử giữ nguyên</a:t>
            </a:r>
            <a:endParaRPr lang="en-US" sz="2100" dirty="0"/>
          </a:p>
        </p:txBody>
      </p:sp>
      <p:sp>
        <p:nvSpPr>
          <p:cNvPr id="5" name="Shape 3"/>
          <p:cNvSpPr/>
          <p:nvPr/>
        </p:nvSpPr>
        <p:spPr>
          <a:xfrm>
            <a:off x="609585" y="2032000"/>
            <a:ext cx="5333867" cy="4824809"/>
          </a:xfrm>
          <a:prstGeom prst="rect">
            <a:avLst/>
          </a:prstGeom>
          <a:solidFill>
            <a:srgbClr val="FFFCF5"/>
          </a:solidFill>
          <a:ln w="12700">
            <a:solidFill>
              <a:srgbClr val="6E6A60"/>
            </a:solidFill>
            <a:prstDash val="solid"/>
          </a:ln>
        </p:spPr>
      </p:sp>
      <p:sp>
        <p:nvSpPr>
          <p:cNvPr id="6" name="Text 4"/>
          <p:cNvSpPr/>
          <p:nvPr/>
        </p:nvSpPr>
        <p:spPr>
          <a:xfrm>
            <a:off x="800080" y="2183837"/>
            <a:ext cx="5143371" cy="199033"/>
          </a:xfrm>
          <a:prstGeom prst="rect">
            <a:avLst/>
          </a:prstGeom>
          <a:noFill/>
          <a:ln/>
        </p:spPr>
        <p:txBody>
          <a:bodyPr wrap="none" lIns="0" tIns="0" rIns="0" bIns="0" rtlCol="0" anchor="t"/>
          <a:lstStyle/>
          <a:p>
            <a:pPr marL="0" indent="0" algn="l">
              <a:lnSpc>
                <a:spcPct val="104000"/>
              </a:lnSpc>
              <a:buNone/>
            </a:pPr>
            <a:r>
              <a:rPr lang="en-US" sz="1250" kern="100" spc="13" dirty="0">
                <a:solidFill>
                  <a:srgbClr val="2B2A26"/>
                </a:solidFill>
                <a:latin typeface="Noto Sans Medium" pitchFamily="34" charset="0"/>
                <a:ea typeface="Noto Sans Medium" pitchFamily="34" charset="-122"/>
                <a:cs typeface="Noto Sans Medium" pitchFamily="34" charset="0"/>
              </a:rPr>
              <a:t>CODE</a:t>
            </a:r>
            <a:endParaRPr lang="en-US" sz="1250" dirty="0"/>
          </a:p>
        </p:txBody>
      </p:sp>
      <p:sp>
        <p:nvSpPr>
          <p:cNvPr id="7" name="Shape 5"/>
          <p:cNvSpPr/>
          <p:nvPr/>
        </p:nvSpPr>
        <p:spPr>
          <a:xfrm>
            <a:off x="800080" y="2591197"/>
            <a:ext cx="4952876" cy="1332805"/>
          </a:xfrm>
          <a:prstGeom prst="roundRect">
            <a:avLst>
              <a:gd name="adj" fmla="val 858"/>
            </a:avLst>
          </a:prstGeom>
          <a:solidFill>
            <a:srgbClr val="FFFCF5"/>
          </a:solidFill>
          <a:ln/>
        </p:spPr>
      </p:sp>
      <p:sp>
        <p:nvSpPr>
          <p:cNvPr id="8" name="Text 6"/>
          <p:cNvSpPr/>
          <p:nvPr/>
        </p:nvSpPr>
        <p:spPr>
          <a:xfrm>
            <a:off x="1035223" y="2787154"/>
            <a:ext cx="4482591" cy="940891"/>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m = np.arange(6).reshape(2, 3)</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m.T.shape</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np.arange(6).reshape(-1, 2)</a:t>
            </a:r>
            <a:endParaRPr lang="en-US" sz="1550" dirty="0"/>
          </a:p>
        </p:txBody>
      </p:sp>
      <p:sp>
        <p:nvSpPr>
          <p:cNvPr id="9" name="Text 7"/>
          <p:cNvSpPr/>
          <p:nvPr/>
        </p:nvSpPr>
        <p:spPr>
          <a:xfrm>
            <a:off x="800080" y="4144466"/>
            <a:ext cx="5143371" cy="235843"/>
          </a:xfrm>
          <a:prstGeom prst="rect">
            <a:avLst/>
          </a:prstGeom>
          <a:noFill/>
          <a:ln/>
        </p:spPr>
        <p:txBody>
          <a:bodyPr wrap="none" lIns="0" tIns="0" rIns="0" bIns="0" rtlCol="0" anchor="t"/>
          <a:lstStyle/>
          <a:p>
            <a:pPr marL="0" indent="0" algn="l">
              <a:lnSpc>
                <a:spcPct val="115000"/>
              </a:lnSpc>
              <a:buNone/>
            </a:pPr>
            <a:r>
              <a:rPr lang="en-US" sz="1350" dirty="0">
                <a:solidFill>
                  <a:srgbClr val="2B2A26"/>
                </a:solidFill>
                <a:latin typeface="Alegreya" pitchFamily="34" charset="0"/>
                <a:ea typeface="Alegreya" pitchFamily="34" charset="-122"/>
                <a:cs typeface="Alegreya" pitchFamily="34" charset="0"/>
              </a:rPr>
              <a:t>-1 tự suy ra một chiều; .T hoán vị hàng và cột.</a:t>
            </a:r>
            <a:endParaRPr lang="en-US" sz="1350" dirty="0"/>
          </a:p>
        </p:txBody>
      </p:sp>
      <p:sp>
        <p:nvSpPr>
          <p:cNvPr id="10" name="Shape 8"/>
          <p:cNvSpPr/>
          <p:nvPr/>
        </p:nvSpPr>
        <p:spPr>
          <a:xfrm>
            <a:off x="6248244" y="2032000"/>
            <a:ext cx="5333867" cy="4824809"/>
          </a:xfrm>
          <a:prstGeom prst="rect">
            <a:avLst/>
          </a:prstGeom>
          <a:solidFill>
            <a:srgbClr val="FFFCF5"/>
          </a:solidFill>
          <a:ln w="12700">
            <a:solidFill>
              <a:srgbClr val="6E6A60"/>
            </a:solidFill>
            <a:prstDash val="solid"/>
          </a:ln>
        </p:spPr>
      </p:sp>
      <p:sp>
        <p:nvSpPr>
          <p:cNvPr id="11" name="Text 9"/>
          <p:cNvSpPr/>
          <p:nvPr/>
        </p:nvSpPr>
        <p:spPr>
          <a:xfrm>
            <a:off x="6438739" y="2183837"/>
            <a:ext cx="5143371" cy="199033"/>
          </a:xfrm>
          <a:prstGeom prst="rect">
            <a:avLst/>
          </a:prstGeom>
          <a:noFill/>
          <a:ln/>
        </p:spPr>
        <p:txBody>
          <a:bodyPr wrap="none" lIns="0" tIns="0" rIns="0" bIns="0" rtlCol="0" anchor="t"/>
          <a:lstStyle/>
          <a:p>
            <a:pPr marL="0" indent="0" algn="l">
              <a:lnSpc>
                <a:spcPct val="104000"/>
              </a:lnSpc>
              <a:buNone/>
            </a:pPr>
            <a:r>
              <a:rPr lang="en-US" sz="1250" kern="100" spc="13" dirty="0">
                <a:solidFill>
                  <a:srgbClr val="2B2A26"/>
                </a:solidFill>
                <a:latin typeface="Noto Sans Medium" pitchFamily="34" charset="0"/>
                <a:ea typeface="Noto Sans Medium" pitchFamily="34" charset="-122"/>
                <a:cs typeface="Noto Sans Medium" pitchFamily="34" charset="0"/>
              </a:rPr>
              <a:t>KẾT QUẢ</a:t>
            </a:r>
            <a:endParaRPr lang="en-US" sz="1250" dirty="0"/>
          </a:p>
        </p:txBody>
      </p:sp>
      <p:sp>
        <p:nvSpPr>
          <p:cNvPr id="12" name="Shape 10"/>
          <p:cNvSpPr/>
          <p:nvPr/>
        </p:nvSpPr>
        <p:spPr>
          <a:xfrm>
            <a:off x="6438739" y="2591197"/>
            <a:ext cx="4952876" cy="2273697"/>
          </a:xfrm>
          <a:prstGeom prst="roundRect">
            <a:avLst>
              <a:gd name="adj" fmla="val 503"/>
            </a:avLst>
          </a:prstGeom>
          <a:solidFill>
            <a:srgbClr val="FFFCF5"/>
          </a:solidFill>
          <a:ln/>
        </p:spPr>
      </p:sp>
      <p:sp>
        <p:nvSpPr>
          <p:cNvPr id="13" name="Text 11"/>
          <p:cNvSpPr/>
          <p:nvPr/>
        </p:nvSpPr>
        <p:spPr>
          <a:xfrm>
            <a:off x="6673881" y="2787154"/>
            <a:ext cx="4482591" cy="1881783"/>
          </a:xfrm>
          <a:prstGeom prst="rect">
            <a:avLst/>
          </a:prstGeom>
          <a:noFill/>
          <a:ln/>
        </p:spPr>
        <p:txBody>
          <a:bodyPr wrap="square" lIns="0" tIns="0" rIns="0" bIns="0" rtlCol="0" anchor="t">
            <a:normAutofit/>
          </a:bodyPr>
          <a:lstStyle/>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[[0 1 2]</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 [3 4 5]]</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(3, 2)</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[[0 1]</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 [2 3]</a:t>
            </a:r>
            <a:endParaRPr lang="en-US" sz="1550" dirty="0"/>
          </a:p>
          <a:p>
            <a:pPr marL="0" indent="0" algn="l">
              <a:lnSpc>
                <a:spcPct val="133000"/>
              </a:lnSpc>
              <a:buNone/>
            </a:pPr>
            <a:r>
              <a:rPr lang="en-US" sz="1550" dirty="0">
                <a:solidFill>
                  <a:srgbClr val="24292E"/>
                </a:solidFill>
                <a:latin typeface="Consolas" pitchFamily="34" charset="0"/>
                <a:ea typeface="Consolas" pitchFamily="34" charset="-122"/>
                <a:cs typeface="Consolas" pitchFamily="34" charset="0"/>
              </a:rPr>
              <a:t> [4 5]]</a:t>
            </a:r>
            <a:endParaRPr lang="en-US" sz="1550" dirty="0"/>
          </a:p>
        </p:txBody>
      </p:sp>
      <p:pic>
        <p:nvPicPr>
          <p:cNvPr id="14" name="Image 0" descr="preencoded.png"/>
          <p:cNvPicPr>
            <a:picLocks noChangeAspect="1"/>
          </p:cNvPicPr>
          <p:nvPr/>
        </p:nvPicPr>
        <p:blipFill>
          <a:blip r:embed="rId3"/>
          <a:stretch>
            <a:fillRect/>
          </a:stretch>
        </p:blipFill>
        <p:spPr>
          <a:xfrm>
            <a:off x="6438739" y="5197574"/>
            <a:ext cx="3492214" cy="1218803"/>
          </a:xfrm>
          <a:prstGeom prst="rect">
            <a:avLst/>
          </a:prstGeom>
        </p:spPr>
      </p:pic>
      <p:sp>
        <p:nvSpPr>
          <p:cNvPr id="15" name="Text 12"/>
          <p:cNvSpPr/>
          <p:nvPr/>
        </p:nvSpPr>
        <p:spPr>
          <a:xfrm>
            <a:off x="6438739" y="6517977"/>
            <a:ext cx="5143371" cy="199132"/>
          </a:xfrm>
          <a:prstGeom prst="rect">
            <a:avLst/>
          </a:prstGeom>
          <a:noFill/>
          <a:ln/>
        </p:spPr>
        <p:txBody>
          <a:bodyPr wrap="none" lIns="0" tIns="0" rIns="0" bIns="0" rtlCol="0" anchor="t"/>
          <a:lstStyle/>
          <a:p>
            <a:pPr marL="0" indent="0" algn="l">
              <a:lnSpc>
                <a:spcPct val="108000"/>
              </a:lnSpc>
              <a:buNone/>
            </a:pPr>
            <a:r>
              <a:rPr lang="en-US" sz="1200" i="1" dirty="0">
                <a:solidFill>
                  <a:srgbClr val="2B2A26"/>
                </a:solidFill>
                <a:latin typeface="Alegreya" pitchFamily="34" charset="0"/>
                <a:ea typeface="Alegreya" pitchFamily="34" charset="-122"/>
                <a:cs typeface="Alegreya" pitchFamily="34" charset="0"/>
              </a:rPr>
              <a:t>Nguồn: NumPy Documentation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Phép toán theo từng phần tử</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 -, *, /, **, //, % áp dụng cho từng cặp phần tử</a:t>
            </a:r>
            <a:endParaRPr lang="en-US" sz="2200" dirty="0"/>
          </a:p>
        </p:txBody>
      </p:sp>
      <p:sp>
        <p:nvSpPr>
          <p:cNvPr id="5" name="Shape 3"/>
          <p:cNvSpPr/>
          <p:nvPr/>
        </p:nvSpPr>
        <p:spPr>
          <a:xfrm>
            <a:off x="609585" y="2087166"/>
            <a:ext cx="5333867" cy="3238798"/>
          </a:xfrm>
          <a:prstGeom prst="rect">
            <a:avLst/>
          </a:prstGeom>
          <a:solidFill>
            <a:srgbClr val="FFFCF5"/>
          </a:solidFill>
          <a:ln w="12700">
            <a:solidFill>
              <a:srgbClr val="6E6A60"/>
            </a:solidFill>
            <a:prstDash val="solid"/>
          </a:ln>
        </p:spPr>
      </p:sp>
      <p:sp>
        <p:nvSpPr>
          <p:cNvPr id="6" name="Text 4"/>
          <p:cNvSpPr/>
          <p:nvPr/>
        </p:nvSpPr>
        <p:spPr>
          <a:xfrm>
            <a:off x="800080" y="21657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7" name="Shape 5"/>
          <p:cNvSpPr/>
          <p:nvPr/>
        </p:nvSpPr>
        <p:spPr>
          <a:xfrm>
            <a:off x="800080" y="2585641"/>
            <a:ext cx="4952876" cy="1706563"/>
          </a:xfrm>
          <a:prstGeom prst="roundRect">
            <a:avLst>
              <a:gd name="adj" fmla="val 670"/>
            </a:avLst>
          </a:prstGeom>
          <a:solidFill>
            <a:srgbClr val="FFFCF5"/>
          </a:solidFill>
          <a:ln/>
        </p:spPr>
      </p:sp>
      <p:sp>
        <p:nvSpPr>
          <p:cNvPr id="8" name="Text 6"/>
          <p:cNvSpPr/>
          <p:nvPr/>
        </p:nvSpPr>
        <p:spPr>
          <a:xfrm>
            <a:off x="1043854" y="2788841"/>
            <a:ext cx="4465327" cy="130016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x = np.array([1, 2, 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y = np.array([4, 5, 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x + y</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x ** 2</a:t>
            </a:r>
            <a:endParaRPr lang="en-US" sz="1600" dirty="0"/>
          </a:p>
        </p:txBody>
      </p:sp>
      <p:sp>
        <p:nvSpPr>
          <p:cNvPr id="9" name="Text 7"/>
          <p:cNvSpPr/>
          <p:nvPr/>
        </p:nvSpPr>
        <p:spPr>
          <a:xfrm>
            <a:off x="800080" y="4520803"/>
            <a:ext cx="5143371" cy="248841"/>
          </a:xfrm>
          <a:prstGeom prst="rect">
            <a:avLst/>
          </a:prstGeom>
          <a:noFill/>
          <a:ln/>
        </p:spPr>
        <p:txBody>
          <a:bodyPr wrap="none" lIns="0" tIns="0" rIns="0" bIns="0" rtlCol="0" anchor="t"/>
          <a:lstStyle/>
          <a:p>
            <a:pPr marL="0" indent="0" algn="l">
              <a:lnSpc>
                <a:spcPct val="117000"/>
              </a:lnSpc>
              <a:buNone/>
            </a:pPr>
            <a:r>
              <a:rPr lang="en-US" sz="1400" dirty="0">
                <a:solidFill>
                  <a:srgbClr val="2B2A26"/>
                </a:solidFill>
                <a:latin typeface="Alegreya" pitchFamily="34" charset="0"/>
                <a:ea typeface="Alegreya" pitchFamily="34" charset="-122"/>
                <a:cs typeface="Alegreya" pitchFamily="34" charset="0"/>
              </a:rPr>
              <a:t>Hai mảng cùng shape hoặc broadcast được.</a:t>
            </a:r>
            <a:endParaRPr lang="en-US" sz="1400" dirty="0"/>
          </a:p>
        </p:txBody>
      </p:sp>
      <p:sp>
        <p:nvSpPr>
          <p:cNvPr id="10" name="Shape 8"/>
          <p:cNvSpPr/>
          <p:nvPr/>
        </p:nvSpPr>
        <p:spPr>
          <a:xfrm>
            <a:off x="6248244" y="2087166"/>
            <a:ext cx="5333867" cy="3238798"/>
          </a:xfrm>
          <a:prstGeom prst="rect">
            <a:avLst/>
          </a:prstGeom>
          <a:solidFill>
            <a:srgbClr val="FFFCF5"/>
          </a:solidFill>
          <a:ln w="12700">
            <a:solidFill>
              <a:srgbClr val="6E6A60"/>
            </a:solidFill>
            <a:prstDash val="solid"/>
          </a:ln>
        </p:spPr>
      </p:sp>
      <p:sp>
        <p:nvSpPr>
          <p:cNvPr id="11" name="Text 9"/>
          <p:cNvSpPr/>
          <p:nvPr/>
        </p:nvSpPr>
        <p:spPr>
          <a:xfrm>
            <a:off x="6438739" y="21657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KẾT QUẢ</a:t>
            </a:r>
            <a:endParaRPr lang="en-US" sz="1300" dirty="0"/>
          </a:p>
        </p:txBody>
      </p:sp>
      <p:sp>
        <p:nvSpPr>
          <p:cNvPr id="12" name="Shape 10"/>
          <p:cNvSpPr/>
          <p:nvPr/>
        </p:nvSpPr>
        <p:spPr>
          <a:xfrm>
            <a:off x="6438739" y="2585641"/>
            <a:ext cx="4952876" cy="1056481"/>
          </a:xfrm>
          <a:prstGeom prst="roundRect">
            <a:avLst>
              <a:gd name="adj" fmla="val 1082"/>
            </a:avLst>
          </a:prstGeom>
          <a:solidFill>
            <a:srgbClr val="FFFCF5"/>
          </a:solidFill>
          <a:ln/>
        </p:spPr>
      </p:sp>
      <p:sp>
        <p:nvSpPr>
          <p:cNvPr id="13" name="Text 11"/>
          <p:cNvSpPr/>
          <p:nvPr/>
        </p:nvSpPr>
        <p:spPr>
          <a:xfrm>
            <a:off x="6682513" y="2788841"/>
            <a:ext cx="4465327" cy="650081"/>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[5 7 9]</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 4 9]</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38739" y="3870722"/>
          <a:ext cx="4952876" cy="1366307"/>
        </p:xfrm>
        <a:graphic>
          <a:graphicData uri="http://schemas.openxmlformats.org/drawingml/2006/table">
            <a:tbl>
              <a:tblPr/>
              <a:tblGrid>
                <a:gridCol w="4952876">
                  <a:extLst>
                    <a:ext uri="{9D8B030D-6E8A-4147-A177-3AD203B41FA5}">
                      <a16:colId xmlns:a16="http://schemas.microsoft.com/office/drawing/2014/main" val="20000"/>
                    </a:ext>
                  </a:extLst>
                </a:gridCol>
              </a:tblGrid>
              <a:tr h="459669">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1 2 3</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0"/>
                  </a:ext>
                </a:extLst>
              </a:tr>
              <a:tr h="459669">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4 5 6</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1"/>
                  </a:ext>
                </a:extLst>
              </a:tr>
              <a:tr h="446969">
                <a:tc>
                  <a:txBody>
                    <a:bodyPr/>
                    <a:lstStyle/>
                    <a:p>
                      <a:pPr marL="0" indent="0" algn="l">
                        <a:buNone/>
                      </a:pPr>
                      <a:r>
                        <a:rPr lang="en-US" sz="1600" dirty="0">
                          <a:solidFill>
                            <a:srgbClr val="931A45"/>
                          </a:solidFill>
                          <a:latin typeface="Alegreya" pitchFamily="34" charset="0"/>
                          <a:ea typeface="Alegreya" pitchFamily="34" charset="-122"/>
                          <a:cs typeface="Alegreya" pitchFamily="34" charset="0"/>
                        </a:rPr>
                        <a:t>5 7 9</a:t>
                      </a:r>
                      <a:endParaRPr lang="en-US" sz="1600" dirty="0">
                        <a:latin typeface="Alegreya" charset="0"/>
                        <a:ea typeface="Alegreya" charset="0"/>
                        <a:cs typeface="Alegreya" charset="0"/>
                      </a:endParaRPr>
                    </a:p>
                  </a:txBody>
                  <a:tcPr marL="152396" marR="152396" marT="81278" marB="81278" anchor="ctr">
                    <a:lnL w="12700" cap="flat" cmpd="sng" algn="ctr">
                      <a:solidFill>
                        <a:srgbClr val="6E6A60"/>
                      </a:solidFill>
                      <a:prstDash val="solid"/>
                      <a:round/>
                      <a:headEnd type="none" w="med" len="med"/>
                      <a:tailEnd type="none" w="med" len="med"/>
                    </a:lnL>
                    <a:lnR w="12700" cap="flat" cmpd="sng" algn="ctr">
                      <a:solidFill>
                        <a:srgbClr val="6E6A60"/>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solidFill>
                      <a:srgbClr val="FFFCF5"/>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 và @ khác nhau thế nào?</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nhân từng phần tử và nhân ma trận hàng × cột</a:t>
            </a:r>
            <a:endParaRPr lang="en-US" sz="2200" dirty="0"/>
          </a:p>
        </p:txBody>
      </p:sp>
      <p:sp>
        <p:nvSpPr>
          <p:cNvPr id="5" name="Shape 3"/>
          <p:cNvSpPr/>
          <p:nvPr/>
        </p:nvSpPr>
        <p:spPr>
          <a:xfrm>
            <a:off x="609585" y="2087166"/>
            <a:ext cx="5333867" cy="2852737"/>
          </a:xfrm>
          <a:prstGeom prst="rect">
            <a:avLst/>
          </a:prstGeom>
          <a:solidFill>
            <a:srgbClr val="FFFCF5"/>
          </a:solidFill>
          <a:ln w="12700">
            <a:solidFill>
              <a:srgbClr val="6E6A60"/>
            </a:solidFill>
            <a:prstDash val="solid"/>
          </a:ln>
        </p:spPr>
      </p:sp>
      <p:sp>
        <p:nvSpPr>
          <p:cNvPr id="6" name="Text 4"/>
          <p:cNvSpPr/>
          <p:nvPr/>
        </p:nvSpPr>
        <p:spPr>
          <a:xfrm>
            <a:off x="800080"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7" name="Shape 5"/>
          <p:cNvSpPr/>
          <p:nvPr/>
        </p:nvSpPr>
        <p:spPr>
          <a:xfrm>
            <a:off x="800080" y="2763441"/>
            <a:ext cx="4952876" cy="1706563"/>
          </a:xfrm>
          <a:prstGeom prst="roundRect">
            <a:avLst>
              <a:gd name="adj" fmla="val 670"/>
            </a:avLst>
          </a:prstGeom>
          <a:solidFill>
            <a:srgbClr val="FFFCF5"/>
          </a:solidFill>
          <a:ln/>
        </p:spPr>
      </p:sp>
      <p:sp>
        <p:nvSpPr>
          <p:cNvPr id="8" name="Text 6"/>
          <p:cNvSpPr/>
          <p:nvPr/>
        </p:nvSpPr>
        <p:spPr>
          <a:xfrm>
            <a:off x="1043854" y="2966641"/>
            <a:ext cx="4465327" cy="130016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 = np.array([[1, 2], [3, 4]])</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 np.array([[5, 6], [7, 8]])</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 * B</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 @ B</a:t>
            </a:r>
            <a:endParaRPr lang="en-US" sz="1600" dirty="0"/>
          </a:p>
        </p:txBody>
      </p:sp>
      <p:sp>
        <p:nvSpPr>
          <p:cNvPr id="9" name="Shape 7"/>
          <p:cNvSpPr/>
          <p:nvPr/>
        </p:nvSpPr>
        <p:spPr>
          <a:xfrm>
            <a:off x="6248244" y="2087166"/>
            <a:ext cx="5333867" cy="2852737"/>
          </a:xfrm>
          <a:prstGeom prst="rect">
            <a:avLst/>
          </a:prstGeom>
          <a:solidFill>
            <a:srgbClr val="FFFCF5"/>
          </a:solidFill>
          <a:ln w="12700">
            <a:solidFill>
              <a:srgbClr val="6E6A60"/>
            </a:solidFill>
            <a:prstDash val="solid"/>
          </a:ln>
        </p:spPr>
      </p:sp>
      <p:sp>
        <p:nvSpPr>
          <p:cNvPr id="10" name="Text 8"/>
          <p:cNvSpPr/>
          <p:nvPr/>
        </p:nvSpPr>
        <p:spPr>
          <a:xfrm>
            <a:off x="6438739"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KẾT QUẢ</a:t>
            </a:r>
            <a:endParaRPr lang="en-US" sz="1300" dirty="0"/>
          </a:p>
        </p:txBody>
      </p:sp>
      <p:sp>
        <p:nvSpPr>
          <p:cNvPr id="11" name="Shape 9"/>
          <p:cNvSpPr/>
          <p:nvPr/>
        </p:nvSpPr>
        <p:spPr>
          <a:xfrm>
            <a:off x="6438739" y="2763441"/>
            <a:ext cx="4952876" cy="1706563"/>
          </a:xfrm>
          <a:prstGeom prst="roundRect">
            <a:avLst>
              <a:gd name="adj" fmla="val 670"/>
            </a:avLst>
          </a:prstGeom>
          <a:solidFill>
            <a:srgbClr val="FFFCF5"/>
          </a:solidFill>
          <a:ln/>
        </p:spPr>
      </p:sp>
      <p:sp>
        <p:nvSpPr>
          <p:cNvPr id="12" name="Text 10"/>
          <p:cNvSpPr/>
          <p:nvPr/>
        </p:nvSpPr>
        <p:spPr>
          <a:xfrm>
            <a:off x="6682513" y="2966641"/>
            <a:ext cx="4465327" cy="130016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[[ 5 12]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[21 32]]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[[19 22]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[43 50]]</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09585" y="5124053"/>
          <a:ext cx="10972526" cy="1366307"/>
        </p:xfrm>
        <a:graphic>
          <a:graphicData uri="http://schemas.openxmlformats.org/drawingml/2006/table">
            <a:tbl>
              <a:tblPr/>
              <a:tblGrid>
                <a:gridCol w="1974999">
                  <a:extLst>
                    <a:ext uri="{9D8B030D-6E8A-4147-A177-3AD203B41FA5}">
                      <a16:colId xmlns:a16="http://schemas.microsoft.com/office/drawing/2014/main" val="20000"/>
                    </a:ext>
                  </a:extLst>
                </a:gridCol>
                <a:gridCol w="4388931">
                  <a:extLst>
                    <a:ext uri="{9D8B030D-6E8A-4147-A177-3AD203B41FA5}">
                      <a16:colId xmlns:a16="http://schemas.microsoft.com/office/drawing/2014/main" val="20001"/>
                    </a:ext>
                  </a:extLst>
                </a:gridCol>
                <a:gridCol w="4608596">
                  <a:extLst>
                    <a:ext uri="{9D8B030D-6E8A-4147-A177-3AD203B41FA5}">
                      <a16:colId xmlns:a16="http://schemas.microsoft.com/office/drawing/2014/main" val="20002"/>
                    </a:ext>
                  </a:extLst>
                </a:gridCol>
              </a:tblGrid>
              <a:tr h="459669">
                <a:tc>
                  <a:txBody>
                    <a:bodyPr/>
                    <a:lstStyle/>
                    <a:p>
                      <a:pPr marL="0" indent="0" algn="l">
                        <a:buNone/>
                      </a:pPr>
                      <a:r>
                        <a:rPr lang="en-US" sz="1600" dirty="0">
                          <a:solidFill>
                            <a:srgbClr val="1D1E1B"/>
                          </a:solidFill>
                          <a:latin typeface="Alegreya" pitchFamily="34" charset="0"/>
                          <a:ea typeface="Alegreya" pitchFamily="34" charset="-122"/>
                          <a:cs typeface="Alegreya" pitchFamily="34" charset="0"/>
                        </a:rPr>
                        <a:t>Toán tử</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F3B94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600" dirty="0">
                          <a:solidFill>
                            <a:srgbClr val="1D1E1B"/>
                          </a:solidFill>
                          <a:latin typeface="Alegreya" pitchFamily="34" charset="0"/>
                          <a:ea typeface="Alegreya" pitchFamily="34" charset="-122"/>
                          <a:cs typeface="Alegreya" pitchFamily="34" charset="0"/>
                        </a:rPr>
                        <a:t>Ý nghĩa</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F3B94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600" dirty="0">
                          <a:solidFill>
                            <a:srgbClr val="1D1E1B"/>
                          </a:solidFill>
                          <a:latin typeface="Alegreya" pitchFamily="34" charset="0"/>
                          <a:ea typeface="Alegreya" pitchFamily="34" charset="-122"/>
                          <a:cs typeface="Alegreya" pitchFamily="34" charset="0"/>
                        </a:rPr>
                        <a:t>Điều kiện shape</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F3B94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0"/>
                  </a:ext>
                </a:extLst>
              </a:tr>
              <a:tr h="459669">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Nhân từng phần tử</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Cùng shape hoặc broadcast được</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1"/>
                  </a:ext>
                </a:extLst>
              </a:tr>
              <a:tr h="446969">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3B942"/>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Nhân ma trận</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3B942"/>
                      </a:solidFill>
                      <a:prstDash val="solid"/>
                      <a:round/>
                      <a:headEnd type="none" w="med" len="med"/>
                      <a:tailEnd type="none" w="med" len="med"/>
                    </a:lnB>
                  </a:tcPr>
                </a:tc>
                <a:tc>
                  <a:txBody>
                    <a:bodyPr/>
                    <a:lstStyle/>
                    <a:p>
                      <a:pPr marL="0" indent="0" algn="l">
                        <a:buNone/>
                      </a:pPr>
                      <a:r>
                        <a:rPr lang="en-US" sz="1600" dirty="0">
                          <a:solidFill>
                            <a:srgbClr val="2B2A26"/>
                          </a:solidFill>
                          <a:latin typeface="Alegreya" pitchFamily="34" charset="0"/>
                          <a:ea typeface="Alegreya" pitchFamily="34" charset="-122"/>
                          <a:cs typeface="Alegreya" pitchFamily="34" charset="0"/>
                        </a:rPr>
                        <a:t>Số cột A bằng số hàng B</a:t>
                      </a:r>
                      <a:endParaRPr lang="en-US" sz="1600" dirty="0">
                        <a:latin typeface="Alegreya" charset="0"/>
                        <a:ea typeface="Alegreya" charset="0"/>
                        <a:cs typeface="Alegreya" charset="0"/>
                      </a:endParaRPr>
                    </a:p>
                  </a:txBody>
                  <a:tcPr marL="152396" marR="152396" marT="81278" marB="81278" anchor="ctr">
                    <a:lnL w="12700" cap="flat" cmpd="sng" algn="ctr">
                      <a:solidFill>
                        <a:srgbClr val="F3B942"/>
                      </a:solidFill>
                      <a:prstDash val="solid"/>
                      <a:round/>
                      <a:headEnd type="none" w="med" len="med"/>
                      <a:tailEnd type="none" w="med" len="med"/>
                    </a:lnL>
                    <a:lnR w="12700" cap="flat" cmpd="sng" algn="ctr">
                      <a:solidFill>
                        <a:srgbClr val="F3B94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3B942"/>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09585" y="664397"/>
            <a:ext cx="10972526" cy="478234"/>
          </a:xfrm>
          <a:prstGeom prst="rect">
            <a:avLst/>
          </a:prstGeom>
          <a:noFill/>
          <a:ln/>
        </p:spPr>
        <p:txBody>
          <a:bodyPr wrap="none" lIns="0" tIns="0" rIns="0" bIns="0" rtlCol="0" anchor="t"/>
          <a:lstStyle/>
          <a:p>
            <a:pPr marL="0" indent="0" algn="l">
              <a:lnSpc>
                <a:spcPct val="88000"/>
              </a:lnSpc>
              <a:buNone/>
            </a:pPr>
            <a:r>
              <a:rPr lang="en-US" sz="3600" kern="100" spc="-54" dirty="0">
                <a:solidFill>
                  <a:srgbClr val="1D1E1B"/>
                </a:solidFill>
                <a:latin typeface="Noto Sans Medium" pitchFamily="34" charset="0"/>
                <a:ea typeface="Noto Sans Medium" pitchFamily="34" charset="-122"/>
                <a:cs typeface="Noto Sans Medium" pitchFamily="34" charset="0"/>
              </a:rPr>
              <a:t>Hàm tổng hợp và axis</a:t>
            </a:r>
            <a:endParaRPr lang="en-US" sz="3600" dirty="0"/>
          </a:p>
        </p:txBody>
      </p:sp>
      <p:sp>
        <p:nvSpPr>
          <p:cNvPr id="3" name="Shape 1"/>
          <p:cNvSpPr/>
          <p:nvPr/>
        </p:nvSpPr>
        <p:spPr>
          <a:xfrm>
            <a:off x="609585" y="1232297"/>
            <a:ext cx="10972526" cy="12601"/>
          </a:xfrm>
          <a:prstGeom prst="roundRect">
            <a:avLst>
              <a:gd name="adj" fmla="val 49998"/>
            </a:avLst>
          </a:prstGeom>
          <a:solidFill>
            <a:srgbClr val="1D1E1B"/>
          </a:solidFill>
          <a:ln/>
        </p:spPr>
      </p:sp>
      <p:sp>
        <p:nvSpPr>
          <p:cNvPr id="4" name="Text 2"/>
          <p:cNvSpPr/>
          <p:nvPr/>
        </p:nvSpPr>
        <p:spPr>
          <a:xfrm>
            <a:off x="609585" y="1359429"/>
            <a:ext cx="10972526" cy="357684"/>
          </a:xfrm>
          <a:prstGeom prst="rect">
            <a:avLst/>
          </a:prstGeom>
          <a:noFill/>
          <a:ln/>
        </p:spPr>
        <p:txBody>
          <a:bodyPr wrap="none" lIns="0" tIns="0" rIns="0" bIns="84394" rtlCol="0" anchor="t"/>
          <a:lstStyle/>
          <a:p>
            <a:pPr marL="0" indent="0" algn="l">
              <a:lnSpc>
                <a:spcPct val="100000"/>
              </a:lnSpc>
              <a:buNone/>
            </a:pPr>
            <a:r>
              <a:rPr lang="en-US" sz="1800" i="1" dirty="0">
                <a:solidFill>
                  <a:srgbClr val="2B2A26"/>
                </a:solidFill>
                <a:latin typeface="Alegreya" pitchFamily="34" charset="0"/>
                <a:ea typeface="Alegreya" pitchFamily="34" charset="-122"/>
                <a:cs typeface="Alegreya" pitchFamily="34" charset="0"/>
              </a:rPr>
              <a:t>np.sum, np.mean, np.min, np.max theo toàn mảng hoặc theo trục</a:t>
            </a:r>
            <a:endParaRPr lang="en-US" sz="1800" dirty="0"/>
          </a:p>
        </p:txBody>
      </p:sp>
      <p:sp>
        <p:nvSpPr>
          <p:cNvPr id="5" name="Shape 3"/>
          <p:cNvSpPr/>
          <p:nvPr/>
        </p:nvSpPr>
        <p:spPr>
          <a:xfrm>
            <a:off x="609585" y="1806277"/>
            <a:ext cx="5333867" cy="3476030"/>
          </a:xfrm>
          <a:prstGeom prst="rect">
            <a:avLst/>
          </a:prstGeom>
          <a:solidFill>
            <a:srgbClr val="FFFCF5"/>
          </a:solidFill>
          <a:ln w="12700">
            <a:solidFill>
              <a:srgbClr val="6E6A60"/>
            </a:solidFill>
            <a:prstDash val="solid"/>
          </a:ln>
        </p:spPr>
      </p:sp>
      <p:sp>
        <p:nvSpPr>
          <p:cNvPr id="6" name="Text 4"/>
          <p:cNvSpPr/>
          <p:nvPr/>
        </p:nvSpPr>
        <p:spPr>
          <a:xfrm>
            <a:off x="800080" y="1880106"/>
            <a:ext cx="5143371" cy="168176"/>
          </a:xfrm>
          <a:prstGeom prst="rect">
            <a:avLst/>
          </a:prstGeom>
          <a:noFill/>
          <a:ln/>
        </p:spPr>
        <p:txBody>
          <a:bodyPr wrap="none" lIns="0" tIns="0" rIns="0" bIns="0" rtlCol="0" anchor="t"/>
          <a:lstStyle/>
          <a:p>
            <a:pPr marL="0" indent="0" algn="l">
              <a:lnSpc>
                <a:spcPct val="104000"/>
              </a:lnSpc>
              <a:buNone/>
            </a:pPr>
            <a:r>
              <a:rPr lang="en-US" sz="1050" kern="100" spc="11" dirty="0">
                <a:solidFill>
                  <a:srgbClr val="2B2A26"/>
                </a:solidFill>
                <a:latin typeface="Noto Sans Medium" pitchFamily="34" charset="0"/>
                <a:ea typeface="Noto Sans Medium" pitchFamily="34" charset="-122"/>
                <a:cs typeface="Noto Sans Medium" pitchFamily="34" charset="0"/>
              </a:rPr>
              <a:t>CODE</a:t>
            </a:r>
            <a:endParaRPr lang="en-US" sz="1050" dirty="0"/>
          </a:p>
        </p:txBody>
      </p:sp>
      <p:sp>
        <p:nvSpPr>
          <p:cNvPr id="7" name="Shape 5"/>
          <p:cNvSpPr/>
          <p:nvPr/>
        </p:nvSpPr>
        <p:spPr>
          <a:xfrm>
            <a:off x="800080" y="2224286"/>
            <a:ext cx="4952876" cy="1656755"/>
          </a:xfrm>
          <a:prstGeom prst="roundRect">
            <a:avLst>
              <a:gd name="adj" fmla="val 690"/>
            </a:avLst>
          </a:prstGeom>
          <a:solidFill>
            <a:srgbClr val="FFFCF5"/>
          </a:solidFill>
          <a:ln/>
        </p:spPr>
      </p:sp>
      <p:sp>
        <p:nvSpPr>
          <p:cNvPr id="8" name="Text 6"/>
          <p:cNvSpPr/>
          <p:nvPr/>
        </p:nvSpPr>
        <p:spPr>
          <a:xfrm>
            <a:off x="998810" y="2390299"/>
            <a:ext cx="4555416" cy="132556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m = np.array([[1, 2, 3], [4, 5, 6]])</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m.sum()</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m.sum(axis=0)</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m.sum(axis=1)</a:t>
            </a:r>
            <a:endParaRPr lang="en-US" sz="1300" dirty="0"/>
          </a:p>
          <a:p>
            <a:pPr marL="0" indent="0" algn="l">
              <a:lnSpc>
                <a:spcPct val="133000"/>
              </a:lnSpc>
              <a:buNone/>
            </a:pPr>
            <a:r>
              <a:rPr lang="en-US" sz="1300" dirty="0">
                <a:solidFill>
                  <a:srgbClr val="24292E"/>
                </a:solidFill>
                <a:latin typeface="Consolas" pitchFamily="34" charset="0"/>
                <a:ea typeface="Consolas" pitchFamily="34" charset="-122"/>
                <a:cs typeface="Consolas" pitchFamily="34" charset="0"/>
              </a:rPr>
              <a:t>m.mean()</a:t>
            </a:r>
            <a:endParaRPr lang="en-US" sz="1300" dirty="0"/>
          </a:p>
        </p:txBody>
      </p:sp>
      <p:sp>
        <p:nvSpPr>
          <p:cNvPr id="9" name="Text 7"/>
          <p:cNvSpPr/>
          <p:nvPr/>
        </p:nvSpPr>
        <p:spPr>
          <a:xfrm>
            <a:off x="800080" y="4068957"/>
            <a:ext cx="5143371" cy="184150"/>
          </a:xfrm>
          <a:prstGeom prst="rect">
            <a:avLst/>
          </a:prstGeom>
          <a:noFill/>
          <a:ln/>
        </p:spPr>
        <p:txBody>
          <a:bodyPr wrap="none" lIns="0" tIns="0" rIns="0" bIns="0" rtlCol="0" anchor="t"/>
          <a:lstStyle/>
          <a:p>
            <a:pPr marL="0" indent="0" algn="l">
              <a:lnSpc>
                <a:spcPct val="106000"/>
              </a:lnSpc>
              <a:buNone/>
            </a:pPr>
            <a:r>
              <a:rPr lang="en-US" sz="1150" dirty="0">
                <a:solidFill>
                  <a:srgbClr val="2B2A26"/>
                </a:solidFill>
                <a:latin typeface="Alegreya" pitchFamily="34" charset="0"/>
                <a:ea typeface="Alegreya" pitchFamily="34" charset="-122"/>
                <a:cs typeface="Alegreya" pitchFamily="34" charset="0"/>
              </a:rPr>
              <a:t>Không axis: gộp toàn mảng. axis=0 gộp hàng; axis=1 gộp cột.</a:t>
            </a:r>
            <a:endParaRPr lang="en-US" sz="1150" dirty="0"/>
          </a:p>
        </p:txBody>
      </p:sp>
      <p:sp>
        <p:nvSpPr>
          <p:cNvPr id="10" name="Shape 8"/>
          <p:cNvSpPr/>
          <p:nvPr/>
        </p:nvSpPr>
        <p:spPr>
          <a:xfrm>
            <a:off x="6248244" y="1806277"/>
            <a:ext cx="5333867" cy="3476030"/>
          </a:xfrm>
          <a:prstGeom prst="rect">
            <a:avLst/>
          </a:prstGeom>
          <a:solidFill>
            <a:srgbClr val="FFFCF5"/>
          </a:solidFill>
          <a:ln w="12700">
            <a:solidFill>
              <a:srgbClr val="6E6A60"/>
            </a:solidFill>
            <a:prstDash val="solid"/>
          </a:ln>
        </p:spPr>
      </p:sp>
      <p:sp>
        <p:nvSpPr>
          <p:cNvPr id="11" name="Text 9"/>
          <p:cNvSpPr/>
          <p:nvPr/>
        </p:nvSpPr>
        <p:spPr>
          <a:xfrm>
            <a:off x="6438739" y="1880106"/>
            <a:ext cx="5143371" cy="168176"/>
          </a:xfrm>
          <a:prstGeom prst="rect">
            <a:avLst/>
          </a:prstGeom>
          <a:noFill/>
          <a:ln/>
        </p:spPr>
        <p:txBody>
          <a:bodyPr wrap="none" lIns="0" tIns="0" rIns="0" bIns="0" rtlCol="0" anchor="t"/>
          <a:lstStyle/>
          <a:p>
            <a:pPr marL="0" indent="0" algn="l">
              <a:lnSpc>
                <a:spcPct val="104000"/>
              </a:lnSpc>
              <a:buNone/>
            </a:pPr>
            <a:r>
              <a:rPr lang="en-US" sz="1050" kern="100" spc="11" dirty="0">
                <a:solidFill>
                  <a:srgbClr val="2B2A26"/>
                </a:solidFill>
                <a:latin typeface="Noto Sans Medium" pitchFamily="34" charset="0"/>
                <a:ea typeface="Noto Sans Medium" pitchFamily="34" charset="-122"/>
                <a:cs typeface="Noto Sans Medium" pitchFamily="34" charset="0"/>
              </a:rPr>
              <a:t>KẾT QUẢ</a:t>
            </a:r>
            <a:endParaRPr lang="en-US" sz="1050" dirty="0"/>
          </a:p>
        </p:txBody>
      </p:sp>
      <p:sp>
        <p:nvSpPr>
          <p:cNvPr id="12" name="Shape 10"/>
          <p:cNvSpPr/>
          <p:nvPr/>
        </p:nvSpPr>
        <p:spPr>
          <a:xfrm>
            <a:off x="6438739" y="2224286"/>
            <a:ext cx="4952876" cy="1391642"/>
          </a:xfrm>
          <a:prstGeom prst="roundRect">
            <a:avLst>
              <a:gd name="adj" fmla="val 821"/>
            </a:avLst>
          </a:prstGeom>
          <a:solidFill>
            <a:srgbClr val="FFFCF5"/>
          </a:solidFill>
          <a:ln/>
        </p:spPr>
      </p:sp>
      <p:sp>
        <p:nvSpPr>
          <p:cNvPr id="13" name="Text 11"/>
          <p:cNvSpPr/>
          <p:nvPr/>
        </p:nvSpPr>
        <p:spPr>
          <a:xfrm>
            <a:off x="6637469" y="2390299"/>
            <a:ext cx="4555416" cy="1060450"/>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5CC5"/>
                </a:solidFill>
                <a:latin typeface="Consolas" pitchFamily="34" charset="0"/>
                <a:ea typeface="Consolas" pitchFamily="34" charset="-122"/>
                <a:cs typeface="Consolas" pitchFamily="34" charset="0"/>
              </a:rPr>
              <a:t>21</a:t>
            </a:r>
            <a:endParaRPr lang="en-US" sz="1300" dirty="0"/>
          </a:p>
          <a:p>
            <a:pPr marL="0" indent="0" algn="l">
              <a:lnSpc>
                <a:spcPct val="133000"/>
              </a:lnSpc>
              <a:buNone/>
            </a:pPr>
            <a:r>
              <a:rPr lang="en-US" sz="1300" dirty="0">
                <a:solidFill>
                  <a:srgbClr val="005CC5"/>
                </a:solidFill>
                <a:latin typeface="Consolas" pitchFamily="34" charset="0"/>
                <a:ea typeface="Consolas" pitchFamily="34" charset="-122"/>
                <a:cs typeface="Consolas" pitchFamily="34" charset="0"/>
              </a:rPr>
              <a:t>[5 7 9]</a:t>
            </a:r>
            <a:endParaRPr lang="en-US" sz="1300" dirty="0"/>
          </a:p>
          <a:p>
            <a:pPr marL="0" indent="0" algn="l">
              <a:lnSpc>
                <a:spcPct val="133000"/>
              </a:lnSpc>
              <a:buNone/>
            </a:pPr>
            <a:r>
              <a:rPr lang="en-US" sz="1300" dirty="0">
                <a:solidFill>
                  <a:srgbClr val="005CC5"/>
                </a:solidFill>
                <a:latin typeface="Consolas" pitchFamily="34" charset="0"/>
                <a:ea typeface="Consolas" pitchFamily="34" charset="-122"/>
                <a:cs typeface="Consolas" pitchFamily="34" charset="0"/>
              </a:rPr>
              <a:t>[ 6 15]</a:t>
            </a:r>
            <a:endParaRPr lang="en-US" sz="1300" dirty="0"/>
          </a:p>
          <a:p>
            <a:pPr marL="0" indent="0" algn="l">
              <a:lnSpc>
                <a:spcPct val="133000"/>
              </a:lnSpc>
              <a:buNone/>
            </a:pPr>
            <a:r>
              <a:rPr lang="en-US" sz="1300" dirty="0">
                <a:solidFill>
                  <a:srgbClr val="005CC5"/>
                </a:solidFill>
                <a:latin typeface="Consolas" pitchFamily="34" charset="0"/>
                <a:ea typeface="Consolas" pitchFamily="34" charset="-122"/>
                <a:cs typeface="Consolas" pitchFamily="34" charset="0"/>
              </a:rPr>
              <a:t>3.5</a:t>
            </a:r>
            <a:endParaRPr lang="en-US" sz="1300" dirty="0"/>
          </a:p>
        </p:txBody>
      </p:sp>
      <p:pic>
        <p:nvPicPr>
          <p:cNvPr id="14" name="Image 0" descr="preencoded.png"/>
          <p:cNvPicPr>
            <a:picLocks noChangeAspect="1"/>
          </p:cNvPicPr>
          <p:nvPr/>
        </p:nvPicPr>
        <p:blipFill>
          <a:blip r:embed="rId3"/>
          <a:stretch>
            <a:fillRect/>
          </a:stretch>
        </p:blipFill>
        <p:spPr>
          <a:xfrm>
            <a:off x="6438739" y="3802261"/>
            <a:ext cx="4952876" cy="1193602"/>
          </a:xfrm>
          <a:prstGeom prst="rect">
            <a:avLst/>
          </a:prstGeom>
        </p:spPr>
      </p:pic>
      <p:sp>
        <p:nvSpPr>
          <p:cNvPr id="15" name="Text 12"/>
          <p:cNvSpPr/>
          <p:nvPr/>
        </p:nvSpPr>
        <p:spPr>
          <a:xfrm>
            <a:off x="6438739" y="5051435"/>
            <a:ext cx="5143371" cy="168176"/>
          </a:xfrm>
          <a:prstGeom prst="rect">
            <a:avLst/>
          </a:prstGeom>
          <a:noFill/>
          <a:ln/>
        </p:spPr>
        <p:txBody>
          <a:bodyPr wrap="none" lIns="0" tIns="0" rIns="0" bIns="0" rtlCol="0" anchor="t"/>
          <a:lstStyle/>
          <a:p>
            <a:pPr marL="0" indent="0" algn="l">
              <a:lnSpc>
                <a:spcPct val="108000"/>
              </a:lnSpc>
              <a:buNone/>
            </a:pPr>
            <a:r>
              <a:rPr lang="en-US" sz="1000" i="1" dirty="0">
                <a:solidFill>
                  <a:srgbClr val="2B2A26"/>
                </a:solidFill>
                <a:latin typeface="Alegreya" pitchFamily="34" charset="0"/>
                <a:ea typeface="Alegreya" pitchFamily="34" charset="-122"/>
                <a:cs typeface="Alegreya" pitchFamily="34" charset="0"/>
              </a:rPr>
              <a:t>Nguồn: NumPy Documentation</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09585" y="5404644"/>
          <a:ext cx="10972525" cy="1451038"/>
        </p:xfrm>
        <a:graphic>
          <a:graphicData uri="http://schemas.openxmlformats.org/drawingml/2006/table">
            <a:tbl>
              <a:tblPr/>
              <a:tblGrid>
                <a:gridCol w="3291698">
                  <a:extLst>
                    <a:ext uri="{9D8B030D-6E8A-4147-A177-3AD203B41FA5}">
                      <a16:colId xmlns:a16="http://schemas.microsoft.com/office/drawing/2014/main" val="20000"/>
                    </a:ext>
                  </a:extLst>
                </a:gridCol>
                <a:gridCol w="2743131">
                  <a:extLst>
                    <a:ext uri="{9D8B030D-6E8A-4147-A177-3AD203B41FA5}">
                      <a16:colId xmlns:a16="http://schemas.microsoft.com/office/drawing/2014/main" val="20001"/>
                    </a:ext>
                  </a:extLst>
                </a:gridCol>
                <a:gridCol w="1645799">
                  <a:extLst>
                    <a:ext uri="{9D8B030D-6E8A-4147-A177-3AD203B41FA5}">
                      <a16:colId xmlns:a16="http://schemas.microsoft.com/office/drawing/2014/main" val="20002"/>
                    </a:ext>
                  </a:extLst>
                </a:gridCol>
                <a:gridCol w="3291897">
                  <a:extLst>
                    <a:ext uri="{9D8B030D-6E8A-4147-A177-3AD203B41FA5}">
                      <a16:colId xmlns:a16="http://schemas.microsoft.com/office/drawing/2014/main" val="20003"/>
                    </a:ext>
                  </a:extLst>
                </a:gridCol>
              </a:tblGrid>
              <a:tr h="349142">
                <a:tc>
                  <a:txBody>
                    <a:bodyPr/>
                    <a:lstStyle/>
                    <a:p>
                      <a:pPr marL="0" indent="0" algn="l">
                        <a:buNone/>
                      </a:pPr>
                      <a:r>
                        <a:rPr lang="en-US" sz="1300" dirty="0">
                          <a:solidFill>
                            <a:srgbClr val="1D1E1B"/>
                          </a:solidFill>
                          <a:latin typeface="Alegreya" pitchFamily="34" charset="0"/>
                          <a:ea typeface="Alegreya" pitchFamily="34" charset="-122"/>
                          <a:cs typeface="Alegreya" pitchFamily="34" charset="0"/>
                        </a:rPr>
                        <a:t>Cách gọi</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1D1E1B"/>
                          </a:solidFill>
                          <a:latin typeface="Alegreya" pitchFamily="34" charset="0"/>
                          <a:ea typeface="Alegreya" pitchFamily="34" charset="-122"/>
                          <a:cs typeface="Alegreya" pitchFamily="34" charset="0"/>
                        </a:rPr>
                        <a:t>Chiều bị gộp</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1D1E1B"/>
                          </a:solidFill>
                          <a:latin typeface="Alegreya" pitchFamily="34" charset="0"/>
                          <a:ea typeface="Alegreya" pitchFamily="34" charset="-122"/>
                          <a:cs typeface="Alegreya" pitchFamily="34" charset="0"/>
                        </a:rPr>
                        <a:t>Shape</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1D1E1B"/>
                          </a:solidFill>
                          <a:latin typeface="Alegreya" pitchFamily="34" charset="0"/>
                          <a:ea typeface="Alegreya" pitchFamily="34" charset="-122"/>
                          <a:cs typeface="Alegreya" pitchFamily="34" charset="0"/>
                        </a:rPr>
                        <a:t>Kết quả</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F7C8A2"/>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0"/>
                  </a:ext>
                </a:extLst>
              </a:tr>
              <a:tr h="349142">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m.sum()</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Toàn bộ</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21</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1"/>
                  </a:ext>
                </a:extLst>
              </a:tr>
              <a:tr h="349142">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m.sum(axis=0)</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Hàng (trục 0)</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(3,)</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[5 7 9]</a:t>
                      </a:r>
                      <a:endParaRPr lang="en-US" sz="1300" dirty="0">
                        <a:latin typeface="Alegreya" charset="0"/>
                        <a:ea typeface="Alegreya" charset="0"/>
                        <a:cs typeface="Alegreya" charset="0"/>
                      </a:endParaRPr>
                    </a:p>
                  </a:txBody>
                  <a:tcPr marL="124231" marR="124231" marT="66257" marB="6625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6E6A60"/>
                      </a:solidFill>
                      <a:prstDash val="solid"/>
                      <a:round/>
                      <a:headEnd type="none" w="med" len="med"/>
                      <a:tailEnd type="none" w="med" len="med"/>
                    </a:lnB>
                  </a:tcPr>
                </a:tc>
                <a:extLst>
                  <a:ext uri="{0D108BD9-81ED-4DB2-BD59-A6C34878D82A}">
                    <a16:rowId xmlns:a16="http://schemas.microsoft.com/office/drawing/2014/main" val="10002"/>
                  </a:ext>
                </a:extLst>
              </a:tr>
              <a:tr h="403612">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m.sum(axis=1)</a:t>
                      </a:r>
                      <a:endParaRPr lang="en-US" sz="1300" dirty="0">
                        <a:latin typeface="Alegreya" charset="0"/>
                        <a:ea typeface="Alegreya" charset="0"/>
                        <a:cs typeface="Alegreya" charset="0"/>
                      </a:endParaRPr>
                    </a:p>
                  </a:txBody>
                  <a:tcPr marL="124231" marR="124231" marT="66257" marB="12699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Cột (trục 1)</a:t>
                      </a:r>
                      <a:endParaRPr lang="en-US" sz="1300" dirty="0">
                        <a:latin typeface="Alegreya" charset="0"/>
                        <a:ea typeface="Alegreya" charset="0"/>
                        <a:cs typeface="Alegreya" charset="0"/>
                      </a:endParaRPr>
                    </a:p>
                  </a:txBody>
                  <a:tcPr marL="124231" marR="124231" marT="66257" marB="12699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(2,)</a:t>
                      </a:r>
                      <a:endParaRPr lang="en-US" sz="1300" dirty="0">
                        <a:latin typeface="Alegreya" charset="0"/>
                        <a:ea typeface="Alegreya" charset="0"/>
                        <a:cs typeface="Alegreya" charset="0"/>
                      </a:endParaRPr>
                    </a:p>
                  </a:txBody>
                  <a:tcPr marL="124231" marR="124231" marT="66257" marB="12699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tc>
                  <a:txBody>
                    <a:bodyPr/>
                    <a:lstStyle/>
                    <a:p>
                      <a:pPr marL="0" indent="0" algn="l">
                        <a:buNone/>
                      </a:pPr>
                      <a:r>
                        <a:rPr lang="en-US" sz="1300" dirty="0">
                          <a:solidFill>
                            <a:srgbClr val="2B2A26"/>
                          </a:solidFill>
                          <a:latin typeface="Alegreya" pitchFamily="34" charset="0"/>
                          <a:ea typeface="Alegreya" pitchFamily="34" charset="-122"/>
                          <a:cs typeface="Alegreya" pitchFamily="34" charset="0"/>
                        </a:rPr>
                        <a:t>[ 6 15]</a:t>
                      </a:r>
                      <a:endParaRPr lang="en-US" sz="1300" dirty="0">
                        <a:latin typeface="Alegreya" charset="0"/>
                        <a:ea typeface="Alegreya" charset="0"/>
                        <a:cs typeface="Alegreya" charset="0"/>
                      </a:endParaRPr>
                    </a:p>
                  </a:txBody>
                  <a:tcPr marL="124231" marR="124231" marT="66257" marB="126997" anchor="ctr">
                    <a:lnL w="12700" cap="flat" cmpd="sng" algn="ctr">
                      <a:solidFill>
                        <a:srgbClr val="F7C8A2"/>
                      </a:solidFill>
                      <a:prstDash val="solid"/>
                      <a:round/>
                      <a:headEnd type="none" w="med" len="med"/>
                      <a:tailEnd type="none" w="med" len="med"/>
                    </a:lnL>
                    <a:lnR w="12700" cap="flat" cmpd="sng" algn="ctr">
                      <a:solidFill>
                        <a:srgbClr val="F7C8A2"/>
                      </a:solidFill>
                      <a:prstDash val="solid"/>
                      <a:round/>
                      <a:headEnd type="none" w="med" len="med"/>
                      <a:tailEnd type="none" w="med" len="med"/>
                    </a:lnR>
                    <a:lnT w="12700" cap="flat" cmpd="sng" algn="ctr">
                      <a:solidFill>
                        <a:srgbClr val="6E6A60"/>
                      </a:solidFill>
                      <a:prstDash val="solid"/>
                      <a:round/>
                      <a:headEnd type="none" w="med" len="med"/>
                      <a:tailEnd type="none" w="med" len="med"/>
                    </a:lnT>
                    <a:lnB w="12700" cap="flat" cmpd="sng" algn="ctr">
                      <a:solidFill>
                        <a:srgbClr val="F7C8A2"/>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Broadcasting: khái niệm và quy tắc</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trải mảng nhỏ lên mảng lớn mà không sao chép dữ liệu</a:t>
            </a:r>
            <a:endParaRPr lang="en-US" sz="2200" dirty="0"/>
          </a:p>
        </p:txBody>
      </p:sp>
      <p:sp>
        <p:nvSpPr>
          <p:cNvPr id="5" name="Shape 3"/>
          <p:cNvSpPr/>
          <p:nvPr/>
        </p:nvSpPr>
        <p:spPr>
          <a:xfrm>
            <a:off x="609585" y="2087166"/>
            <a:ext cx="5333867" cy="4464943"/>
          </a:xfrm>
          <a:prstGeom prst="rect">
            <a:avLst/>
          </a:prstGeom>
          <a:solidFill>
            <a:srgbClr val="FFFCF5"/>
          </a:solidFill>
          <a:ln w="12700">
            <a:solidFill>
              <a:srgbClr val="6E6A60"/>
            </a:solidFill>
            <a:prstDash val="solid"/>
          </a:ln>
        </p:spPr>
      </p:sp>
      <p:sp>
        <p:nvSpPr>
          <p:cNvPr id="6" name="Text 4"/>
          <p:cNvSpPr/>
          <p:nvPr/>
        </p:nvSpPr>
        <p:spPr>
          <a:xfrm>
            <a:off x="800080"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QUY TẮC</a:t>
            </a:r>
            <a:endParaRPr lang="en-US" sz="1300" dirty="0"/>
          </a:p>
        </p:txBody>
      </p:sp>
      <p:sp>
        <p:nvSpPr>
          <p:cNvPr id="7" name="Text 5"/>
          <p:cNvSpPr/>
          <p:nvPr/>
        </p:nvSpPr>
        <p:spPr>
          <a:xfrm>
            <a:off x="800080" y="2528491"/>
            <a:ext cx="4952876"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So sánh shape từ phải sang trái.</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Hai chiều bằng nhau, hoặc một bên bằng 1.</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Chiều thiếu được coi là 1.</a:t>
            </a:r>
            <a:endParaRPr lang="en-US" sz="1600" dirty="0"/>
          </a:p>
        </p:txBody>
      </p:sp>
      <p:sp>
        <p:nvSpPr>
          <p:cNvPr id="8" name="Shape 6"/>
          <p:cNvSpPr/>
          <p:nvPr/>
        </p:nvSpPr>
        <p:spPr>
          <a:xfrm>
            <a:off x="6248244" y="2087166"/>
            <a:ext cx="5333867" cy="4464943"/>
          </a:xfrm>
          <a:prstGeom prst="rect">
            <a:avLst/>
          </a:prstGeom>
          <a:solidFill>
            <a:srgbClr val="FFFCF5"/>
          </a:solidFill>
          <a:ln w="12700">
            <a:solidFill>
              <a:srgbClr val="6E6A60"/>
            </a:solidFill>
            <a:prstDash val="solid"/>
          </a:ln>
        </p:spPr>
      </p:sp>
      <p:sp>
        <p:nvSpPr>
          <p:cNvPr id="9" name="Text 7"/>
          <p:cNvSpPr/>
          <p:nvPr/>
        </p:nvSpPr>
        <p:spPr>
          <a:xfrm>
            <a:off x="6438739"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10" name="Shape 8"/>
          <p:cNvSpPr/>
          <p:nvPr/>
        </p:nvSpPr>
        <p:spPr>
          <a:xfrm>
            <a:off x="6438739" y="2636441"/>
            <a:ext cx="4952876" cy="2031603"/>
          </a:xfrm>
          <a:prstGeom prst="roundRect">
            <a:avLst>
              <a:gd name="adj" fmla="val 563"/>
            </a:avLst>
          </a:prstGeom>
          <a:solidFill>
            <a:srgbClr val="FFFCF5"/>
          </a:solidFill>
          <a:ln/>
        </p:spPr>
      </p:sp>
      <p:sp>
        <p:nvSpPr>
          <p:cNvPr id="11" name="Text 9"/>
          <p:cNvSpPr/>
          <p:nvPr/>
        </p:nvSpPr>
        <p:spPr>
          <a:xfrm>
            <a:off x="6682513" y="2839641"/>
            <a:ext cx="4465327" cy="1625203"/>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 = np.array([[1, 2, 3], [4, 5, 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b = np.array([10, 20, 30])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a + b</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[[11 22 33]</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 [14 25 36]]</a:t>
            </a:r>
            <a:endParaRPr lang="en-US" sz="1600" dirty="0"/>
          </a:p>
        </p:txBody>
      </p:sp>
      <p:pic>
        <p:nvPicPr>
          <p:cNvPr id="12" name="Image 0" descr="preencoded.png"/>
          <p:cNvPicPr>
            <a:picLocks noChangeAspect="1"/>
          </p:cNvPicPr>
          <p:nvPr/>
        </p:nvPicPr>
        <p:blipFill>
          <a:blip r:embed="rId3"/>
          <a:stretch>
            <a:fillRect/>
          </a:stretch>
        </p:blipFill>
        <p:spPr>
          <a:xfrm>
            <a:off x="6438739" y="5017294"/>
            <a:ext cx="4952876" cy="1087140"/>
          </a:xfrm>
          <a:prstGeom prst="rect">
            <a:avLst/>
          </a:prstGeom>
        </p:spPr>
      </p:pic>
      <p:sp>
        <p:nvSpPr>
          <p:cNvPr id="13" name="Text 10"/>
          <p:cNvSpPr/>
          <p:nvPr/>
        </p:nvSpPr>
        <p:spPr>
          <a:xfrm>
            <a:off x="6438739" y="6206827"/>
            <a:ext cx="5143371"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Nguồn: NumPy Documentation</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09585" y="664374"/>
            <a:ext cx="10972526" cy="489942"/>
          </a:xfrm>
          <a:prstGeom prst="rect">
            <a:avLst/>
          </a:prstGeom>
          <a:noFill/>
          <a:ln/>
        </p:spPr>
        <p:txBody>
          <a:bodyPr wrap="none" lIns="0" tIns="0" rIns="0" bIns="0" rtlCol="0" anchor="t"/>
          <a:lstStyle/>
          <a:p>
            <a:pPr marL="0" indent="0" algn="l">
              <a:lnSpc>
                <a:spcPct val="88000"/>
              </a:lnSpc>
              <a:buNone/>
            </a:pPr>
            <a:r>
              <a:rPr lang="en-US" sz="3650" kern="100" spc="-55" dirty="0">
                <a:solidFill>
                  <a:srgbClr val="1D1E1B"/>
                </a:solidFill>
                <a:latin typeface="Noto Sans Medium" pitchFamily="34" charset="0"/>
                <a:ea typeface="Noto Sans Medium" pitchFamily="34" charset="-122"/>
                <a:cs typeface="Noto Sans Medium" pitchFamily="34" charset="0"/>
              </a:rPr>
              <a:t>Broadcasting: thành công và thất bại</a:t>
            </a:r>
            <a:endParaRPr lang="en-US" sz="3650" dirty="0"/>
          </a:p>
        </p:txBody>
      </p:sp>
      <p:sp>
        <p:nvSpPr>
          <p:cNvPr id="3" name="Shape 1"/>
          <p:cNvSpPr/>
          <p:nvPr/>
        </p:nvSpPr>
        <p:spPr>
          <a:xfrm>
            <a:off x="609585" y="1244997"/>
            <a:ext cx="10972526" cy="12601"/>
          </a:xfrm>
          <a:prstGeom prst="roundRect">
            <a:avLst>
              <a:gd name="adj" fmla="val 49998"/>
            </a:avLst>
          </a:prstGeom>
          <a:solidFill>
            <a:srgbClr val="1D1E1B"/>
          </a:solidFill>
          <a:ln/>
        </p:spPr>
      </p:sp>
      <p:sp>
        <p:nvSpPr>
          <p:cNvPr id="4" name="Text 2"/>
          <p:cNvSpPr/>
          <p:nvPr/>
        </p:nvSpPr>
        <p:spPr>
          <a:xfrm>
            <a:off x="609585" y="1376219"/>
            <a:ext cx="10972526" cy="368498"/>
          </a:xfrm>
          <a:prstGeom prst="rect">
            <a:avLst/>
          </a:prstGeom>
          <a:noFill/>
          <a:ln/>
        </p:spPr>
        <p:txBody>
          <a:bodyPr wrap="none" lIns="0" tIns="0" rIns="0" bIns="88556" rtlCol="0" anchor="t"/>
          <a:lstStyle/>
          <a:p>
            <a:pPr marL="0" indent="0" algn="l">
              <a:lnSpc>
                <a:spcPct val="100000"/>
              </a:lnSpc>
              <a:buNone/>
            </a:pPr>
            <a:r>
              <a:rPr lang="en-US" sz="1850" i="1" dirty="0">
                <a:solidFill>
                  <a:srgbClr val="2B2A26"/>
                </a:solidFill>
                <a:latin typeface="Alegreya" pitchFamily="34" charset="0"/>
                <a:ea typeface="Alegreya" pitchFamily="34" charset="-122"/>
                <a:cs typeface="Alegreya" pitchFamily="34" charset="0"/>
              </a:rPr>
              <a:t>Shape tương thích khi từng chiều bằng nhau hoặc có một bên bằng 1</a:t>
            </a:r>
            <a:endParaRPr lang="en-US" sz="1850" dirty="0"/>
          </a:p>
        </p:txBody>
      </p:sp>
      <p:sp>
        <p:nvSpPr>
          <p:cNvPr id="5" name="Shape 3"/>
          <p:cNvSpPr/>
          <p:nvPr/>
        </p:nvSpPr>
        <p:spPr>
          <a:xfrm>
            <a:off x="609585" y="1835547"/>
            <a:ext cx="5333867" cy="5032474"/>
          </a:xfrm>
          <a:prstGeom prst="rect">
            <a:avLst/>
          </a:prstGeom>
          <a:solidFill>
            <a:srgbClr val="FFFCF5"/>
          </a:solidFill>
          <a:ln w="12700">
            <a:solidFill>
              <a:srgbClr val="6E6A60"/>
            </a:solidFill>
            <a:prstDash val="solid"/>
          </a:ln>
        </p:spPr>
      </p:sp>
      <p:sp>
        <p:nvSpPr>
          <p:cNvPr id="6" name="Text 4"/>
          <p:cNvSpPr/>
          <p:nvPr/>
        </p:nvSpPr>
        <p:spPr>
          <a:xfrm>
            <a:off x="800080" y="1959151"/>
            <a:ext cx="5143371" cy="172343"/>
          </a:xfrm>
          <a:prstGeom prst="rect">
            <a:avLst/>
          </a:prstGeom>
          <a:noFill/>
          <a:ln/>
        </p:spPr>
        <p:txBody>
          <a:bodyPr wrap="none" lIns="0" tIns="0" rIns="0" bIns="0" rtlCol="0" anchor="t"/>
          <a:lstStyle/>
          <a:p>
            <a:pPr marL="0" indent="0" algn="l">
              <a:lnSpc>
                <a:spcPct val="104000"/>
              </a:lnSpc>
              <a:buNone/>
            </a:pPr>
            <a:r>
              <a:rPr lang="en-US" sz="1100" kern="100" spc="11" dirty="0">
                <a:solidFill>
                  <a:srgbClr val="2B2A26"/>
                </a:solidFill>
                <a:latin typeface="Noto Sans Medium" pitchFamily="34" charset="0"/>
                <a:ea typeface="Noto Sans Medium" pitchFamily="34" charset="-122"/>
                <a:cs typeface="Noto Sans Medium" pitchFamily="34" charset="0"/>
              </a:rPr>
              <a:t>THÀNH CÔNG VÀ THẤT BẠI</a:t>
            </a:r>
            <a:endParaRPr lang="en-US" sz="1100" dirty="0"/>
          </a:p>
        </p:txBody>
      </p:sp>
      <p:sp>
        <p:nvSpPr>
          <p:cNvPr id="7" name="Text 5"/>
          <p:cNvSpPr/>
          <p:nvPr/>
        </p:nvSpPr>
        <p:spPr>
          <a:xfrm>
            <a:off x="800080" y="2206228"/>
            <a:ext cx="4952876" cy="724495"/>
          </a:xfrm>
          <a:prstGeom prst="rect">
            <a:avLst/>
          </a:prstGeom>
          <a:noFill/>
          <a:ln/>
        </p:spPr>
        <p:txBody>
          <a:bodyPr wrap="square" lIns="0" tIns="0" rIns="0" bIns="0" rtlCol="0" anchor="t">
            <a:normAutofit/>
          </a:bodyPr>
          <a:lstStyle/>
          <a:p>
            <a:pPr marL="274320" indent="-274320" algn="l">
              <a:lnSpc>
                <a:spcPct val="107000"/>
              </a:lnSpc>
              <a:buSzPct val="100000"/>
              <a:buChar char="•"/>
            </a:pPr>
            <a:r>
              <a:rPr lang="en-US" sz="1350" dirty="0">
                <a:solidFill>
                  <a:srgbClr val="2B2A26"/>
                </a:solidFill>
                <a:latin typeface="Alegreya" pitchFamily="34" charset="0"/>
                <a:ea typeface="Alegreya" pitchFamily="34" charset="-122"/>
                <a:cs typeface="Alegreya" pitchFamily="34" charset="0"/>
              </a:rPr>
              <a:t>(2, 3) + (3,): hợp lệ</a:t>
            </a:r>
            <a:endParaRPr lang="en-US" sz="1350" dirty="0"/>
          </a:p>
          <a:p>
            <a:pPr marL="274320" indent="-274320" algn="l">
              <a:lnSpc>
                <a:spcPct val="107000"/>
              </a:lnSpc>
              <a:buSzPct val="100000"/>
              <a:buChar char="•"/>
            </a:pPr>
            <a:r>
              <a:rPr lang="en-US" sz="1350" dirty="0">
                <a:solidFill>
                  <a:srgbClr val="2B2A26"/>
                </a:solidFill>
                <a:latin typeface="Alegreya" pitchFamily="34" charset="0"/>
                <a:ea typeface="Alegreya" pitchFamily="34" charset="-122"/>
                <a:cs typeface="Alegreya" pitchFamily="34" charset="0"/>
              </a:rPr>
              <a:t>(2, 3) + (2, 1): hợp lệ</a:t>
            </a:r>
            <a:endParaRPr lang="en-US" sz="1350" dirty="0"/>
          </a:p>
          <a:p>
            <a:pPr marL="274320" indent="-274320" algn="l">
              <a:lnSpc>
                <a:spcPct val="107000"/>
              </a:lnSpc>
              <a:buSzPct val="100000"/>
              <a:buChar char="•"/>
            </a:pPr>
            <a:r>
              <a:rPr lang="en-US" sz="1350" dirty="0">
                <a:solidFill>
                  <a:srgbClr val="2B2A26"/>
                </a:solidFill>
                <a:latin typeface="Alegreya" pitchFamily="34" charset="0"/>
                <a:ea typeface="Alegreya" pitchFamily="34" charset="-122"/>
                <a:cs typeface="Alegreya" pitchFamily="34" charset="0"/>
              </a:rPr>
              <a:t>(2, 3) + (2,): lỗi ValueError</a:t>
            </a:r>
            <a:endParaRPr lang="en-US" sz="1350" dirty="0"/>
          </a:p>
        </p:txBody>
      </p:sp>
      <p:sp>
        <p:nvSpPr>
          <p:cNvPr id="8" name="Text 6"/>
          <p:cNvSpPr/>
          <p:nvPr/>
        </p:nvSpPr>
        <p:spPr>
          <a:xfrm>
            <a:off x="800080" y="3014762"/>
            <a:ext cx="5143371" cy="172244"/>
          </a:xfrm>
          <a:prstGeom prst="rect">
            <a:avLst/>
          </a:prstGeom>
          <a:noFill/>
          <a:ln/>
        </p:spPr>
        <p:txBody>
          <a:bodyPr wrap="none" lIns="0" tIns="0" rIns="0" bIns="0" rtlCol="0" anchor="t"/>
          <a:lstStyle/>
          <a:p>
            <a:pPr marL="0" indent="0" algn="l">
              <a:lnSpc>
                <a:spcPct val="108000"/>
              </a:lnSpc>
              <a:buNone/>
            </a:pPr>
            <a:r>
              <a:rPr lang="en-US" sz="1050" i="1" dirty="0">
                <a:solidFill>
                  <a:srgbClr val="2B2A26"/>
                </a:solidFill>
                <a:latin typeface="Alegreya" pitchFamily="34" charset="0"/>
                <a:ea typeface="Alegreya" pitchFamily="34" charset="-122"/>
                <a:cs typeface="Alegreya" pitchFamily="34" charset="0"/>
              </a:rPr>
              <a:t>Chiều cuối 3 và 2 không bằng nhau, không bên nào bằng 1.</a:t>
            </a:r>
            <a:endParaRPr lang="en-US" sz="1050" dirty="0"/>
          </a:p>
        </p:txBody>
      </p:sp>
      <p:sp>
        <p:nvSpPr>
          <p:cNvPr id="9" name="Shape 7"/>
          <p:cNvSpPr/>
          <p:nvPr/>
        </p:nvSpPr>
        <p:spPr>
          <a:xfrm>
            <a:off x="6248244" y="1835547"/>
            <a:ext cx="5333867" cy="5032474"/>
          </a:xfrm>
          <a:prstGeom prst="rect">
            <a:avLst/>
          </a:prstGeom>
          <a:solidFill>
            <a:srgbClr val="FFFCF5"/>
          </a:solidFill>
          <a:ln w="12700">
            <a:solidFill>
              <a:srgbClr val="6E6A60"/>
            </a:solidFill>
            <a:prstDash val="solid"/>
          </a:ln>
        </p:spPr>
      </p:sp>
      <p:sp>
        <p:nvSpPr>
          <p:cNvPr id="10" name="Text 8"/>
          <p:cNvSpPr/>
          <p:nvPr/>
        </p:nvSpPr>
        <p:spPr>
          <a:xfrm>
            <a:off x="6438739" y="1959151"/>
            <a:ext cx="5143371" cy="172343"/>
          </a:xfrm>
          <a:prstGeom prst="rect">
            <a:avLst/>
          </a:prstGeom>
          <a:noFill/>
          <a:ln/>
        </p:spPr>
        <p:txBody>
          <a:bodyPr wrap="none" lIns="0" tIns="0" rIns="0" bIns="0" rtlCol="0" anchor="t"/>
          <a:lstStyle/>
          <a:p>
            <a:pPr marL="0" indent="0" algn="l">
              <a:lnSpc>
                <a:spcPct val="104000"/>
              </a:lnSpc>
              <a:buNone/>
            </a:pPr>
            <a:r>
              <a:rPr lang="en-US" sz="1100" kern="100" spc="11" dirty="0">
                <a:solidFill>
                  <a:srgbClr val="2B2A26"/>
                </a:solidFill>
                <a:latin typeface="Noto Sans Medium" pitchFamily="34" charset="0"/>
                <a:ea typeface="Noto Sans Medium" pitchFamily="34" charset="-122"/>
                <a:cs typeface="Noto Sans Medium" pitchFamily="34" charset="0"/>
              </a:rPr>
              <a:t>CODE</a:t>
            </a:r>
            <a:endParaRPr lang="en-US" sz="1100" dirty="0"/>
          </a:p>
        </p:txBody>
      </p:sp>
      <p:sp>
        <p:nvSpPr>
          <p:cNvPr id="11" name="Shape 9"/>
          <p:cNvSpPr/>
          <p:nvPr/>
        </p:nvSpPr>
        <p:spPr>
          <a:xfrm>
            <a:off x="6438739" y="2312988"/>
            <a:ext cx="4952876" cy="3053953"/>
          </a:xfrm>
          <a:prstGeom prst="roundRect">
            <a:avLst>
              <a:gd name="adj" fmla="val 374"/>
            </a:avLst>
          </a:prstGeom>
          <a:solidFill>
            <a:srgbClr val="FFFCF5"/>
          </a:solidFill>
          <a:ln/>
        </p:spPr>
      </p:sp>
      <p:sp>
        <p:nvSpPr>
          <p:cNvPr id="12" name="Text 10"/>
          <p:cNvSpPr/>
          <p:nvPr/>
        </p:nvSpPr>
        <p:spPr>
          <a:xfrm>
            <a:off x="6642331" y="2482652"/>
            <a:ext cx="4545693" cy="2714625"/>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p = np.array([[1, 2, 3], [4, 5, 6]])</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p + np.array([10, 20, 30])</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[[11 22 33]</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 [14 25 36]]</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p + np.array([[10], [20]])</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[[11 12 13]</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 [24 25 26]]</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p + np.array([10, 20])</a:t>
            </a:r>
            <a:endParaRPr lang="en-US" sz="1350" dirty="0"/>
          </a:p>
          <a:p>
            <a:pPr marL="0" indent="0" algn="l">
              <a:lnSpc>
                <a:spcPct val="133000"/>
              </a:lnSpc>
              <a:buNone/>
            </a:pPr>
            <a:r>
              <a:rPr lang="en-US" sz="1350" dirty="0">
                <a:solidFill>
                  <a:srgbClr val="24292E"/>
                </a:solidFill>
                <a:latin typeface="Consolas" pitchFamily="34" charset="0"/>
                <a:ea typeface="Consolas" pitchFamily="34" charset="-122"/>
                <a:cs typeface="Consolas" pitchFamily="34" charset="0"/>
              </a:rPr>
              <a:t>ValueError: operands could not be broadcast together with shapes (2,3) (2,)</a:t>
            </a:r>
            <a:endParaRPr lang="en-US" sz="1350" dirty="0"/>
          </a:p>
        </p:txBody>
      </p:sp>
      <p:pic>
        <p:nvPicPr>
          <p:cNvPr id="13" name="Image 0" descr="preencoded.png"/>
          <p:cNvPicPr>
            <a:picLocks noChangeAspect="1"/>
          </p:cNvPicPr>
          <p:nvPr/>
        </p:nvPicPr>
        <p:blipFill>
          <a:blip r:embed="rId3"/>
          <a:stretch>
            <a:fillRect/>
          </a:stretch>
        </p:blipFill>
        <p:spPr>
          <a:xfrm>
            <a:off x="6438739" y="5641777"/>
            <a:ext cx="1998811" cy="812701"/>
          </a:xfrm>
          <a:prstGeom prst="rect">
            <a:avLst/>
          </a:prstGeom>
        </p:spPr>
      </p:pic>
      <p:sp>
        <p:nvSpPr>
          <p:cNvPr id="14" name="Text 11"/>
          <p:cNvSpPr/>
          <p:nvPr/>
        </p:nvSpPr>
        <p:spPr>
          <a:xfrm>
            <a:off x="6438739" y="6556077"/>
            <a:ext cx="5143371" cy="172244"/>
          </a:xfrm>
          <a:prstGeom prst="rect">
            <a:avLst/>
          </a:prstGeom>
          <a:noFill/>
          <a:ln/>
        </p:spPr>
        <p:txBody>
          <a:bodyPr wrap="none" lIns="0" tIns="0" rIns="0" bIns="0" rtlCol="0" anchor="t"/>
          <a:lstStyle/>
          <a:p>
            <a:pPr marL="0" indent="0" algn="l">
              <a:lnSpc>
                <a:spcPct val="108000"/>
              </a:lnSpc>
              <a:buNone/>
            </a:pPr>
            <a:r>
              <a:rPr lang="en-US" sz="1050" i="1" dirty="0">
                <a:solidFill>
                  <a:srgbClr val="2B2A26"/>
                </a:solidFill>
                <a:latin typeface="Alegreya" pitchFamily="34" charset="0"/>
                <a:ea typeface="Alegreya" pitchFamily="34" charset="-122"/>
                <a:cs typeface="Alegreya" pitchFamily="34" charset="0"/>
              </a:rPr>
              <a:t>Nguồn: NumPy Documentation</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Ví dụ 1: thống kê điểm</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Năm bài kiểm tra: 8.0, 7.5, 9.0, 6.5, 8.5</a:t>
            </a:r>
            <a:endParaRPr lang="en-US" sz="2200" dirty="0"/>
          </a:p>
        </p:txBody>
      </p:sp>
      <p:sp>
        <p:nvSpPr>
          <p:cNvPr id="5" name="Shape 3"/>
          <p:cNvSpPr/>
          <p:nvPr/>
        </p:nvSpPr>
        <p:spPr>
          <a:xfrm>
            <a:off x="609585" y="2087166"/>
            <a:ext cx="5333867" cy="3599259"/>
          </a:xfrm>
          <a:prstGeom prst="rect">
            <a:avLst/>
          </a:prstGeom>
          <a:solidFill>
            <a:srgbClr val="FFFCF5"/>
          </a:solidFill>
          <a:ln w="12700">
            <a:solidFill>
              <a:srgbClr val="6E6A60"/>
            </a:solidFill>
            <a:prstDash val="solid"/>
          </a:ln>
        </p:spPr>
      </p:sp>
      <p:sp>
        <p:nvSpPr>
          <p:cNvPr id="6" name="Text 4"/>
          <p:cNvSpPr/>
          <p:nvPr/>
        </p:nvSpPr>
        <p:spPr>
          <a:xfrm>
            <a:off x="800080"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Ý NGHĨA</a:t>
            </a:r>
            <a:endParaRPr lang="en-US" sz="1300" dirty="0"/>
          </a:p>
        </p:txBody>
      </p:sp>
      <p:sp>
        <p:nvSpPr>
          <p:cNvPr id="7" name="Text 5"/>
          <p:cNvSpPr/>
          <p:nvPr/>
        </p:nvSpPr>
        <p:spPr>
          <a:xfrm>
            <a:off x="800080" y="2528491"/>
            <a:ext cx="4952876"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Điểm trung bình là 7.9.</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3 / 5 bài đạt từ 8.0 trở lên.</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Cộng 0.5 áp dụng cho cả mảng.</a:t>
            </a:r>
            <a:endParaRPr lang="en-US" sz="1600" dirty="0"/>
          </a:p>
        </p:txBody>
      </p:sp>
      <p:sp>
        <p:nvSpPr>
          <p:cNvPr id="8" name="Shape 6"/>
          <p:cNvSpPr/>
          <p:nvPr/>
        </p:nvSpPr>
        <p:spPr>
          <a:xfrm>
            <a:off x="6248244" y="2087166"/>
            <a:ext cx="5333867" cy="3599259"/>
          </a:xfrm>
          <a:prstGeom prst="rect">
            <a:avLst/>
          </a:prstGeom>
          <a:solidFill>
            <a:srgbClr val="FFFCF5"/>
          </a:solidFill>
          <a:ln w="12700">
            <a:solidFill>
              <a:srgbClr val="6E6A60"/>
            </a:solidFill>
            <a:prstDash val="solid"/>
          </a:ln>
        </p:spPr>
      </p:sp>
      <p:sp>
        <p:nvSpPr>
          <p:cNvPr id="9" name="Text 7"/>
          <p:cNvSpPr/>
          <p:nvPr/>
        </p:nvSpPr>
        <p:spPr>
          <a:xfrm>
            <a:off x="6438739" y="2216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10" name="Shape 8"/>
          <p:cNvSpPr/>
          <p:nvPr/>
        </p:nvSpPr>
        <p:spPr>
          <a:xfrm>
            <a:off x="6438739" y="2636441"/>
            <a:ext cx="4952876" cy="2681684"/>
          </a:xfrm>
          <a:prstGeom prst="roundRect">
            <a:avLst>
              <a:gd name="adj" fmla="val 426"/>
            </a:avLst>
          </a:prstGeom>
          <a:solidFill>
            <a:srgbClr val="FFFCF5"/>
          </a:solidFill>
          <a:ln/>
        </p:spPr>
      </p:sp>
      <p:sp>
        <p:nvSpPr>
          <p:cNvPr id="11" name="Text 9"/>
          <p:cNvSpPr/>
          <p:nvPr/>
        </p:nvSpPr>
        <p:spPr>
          <a:xfrm>
            <a:off x="6682513" y="2839641"/>
            <a:ext cx="4465327" cy="227528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d = np.array([8.0, 7.5, 9.0, 6.5, 8.5])</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np.mean(d)  # 7.9</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np.max(d)  # 9.0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np.min(d)  # 6.5</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np.std(d)  # 0.8602325267042626</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np.sum(d &gt;= 8.0)  # 3 / 5</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d + 0.5  # [8.5 8.  9.5 7.  9. ]</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Ví dụ 2: chuẩn hóa và vector hóa</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Viết công thức trên toàn mảng, không cần vòng lặp</a:t>
            </a:r>
            <a:endParaRPr lang="en-US" sz="2200" dirty="0"/>
          </a:p>
        </p:txBody>
      </p:sp>
      <p:sp>
        <p:nvSpPr>
          <p:cNvPr id="5" name="Shape 3"/>
          <p:cNvSpPr/>
          <p:nvPr/>
        </p:nvSpPr>
        <p:spPr>
          <a:xfrm>
            <a:off x="609585" y="2087166"/>
            <a:ext cx="5333867" cy="3599259"/>
          </a:xfrm>
          <a:prstGeom prst="rect">
            <a:avLst/>
          </a:prstGeom>
          <a:solidFill>
            <a:srgbClr val="FFFCF5"/>
          </a:solidFill>
          <a:ln w="12700">
            <a:solidFill>
              <a:srgbClr val="6E6A60"/>
            </a:solidFill>
            <a:prstDash val="solid"/>
          </a:ln>
        </p:spPr>
      </p:sp>
      <p:sp>
        <p:nvSpPr>
          <p:cNvPr id="6" name="Text 4"/>
          <p:cNvSpPr/>
          <p:nvPr/>
        </p:nvSpPr>
        <p:spPr>
          <a:xfrm>
            <a:off x="800080"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Z-SCORE</a:t>
            </a:r>
            <a:endParaRPr lang="en-US" sz="1300" dirty="0"/>
          </a:p>
        </p:txBody>
      </p:sp>
      <p:sp>
        <p:nvSpPr>
          <p:cNvPr id="7" name="Text 5"/>
          <p:cNvSpPr/>
          <p:nvPr/>
        </p:nvSpPr>
        <p:spPr>
          <a:xfrm>
            <a:off x="800080" y="2655491"/>
            <a:ext cx="4952876" cy="123944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Với x = [2.0, 4.0, 6.0, 8.0], mean là 5.0, std khoảng 2.236.</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Sau chuẩn hóa, mean bằng 0.0 và std bằng 1.0.</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prices[prices &gt; 200] lấy ra [250 320].</a:t>
            </a:r>
            <a:endParaRPr lang="en-US" sz="1600" dirty="0"/>
          </a:p>
        </p:txBody>
      </p:sp>
      <p:sp>
        <p:nvSpPr>
          <p:cNvPr id="8" name="Shape 6"/>
          <p:cNvSpPr/>
          <p:nvPr/>
        </p:nvSpPr>
        <p:spPr>
          <a:xfrm>
            <a:off x="6248244" y="2087166"/>
            <a:ext cx="5333867" cy="3599259"/>
          </a:xfrm>
          <a:prstGeom prst="rect">
            <a:avLst/>
          </a:prstGeom>
          <a:solidFill>
            <a:srgbClr val="FFFCF5"/>
          </a:solidFill>
          <a:ln w="12700">
            <a:solidFill>
              <a:srgbClr val="6E6A60"/>
            </a:solidFill>
            <a:prstDash val="solid"/>
          </a:ln>
        </p:spPr>
      </p:sp>
      <p:sp>
        <p:nvSpPr>
          <p:cNvPr id="9" name="Text 7"/>
          <p:cNvSpPr/>
          <p:nvPr/>
        </p:nvSpPr>
        <p:spPr>
          <a:xfrm>
            <a:off x="6438739"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CODE</a:t>
            </a:r>
            <a:endParaRPr lang="en-US" sz="1300" dirty="0"/>
          </a:p>
        </p:txBody>
      </p:sp>
      <p:sp>
        <p:nvSpPr>
          <p:cNvPr id="10" name="Shape 8"/>
          <p:cNvSpPr/>
          <p:nvPr/>
        </p:nvSpPr>
        <p:spPr>
          <a:xfrm>
            <a:off x="6438739" y="2763441"/>
            <a:ext cx="4952876" cy="2681684"/>
          </a:xfrm>
          <a:prstGeom prst="roundRect">
            <a:avLst>
              <a:gd name="adj" fmla="val 426"/>
            </a:avLst>
          </a:prstGeom>
          <a:solidFill>
            <a:srgbClr val="FFFCF5"/>
          </a:solidFill>
          <a:ln/>
        </p:spPr>
      </p:sp>
      <p:sp>
        <p:nvSpPr>
          <p:cNvPr id="11" name="Text 9"/>
          <p:cNvSpPr/>
          <p:nvPr/>
        </p:nvSpPr>
        <p:spPr>
          <a:xfrm>
            <a:off x="6682513" y="2966641"/>
            <a:ext cx="4465327" cy="2275284"/>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x = np.array([2.0, 4.0, 6.0, 8.0])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z = (x - np.mean(x)) / np.std(x)</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[-1.34164079 -0.4472136  0.4472136  1.34164079]</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prices = np.array([100, 250, 80, 320])</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prices * 1.1  # [110. 275.  88. 352.]</a:t>
            </a:r>
            <a:endParaRPr lang="en-US" sz="1600" dirty="0"/>
          </a:p>
          <a:p>
            <a:pPr marL="0" indent="0" algn="l">
              <a:lnSpc>
                <a:spcPct val="133000"/>
              </a:lnSpc>
              <a:buNone/>
            </a:pPr>
            <a:r>
              <a:rPr lang="en-US" sz="1600" dirty="0">
                <a:solidFill>
                  <a:srgbClr val="24292E"/>
                </a:solidFill>
                <a:latin typeface="Consolas" pitchFamily="34" charset="0"/>
                <a:ea typeface="Consolas" pitchFamily="34" charset="-122"/>
                <a:cs typeface="Consolas" pitchFamily="34" charset="0"/>
              </a:rPr>
              <a:t>prices[prices &gt; 200]  # [250 320]</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09585" y="677799"/>
            <a:ext cx="10972526" cy="586680"/>
          </a:xfrm>
          <a:prstGeom prst="rect">
            <a:avLst/>
          </a:prstGeom>
          <a:noFill/>
          <a:ln/>
        </p:spPr>
        <p:txBody>
          <a:bodyPr wrap="none" lIns="0" tIns="0" rIns="0" bIns="0" rtlCol="0" anchor="t"/>
          <a:lstStyle/>
          <a:p>
            <a:pPr marL="0" indent="0" algn="l">
              <a:lnSpc>
                <a:spcPct val="87000"/>
              </a:lnSpc>
              <a:buNone/>
            </a:pPr>
            <a:r>
              <a:rPr lang="en-US" sz="4400" kern="100" spc="-66" dirty="0">
                <a:solidFill>
                  <a:srgbClr val="1D1E1B"/>
                </a:solidFill>
                <a:latin typeface="Noto Sans Medium" pitchFamily="34" charset="0"/>
                <a:ea typeface="Noto Sans Medium" pitchFamily="34" charset="-122"/>
                <a:cs typeface="Noto Sans Medium" pitchFamily="34" charset="0"/>
              </a:rPr>
              <a:t>Kết luận và hướng tìm hiểu tiếp</a:t>
            </a:r>
            <a:endParaRPr lang="en-US" sz="4400" dirty="0"/>
          </a:p>
        </p:txBody>
      </p:sp>
      <p:sp>
        <p:nvSpPr>
          <p:cNvPr id="3" name="Shape 1"/>
          <p:cNvSpPr/>
          <p:nvPr/>
        </p:nvSpPr>
        <p:spPr>
          <a:xfrm>
            <a:off x="609585" y="1350169"/>
            <a:ext cx="10972526" cy="12601"/>
          </a:xfrm>
          <a:prstGeom prst="roundRect">
            <a:avLst>
              <a:gd name="adj" fmla="val 49998"/>
            </a:avLst>
          </a:prstGeom>
          <a:solidFill>
            <a:srgbClr val="1D1E1B"/>
          </a:solidFill>
          <a:ln/>
        </p:spPr>
      </p:sp>
      <p:sp>
        <p:nvSpPr>
          <p:cNvPr id="4" name="Text 2"/>
          <p:cNvSpPr/>
          <p:nvPr/>
        </p:nvSpPr>
        <p:spPr>
          <a:xfrm>
            <a:off x="609585" y="1490285"/>
            <a:ext cx="10972526" cy="462260"/>
          </a:xfrm>
          <a:prstGeom prst="rect">
            <a:avLst/>
          </a:prstGeom>
          <a:noFill/>
          <a:ln/>
        </p:spPr>
        <p:txBody>
          <a:bodyPr wrap="none" lIns="0" tIns="0" rIns="0" bIns="126997" rtlCol="0" anchor="t"/>
          <a:lstStyle/>
          <a:p>
            <a:pPr marL="0" indent="0" algn="l">
              <a:lnSpc>
                <a:spcPct val="100000"/>
              </a:lnSpc>
              <a:buNone/>
            </a:pPr>
            <a:r>
              <a:rPr lang="en-US" sz="2200" i="1" dirty="0">
                <a:solidFill>
                  <a:srgbClr val="2B2A26"/>
                </a:solidFill>
                <a:latin typeface="Alegreya" pitchFamily="34" charset="0"/>
                <a:ea typeface="Alegreya" pitchFamily="34" charset="-122"/>
                <a:cs typeface="Alegreya" pitchFamily="34" charset="0"/>
              </a:rPr>
              <a:t>NumPy = ndarray + vector hóa + broadcasting</a:t>
            </a:r>
            <a:endParaRPr lang="en-US" sz="2200" dirty="0"/>
          </a:p>
        </p:txBody>
      </p:sp>
      <p:sp>
        <p:nvSpPr>
          <p:cNvPr id="5" name="Shape 3"/>
          <p:cNvSpPr/>
          <p:nvPr/>
        </p:nvSpPr>
        <p:spPr>
          <a:xfrm>
            <a:off x="609585" y="2087166"/>
            <a:ext cx="5333867" cy="2816126"/>
          </a:xfrm>
          <a:prstGeom prst="rect">
            <a:avLst/>
          </a:prstGeom>
          <a:solidFill>
            <a:srgbClr val="FFFCF5"/>
          </a:solidFill>
          <a:ln w="12700">
            <a:solidFill>
              <a:srgbClr val="6E6A60"/>
            </a:solidFill>
            <a:prstDash val="solid"/>
          </a:ln>
        </p:spPr>
      </p:sp>
      <p:sp>
        <p:nvSpPr>
          <p:cNvPr id="6" name="Text 4"/>
          <p:cNvSpPr/>
          <p:nvPr/>
        </p:nvSpPr>
        <p:spPr>
          <a:xfrm>
            <a:off x="800080"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BA Ý CẦN NHỚ</a:t>
            </a:r>
            <a:endParaRPr lang="en-US" sz="1300" dirty="0"/>
          </a:p>
        </p:txBody>
      </p:sp>
      <p:sp>
        <p:nvSpPr>
          <p:cNvPr id="7" name="Text 5"/>
          <p:cNvSpPr/>
          <p:nvPr/>
        </p:nvSpPr>
        <p:spPr>
          <a:xfrm>
            <a:off x="800080" y="2655491"/>
            <a:ext cx="4952876" cy="1523901"/>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Shape quyết định mọi thứ, đọc shape trước khi viết phép toán.</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 nhân từng phần tử, @ nhân ma trận.</a:t>
            </a:r>
            <a:endParaRPr lang="en-US" sz="1600" dirty="0"/>
          </a:p>
          <a:p>
            <a:pPr marL="325120" indent="-325120" algn="l">
              <a:lnSpc>
                <a:spcPct val="117000"/>
              </a:lnSpc>
              <a:buSzPct val="100000"/>
              <a:buChar char="•"/>
            </a:pPr>
            <a:r>
              <a:rPr lang="en-US" sz="1600" dirty="0">
                <a:solidFill>
                  <a:srgbClr val="2B2A26"/>
                </a:solidFill>
                <a:latin typeface="Alegreya" pitchFamily="34" charset="0"/>
                <a:ea typeface="Alegreya" pitchFamily="34" charset="-122"/>
                <a:cs typeface="Alegreya" pitchFamily="34" charset="0"/>
              </a:rPr>
              <a:t>Broadcasting so sánh từ phải sang trái: bằng nhau hoặc một bên bằng 1.</a:t>
            </a:r>
            <a:endParaRPr lang="en-US" sz="1600" dirty="0"/>
          </a:p>
        </p:txBody>
      </p:sp>
      <p:sp>
        <p:nvSpPr>
          <p:cNvPr id="8" name="Text 6"/>
          <p:cNvSpPr/>
          <p:nvPr/>
        </p:nvSpPr>
        <p:spPr>
          <a:xfrm>
            <a:off x="800080" y="4300835"/>
            <a:ext cx="4952876" cy="412750"/>
          </a:xfrm>
          <a:prstGeom prst="rect">
            <a:avLst/>
          </a:prstGeom>
          <a:noFill/>
          <a:ln/>
        </p:spPr>
        <p:txBody>
          <a:bodyPr wrap="square" lIns="0" tIns="0" rIns="0" bIns="0" rtlCol="0" anchor="t">
            <a:normAutofit/>
          </a:bodyPr>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Dùng khi dữ liệu số, đồng nhất, kích thước lớn. Không thay thế pandas cho bảng nhiều kiểu.</a:t>
            </a:r>
            <a:endParaRPr lang="en-US" sz="1250" dirty="0"/>
          </a:p>
        </p:txBody>
      </p:sp>
      <p:sp>
        <p:nvSpPr>
          <p:cNvPr id="9" name="Shape 7"/>
          <p:cNvSpPr/>
          <p:nvPr/>
        </p:nvSpPr>
        <p:spPr>
          <a:xfrm>
            <a:off x="6248244" y="2087166"/>
            <a:ext cx="5333867" cy="2816126"/>
          </a:xfrm>
          <a:prstGeom prst="rect">
            <a:avLst/>
          </a:prstGeom>
          <a:solidFill>
            <a:srgbClr val="FFFCF5"/>
          </a:solidFill>
          <a:ln w="12700">
            <a:solidFill>
              <a:srgbClr val="6E6A60"/>
            </a:solidFill>
            <a:prstDash val="solid"/>
          </a:ln>
        </p:spPr>
      </p:sp>
      <p:sp>
        <p:nvSpPr>
          <p:cNvPr id="10" name="Text 8"/>
          <p:cNvSpPr/>
          <p:nvPr/>
        </p:nvSpPr>
        <p:spPr>
          <a:xfrm>
            <a:off x="6438739" y="2343547"/>
            <a:ext cx="5143371" cy="206375"/>
          </a:xfrm>
          <a:prstGeom prst="rect">
            <a:avLst/>
          </a:prstGeom>
          <a:noFill/>
          <a:ln/>
        </p:spPr>
        <p:txBody>
          <a:bodyPr wrap="none" lIns="0" tIns="0" rIns="0" bIns="0" rtlCol="0" anchor="t"/>
          <a:lstStyle/>
          <a:p>
            <a:pPr marL="0" indent="0" algn="l">
              <a:lnSpc>
                <a:spcPct val="104000"/>
              </a:lnSpc>
              <a:buNone/>
            </a:pPr>
            <a:r>
              <a:rPr lang="en-US" sz="1300" kern="100" spc="13" dirty="0">
                <a:solidFill>
                  <a:srgbClr val="2B2A26"/>
                </a:solidFill>
                <a:latin typeface="Noto Sans Medium" pitchFamily="34" charset="0"/>
                <a:ea typeface="Noto Sans Medium" pitchFamily="34" charset="-122"/>
                <a:cs typeface="Noto Sans Medium" pitchFamily="34" charset="0"/>
              </a:rPr>
              <a:t>HỌC TIẾP</a:t>
            </a:r>
            <a:endParaRPr lang="en-US" sz="1300" dirty="0"/>
          </a:p>
        </p:txBody>
      </p:sp>
      <p:sp>
        <p:nvSpPr>
          <p:cNvPr id="11" name="Text 9"/>
          <p:cNvSpPr/>
          <p:nvPr/>
        </p:nvSpPr>
        <p:spPr>
          <a:xfrm>
            <a:off x="6438739" y="2655491"/>
            <a:ext cx="4952876" cy="954980"/>
          </a:xfrm>
          <a:prstGeom prst="rect">
            <a:avLst/>
          </a:prstGeom>
          <a:noFill/>
          <a:ln/>
        </p:spPr>
        <p:txBody>
          <a:bodyPr wrap="square" lIns="0" tIns="0" rIns="0" bIns="0" rtlCol="0" anchor="t">
            <a:normAutofit/>
          </a:bodyPr>
          <a:lstStyle/>
          <a:p>
            <a:pPr marL="325120" indent="-325120" algn="l">
              <a:lnSpc>
                <a:spcPct val="117000"/>
              </a:lnSpc>
              <a:buSzPct val="100000"/>
              <a:buChar char="•"/>
            </a:pPr>
            <a:r>
              <a:rPr lang="en-US" sz="1600" b="1" dirty="0">
                <a:solidFill>
                  <a:srgbClr val="2B2A26"/>
                </a:solidFill>
                <a:latin typeface="Alegreya Bold" pitchFamily="34" charset="0"/>
                <a:ea typeface="Alegreya Bold" pitchFamily="34" charset="-122"/>
                <a:cs typeface="Alegreya Bold" pitchFamily="34" charset="0"/>
              </a:rPr>
              <a:t>Matplotlib</a:t>
            </a:r>
            <a:r>
              <a:rPr lang="en-US" sz="1600" dirty="0">
                <a:solidFill>
                  <a:srgbClr val="2B2A26"/>
                </a:solidFill>
                <a:latin typeface="Alegreya" pitchFamily="34" charset="0"/>
                <a:ea typeface="Alegreya" pitchFamily="34" charset="-122"/>
                <a:cs typeface="Alegreya" pitchFamily="34" charset="0"/>
              </a:rPr>
              <a:t>: trực quan hóa</a:t>
            </a:r>
            <a:endParaRPr lang="en-US" sz="1600" dirty="0"/>
          </a:p>
          <a:p>
            <a:pPr marL="325120" indent="-325120" algn="l">
              <a:lnSpc>
                <a:spcPct val="117000"/>
              </a:lnSpc>
              <a:buSzPct val="100000"/>
              <a:buChar char="•"/>
            </a:pPr>
            <a:r>
              <a:rPr lang="en-US" sz="1600" b="1" dirty="0">
                <a:solidFill>
                  <a:srgbClr val="2B2A26"/>
                </a:solidFill>
                <a:latin typeface="Alegreya Bold" pitchFamily="34" charset="0"/>
                <a:ea typeface="Alegreya Bold" pitchFamily="34" charset="-122"/>
                <a:cs typeface="Alegreya Bold" pitchFamily="34" charset="0"/>
              </a:rPr>
              <a:t>pandas</a:t>
            </a:r>
            <a:r>
              <a:rPr lang="en-US" sz="1600" dirty="0">
                <a:solidFill>
                  <a:srgbClr val="2B2A26"/>
                </a:solidFill>
                <a:latin typeface="Alegreya" pitchFamily="34" charset="0"/>
                <a:ea typeface="Alegreya" pitchFamily="34" charset="-122"/>
                <a:cs typeface="Alegreya" pitchFamily="34" charset="0"/>
              </a:rPr>
              <a:t>: dữ liệu bảng</a:t>
            </a:r>
            <a:endParaRPr lang="en-US" sz="1600" dirty="0"/>
          </a:p>
          <a:p>
            <a:pPr marL="325120" indent="-325120" algn="l">
              <a:lnSpc>
                <a:spcPct val="117000"/>
              </a:lnSpc>
              <a:buSzPct val="100000"/>
              <a:buChar char="•"/>
            </a:pPr>
            <a:r>
              <a:rPr lang="en-US" sz="1600" b="1" dirty="0">
                <a:solidFill>
                  <a:srgbClr val="2B2A26"/>
                </a:solidFill>
                <a:latin typeface="Alegreya Bold" pitchFamily="34" charset="0"/>
                <a:ea typeface="Alegreya Bold" pitchFamily="34" charset="-122"/>
                <a:cs typeface="Alegreya Bold" pitchFamily="34" charset="0"/>
              </a:rPr>
              <a:t>numpy.linalg</a:t>
            </a:r>
            <a:r>
              <a:rPr lang="en-US" sz="1600" dirty="0">
                <a:solidFill>
                  <a:srgbClr val="2B2A26"/>
                </a:solidFill>
                <a:latin typeface="Alegreya" pitchFamily="34" charset="0"/>
                <a:ea typeface="Alegreya" pitchFamily="34" charset="-122"/>
                <a:cs typeface="Alegreya" pitchFamily="34" charset="0"/>
              </a:rPr>
              <a:t>: đại số tuyến tính</a:t>
            </a:r>
            <a:endParaRPr lang="en-US" sz="1600" dirty="0"/>
          </a:p>
        </p:txBody>
      </p:sp>
      <p:sp>
        <p:nvSpPr>
          <p:cNvPr id="12" name="Text 10"/>
          <p:cNvSpPr/>
          <p:nvPr/>
        </p:nvSpPr>
        <p:spPr>
          <a:xfrm>
            <a:off x="6438739" y="3731915"/>
            <a:ext cx="5143371" cy="206375"/>
          </a:xfrm>
          <a:prstGeom prst="rect">
            <a:avLst/>
          </a:prstGeom>
          <a:noFill/>
          <a:ln/>
        </p:spPr>
        <p:txBody>
          <a:bodyPr wrap="none" lIns="0" tIns="0" rIns="0" bIns="0" rtlCol="0" anchor="t"/>
          <a:lstStyle/>
          <a:p>
            <a:pPr marL="0" indent="0" algn="l">
              <a:lnSpc>
                <a:spcPct val="108000"/>
              </a:lnSpc>
              <a:buNone/>
            </a:pPr>
            <a:r>
              <a:rPr lang="en-US" sz="1250" i="1" dirty="0">
                <a:solidFill>
                  <a:srgbClr val="2B2A26"/>
                </a:solidFill>
                <a:latin typeface="Alegreya" pitchFamily="34" charset="0"/>
                <a:ea typeface="Alegreya" pitchFamily="34" charset="-122"/>
                <a:cs typeface="Alegreya" pitchFamily="34" charset="0"/>
              </a:rPr>
              <a:t>Nguồn: NumPy Documentation (numpy.org/doc/stable)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3809</Words>
  <Application>Microsoft Office PowerPoint</Application>
  <PresentationFormat>Widescreen</PresentationFormat>
  <Paragraphs>469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Alegreya</vt:lpstr>
      <vt:lpstr>Arial</vt:lpstr>
      <vt:lpstr>Alegreya SemiBold</vt:lpstr>
      <vt:lpstr>Consolas</vt:lpstr>
      <vt:lpstr>Noto Sans</vt:lpstr>
      <vt:lpstr>Noto Sans Medium</vt:lpstr>
      <vt:lpstr>Alegreya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Admin</cp:lastModifiedBy>
  <cp:revision>5</cp:revision>
  <dcterms:created xsi:type="dcterms:W3CDTF">2026-10-25T15:08:05Z</dcterms:created>
  <dcterms:modified xsi:type="dcterms:W3CDTF">2026-10-25T15:10:07Z</dcterms:modified>
</cp:coreProperties>
</file>