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81"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403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chủ đề: NumPy là thư viện nền tảng cho tính toán số trong Python. Bài đi từ đối tượng ndarray, cách tạo và truy cập dữ liệu, đến phép toán, broadcasting và bốn ví dụ thực hành.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chặng tương ứng với sáu phần nội dung. Mạch đi từ động cơ sử dụng, mô hình dữ liệu, thao tác cơ bản, đến tính toán và ví dụ.</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ngắn: NumPy là gói nền tảng cho tính toán khoa học, cung cấp ndarray cùng kho hàm toán học, logic, biến đổi hình dạng, sắp xếp, nhập xuất và đại số tuyến tính. Phiên bản dùng trong tài liệu là 2.5.4.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động cơ: biểu diễn dữ liệu số nhiều chiều, viết ngắn hơn nhờ biểu thức mảng, và có sẵn hàm thống kê trên toàn mảng. Ví dụ: cộng 0,5 điểm thưởng cho 5 điểm 8.0, 7.5, 9.0, 6.5, 8.5. Cách thủ công phải lặp từng phần tử bằng comprehension; với NumPy chỉ cần d + 0.5, áp dụng cho cả mảng. Điểm cần nhấn: đây là so sánh cách viết (vòng lặp vs vector hóa), không phải so sánh kiểu list và array. Kết quả NumPy: [8.5 8. 9.5 7. 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ndarray là kiểu trung tâm: mảng N chiều, đồng nhất kiểu, kích thước cố định, dạng lưới chữ nhật. Hiểu ndarray là hiểu cách NumPy nghĩ: dữ liệu là lưới nhiều chiều và phép toán áp lên lưới đó.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Cân bằng hai mặt: mạnh ở vector hóa, broadcasting và hệ sinh thái; yếu khi dữ liệu không đồng nhất, cần thêm bớt phần tử, hoặc cần nhãn. Với bảng nhiều kiểu, pandas là lựa chọn phù hợp hơn.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nhóm ứng dụng tiêu biểu. Điểm chung: dữ liệu là số, đồng nhất kiểu, kích thước lớn và cần tính hàng loạt.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sáu tiêu chí. Ví dụ then chốt: list nhân với 2 là lặp danh sách, ndarray nhân với 2 là nhân từng phần tử. Đây là lý do phải phân biệt rõ kiểu dữ liệu khi đọc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chiều là số trục của lưới. 0-D là một giá trị, 1-D là dãy, 2-D là bảng hàng cột, 3-D là chồng các bảng. Cú pháp shape (3,) cần dấu phẩy vì Python coi (3) là số 3 chứ không phải tuple.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thuộc tính mô tả đầy đủ hình dạng dữ liệu: ndim là số chiều, shape là tuple kích thước, size là tổng phần tử, dtype là kiểu. Quan hệ: ndim bằng độ dài shape, size bằng tích các chiều.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hàm tạo mảng cơ bản nhất. array nhận dữ liệu có sẵn và tự suy ra dtype; zeros và ones nhận shape dạng tuple và mặc định trả về float64. Có thể chỉ định dtype khi cần.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arange tạo dãy theo bước và không gồm stop; linspace tạo num điểm chia đều và mặc định gồm điểm cuối; eye tạo ma trận đơn vị. Chọn hàm theo cách mô tả dữ liệu: bước nhảy hay số điểm.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số bắt đầu từ 0, chỉ số âm tính từ cuối. Slice start:stop:step không lấy stop, c[::2] lấy cách một, c[::-1] đảo ngược. Lưu ý slicing trả về view nên sửa view sẽ ảnh hưởng mảng gốc.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mảng hai chiều, dùng a[hàng, cột]. b[1] lấy cả hàng, b[:, 2] lấy cả cột, b[0:2, 1:3] lấy khối con. Ba hình nhỏ bên trái tô màu đúng vùng được chọn.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một mảng với một giá trị tạo ra mảng boolean cùng shape. Dùng mảng boolean làm chỉ số sẽ lấy các phần tử True và nén thành mảng một chiều. Kết hợp điều kiện bằng &amp; và |, nhớ đặt ngoặc đơn.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reshape đổi hình dạng nhưng giữ nguyên dữ liệu và thứ tự đọc; tổng số phần tử phải bằng nhau. Dùng -1 để tự suy ra một chiều. .T hoán vị hàng và cột, không đổi dữ liệu.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toán tử +, -, *, /, **, //, % áp dụng cho từng cặp phần tử và trả về mảng cùng shape. Lưu ý / luôn trả về số thực, còn // là chia lấy phần nguyên.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lỗi rất dễ mắc: * là nhân từng phần tử, @ là nhân ma trận theo quy tắc hàng nhân cột. Với A@B, phần tử (0,0) bằng 1×5 + 2×7 = 19, còn A*B cho 1×5 = 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axis là chiều bị gộp, không phải chiều giữ lại. Với mảng 2×3, axis=0 gộp các hàng nên kết quả theo cột; axis=1 gộp các cột nên kết quả theo hàng. Không truyền axis thì gộp toàn mảng.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tắc cốt lõi: so sánh shape từ phải sang trái; mỗi cặp chiều bằng nhau hoặc một bên bằng 1 thì tương thích; mảng ít chiều hơn được coi là có chiều thiếu bằng 1 ở bên trái. Scalar được trải nhưng không thực sự sao chép.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trường hợp thành công: (2,3)+(3,) và (2,3)+(2,1). Trường hợp thất bại: (2,3)+(2,) vì chiều cuối 3 khác 2 và không bên nào bằng 1. NumPy báo ValueError thay vì tự suy diễn.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thống kê: mean 7.9, max 9.0, min 6.5, std khoảng 0.860. d &gt;= 8.0 tạo mảng boolean, np.sum cộng các True để đếm 3/5. d + 0.5 cộng điểm thưởng nhờ broadcasting.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cho thấy sức mạnh biểu diễn: chuẩn hóa z-score bằng một biểu thức, và thay vòng lặp bằng phép nhân mảng kết hợp mặt nạ boolean. Kết quả z có mean 0 và std 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điều cần nhớ: shape quyết định mọi thứ, * khác @, và broadcasting so sánh từ phải sang trái. Kết thúc bằng ranh giới công cụ: pandas cho bảng nhiều kiểu, PyTorch cho GPU và autograd.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nguồn chính thức: What is NumPy, absolute beginners, broadcasting, quickstart, array creation, numpy.linalg và Python datastructures. Hướng tiếp: Matplotlib, pandas, numpy.linalg, broadcasting nâng cao và đọc ghi dữ liệu.</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A3A"/>
        </a:solidFill>
        <a:effectLst/>
      </p:bgPr>
    </p:bg>
    <p:spTree>
      <p:nvGrpSpPr>
        <p:cNvPr id="1" name=""/>
        <p:cNvGrpSpPr/>
        <p:nvPr/>
      </p:nvGrpSpPr>
      <p:grpSpPr>
        <a:xfrm>
          <a:off x="0" y="0"/>
          <a:ext cx="0" cy="0"/>
          <a:chOff x="0" y="0"/>
          <a:chExt cx="0" cy="0"/>
        </a:xfrm>
      </p:grpSpPr>
      <p:sp>
        <p:nvSpPr>
          <p:cNvPr id="2" name="Shape 0"/>
          <p:cNvSpPr/>
          <p:nvPr/>
        </p:nvSpPr>
        <p:spPr>
          <a:xfrm>
            <a:off x="7452360" y="4160520"/>
            <a:ext cx="512064" cy="338328"/>
          </a:xfrm>
          <a:prstGeom prst="rect">
            <a:avLst/>
          </a:prstGeom>
          <a:solidFill>
            <a:srgbClr val="0E3E52"/>
          </a:solidFill>
          <a:ln w="12700">
            <a:solidFill>
              <a:srgbClr val="0A3042"/>
            </a:solidFill>
            <a:prstDash val="solid"/>
          </a:ln>
        </p:spPr>
      </p:sp>
      <p:sp>
        <p:nvSpPr>
          <p:cNvPr id="3" name="Shape 1"/>
          <p:cNvSpPr/>
          <p:nvPr/>
        </p:nvSpPr>
        <p:spPr>
          <a:xfrm>
            <a:off x="8019288" y="4160520"/>
            <a:ext cx="512064" cy="338328"/>
          </a:xfrm>
          <a:prstGeom prst="rect">
            <a:avLst/>
          </a:prstGeom>
          <a:solidFill>
            <a:srgbClr val="0A3042"/>
          </a:solidFill>
          <a:ln w="12700">
            <a:solidFill>
              <a:srgbClr val="0A3042"/>
            </a:solidFill>
            <a:prstDash val="solid"/>
          </a:ln>
        </p:spPr>
      </p:sp>
      <p:sp>
        <p:nvSpPr>
          <p:cNvPr id="4" name="Shape 2"/>
          <p:cNvSpPr/>
          <p:nvPr/>
        </p:nvSpPr>
        <p:spPr>
          <a:xfrm>
            <a:off x="8586216" y="4160520"/>
            <a:ext cx="512064" cy="338328"/>
          </a:xfrm>
          <a:prstGeom prst="rect">
            <a:avLst/>
          </a:prstGeom>
          <a:solidFill>
            <a:srgbClr val="0A3042"/>
          </a:solidFill>
          <a:ln w="12700">
            <a:solidFill>
              <a:srgbClr val="0A3042"/>
            </a:solidFill>
            <a:prstDash val="solid"/>
          </a:ln>
        </p:spPr>
      </p:sp>
      <p:sp>
        <p:nvSpPr>
          <p:cNvPr id="5" name="Shape 3"/>
          <p:cNvSpPr/>
          <p:nvPr/>
        </p:nvSpPr>
        <p:spPr>
          <a:xfrm>
            <a:off x="9153144" y="4160520"/>
            <a:ext cx="512064" cy="338328"/>
          </a:xfrm>
          <a:prstGeom prst="rect">
            <a:avLst/>
          </a:prstGeom>
          <a:solidFill>
            <a:srgbClr val="0A3042"/>
          </a:solidFill>
          <a:ln w="12700">
            <a:solidFill>
              <a:srgbClr val="0A3042"/>
            </a:solidFill>
            <a:prstDash val="solid"/>
          </a:ln>
        </p:spPr>
      </p:sp>
      <p:sp>
        <p:nvSpPr>
          <p:cNvPr id="6" name="Shape 4"/>
          <p:cNvSpPr/>
          <p:nvPr/>
        </p:nvSpPr>
        <p:spPr>
          <a:xfrm>
            <a:off x="9720072" y="4160520"/>
            <a:ext cx="512064" cy="338328"/>
          </a:xfrm>
          <a:prstGeom prst="rect">
            <a:avLst/>
          </a:prstGeom>
          <a:solidFill>
            <a:srgbClr val="0A3042"/>
          </a:solidFill>
          <a:ln w="12700">
            <a:solidFill>
              <a:srgbClr val="0A3042"/>
            </a:solidFill>
            <a:prstDash val="solid"/>
          </a:ln>
        </p:spPr>
      </p:sp>
      <p:sp>
        <p:nvSpPr>
          <p:cNvPr id="7" name="Shape 5"/>
          <p:cNvSpPr/>
          <p:nvPr/>
        </p:nvSpPr>
        <p:spPr>
          <a:xfrm>
            <a:off x="10287000" y="4160520"/>
            <a:ext cx="512064" cy="338328"/>
          </a:xfrm>
          <a:prstGeom prst="rect">
            <a:avLst/>
          </a:prstGeom>
          <a:solidFill>
            <a:srgbClr val="0E3E52"/>
          </a:solidFill>
          <a:ln w="12700">
            <a:solidFill>
              <a:srgbClr val="0A3042"/>
            </a:solidFill>
            <a:prstDash val="solid"/>
          </a:ln>
        </p:spPr>
      </p:sp>
      <p:sp>
        <p:nvSpPr>
          <p:cNvPr id="8" name="Shape 6"/>
          <p:cNvSpPr/>
          <p:nvPr/>
        </p:nvSpPr>
        <p:spPr>
          <a:xfrm>
            <a:off x="10853928" y="4160520"/>
            <a:ext cx="512064" cy="338328"/>
          </a:xfrm>
          <a:prstGeom prst="rect">
            <a:avLst/>
          </a:prstGeom>
          <a:solidFill>
            <a:srgbClr val="0A3042"/>
          </a:solidFill>
          <a:ln w="12700">
            <a:solidFill>
              <a:srgbClr val="0A3042"/>
            </a:solidFill>
            <a:prstDash val="solid"/>
          </a:ln>
        </p:spPr>
      </p:sp>
      <p:sp>
        <p:nvSpPr>
          <p:cNvPr id="9" name="Shape 7"/>
          <p:cNvSpPr/>
          <p:nvPr/>
        </p:nvSpPr>
        <p:spPr>
          <a:xfrm>
            <a:off x="11420856" y="4160520"/>
            <a:ext cx="512064" cy="338328"/>
          </a:xfrm>
          <a:prstGeom prst="rect">
            <a:avLst/>
          </a:prstGeom>
          <a:solidFill>
            <a:srgbClr val="0A3042"/>
          </a:solidFill>
          <a:ln w="12700">
            <a:solidFill>
              <a:srgbClr val="0A3042"/>
            </a:solidFill>
            <a:prstDash val="solid"/>
          </a:ln>
        </p:spPr>
      </p:sp>
      <p:sp>
        <p:nvSpPr>
          <p:cNvPr id="10" name="Shape 8"/>
          <p:cNvSpPr/>
          <p:nvPr/>
        </p:nvSpPr>
        <p:spPr>
          <a:xfrm>
            <a:off x="7452360" y="4544568"/>
            <a:ext cx="512064" cy="338328"/>
          </a:xfrm>
          <a:prstGeom prst="rect">
            <a:avLst/>
          </a:prstGeom>
          <a:solidFill>
            <a:srgbClr val="0A3042"/>
          </a:solidFill>
          <a:ln w="12700">
            <a:solidFill>
              <a:srgbClr val="0A3042"/>
            </a:solidFill>
            <a:prstDash val="solid"/>
          </a:ln>
        </p:spPr>
      </p:sp>
      <p:sp>
        <p:nvSpPr>
          <p:cNvPr id="11" name="Shape 9"/>
          <p:cNvSpPr/>
          <p:nvPr/>
        </p:nvSpPr>
        <p:spPr>
          <a:xfrm>
            <a:off x="8019288" y="4544568"/>
            <a:ext cx="512064" cy="338328"/>
          </a:xfrm>
          <a:prstGeom prst="rect">
            <a:avLst/>
          </a:prstGeom>
          <a:solidFill>
            <a:srgbClr val="0A3042"/>
          </a:solidFill>
          <a:ln w="12700">
            <a:solidFill>
              <a:srgbClr val="0A3042"/>
            </a:solidFill>
            <a:prstDash val="solid"/>
          </a:ln>
        </p:spPr>
      </p:sp>
      <p:sp>
        <p:nvSpPr>
          <p:cNvPr id="12" name="Shape 10"/>
          <p:cNvSpPr/>
          <p:nvPr/>
        </p:nvSpPr>
        <p:spPr>
          <a:xfrm>
            <a:off x="8586216" y="4544568"/>
            <a:ext cx="512064" cy="338328"/>
          </a:xfrm>
          <a:prstGeom prst="rect">
            <a:avLst/>
          </a:prstGeom>
          <a:solidFill>
            <a:srgbClr val="0A3042"/>
          </a:solidFill>
          <a:ln w="12700">
            <a:solidFill>
              <a:srgbClr val="0A3042"/>
            </a:solidFill>
            <a:prstDash val="solid"/>
          </a:ln>
        </p:spPr>
      </p:sp>
      <p:sp>
        <p:nvSpPr>
          <p:cNvPr id="13" name="Shape 11"/>
          <p:cNvSpPr/>
          <p:nvPr/>
        </p:nvSpPr>
        <p:spPr>
          <a:xfrm>
            <a:off x="9153144" y="4544568"/>
            <a:ext cx="512064" cy="338328"/>
          </a:xfrm>
          <a:prstGeom prst="rect">
            <a:avLst/>
          </a:prstGeom>
          <a:solidFill>
            <a:srgbClr val="0A3042"/>
          </a:solidFill>
          <a:ln w="12700">
            <a:solidFill>
              <a:srgbClr val="0A3042"/>
            </a:solidFill>
            <a:prstDash val="solid"/>
          </a:ln>
        </p:spPr>
      </p:sp>
      <p:sp>
        <p:nvSpPr>
          <p:cNvPr id="14" name="Shape 12"/>
          <p:cNvSpPr/>
          <p:nvPr/>
        </p:nvSpPr>
        <p:spPr>
          <a:xfrm>
            <a:off x="9720072" y="4544568"/>
            <a:ext cx="512064" cy="338328"/>
          </a:xfrm>
          <a:prstGeom prst="rect">
            <a:avLst/>
          </a:prstGeom>
          <a:solidFill>
            <a:srgbClr val="0E3E52"/>
          </a:solidFill>
          <a:ln w="12700">
            <a:solidFill>
              <a:srgbClr val="0A3042"/>
            </a:solidFill>
            <a:prstDash val="solid"/>
          </a:ln>
        </p:spPr>
      </p:sp>
      <p:sp>
        <p:nvSpPr>
          <p:cNvPr id="15" name="Shape 13"/>
          <p:cNvSpPr/>
          <p:nvPr/>
        </p:nvSpPr>
        <p:spPr>
          <a:xfrm>
            <a:off x="10287000" y="4544568"/>
            <a:ext cx="512064" cy="338328"/>
          </a:xfrm>
          <a:prstGeom prst="rect">
            <a:avLst/>
          </a:prstGeom>
          <a:solidFill>
            <a:srgbClr val="0A3042"/>
          </a:solidFill>
          <a:ln w="12700">
            <a:solidFill>
              <a:srgbClr val="0A3042"/>
            </a:solidFill>
            <a:prstDash val="solid"/>
          </a:ln>
        </p:spPr>
      </p:sp>
      <p:sp>
        <p:nvSpPr>
          <p:cNvPr id="16" name="Shape 14"/>
          <p:cNvSpPr/>
          <p:nvPr/>
        </p:nvSpPr>
        <p:spPr>
          <a:xfrm>
            <a:off x="10853928" y="4544568"/>
            <a:ext cx="512064" cy="338328"/>
          </a:xfrm>
          <a:prstGeom prst="rect">
            <a:avLst/>
          </a:prstGeom>
          <a:solidFill>
            <a:srgbClr val="0A3042"/>
          </a:solidFill>
          <a:ln w="12700">
            <a:solidFill>
              <a:srgbClr val="0A3042"/>
            </a:solidFill>
            <a:prstDash val="solid"/>
          </a:ln>
        </p:spPr>
      </p:sp>
      <p:sp>
        <p:nvSpPr>
          <p:cNvPr id="17" name="Shape 15"/>
          <p:cNvSpPr/>
          <p:nvPr/>
        </p:nvSpPr>
        <p:spPr>
          <a:xfrm>
            <a:off x="11420856" y="4544568"/>
            <a:ext cx="512064" cy="338328"/>
          </a:xfrm>
          <a:prstGeom prst="rect">
            <a:avLst/>
          </a:prstGeom>
          <a:solidFill>
            <a:srgbClr val="0A3042"/>
          </a:solidFill>
          <a:ln w="12700">
            <a:solidFill>
              <a:srgbClr val="0A3042"/>
            </a:solidFill>
            <a:prstDash val="solid"/>
          </a:ln>
        </p:spPr>
      </p:sp>
      <p:sp>
        <p:nvSpPr>
          <p:cNvPr id="18" name="Shape 16"/>
          <p:cNvSpPr/>
          <p:nvPr/>
        </p:nvSpPr>
        <p:spPr>
          <a:xfrm>
            <a:off x="7452360" y="4928616"/>
            <a:ext cx="512064" cy="338328"/>
          </a:xfrm>
          <a:prstGeom prst="rect">
            <a:avLst/>
          </a:prstGeom>
          <a:solidFill>
            <a:srgbClr val="0A3042"/>
          </a:solidFill>
          <a:ln w="12700">
            <a:solidFill>
              <a:srgbClr val="0A3042"/>
            </a:solidFill>
            <a:prstDash val="solid"/>
          </a:ln>
        </p:spPr>
      </p:sp>
      <p:sp>
        <p:nvSpPr>
          <p:cNvPr id="19" name="Shape 17"/>
          <p:cNvSpPr/>
          <p:nvPr/>
        </p:nvSpPr>
        <p:spPr>
          <a:xfrm>
            <a:off x="8019288" y="4928616"/>
            <a:ext cx="512064" cy="338328"/>
          </a:xfrm>
          <a:prstGeom prst="rect">
            <a:avLst/>
          </a:prstGeom>
          <a:solidFill>
            <a:srgbClr val="0A3042"/>
          </a:solidFill>
          <a:ln w="12700">
            <a:solidFill>
              <a:srgbClr val="0A3042"/>
            </a:solidFill>
            <a:prstDash val="solid"/>
          </a:ln>
        </p:spPr>
      </p:sp>
      <p:sp>
        <p:nvSpPr>
          <p:cNvPr id="20" name="Shape 18"/>
          <p:cNvSpPr/>
          <p:nvPr/>
        </p:nvSpPr>
        <p:spPr>
          <a:xfrm>
            <a:off x="8586216" y="4928616"/>
            <a:ext cx="512064" cy="338328"/>
          </a:xfrm>
          <a:prstGeom prst="rect">
            <a:avLst/>
          </a:prstGeom>
          <a:solidFill>
            <a:srgbClr val="0A3042"/>
          </a:solidFill>
          <a:ln w="12700">
            <a:solidFill>
              <a:srgbClr val="0A3042"/>
            </a:solidFill>
            <a:prstDash val="solid"/>
          </a:ln>
        </p:spPr>
      </p:sp>
      <p:sp>
        <p:nvSpPr>
          <p:cNvPr id="21" name="Shape 19"/>
          <p:cNvSpPr/>
          <p:nvPr/>
        </p:nvSpPr>
        <p:spPr>
          <a:xfrm>
            <a:off x="9153144" y="4928616"/>
            <a:ext cx="512064" cy="338328"/>
          </a:xfrm>
          <a:prstGeom prst="rect">
            <a:avLst/>
          </a:prstGeom>
          <a:solidFill>
            <a:srgbClr val="0E3E52"/>
          </a:solidFill>
          <a:ln w="12700">
            <a:solidFill>
              <a:srgbClr val="0A3042"/>
            </a:solidFill>
            <a:prstDash val="solid"/>
          </a:ln>
        </p:spPr>
      </p:sp>
      <p:sp>
        <p:nvSpPr>
          <p:cNvPr id="22" name="Shape 20"/>
          <p:cNvSpPr/>
          <p:nvPr/>
        </p:nvSpPr>
        <p:spPr>
          <a:xfrm>
            <a:off x="9720072" y="4928616"/>
            <a:ext cx="512064" cy="338328"/>
          </a:xfrm>
          <a:prstGeom prst="rect">
            <a:avLst/>
          </a:prstGeom>
          <a:solidFill>
            <a:srgbClr val="0A3042"/>
          </a:solidFill>
          <a:ln w="12700">
            <a:solidFill>
              <a:srgbClr val="0A3042"/>
            </a:solidFill>
            <a:prstDash val="solid"/>
          </a:ln>
        </p:spPr>
      </p:sp>
      <p:sp>
        <p:nvSpPr>
          <p:cNvPr id="23" name="Shape 21"/>
          <p:cNvSpPr/>
          <p:nvPr/>
        </p:nvSpPr>
        <p:spPr>
          <a:xfrm>
            <a:off x="10287000" y="4928616"/>
            <a:ext cx="512064" cy="338328"/>
          </a:xfrm>
          <a:prstGeom prst="rect">
            <a:avLst/>
          </a:prstGeom>
          <a:solidFill>
            <a:srgbClr val="0A3042"/>
          </a:solidFill>
          <a:ln w="12700">
            <a:solidFill>
              <a:srgbClr val="0A3042"/>
            </a:solidFill>
            <a:prstDash val="solid"/>
          </a:ln>
        </p:spPr>
      </p:sp>
      <p:sp>
        <p:nvSpPr>
          <p:cNvPr id="24" name="Shape 22"/>
          <p:cNvSpPr/>
          <p:nvPr/>
        </p:nvSpPr>
        <p:spPr>
          <a:xfrm>
            <a:off x="10853928" y="4928616"/>
            <a:ext cx="512064" cy="338328"/>
          </a:xfrm>
          <a:prstGeom prst="rect">
            <a:avLst/>
          </a:prstGeom>
          <a:solidFill>
            <a:srgbClr val="0A3042"/>
          </a:solidFill>
          <a:ln w="12700">
            <a:solidFill>
              <a:srgbClr val="0A3042"/>
            </a:solidFill>
            <a:prstDash val="solid"/>
          </a:ln>
        </p:spPr>
      </p:sp>
      <p:sp>
        <p:nvSpPr>
          <p:cNvPr id="25" name="Shape 23"/>
          <p:cNvSpPr/>
          <p:nvPr/>
        </p:nvSpPr>
        <p:spPr>
          <a:xfrm>
            <a:off x="11420856" y="4928616"/>
            <a:ext cx="512064" cy="338328"/>
          </a:xfrm>
          <a:prstGeom prst="rect">
            <a:avLst/>
          </a:prstGeom>
          <a:solidFill>
            <a:srgbClr val="0A3042"/>
          </a:solidFill>
          <a:ln w="12700">
            <a:solidFill>
              <a:srgbClr val="0A3042"/>
            </a:solidFill>
            <a:prstDash val="solid"/>
          </a:ln>
        </p:spPr>
      </p:sp>
      <p:sp>
        <p:nvSpPr>
          <p:cNvPr id="26" name="Shape 24"/>
          <p:cNvSpPr/>
          <p:nvPr/>
        </p:nvSpPr>
        <p:spPr>
          <a:xfrm>
            <a:off x="7452360" y="5312664"/>
            <a:ext cx="512064" cy="338328"/>
          </a:xfrm>
          <a:prstGeom prst="rect">
            <a:avLst/>
          </a:prstGeom>
          <a:solidFill>
            <a:srgbClr val="0A3042"/>
          </a:solidFill>
          <a:ln w="12700">
            <a:solidFill>
              <a:srgbClr val="0A3042"/>
            </a:solidFill>
            <a:prstDash val="solid"/>
          </a:ln>
        </p:spPr>
      </p:sp>
      <p:sp>
        <p:nvSpPr>
          <p:cNvPr id="27" name="Shape 25"/>
          <p:cNvSpPr/>
          <p:nvPr/>
        </p:nvSpPr>
        <p:spPr>
          <a:xfrm>
            <a:off x="8019288" y="5312664"/>
            <a:ext cx="512064" cy="338328"/>
          </a:xfrm>
          <a:prstGeom prst="rect">
            <a:avLst/>
          </a:prstGeom>
          <a:solidFill>
            <a:srgbClr val="0A3042"/>
          </a:solidFill>
          <a:ln w="12700">
            <a:solidFill>
              <a:srgbClr val="0A3042"/>
            </a:solidFill>
            <a:prstDash val="solid"/>
          </a:ln>
        </p:spPr>
      </p:sp>
      <p:sp>
        <p:nvSpPr>
          <p:cNvPr id="28" name="Shape 26"/>
          <p:cNvSpPr/>
          <p:nvPr/>
        </p:nvSpPr>
        <p:spPr>
          <a:xfrm>
            <a:off x="8586216" y="5312664"/>
            <a:ext cx="512064" cy="338328"/>
          </a:xfrm>
          <a:prstGeom prst="rect">
            <a:avLst/>
          </a:prstGeom>
          <a:solidFill>
            <a:srgbClr val="0E3E52"/>
          </a:solidFill>
          <a:ln w="12700">
            <a:solidFill>
              <a:srgbClr val="0A3042"/>
            </a:solidFill>
            <a:prstDash val="solid"/>
          </a:ln>
        </p:spPr>
      </p:sp>
      <p:sp>
        <p:nvSpPr>
          <p:cNvPr id="29" name="Shape 27"/>
          <p:cNvSpPr/>
          <p:nvPr/>
        </p:nvSpPr>
        <p:spPr>
          <a:xfrm>
            <a:off x="9153144" y="5312664"/>
            <a:ext cx="512064" cy="338328"/>
          </a:xfrm>
          <a:prstGeom prst="rect">
            <a:avLst/>
          </a:prstGeom>
          <a:solidFill>
            <a:srgbClr val="0A3042"/>
          </a:solidFill>
          <a:ln w="12700">
            <a:solidFill>
              <a:srgbClr val="0A3042"/>
            </a:solidFill>
            <a:prstDash val="solid"/>
          </a:ln>
        </p:spPr>
      </p:sp>
      <p:sp>
        <p:nvSpPr>
          <p:cNvPr id="30" name="Shape 28"/>
          <p:cNvSpPr/>
          <p:nvPr/>
        </p:nvSpPr>
        <p:spPr>
          <a:xfrm>
            <a:off x="9720072" y="5312664"/>
            <a:ext cx="512064" cy="338328"/>
          </a:xfrm>
          <a:prstGeom prst="rect">
            <a:avLst/>
          </a:prstGeom>
          <a:solidFill>
            <a:srgbClr val="0A3042"/>
          </a:solidFill>
          <a:ln w="12700">
            <a:solidFill>
              <a:srgbClr val="0A3042"/>
            </a:solidFill>
            <a:prstDash val="solid"/>
          </a:ln>
        </p:spPr>
      </p:sp>
      <p:sp>
        <p:nvSpPr>
          <p:cNvPr id="31" name="Shape 29"/>
          <p:cNvSpPr/>
          <p:nvPr/>
        </p:nvSpPr>
        <p:spPr>
          <a:xfrm>
            <a:off x="10287000" y="5312664"/>
            <a:ext cx="512064" cy="338328"/>
          </a:xfrm>
          <a:prstGeom prst="rect">
            <a:avLst/>
          </a:prstGeom>
          <a:solidFill>
            <a:srgbClr val="0A3042"/>
          </a:solidFill>
          <a:ln w="12700">
            <a:solidFill>
              <a:srgbClr val="0A3042"/>
            </a:solidFill>
            <a:prstDash val="solid"/>
          </a:ln>
        </p:spPr>
      </p:sp>
      <p:sp>
        <p:nvSpPr>
          <p:cNvPr id="32" name="Shape 30"/>
          <p:cNvSpPr/>
          <p:nvPr/>
        </p:nvSpPr>
        <p:spPr>
          <a:xfrm>
            <a:off x="10853928" y="5312664"/>
            <a:ext cx="512064" cy="338328"/>
          </a:xfrm>
          <a:prstGeom prst="rect">
            <a:avLst/>
          </a:prstGeom>
          <a:solidFill>
            <a:srgbClr val="0A3042"/>
          </a:solidFill>
          <a:ln w="12700">
            <a:solidFill>
              <a:srgbClr val="0A3042"/>
            </a:solidFill>
            <a:prstDash val="solid"/>
          </a:ln>
        </p:spPr>
      </p:sp>
      <p:sp>
        <p:nvSpPr>
          <p:cNvPr id="33" name="Shape 31"/>
          <p:cNvSpPr/>
          <p:nvPr/>
        </p:nvSpPr>
        <p:spPr>
          <a:xfrm>
            <a:off x="11420856" y="5312664"/>
            <a:ext cx="512064" cy="338328"/>
          </a:xfrm>
          <a:prstGeom prst="rect">
            <a:avLst/>
          </a:prstGeom>
          <a:solidFill>
            <a:srgbClr val="0E3E52"/>
          </a:solidFill>
          <a:ln w="12700">
            <a:solidFill>
              <a:srgbClr val="0A3042"/>
            </a:solidFill>
            <a:prstDash val="solid"/>
          </a:ln>
        </p:spPr>
      </p:sp>
      <p:sp>
        <p:nvSpPr>
          <p:cNvPr id="34" name="Shape 32"/>
          <p:cNvSpPr/>
          <p:nvPr/>
        </p:nvSpPr>
        <p:spPr>
          <a:xfrm>
            <a:off x="7452360" y="5696712"/>
            <a:ext cx="512064" cy="338328"/>
          </a:xfrm>
          <a:prstGeom prst="rect">
            <a:avLst/>
          </a:prstGeom>
          <a:solidFill>
            <a:srgbClr val="0A3042"/>
          </a:solidFill>
          <a:ln w="12700">
            <a:solidFill>
              <a:srgbClr val="0A3042"/>
            </a:solidFill>
            <a:prstDash val="solid"/>
          </a:ln>
        </p:spPr>
      </p:sp>
      <p:sp>
        <p:nvSpPr>
          <p:cNvPr id="35" name="Shape 33"/>
          <p:cNvSpPr/>
          <p:nvPr/>
        </p:nvSpPr>
        <p:spPr>
          <a:xfrm>
            <a:off x="8019288" y="5696712"/>
            <a:ext cx="512064" cy="338328"/>
          </a:xfrm>
          <a:prstGeom prst="rect">
            <a:avLst/>
          </a:prstGeom>
          <a:solidFill>
            <a:srgbClr val="0E3E52"/>
          </a:solidFill>
          <a:ln w="12700">
            <a:solidFill>
              <a:srgbClr val="0A3042"/>
            </a:solidFill>
            <a:prstDash val="solid"/>
          </a:ln>
        </p:spPr>
      </p:sp>
      <p:sp>
        <p:nvSpPr>
          <p:cNvPr id="36" name="Shape 34"/>
          <p:cNvSpPr/>
          <p:nvPr/>
        </p:nvSpPr>
        <p:spPr>
          <a:xfrm>
            <a:off x="8586216" y="5696712"/>
            <a:ext cx="512064" cy="338328"/>
          </a:xfrm>
          <a:prstGeom prst="rect">
            <a:avLst/>
          </a:prstGeom>
          <a:solidFill>
            <a:srgbClr val="0A3042"/>
          </a:solidFill>
          <a:ln w="12700">
            <a:solidFill>
              <a:srgbClr val="0A3042"/>
            </a:solidFill>
            <a:prstDash val="solid"/>
          </a:ln>
        </p:spPr>
      </p:sp>
      <p:sp>
        <p:nvSpPr>
          <p:cNvPr id="37" name="Shape 35"/>
          <p:cNvSpPr/>
          <p:nvPr/>
        </p:nvSpPr>
        <p:spPr>
          <a:xfrm>
            <a:off x="9153144" y="5696712"/>
            <a:ext cx="512064" cy="338328"/>
          </a:xfrm>
          <a:prstGeom prst="rect">
            <a:avLst/>
          </a:prstGeom>
          <a:solidFill>
            <a:srgbClr val="0A3042"/>
          </a:solidFill>
          <a:ln w="12700">
            <a:solidFill>
              <a:srgbClr val="0A3042"/>
            </a:solidFill>
            <a:prstDash val="solid"/>
          </a:ln>
        </p:spPr>
      </p:sp>
      <p:sp>
        <p:nvSpPr>
          <p:cNvPr id="38" name="Shape 36"/>
          <p:cNvSpPr/>
          <p:nvPr/>
        </p:nvSpPr>
        <p:spPr>
          <a:xfrm>
            <a:off x="9720072" y="5696712"/>
            <a:ext cx="512064" cy="338328"/>
          </a:xfrm>
          <a:prstGeom prst="rect">
            <a:avLst/>
          </a:prstGeom>
          <a:solidFill>
            <a:srgbClr val="0A3042"/>
          </a:solidFill>
          <a:ln w="12700">
            <a:solidFill>
              <a:srgbClr val="0A3042"/>
            </a:solidFill>
            <a:prstDash val="solid"/>
          </a:ln>
        </p:spPr>
      </p:sp>
      <p:sp>
        <p:nvSpPr>
          <p:cNvPr id="39" name="Shape 37"/>
          <p:cNvSpPr/>
          <p:nvPr/>
        </p:nvSpPr>
        <p:spPr>
          <a:xfrm>
            <a:off x="10287000" y="5696712"/>
            <a:ext cx="512064" cy="338328"/>
          </a:xfrm>
          <a:prstGeom prst="rect">
            <a:avLst/>
          </a:prstGeom>
          <a:solidFill>
            <a:srgbClr val="0A3042"/>
          </a:solidFill>
          <a:ln w="12700">
            <a:solidFill>
              <a:srgbClr val="0A3042"/>
            </a:solidFill>
            <a:prstDash val="solid"/>
          </a:ln>
        </p:spPr>
      </p:sp>
      <p:sp>
        <p:nvSpPr>
          <p:cNvPr id="40" name="Shape 38"/>
          <p:cNvSpPr/>
          <p:nvPr/>
        </p:nvSpPr>
        <p:spPr>
          <a:xfrm>
            <a:off x="10853928" y="5696712"/>
            <a:ext cx="512064" cy="338328"/>
          </a:xfrm>
          <a:prstGeom prst="rect">
            <a:avLst/>
          </a:prstGeom>
          <a:solidFill>
            <a:srgbClr val="0E3E52"/>
          </a:solidFill>
          <a:ln w="12700">
            <a:solidFill>
              <a:srgbClr val="0A3042"/>
            </a:solidFill>
            <a:prstDash val="solid"/>
          </a:ln>
        </p:spPr>
      </p:sp>
      <p:sp>
        <p:nvSpPr>
          <p:cNvPr id="41" name="Shape 39"/>
          <p:cNvSpPr/>
          <p:nvPr/>
        </p:nvSpPr>
        <p:spPr>
          <a:xfrm>
            <a:off x="11420856" y="5696712"/>
            <a:ext cx="512064" cy="338328"/>
          </a:xfrm>
          <a:prstGeom prst="rect">
            <a:avLst/>
          </a:prstGeom>
          <a:solidFill>
            <a:srgbClr val="0A3042"/>
          </a:solidFill>
          <a:ln w="12700">
            <a:solidFill>
              <a:srgbClr val="0A3042"/>
            </a:solidFill>
            <a:prstDash val="solid"/>
          </a:ln>
        </p:spPr>
      </p:sp>
      <p:sp>
        <p:nvSpPr>
          <p:cNvPr id="42" name="Shape 40"/>
          <p:cNvSpPr/>
          <p:nvPr/>
        </p:nvSpPr>
        <p:spPr>
          <a:xfrm>
            <a:off x="7452360" y="6080760"/>
            <a:ext cx="512064" cy="338328"/>
          </a:xfrm>
          <a:prstGeom prst="rect">
            <a:avLst/>
          </a:prstGeom>
          <a:solidFill>
            <a:srgbClr val="0E3E52"/>
          </a:solidFill>
          <a:ln w="12700">
            <a:solidFill>
              <a:srgbClr val="0A3042"/>
            </a:solidFill>
            <a:prstDash val="solid"/>
          </a:ln>
        </p:spPr>
      </p:sp>
      <p:sp>
        <p:nvSpPr>
          <p:cNvPr id="43" name="Shape 41"/>
          <p:cNvSpPr/>
          <p:nvPr/>
        </p:nvSpPr>
        <p:spPr>
          <a:xfrm>
            <a:off x="8019288" y="6080760"/>
            <a:ext cx="512064" cy="338328"/>
          </a:xfrm>
          <a:prstGeom prst="rect">
            <a:avLst/>
          </a:prstGeom>
          <a:solidFill>
            <a:srgbClr val="0A3042"/>
          </a:solidFill>
          <a:ln w="12700">
            <a:solidFill>
              <a:srgbClr val="0A3042"/>
            </a:solidFill>
            <a:prstDash val="solid"/>
          </a:ln>
        </p:spPr>
      </p:sp>
      <p:sp>
        <p:nvSpPr>
          <p:cNvPr id="44" name="Shape 42"/>
          <p:cNvSpPr/>
          <p:nvPr/>
        </p:nvSpPr>
        <p:spPr>
          <a:xfrm>
            <a:off x="8586216" y="6080760"/>
            <a:ext cx="512064" cy="338328"/>
          </a:xfrm>
          <a:prstGeom prst="rect">
            <a:avLst/>
          </a:prstGeom>
          <a:solidFill>
            <a:srgbClr val="0A3042"/>
          </a:solidFill>
          <a:ln w="12700">
            <a:solidFill>
              <a:srgbClr val="0A3042"/>
            </a:solidFill>
            <a:prstDash val="solid"/>
          </a:ln>
        </p:spPr>
      </p:sp>
      <p:sp>
        <p:nvSpPr>
          <p:cNvPr id="45" name="Shape 43"/>
          <p:cNvSpPr/>
          <p:nvPr/>
        </p:nvSpPr>
        <p:spPr>
          <a:xfrm>
            <a:off x="9153144" y="6080760"/>
            <a:ext cx="512064" cy="338328"/>
          </a:xfrm>
          <a:prstGeom prst="rect">
            <a:avLst/>
          </a:prstGeom>
          <a:solidFill>
            <a:srgbClr val="0A3042"/>
          </a:solidFill>
          <a:ln w="12700">
            <a:solidFill>
              <a:srgbClr val="0A3042"/>
            </a:solidFill>
            <a:prstDash val="solid"/>
          </a:ln>
        </p:spPr>
      </p:sp>
      <p:sp>
        <p:nvSpPr>
          <p:cNvPr id="46" name="Shape 44"/>
          <p:cNvSpPr/>
          <p:nvPr/>
        </p:nvSpPr>
        <p:spPr>
          <a:xfrm>
            <a:off x="9720072" y="6080760"/>
            <a:ext cx="512064" cy="338328"/>
          </a:xfrm>
          <a:prstGeom prst="rect">
            <a:avLst/>
          </a:prstGeom>
          <a:solidFill>
            <a:srgbClr val="0A3042"/>
          </a:solidFill>
          <a:ln w="12700">
            <a:solidFill>
              <a:srgbClr val="0A3042"/>
            </a:solidFill>
            <a:prstDash val="solid"/>
          </a:ln>
        </p:spPr>
      </p:sp>
      <p:sp>
        <p:nvSpPr>
          <p:cNvPr id="47" name="Shape 45"/>
          <p:cNvSpPr/>
          <p:nvPr/>
        </p:nvSpPr>
        <p:spPr>
          <a:xfrm>
            <a:off x="10287000" y="6080760"/>
            <a:ext cx="512064" cy="338328"/>
          </a:xfrm>
          <a:prstGeom prst="rect">
            <a:avLst/>
          </a:prstGeom>
          <a:solidFill>
            <a:srgbClr val="0E3E52"/>
          </a:solidFill>
          <a:ln w="12700">
            <a:solidFill>
              <a:srgbClr val="0A3042"/>
            </a:solidFill>
            <a:prstDash val="solid"/>
          </a:ln>
        </p:spPr>
      </p:sp>
      <p:sp>
        <p:nvSpPr>
          <p:cNvPr id="48" name="Shape 46"/>
          <p:cNvSpPr/>
          <p:nvPr/>
        </p:nvSpPr>
        <p:spPr>
          <a:xfrm>
            <a:off x="10853928" y="6080760"/>
            <a:ext cx="512064" cy="338328"/>
          </a:xfrm>
          <a:prstGeom prst="rect">
            <a:avLst/>
          </a:prstGeom>
          <a:solidFill>
            <a:srgbClr val="0A3042"/>
          </a:solidFill>
          <a:ln w="12700">
            <a:solidFill>
              <a:srgbClr val="0A3042"/>
            </a:solidFill>
            <a:prstDash val="solid"/>
          </a:ln>
        </p:spPr>
      </p:sp>
      <p:sp>
        <p:nvSpPr>
          <p:cNvPr id="49" name="Shape 47"/>
          <p:cNvSpPr/>
          <p:nvPr/>
        </p:nvSpPr>
        <p:spPr>
          <a:xfrm>
            <a:off x="11420856" y="6080760"/>
            <a:ext cx="512064" cy="338328"/>
          </a:xfrm>
          <a:prstGeom prst="rect">
            <a:avLst/>
          </a:prstGeom>
          <a:solidFill>
            <a:srgbClr val="0A3042"/>
          </a:solidFill>
          <a:ln w="12700">
            <a:solidFill>
              <a:srgbClr val="0A3042"/>
            </a:solidFill>
            <a:prstDash val="solid"/>
          </a:ln>
        </p:spPr>
      </p:sp>
      <p:sp>
        <p:nvSpPr>
          <p:cNvPr id="50" name="Shape 48"/>
          <p:cNvSpPr/>
          <p:nvPr/>
        </p:nvSpPr>
        <p:spPr>
          <a:xfrm>
            <a:off x="7452360" y="6464808"/>
            <a:ext cx="512064" cy="338328"/>
          </a:xfrm>
          <a:prstGeom prst="rect">
            <a:avLst/>
          </a:prstGeom>
          <a:solidFill>
            <a:srgbClr val="0A3042"/>
          </a:solidFill>
          <a:ln w="12700">
            <a:solidFill>
              <a:srgbClr val="0A3042"/>
            </a:solidFill>
            <a:prstDash val="solid"/>
          </a:ln>
        </p:spPr>
      </p:sp>
      <p:sp>
        <p:nvSpPr>
          <p:cNvPr id="51" name="Shape 49"/>
          <p:cNvSpPr/>
          <p:nvPr/>
        </p:nvSpPr>
        <p:spPr>
          <a:xfrm>
            <a:off x="8019288" y="6464808"/>
            <a:ext cx="512064" cy="338328"/>
          </a:xfrm>
          <a:prstGeom prst="rect">
            <a:avLst/>
          </a:prstGeom>
          <a:solidFill>
            <a:srgbClr val="0A3042"/>
          </a:solidFill>
          <a:ln w="12700">
            <a:solidFill>
              <a:srgbClr val="0A3042"/>
            </a:solidFill>
            <a:prstDash val="solid"/>
          </a:ln>
        </p:spPr>
      </p:sp>
      <p:sp>
        <p:nvSpPr>
          <p:cNvPr id="52" name="Shape 50"/>
          <p:cNvSpPr/>
          <p:nvPr/>
        </p:nvSpPr>
        <p:spPr>
          <a:xfrm>
            <a:off x="8586216" y="6464808"/>
            <a:ext cx="512064" cy="338328"/>
          </a:xfrm>
          <a:prstGeom prst="rect">
            <a:avLst/>
          </a:prstGeom>
          <a:solidFill>
            <a:srgbClr val="0A3042"/>
          </a:solidFill>
          <a:ln w="12700">
            <a:solidFill>
              <a:srgbClr val="0A3042"/>
            </a:solidFill>
            <a:prstDash val="solid"/>
          </a:ln>
        </p:spPr>
      </p:sp>
      <p:sp>
        <p:nvSpPr>
          <p:cNvPr id="53" name="Shape 51"/>
          <p:cNvSpPr/>
          <p:nvPr/>
        </p:nvSpPr>
        <p:spPr>
          <a:xfrm>
            <a:off x="9153144" y="6464808"/>
            <a:ext cx="512064" cy="338328"/>
          </a:xfrm>
          <a:prstGeom prst="rect">
            <a:avLst/>
          </a:prstGeom>
          <a:solidFill>
            <a:srgbClr val="0A3042"/>
          </a:solidFill>
          <a:ln w="12700">
            <a:solidFill>
              <a:srgbClr val="0A3042"/>
            </a:solidFill>
            <a:prstDash val="solid"/>
          </a:ln>
        </p:spPr>
      </p:sp>
      <p:sp>
        <p:nvSpPr>
          <p:cNvPr id="54" name="Shape 52"/>
          <p:cNvSpPr/>
          <p:nvPr/>
        </p:nvSpPr>
        <p:spPr>
          <a:xfrm>
            <a:off x="9720072" y="6464808"/>
            <a:ext cx="512064" cy="338328"/>
          </a:xfrm>
          <a:prstGeom prst="rect">
            <a:avLst/>
          </a:prstGeom>
          <a:solidFill>
            <a:srgbClr val="0E3E52"/>
          </a:solidFill>
          <a:ln w="12700">
            <a:solidFill>
              <a:srgbClr val="0A3042"/>
            </a:solidFill>
            <a:prstDash val="solid"/>
          </a:ln>
        </p:spPr>
      </p:sp>
      <p:sp>
        <p:nvSpPr>
          <p:cNvPr id="55" name="Shape 53"/>
          <p:cNvSpPr/>
          <p:nvPr/>
        </p:nvSpPr>
        <p:spPr>
          <a:xfrm>
            <a:off x="10287000" y="6464808"/>
            <a:ext cx="512064" cy="338328"/>
          </a:xfrm>
          <a:prstGeom prst="rect">
            <a:avLst/>
          </a:prstGeom>
          <a:solidFill>
            <a:srgbClr val="0A3042"/>
          </a:solidFill>
          <a:ln w="12700">
            <a:solidFill>
              <a:srgbClr val="0A3042"/>
            </a:solidFill>
            <a:prstDash val="solid"/>
          </a:ln>
        </p:spPr>
      </p:sp>
      <p:sp>
        <p:nvSpPr>
          <p:cNvPr id="56" name="Shape 54"/>
          <p:cNvSpPr/>
          <p:nvPr/>
        </p:nvSpPr>
        <p:spPr>
          <a:xfrm>
            <a:off x="10853928" y="6464808"/>
            <a:ext cx="512064" cy="338328"/>
          </a:xfrm>
          <a:prstGeom prst="rect">
            <a:avLst/>
          </a:prstGeom>
          <a:solidFill>
            <a:srgbClr val="0A3042"/>
          </a:solidFill>
          <a:ln w="12700">
            <a:solidFill>
              <a:srgbClr val="0A3042"/>
            </a:solidFill>
            <a:prstDash val="solid"/>
          </a:ln>
        </p:spPr>
      </p:sp>
      <p:sp>
        <p:nvSpPr>
          <p:cNvPr id="57" name="Shape 55"/>
          <p:cNvSpPr/>
          <p:nvPr/>
        </p:nvSpPr>
        <p:spPr>
          <a:xfrm>
            <a:off x="11420856" y="6464808"/>
            <a:ext cx="512064" cy="338328"/>
          </a:xfrm>
          <a:prstGeom prst="rect">
            <a:avLst/>
          </a:prstGeom>
          <a:solidFill>
            <a:srgbClr val="0A3042"/>
          </a:solidFill>
          <a:ln w="12700">
            <a:solidFill>
              <a:srgbClr val="0A3042"/>
            </a:solidFill>
            <a:prstDash val="solid"/>
          </a:ln>
        </p:spPr>
      </p:sp>
      <p:sp>
        <p:nvSpPr>
          <p:cNvPr id="58" name="Text 56"/>
          <p:cNvSpPr/>
          <p:nvPr/>
        </p:nvSpPr>
        <p:spPr>
          <a:xfrm>
            <a:off x="685800" y="868680"/>
            <a:ext cx="6949440" cy="274320"/>
          </a:xfrm>
          <a:prstGeom prst="rect">
            <a:avLst/>
          </a:prstGeom>
          <a:noFill/>
          <a:ln/>
        </p:spPr>
        <p:txBody>
          <a:bodyPr wrap="square" lIns="0" tIns="0" rIns="0" bIns="0" rtlCol="0" anchor="t"/>
          <a:lstStyle/>
          <a:p>
            <a:pPr marL="0" indent="0">
              <a:buNone/>
            </a:pPr>
            <a:r>
              <a:rPr lang="en-US" b="1" kern="0" spc="220" dirty="0">
                <a:solidFill>
                  <a:srgbClr val="4DB8D4"/>
                </a:solidFill>
                <a:latin typeface="Segoe UI" pitchFamily="34" charset="0"/>
                <a:ea typeface="Segoe UI" pitchFamily="34" charset="-122"/>
                <a:cs typeface="Segoe UI" pitchFamily="34" charset="-120"/>
              </a:rPr>
              <a:t>PYTHON  ·  TÍNH TOÁN KHOA HỌC</a:t>
            </a:r>
            <a:endParaRPr lang="en-US" dirty="0"/>
          </a:p>
        </p:txBody>
      </p:sp>
      <p:sp>
        <p:nvSpPr>
          <p:cNvPr id="59" name="Text 57"/>
          <p:cNvSpPr/>
          <p:nvPr/>
        </p:nvSpPr>
        <p:spPr>
          <a:xfrm>
            <a:off x="658368" y="1325880"/>
            <a:ext cx="7223760" cy="2194560"/>
          </a:xfrm>
          <a:prstGeom prst="rect">
            <a:avLst/>
          </a:prstGeom>
          <a:noFill/>
          <a:ln/>
        </p:spPr>
        <p:txBody>
          <a:bodyPr wrap="square" lIns="0" tIns="0" rIns="0" bIns="0" rtlCol="0" anchor="t"/>
          <a:lstStyle/>
          <a:p>
            <a:pPr marL="0" indent="0">
              <a:lnSpc>
                <a:spcPct val="95000"/>
              </a:lnSpc>
              <a:buNone/>
            </a:pPr>
            <a:r>
              <a:rPr lang="en-US" sz="4800" b="1" dirty="0">
                <a:solidFill>
                  <a:srgbClr val="FFFFFF"/>
                </a:solidFill>
                <a:latin typeface="Segoe UI" pitchFamily="34" charset="0"/>
                <a:ea typeface="Segoe UI" pitchFamily="34" charset="-122"/>
                <a:cs typeface="Segoe UI" pitchFamily="34" charset="-120"/>
              </a:rPr>
              <a:t>Tìm hiểu thư viện</a:t>
            </a:r>
            <a:endParaRPr lang="en-US" sz="4800" dirty="0"/>
          </a:p>
          <a:p>
            <a:pPr marL="0" indent="0">
              <a:lnSpc>
                <a:spcPct val="95000"/>
              </a:lnSpc>
              <a:buNone/>
            </a:pPr>
            <a:r>
              <a:rPr lang="en-US" sz="4800" b="1" dirty="0">
                <a:solidFill>
                  <a:srgbClr val="FFFFFF"/>
                </a:solidFill>
                <a:latin typeface="Segoe UI" pitchFamily="34" charset="0"/>
                <a:ea typeface="Segoe UI" pitchFamily="34" charset="-122"/>
                <a:cs typeface="Segoe UI" pitchFamily="34" charset="-120"/>
              </a:rPr>
              <a:t>NumPy trong Python</a:t>
            </a:r>
            <a:endParaRPr lang="en-US" sz="4800" dirty="0"/>
          </a:p>
        </p:txBody>
      </p:sp>
      <p:sp>
        <p:nvSpPr>
          <p:cNvPr id="60" name="Shape 58"/>
          <p:cNvSpPr/>
          <p:nvPr/>
        </p:nvSpPr>
        <p:spPr>
          <a:xfrm>
            <a:off x="685800" y="3639312"/>
            <a:ext cx="1051560" cy="45720"/>
          </a:xfrm>
          <a:prstGeom prst="rect">
            <a:avLst/>
          </a:prstGeom>
          <a:solidFill>
            <a:srgbClr val="E8A33D"/>
          </a:solidFill>
          <a:ln w="12700">
            <a:solidFill>
              <a:srgbClr val="E8A33D"/>
            </a:solidFill>
            <a:prstDash val="solid"/>
          </a:ln>
        </p:spPr>
      </p:sp>
      <p:sp>
        <p:nvSpPr>
          <p:cNvPr id="61" name="Text 59"/>
          <p:cNvSpPr/>
          <p:nvPr/>
        </p:nvSpPr>
        <p:spPr>
          <a:xfrm>
            <a:off x="685800" y="3913632"/>
            <a:ext cx="6583680" cy="502920"/>
          </a:xfrm>
          <a:prstGeom prst="rect">
            <a:avLst/>
          </a:prstGeom>
          <a:noFill/>
          <a:ln/>
        </p:spPr>
        <p:txBody>
          <a:bodyPr wrap="square" lIns="0" tIns="0" rIns="0" bIns="0" rtlCol="0" anchor="t"/>
          <a:lstStyle/>
          <a:p>
            <a:pPr marL="0" indent="0">
              <a:buNone/>
            </a:pPr>
            <a:r>
              <a:rPr lang="en-US" sz="2600" dirty="0">
                <a:solidFill>
                  <a:srgbClr val="4DB8D4"/>
                </a:solidFill>
                <a:latin typeface="Segoe UI" pitchFamily="34" charset="0"/>
                <a:ea typeface="Segoe UI" pitchFamily="34" charset="-122"/>
                <a:cs typeface="Segoe UI" pitchFamily="34" charset="-120"/>
              </a:rPr>
              <a:t>Từ ndarray đến broadcasting</a:t>
            </a:r>
            <a:endParaRPr lang="en-US" sz="2600" dirty="0"/>
          </a:p>
        </p:txBody>
      </p:sp>
      <p:sp>
        <p:nvSpPr>
          <p:cNvPr id="63" name="Shape 61"/>
          <p:cNvSpPr/>
          <p:nvPr/>
        </p:nvSpPr>
        <p:spPr>
          <a:xfrm>
            <a:off x="8001000" y="1417320"/>
            <a:ext cx="3611880" cy="3063240"/>
          </a:xfrm>
          <a:prstGeom prst="roundRect">
            <a:avLst>
              <a:gd name="adj" fmla="val 209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pic>
        <p:nvPicPr>
          <p:cNvPr id="64" name="Image 0" descr="assets/numpylogo.png"/>
          <p:cNvPicPr>
            <a:picLocks noChangeAspect="1"/>
          </p:cNvPicPr>
          <p:nvPr/>
        </p:nvPicPr>
        <p:blipFill>
          <a:blip r:embed="rId3"/>
          <a:stretch>
            <a:fillRect/>
          </a:stretch>
        </p:blipFill>
        <p:spPr>
          <a:xfrm>
            <a:off x="8339328" y="2331720"/>
            <a:ext cx="2926080" cy="1408176"/>
          </a:xfrm>
          <a:prstGeom prst="rect">
            <a:avLst/>
          </a:prstGeom>
        </p:spPr>
      </p:pic>
      <p:sp>
        <p:nvSpPr>
          <p:cNvPr id="65" name="Text 62"/>
          <p:cNvSpPr/>
          <p:nvPr/>
        </p:nvSpPr>
        <p:spPr>
          <a:xfrm>
            <a:off x="8001000" y="3977640"/>
            <a:ext cx="3611880" cy="274320"/>
          </a:xfrm>
          <a:prstGeom prst="rect">
            <a:avLst/>
          </a:prstGeom>
          <a:noFill/>
          <a:ln/>
        </p:spPr>
        <p:txBody>
          <a:bodyPr wrap="square" lIns="0" tIns="0" rIns="0" bIns="0" rtlCol="0" anchor="t"/>
          <a:lstStyle/>
          <a:p>
            <a:pPr marL="0" indent="0" algn="ctr">
              <a:buNone/>
            </a:pPr>
            <a:r>
              <a:rPr lang="en-US" sz="1150" dirty="0">
                <a:solidFill>
                  <a:srgbClr val="728694"/>
                </a:solidFill>
                <a:latin typeface="Segoe UI" pitchFamily="34" charset="0"/>
                <a:ea typeface="Segoe UI" pitchFamily="34" charset="-122"/>
                <a:cs typeface="Segoe UI" pitchFamily="34" charset="-120"/>
              </a:rPr>
              <a:t>Numerical Python  ·  BSD</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NỘI DUNG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Sáu chặng của bài thuyết trình</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508760"/>
            <a:ext cx="3547872" cy="1901952"/>
          </a:xfrm>
          <a:prstGeom prst="roundRect">
            <a:avLst>
              <a:gd name="adj" fmla="val 3365"/>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Shape 4"/>
          <p:cNvSpPr/>
          <p:nvPr/>
        </p:nvSpPr>
        <p:spPr>
          <a:xfrm>
            <a:off x="768096" y="1728216"/>
            <a:ext cx="512064" cy="512064"/>
          </a:xfrm>
          <a:prstGeom prst="roundRect">
            <a:avLst>
              <a:gd name="adj" fmla="val 35714"/>
            </a:avLst>
          </a:prstGeom>
          <a:solidFill>
            <a:srgbClr val="1B8EA8"/>
          </a:solidFill>
          <a:ln w="19050">
            <a:solidFill>
              <a:srgbClr val="FFFFFF"/>
            </a:solidFill>
            <a:prstDash val="solid"/>
          </a:ln>
        </p:spPr>
      </p:sp>
      <p:sp>
        <p:nvSpPr>
          <p:cNvPr id="7" name="Text 5"/>
          <p:cNvSpPr/>
          <p:nvPr/>
        </p:nvSpPr>
        <p:spPr>
          <a:xfrm>
            <a:off x="768096" y="172821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01</a:t>
            </a:r>
            <a:endParaRPr lang="en-US" sz="1800" dirty="0"/>
          </a:p>
        </p:txBody>
      </p:sp>
      <p:sp>
        <p:nvSpPr>
          <p:cNvPr id="8" name="Text 6"/>
          <p:cNvSpPr/>
          <p:nvPr/>
        </p:nvSpPr>
        <p:spPr>
          <a:xfrm>
            <a:off x="1389888" y="1755648"/>
            <a:ext cx="2468880" cy="50292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Giới thiệu</a:t>
            </a:r>
            <a:endParaRPr lang="en-US" sz="2500" dirty="0"/>
          </a:p>
        </p:txBody>
      </p:sp>
      <p:sp>
        <p:nvSpPr>
          <p:cNvPr id="9" name="Text 7"/>
          <p:cNvSpPr/>
          <p:nvPr/>
        </p:nvSpPr>
        <p:spPr>
          <a:xfrm>
            <a:off x="768096" y="2441448"/>
            <a:ext cx="3108960" cy="786384"/>
          </a:xfrm>
          <a:prstGeom prst="rect">
            <a:avLst/>
          </a:prstGeom>
          <a:noFill/>
          <a:ln/>
        </p:spPr>
        <p:txBody>
          <a:bodyPr wrap="square" lIns="0" tIns="0" rIns="0" bIns="0" rtlCol="0" anchor="t"/>
          <a:lstStyle/>
          <a:p>
            <a:pPr marL="0" indent="0">
              <a:lnSpc>
                <a:spcPct val="106000"/>
              </a:lnSpc>
              <a:buNone/>
            </a:pPr>
            <a:r>
              <a:rPr lang="en-US" sz="2000" dirty="0">
                <a:solidFill>
                  <a:srgbClr val="415A6B"/>
                </a:solidFill>
                <a:latin typeface="Segoe UI" pitchFamily="34" charset="0"/>
                <a:ea typeface="Segoe UI" pitchFamily="34" charset="-122"/>
                <a:cs typeface="Segoe UI" pitchFamily="34" charset="-120"/>
              </a:rPr>
              <a:t>NumPy là gì và vì sao nên dùng.</a:t>
            </a:r>
            <a:endParaRPr lang="en-US" sz="2000" dirty="0"/>
          </a:p>
        </p:txBody>
      </p:sp>
      <p:sp>
        <p:nvSpPr>
          <p:cNvPr id="10" name="Shape 8"/>
          <p:cNvSpPr/>
          <p:nvPr/>
        </p:nvSpPr>
        <p:spPr>
          <a:xfrm>
            <a:off x="4315968" y="1508760"/>
            <a:ext cx="3547872" cy="1901952"/>
          </a:xfrm>
          <a:prstGeom prst="roundRect">
            <a:avLst>
              <a:gd name="adj" fmla="val 3365"/>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1" name="Shape 9"/>
          <p:cNvSpPr/>
          <p:nvPr/>
        </p:nvSpPr>
        <p:spPr>
          <a:xfrm>
            <a:off x="4535424" y="1728216"/>
            <a:ext cx="512064" cy="512064"/>
          </a:xfrm>
          <a:prstGeom prst="roundRect">
            <a:avLst>
              <a:gd name="adj" fmla="val 35714"/>
            </a:avLst>
          </a:prstGeom>
          <a:solidFill>
            <a:srgbClr val="4DB8D4"/>
          </a:solidFill>
          <a:ln w="19050">
            <a:solidFill>
              <a:srgbClr val="FFFFFF"/>
            </a:solidFill>
            <a:prstDash val="solid"/>
          </a:ln>
        </p:spPr>
      </p:sp>
      <p:sp>
        <p:nvSpPr>
          <p:cNvPr id="12" name="Text 10"/>
          <p:cNvSpPr/>
          <p:nvPr/>
        </p:nvSpPr>
        <p:spPr>
          <a:xfrm>
            <a:off x="4535424" y="172821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02</a:t>
            </a:r>
            <a:endParaRPr lang="en-US" sz="1800" dirty="0"/>
          </a:p>
        </p:txBody>
      </p:sp>
      <p:sp>
        <p:nvSpPr>
          <p:cNvPr id="13" name="Text 11"/>
          <p:cNvSpPr/>
          <p:nvPr/>
        </p:nvSpPr>
        <p:spPr>
          <a:xfrm>
            <a:off x="5157216" y="1755648"/>
            <a:ext cx="2468880" cy="50292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Cấu trúc mảng</a:t>
            </a:r>
            <a:endParaRPr lang="en-US" sz="2500" dirty="0"/>
          </a:p>
        </p:txBody>
      </p:sp>
      <p:sp>
        <p:nvSpPr>
          <p:cNvPr id="14" name="Text 12"/>
          <p:cNvSpPr/>
          <p:nvPr/>
        </p:nvSpPr>
        <p:spPr>
          <a:xfrm>
            <a:off x="4535424" y="2441448"/>
            <a:ext cx="3108960" cy="786384"/>
          </a:xfrm>
          <a:prstGeom prst="rect">
            <a:avLst/>
          </a:prstGeom>
          <a:noFill/>
          <a:ln/>
        </p:spPr>
        <p:txBody>
          <a:bodyPr wrap="square" lIns="0" tIns="0" rIns="0" bIns="0" rtlCol="0" anchor="t"/>
          <a:lstStyle/>
          <a:p>
            <a:pPr marL="0" indent="0">
              <a:lnSpc>
                <a:spcPct val="106000"/>
              </a:lnSpc>
              <a:buNone/>
            </a:pPr>
            <a:r>
              <a:rPr lang="en-US" sz="2000" dirty="0">
                <a:solidFill>
                  <a:srgbClr val="415A6B"/>
                </a:solidFill>
                <a:latin typeface="Segoe UI" pitchFamily="34" charset="0"/>
                <a:ea typeface="Segoe UI" pitchFamily="34" charset="-122"/>
                <a:cs typeface="Segoe UI" pitchFamily="34" charset="-120"/>
              </a:rPr>
              <a:t>ndarray, shape, size và dtype.</a:t>
            </a:r>
            <a:endParaRPr lang="en-US" sz="2000" dirty="0"/>
          </a:p>
        </p:txBody>
      </p:sp>
      <p:sp>
        <p:nvSpPr>
          <p:cNvPr id="15" name="Shape 13"/>
          <p:cNvSpPr/>
          <p:nvPr/>
        </p:nvSpPr>
        <p:spPr>
          <a:xfrm>
            <a:off x="8083296" y="1508760"/>
            <a:ext cx="3547872" cy="1901952"/>
          </a:xfrm>
          <a:prstGeom prst="roundRect">
            <a:avLst>
              <a:gd name="adj" fmla="val 3365"/>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6" name="Shape 14"/>
          <p:cNvSpPr/>
          <p:nvPr/>
        </p:nvSpPr>
        <p:spPr>
          <a:xfrm>
            <a:off x="8302752" y="1728216"/>
            <a:ext cx="512064" cy="512064"/>
          </a:xfrm>
          <a:prstGeom prst="roundRect">
            <a:avLst>
              <a:gd name="adj" fmla="val 35714"/>
            </a:avLst>
          </a:prstGeom>
          <a:solidFill>
            <a:srgbClr val="1B8EA8"/>
          </a:solidFill>
          <a:ln w="19050">
            <a:solidFill>
              <a:srgbClr val="FFFFFF"/>
            </a:solidFill>
            <a:prstDash val="solid"/>
          </a:ln>
        </p:spPr>
      </p:sp>
      <p:sp>
        <p:nvSpPr>
          <p:cNvPr id="17" name="Text 15"/>
          <p:cNvSpPr/>
          <p:nvPr/>
        </p:nvSpPr>
        <p:spPr>
          <a:xfrm>
            <a:off x="8302752" y="172821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03</a:t>
            </a:r>
            <a:endParaRPr lang="en-US" sz="1800" dirty="0"/>
          </a:p>
        </p:txBody>
      </p:sp>
      <p:sp>
        <p:nvSpPr>
          <p:cNvPr id="18" name="Text 16"/>
          <p:cNvSpPr/>
          <p:nvPr/>
        </p:nvSpPr>
        <p:spPr>
          <a:xfrm>
            <a:off x="8924544" y="1755648"/>
            <a:ext cx="2468880" cy="50292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Tạo mảng</a:t>
            </a:r>
            <a:endParaRPr lang="en-US" sz="2500" dirty="0"/>
          </a:p>
        </p:txBody>
      </p:sp>
      <p:sp>
        <p:nvSpPr>
          <p:cNvPr id="19" name="Text 17"/>
          <p:cNvSpPr/>
          <p:nvPr/>
        </p:nvSpPr>
        <p:spPr>
          <a:xfrm>
            <a:off x="8302752" y="2441448"/>
            <a:ext cx="3108960" cy="786384"/>
          </a:xfrm>
          <a:prstGeom prst="rect">
            <a:avLst/>
          </a:prstGeom>
          <a:noFill/>
          <a:ln/>
        </p:spPr>
        <p:txBody>
          <a:bodyPr wrap="square" lIns="0" tIns="0" rIns="0" bIns="0" rtlCol="0" anchor="t"/>
          <a:lstStyle/>
          <a:p>
            <a:pPr marL="0" indent="0">
              <a:lnSpc>
                <a:spcPct val="106000"/>
              </a:lnSpc>
              <a:buNone/>
            </a:pPr>
            <a:r>
              <a:rPr lang="en-US" sz="2000" dirty="0">
                <a:solidFill>
                  <a:srgbClr val="415A6B"/>
                </a:solidFill>
                <a:latin typeface="Segoe UI" pitchFamily="34" charset="0"/>
                <a:ea typeface="Segoe UI" pitchFamily="34" charset="-122"/>
                <a:cs typeface="Segoe UI" pitchFamily="34" charset="-120"/>
              </a:rPr>
              <a:t>array, zeros, ones, arange, linspace, eye.</a:t>
            </a:r>
            <a:endParaRPr lang="en-US" sz="2000" dirty="0"/>
          </a:p>
        </p:txBody>
      </p:sp>
      <p:sp>
        <p:nvSpPr>
          <p:cNvPr id="20" name="Shape 18"/>
          <p:cNvSpPr/>
          <p:nvPr/>
        </p:nvSpPr>
        <p:spPr>
          <a:xfrm>
            <a:off x="548640" y="3611880"/>
            <a:ext cx="3547872" cy="1901952"/>
          </a:xfrm>
          <a:prstGeom prst="roundRect">
            <a:avLst>
              <a:gd name="adj" fmla="val 3365"/>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1" name="Shape 19"/>
          <p:cNvSpPr/>
          <p:nvPr/>
        </p:nvSpPr>
        <p:spPr>
          <a:xfrm>
            <a:off x="768096" y="3831336"/>
            <a:ext cx="512064" cy="512064"/>
          </a:xfrm>
          <a:prstGeom prst="roundRect">
            <a:avLst>
              <a:gd name="adj" fmla="val 35714"/>
            </a:avLst>
          </a:prstGeom>
          <a:solidFill>
            <a:srgbClr val="4DB8D4"/>
          </a:solidFill>
          <a:ln w="19050">
            <a:solidFill>
              <a:srgbClr val="FFFFFF"/>
            </a:solidFill>
            <a:prstDash val="solid"/>
          </a:ln>
        </p:spPr>
      </p:sp>
      <p:sp>
        <p:nvSpPr>
          <p:cNvPr id="22" name="Text 20"/>
          <p:cNvSpPr/>
          <p:nvPr/>
        </p:nvSpPr>
        <p:spPr>
          <a:xfrm>
            <a:off x="768096" y="383133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04</a:t>
            </a:r>
            <a:endParaRPr lang="en-US" sz="1800" dirty="0"/>
          </a:p>
        </p:txBody>
      </p:sp>
      <p:sp>
        <p:nvSpPr>
          <p:cNvPr id="23" name="Text 21"/>
          <p:cNvSpPr/>
          <p:nvPr/>
        </p:nvSpPr>
        <p:spPr>
          <a:xfrm>
            <a:off x="1389888" y="3858768"/>
            <a:ext cx="2468880" cy="50292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Truy cập dữ liệu</a:t>
            </a:r>
            <a:endParaRPr lang="en-US" sz="2500" dirty="0"/>
          </a:p>
        </p:txBody>
      </p:sp>
      <p:sp>
        <p:nvSpPr>
          <p:cNvPr id="24" name="Text 22"/>
          <p:cNvSpPr/>
          <p:nvPr/>
        </p:nvSpPr>
        <p:spPr>
          <a:xfrm>
            <a:off x="768096" y="4544568"/>
            <a:ext cx="3108960" cy="786384"/>
          </a:xfrm>
          <a:prstGeom prst="rect">
            <a:avLst/>
          </a:prstGeom>
          <a:noFill/>
          <a:ln/>
        </p:spPr>
        <p:txBody>
          <a:bodyPr wrap="square" lIns="0" tIns="0" rIns="0" bIns="0" rtlCol="0" anchor="t"/>
          <a:lstStyle/>
          <a:p>
            <a:pPr marL="0" indent="0">
              <a:lnSpc>
                <a:spcPct val="106000"/>
              </a:lnSpc>
              <a:buNone/>
            </a:pPr>
            <a:r>
              <a:rPr lang="en-US" sz="2000" dirty="0">
                <a:solidFill>
                  <a:srgbClr val="415A6B"/>
                </a:solidFill>
                <a:latin typeface="Segoe UI" pitchFamily="34" charset="0"/>
                <a:ea typeface="Segoe UI" pitchFamily="34" charset="-122"/>
                <a:cs typeface="Segoe UI" pitchFamily="34" charset="-120"/>
              </a:rPr>
              <a:t>Indexing, slicing, boolean, reshape, .T.</a:t>
            </a:r>
            <a:endParaRPr lang="en-US" sz="2000" dirty="0"/>
          </a:p>
        </p:txBody>
      </p:sp>
      <p:sp>
        <p:nvSpPr>
          <p:cNvPr id="25" name="Shape 23"/>
          <p:cNvSpPr/>
          <p:nvPr/>
        </p:nvSpPr>
        <p:spPr>
          <a:xfrm>
            <a:off x="4315968" y="3611880"/>
            <a:ext cx="3547872" cy="1901952"/>
          </a:xfrm>
          <a:prstGeom prst="roundRect">
            <a:avLst>
              <a:gd name="adj" fmla="val 3365"/>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6" name="Shape 24"/>
          <p:cNvSpPr/>
          <p:nvPr/>
        </p:nvSpPr>
        <p:spPr>
          <a:xfrm>
            <a:off x="4535424" y="3831336"/>
            <a:ext cx="512064" cy="512064"/>
          </a:xfrm>
          <a:prstGeom prst="roundRect">
            <a:avLst>
              <a:gd name="adj" fmla="val 35714"/>
            </a:avLst>
          </a:prstGeom>
          <a:solidFill>
            <a:srgbClr val="1B8EA8"/>
          </a:solidFill>
          <a:ln w="19050">
            <a:solidFill>
              <a:srgbClr val="FFFFFF"/>
            </a:solidFill>
            <a:prstDash val="solid"/>
          </a:ln>
        </p:spPr>
      </p:sp>
      <p:sp>
        <p:nvSpPr>
          <p:cNvPr id="27" name="Text 25"/>
          <p:cNvSpPr/>
          <p:nvPr/>
        </p:nvSpPr>
        <p:spPr>
          <a:xfrm>
            <a:off x="4535424" y="383133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05</a:t>
            </a:r>
            <a:endParaRPr lang="en-US" sz="1800" dirty="0"/>
          </a:p>
        </p:txBody>
      </p:sp>
      <p:sp>
        <p:nvSpPr>
          <p:cNvPr id="28" name="Text 26"/>
          <p:cNvSpPr/>
          <p:nvPr/>
        </p:nvSpPr>
        <p:spPr>
          <a:xfrm>
            <a:off x="5157216" y="3858768"/>
            <a:ext cx="2468880" cy="50292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Tính toán</a:t>
            </a:r>
            <a:endParaRPr lang="en-US" sz="2500" dirty="0"/>
          </a:p>
        </p:txBody>
      </p:sp>
      <p:sp>
        <p:nvSpPr>
          <p:cNvPr id="29" name="Text 27"/>
          <p:cNvSpPr/>
          <p:nvPr/>
        </p:nvSpPr>
        <p:spPr>
          <a:xfrm>
            <a:off x="4535424" y="4544568"/>
            <a:ext cx="3108960" cy="786384"/>
          </a:xfrm>
          <a:prstGeom prst="rect">
            <a:avLst/>
          </a:prstGeom>
          <a:noFill/>
          <a:ln/>
        </p:spPr>
        <p:txBody>
          <a:bodyPr wrap="square" lIns="0" tIns="0" rIns="0" bIns="0" rtlCol="0" anchor="t"/>
          <a:lstStyle/>
          <a:p>
            <a:pPr marL="0" indent="0">
              <a:lnSpc>
                <a:spcPct val="106000"/>
              </a:lnSpc>
              <a:buNone/>
            </a:pPr>
            <a:r>
              <a:rPr lang="en-US" sz="2000" dirty="0">
                <a:solidFill>
                  <a:srgbClr val="415A6B"/>
                </a:solidFill>
                <a:latin typeface="Segoe UI" pitchFamily="34" charset="0"/>
                <a:ea typeface="Segoe UI" pitchFamily="34" charset="-122"/>
                <a:cs typeface="Segoe UI" pitchFamily="34" charset="-120"/>
              </a:rPr>
              <a:t>Phép toán, axis và broadcasting.</a:t>
            </a:r>
            <a:endParaRPr lang="en-US" sz="2000" dirty="0"/>
          </a:p>
        </p:txBody>
      </p:sp>
      <p:sp>
        <p:nvSpPr>
          <p:cNvPr id="30" name="Shape 28"/>
          <p:cNvSpPr/>
          <p:nvPr/>
        </p:nvSpPr>
        <p:spPr>
          <a:xfrm>
            <a:off x="8083296" y="3611880"/>
            <a:ext cx="3547872" cy="1901952"/>
          </a:xfrm>
          <a:prstGeom prst="roundRect">
            <a:avLst>
              <a:gd name="adj" fmla="val 3365"/>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31" name="Shape 29"/>
          <p:cNvSpPr/>
          <p:nvPr/>
        </p:nvSpPr>
        <p:spPr>
          <a:xfrm>
            <a:off x="8302752" y="3831336"/>
            <a:ext cx="512064" cy="512064"/>
          </a:xfrm>
          <a:prstGeom prst="roundRect">
            <a:avLst>
              <a:gd name="adj" fmla="val 35714"/>
            </a:avLst>
          </a:prstGeom>
          <a:solidFill>
            <a:srgbClr val="4DB8D4"/>
          </a:solidFill>
          <a:ln w="19050">
            <a:solidFill>
              <a:srgbClr val="FFFFFF"/>
            </a:solidFill>
            <a:prstDash val="solid"/>
          </a:ln>
        </p:spPr>
      </p:sp>
      <p:sp>
        <p:nvSpPr>
          <p:cNvPr id="32" name="Text 30"/>
          <p:cNvSpPr/>
          <p:nvPr/>
        </p:nvSpPr>
        <p:spPr>
          <a:xfrm>
            <a:off x="8302752" y="383133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06</a:t>
            </a:r>
            <a:endParaRPr lang="en-US" sz="1800" dirty="0"/>
          </a:p>
        </p:txBody>
      </p:sp>
      <p:sp>
        <p:nvSpPr>
          <p:cNvPr id="33" name="Text 31"/>
          <p:cNvSpPr/>
          <p:nvPr/>
        </p:nvSpPr>
        <p:spPr>
          <a:xfrm>
            <a:off x="8924544" y="3858768"/>
            <a:ext cx="2468880" cy="50292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Thực hành</a:t>
            </a:r>
            <a:endParaRPr lang="en-US" sz="2500" dirty="0"/>
          </a:p>
        </p:txBody>
      </p:sp>
      <p:sp>
        <p:nvSpPr>
          <p:cNvPr id="34" name="Text 32"/>
          <p:cNvSpPr/>
          <p:nvPr/>
        </p:nvSpPr>
        <p:spPr>
          <a:xfrm>
            <a:off x="8302752" y="4544568"/>
            <a:ext cx="3108960" cy="786384"/>
          </a:xfrm>
          <a:prstGeom prst="rect">
            <a:avLst/>
          </a:prstGeom>
          <a:noFill/>
          <a:ln/>
        </p:spPr>
        <p:txBody>
          <a:bodyPr wrap="square" lIns="0" tIns="0" rIns="0" bIns="0" rtlCol="0" anchor="t"/>
          <a:lstStyle/>
          <a:p>
            <a:pPr marL="0" indent="0">
              <a:lnSpc>
                <a:spcPct val="106000"/>
              </a:lnSpc>
              <a:buNone/>
            </a:pPr>
            <a:r>
              <a:rPr lang="en-US" sz="2000" dirty="0">
                <a:solidFill>
                  <a:srgbClr val="415A6B"/>
                </a:solidFill>
                <a:latin typeface="Segoe UI" pitchFamily="34" charset="0"/>
                <a:ea typeface="Segoe UI" pitchFamily="34" charset="-122"/>
                <a:cs typeface="Segoe UI" pitchFamily="34" charset="-120"/>
              </a:rPr>
              <a:t>Bốn ví dụ, kết luận và hướng học tiếp.</a:t>
            </a:r>
            <a:endParaRPr lang="en-US" sz="2000" dirty="0"/>
          </a:p>
        </p:txBody>
      </p:sp>
      <p:sp>
        <p:nvSpPr>
          <p:cNvPr id="35" name="Text 33"/>
          <p:cNvSpPr/>
          <p:nvPr/>
        </p:nvSpPr>
        <p:spPr>
          <a:xfrm>
            <a:off x="548640" y="5742432"/>
            <a:ext cx="11064240" cy="347472"/>
          </a:xfrm>
          <a:prstGeom prst="rect">
            <a:avLst/>
          </a:prstGeom>
          <a:noFill/>
          <a:ln/>
        </p:spPr>
        <p:txBody>
          <a:bodyPr wrap="square" lIns="0" tIns="0" rIns="0" bIns="0" rtlCol="0" anchor="t"/>
          <a:lstStyle/>
          <a:p>
            <a:pPr marL="0" indent="0">
              <a:buNone/>
            </a:pPr>
            <a:r>
              <a:rPr lang="en-US" sz="2000" i="1" dirty="0">
                <a:solidFill>
                  <a:srgbClr val="1B8EA8"/>
                </a:solidFill>
                <a:latin typeface="Segoe UI" pitchFamily="34" charset="0"/>
                <a:ea typeface="Segoe UI" pitchFamily="34" charset="-122"/>
                <a:cs typeface="Segoe UI" pitchFamily="34" charset="-120"/>
              </a:rPr>
              <a:t>Mạch kiến thức: vấn đề → đối tượng → tạo → truy cập → tính toán → ứng dụng.</a:t>
            </a:r>
            <a:endParaRPr lang="en-US" sz="2000" dirty="0"/>
          </a:p>
        </p:txBody>
      </p:sp>
      <p:sp>
        <p:nvSpPr>
          <p:cNvPr id="36" name="Shape 34"/>
          <p:cNvSpPr/>
          <p:nvPr/>
        </p:nvSpPr>
        <p:spPr>
          <a:xfrm>
            <a:off x="548640" y="6437376"/>
            <a:ext cx="11091672" cy="9144"/>
          </a:xfrm>
          <a:prstGeom prst="rect">
            <a:avLst/>
          </a:prstGeom>
          <a:solidFill>
            <a:srgbClr val="D7E5EC"/>
          </a:solidFill>
          <a:ln w="12700">
            <a:solidFill>
              <a:srgbClr val="D7E5EC"/>
            </a:solidFill>
            <a:prstDash val="solid"/>
          </a:ln>
        </p:spPr>
      </p:sp>
      <p:sp>
        <p:nvSpPr>
          <p:cNvPr id="37" name="Text 35"/>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8" name="Text 36"/>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02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01 · GIỚI THIỆU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NumPy là gì?</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417320"/>
            <a:ext cx="5532120" cy="1005840"/>
          </a:xfrm>
          <a:prstGeom prst="rect">
            <a:avLst/>
          </a:prstGeom>
          <a:noFill/>
          <a:ln/>
        </p:spPr>
        <p:txBody>
          <a:bodyPr wrap="square" lIns="0" tIns="0" rIns="0" bIns="0" rtlCol="0" anchor="t"/>
          <a:lstStyle/>
          <a:p>
            <a:pPr marL="0" indent="0">
              <a:lnSpc>
                <a:spcPct val="108000"/>
              </a:lnSpc>
              <a:buNone/>
            </a:pPr>
            <a:r>
              <a:rPr lang="en-US" sz="2200" dirty="0">
                <a:solidFill>
                  <a:srgbClr val="062A3A"/>
                </a:solidFill>
                <a:latin typeface="Segoe UI" pitchFamily="34" charset="0"/>
                <a:ea typeface="Segoe UI" pitchFamily="34" charset="-122"/>
                <a:cs typeface="Segoe UI" pitchFamily="34" charset="-120"/>
              </a:rPr>
              <a:t>NumPy (Numerical Python) là thư viện mã nguồn mở cho tính toán khoa học trong Python.</a:t>
            </a:r>
            <a:endParaRPr lang="en-US" sz="2200" dirty="0"/>
          </a:p>
        </p:txBody>
      </p:sp>
      <p:sp>
        <p:nvSpPr>
          <p:cNvPr id="6" name="Shape 4"/>
          <p:cNvSpPr/>
          <p:nvPr/>
        </p:nvSpPr>
        <p:spPr>
          <a:xfrm>
            <a:off x="548640" y="2578608"/>
            <a:ext cx="5532120" cy="1097280"/>
          </a:xfrm>
          <a:prstGeom prst="roundRect">
            <a:avLst>
              <a:gd name="adj" fmla="val 583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7" name="Shape 5"/>
          <p:cNvSpPr/>
          <p:nvPr/>
        </p:nvSpPr>
        <p:spPr>
          <a:xfrm>
            <a:off x="548640" y="2706624"/>
            <a:ext cx="64008" cy="841248"/>
          </a:xfrm>
          <a:prstGeom prst="rect">
            <a:avLst/>
          </a:prstGeom>
          <a:solidFill>
            <a:srgbClr val="1B8EA8"/>
          </a:solidFill>
          <a:ln w="12700">
            <a:solidFill>
              <a:srgbClr val="FFFFFF"/>
            </a:solidFill>
            <a:prstDash val="solid"/>
          </a:ln>
        </p:spPr>
      </p:sp>
      <p:sp>
        <p:nvSpPr>
          <p:cNvPr id="8" name="Text 6"/>
          <p:cNvSpPr/>
          <p:nvPr/>
        </p:nvSpPr>
        <p:spPr>
          <a:xfrm>
            <a:off x="786384" y="2670048"/>
            <a:ext cx="4937760" cy="365760"/>
          </a:xfrm>
          <a:prstGeom prst="rect">
            <a:avLst/>
          </a:prstGeom>
          <a:noFill/>
          <a:ln/>
        </p:spPr>
        <p:txBody>
          <a:bodyPr wrap="square" lIns="0" tIns="0" rIns="0" bIns="0" rtlCol="0" anchor="t"/>
          <a:lstStyle/>
          <a:p>
            <a:pPr marL="0" indent="0">
              <a:buNone/>
            </a:pPr>
            <a:r>
              <a:rPr lang="en-US" sz="2400" b="1" dirty="0">
                <a:solidFill>
                  <a:srgbClr val="062A3A"/>
                </a:solidFill>
                <a:latin typeface="Segoe UI" pitchFamily="34" charset="0"/>
                <a:ea typeface="Segoe UI" pitchFamily="34" charset="-122"/>
                <a:cs typeface="Segoe UI" pitchFamily="34" charset="-120"/>
              </a:rPr>
              <a:t>ndarray</a:t>
            </a:r>
            <a:endParaRPr lang="en-US" sz="2400" dirty="0"/>
          </a:p>
        </p:txBody>
      </p:sp>
      <p:sp>
        <p:nvSpPr>
          <p:cNvPr id="9" name="Text 7"/>
          <p:cNvSpPr/>
          <p:nvPr/>
        </p:nvSpPr>
        <p:spPr>
          <a:xfrm>
            <a:off x="786384" y="3044952"/>
            <a:ext cx="4983480" cy="548640"/>
          </a:xfrm>
          <a:prstGeom prst="rect">
            <a:avLst/>
          </a:prstGeom>
          <a:noFill/>
          <a:ln/>
        </p:spPr>
        <p:txBody>
          <a:bodyPr wrap="square" lIns="0" tIns="0" rIns="0" bIns="0" rtlCol="0" anchor="t"/>
          <a:lstStyle/>
          <a:p>
            <a:pPr marL="0" indent="0">
              <a:lnSpc>
                <a:spcPct val="100000"/>
              </a:lnSpc>
              <a:buNone/>
            </a:pPr>
            <a:r>
              <a:rPr lang="en-US" sz="2000" dirty="0">
                <a:solidFill>
                  <a:srgbClr val="415A6B"/>
                </a:solidFill>
                <a:latin typeface="Segoe UI" pitchFamily="34" charset="0"/>
                <a:ea typeface="Segoe UI" pitchFamily="34" charset="-122"/>
                <a:cs typeface="Segoe UI" pitchFamily="34" charset="-120"/>
              </a:rPr>
              <a:t>Mảng N chiều, đồng nhất kiểu, kích thước cố định</a:t>
            </a:r>
            <a:endParaRPr lang="en-US" sz="2000" dirty="0"/>
          </a:p>
        </p:txBody>
      </p:sp>
      <p:sp>
        <p:nvSpPr>
          <p:cNvPr id="10" name="Shape 8"/>
          <p:cNvSpPr/>
          <p:nvPr/>
        </p:nvSpPr>
        <p:spPr>
          <a:xfrm>
            <a:off x="548640" y="3767328"/>
            <a:ext cx="5532120" cy="1097280"/>
          </a:xfrm>
          <a:prstGeom prst="roundRect">
            <a:avLst>
              <a:gd name="adj" fmla="val 583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1" name="Shape 9"/>
          <p:cNvSpPr/>
          <p:nvPr/>
        </p:nvSpPr>
        <p:spPr>
          <a:xfrm>
            <a:off x="548640" y="3895344"/>
            <a:ext cx="64008" cy="841248"/>
          </a:xfrm>
          <a:prstGeom prst="rect">
            <a:avLst/>
          </a:prstGeom>
          <a:solidFill>
            <a:srgbClr val="4DB8D4"/>
          </a:solidFill>
          <a:ln w="12700">
            <a:solidFill>
              <a:srgbClr val="FFFFFF"/>
            </a:solidFill>
            <a:prstDash val="solid"/>
          </a:ln>
        </p:spPr>
      </p:sp>
      <p:sp>
        <p:nvSpPr>
          <p:cNvPr id="12" name="Text 10"/>
          <p:cNvSpPr/>
          <p:nvPr/>
        </p:nvSpPr>
        <p:spPr>
          <a:xfrm>
            <a:off x="786384" y="3858768"/>
            <a:ext cx="4937760" cy="365760"/>
          </a:xfrm>
          <a:prstGeom prst="rect">
            <a:avLst/>
          </a:prstGeom>
          <a:noFill/>
          <a:ln/>
        </p:spPr>
        <p:txBody>
          <a:bodyPr wrap="square" lIns="0" tIns="0" rIns="0" bIns="0" rtlCol="0" anchor="t"/>
          <a:lstStyle/>
          <a:p>
            <a:pPr marL="0" indent="0">
              <a:buNone/>
            </a:pPr>
            <a:r>
              <a:rPr lang="en-US" sz="2400" b="1" dirty="0">
                <a:solidFill>
                  <a:srgbClr val="062A3A"/>
                </a:solidFill>
                <a:latin typeface="Segoe UI" pitchFamily="34" charset="0"/>
                <a:ea typeface="Segoe UI" pitchFamily="34" charset="-122"/>
                <a:cs typeface="Segoe UI" pitchFamily="34" charset="-120"/>
              </a:rPr>
              <a:t>Hàm toán học</a:t>
            </a:r>
            <a:endParaRPr lang="en-US" sz="2400" dirty="0"/>
          </a:p>
        </p:txBody>
      </p:sp>
      <p:sp>
        <p:nvSpPr>
          <p:cNvPr id="13" name="Text 11"/>
          <p:cNvSpPr/>
          <p:nvPr/>
        </p:nvSpPr>
        <p:spPr>
          <a:xfrm>
            <a:off x="786384" y="4233672"/>
            <a:ext cx="4983480" cy="548640"/>
          </a:xfrm>
          <a:prstGeom prst="rect">
            <a:avLst/>
          </a:prstGeom>
          <a:noFill/>
          <a:ln/>
        </p:spPr>
        <p:txBody>
          <a:bodyPr wrap="square" lIns="0" tIns="0" rIns="0" bIns="0" rtlCol="0" anchor="t"/>
          <a:lstStyle/>
          <a:p>
            <a:pPr marL="0" indent="0">
              <a:lnSpc>
                <a:spcPct val="100000"/>
              </a:lnSpc>
              <a:buNone/>
            </a:pPr>
            <a:r>
              <a:rPr lang="en-US" sz="2000" dirty="0">
                <a:solidFill>
                  <a:srgbClr val="415A6B"/>
                </a:solidFill>
                <a:latin typeface="Segoe UI" pitchFamily="34" charset="0"/>
                <a:ea typeface="Segoe UI" pitchFamily="34" charset="-122"/>
                <a:cs typeface="Segoe UI" pitchFamily="34" charset="-120"/>
              </a:rPr>
              <a:t>Đại số tuyến tính, thống kê, sắp xếp, tìm kiếm</a:t>
            </a:r>
            <a:endParaRPr lang="en-US" sz="2000" dirty="0"/>
          </a:p>
        </p:txBody>
      </p:sp>
      <p:sp>
        <p:nvSpPr>
          <p:cNvPr id="14" name="Shape 12"/>
          <p:cNvSpPr/>
          <p:nvPr/>
        </p:nvSpPr>
        <p:spPr>
          <a:xfrm>
            <a:off x="548640" y="4956048"/>
            <a:ext cx="5532120" cy="1097280"/>
          </a:xfrm>
          <a:prstGeom prst="roundRect">
            <a:avLst>
              <a:gd name="adj" fmla="val 583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5" name="Shape 13"/>
          <p:cNvSpPr/>
          <p:nvPr/>
        </p:nvSpPr>
        <p:spPr>
          <a:xfrm>
            <a:off x="548640" y="5084064"/>
            <a:ext cx="64008" cy="841248"/>
          </a:xfrm>
          <a:prstGeom prst="rect">
            <a:avLst/>
          </a:prstGeom>
          <a:solidFill>
            <a:srgbClr val="E8A33D"/>
          </a:solidFill>
          <a:ln w="12700">
            <a:solidFill>
              <a:srgbClr val="FFFFFF"/>
            </a:solidFill>
            <a:prstDash val="solid"/>
          </a:ln>
        </p:spPr>
      </p:sp>
      <p:sp>
        <p:nvSpPr>
          <p:cNvPr id="16" name="Text 14"/>
          <p:cNvSpPr/>
          <p:nvPr/>
        </p:nvSpPr>
        <p:spPr>
          <a:xfrm>
            <a:off x="786384" y="5047488"/>
            <a:ext cx="4937760" cy="365760"/>
          </a:xfrm>
          <a:prstGeom prst="rect">
            <a:avLst/>
          </a:prstGeom>
          <a:noFill/>
          <a:ln/>
        </p:spPr>
        <p:txBody>
          <a:bodyPr wrap="square" lIns="0" tIns="0" rIns="0" bIns="0" rtlCol="0" anchor="t"/>
          <a:lstStyle/>
          <a:p>
            <a:pPr marL="0" indent="0">
              <a:buNone/>
            </a:pPr>
            <a:r>
              <a:rPr lang="en-US" sz="2400" b="1" dirty="0">
                <a:solidFill>
                  <a:srgbClr val="062A3A"/>
                </a:solidFill>
                <a:latin typeface="Segoe UI" pitchFamily="34" charset="0"/>
                <a:ea typeface="Segoe UI" pitchFamily="34" charset="-122"/>
                <a:cs typeface="Segoe UI" pitchFamily="34" charset="-120"/>
              </a:rPr>
              <a:t>Nền tảng</a:t>
            </a:r>
            <a:endParaRPr lang="en-US" sz="2400" dirty="0"/>
          </a:p>
        </p:txBody>
      </p:sp>
      <p:sp>
        <p:nvSpPr>
          <p:cNvPr id="17" name="Text 15"/>
          <p:cNvSpPr/>
          <p:nvPr/>
        </p:nvSpPr>
        <p:spPr>
          <a:xfrm>
            <a:off x="786384" y="5422392"/>
            <a:ext cx="4983480" cy="548640"/>
          </a:xfrm>
          <a:prstGeom prst="rect">
            <a:avLst/>
          </a:prstGeom>
          <a:noFill/>
          <a:ln/>
        </p:spPr>
        <p:txBody>
          <a:bodyPr wrap="square" lIns="0" tIns="0" rIns="0" bIns="0" rtlCol="0" anchor="t"/>
          <a:lstStyle/>
          <a:p>
            <a:pPr marL="0" indent="0">
              <a:lnSpc>
                <a:spcPct val="100000"/>
              </a:lnSpc>
              <a:buNone/>
            </a:pPr>
            <a:r>
              <a:rPr lang="en-US" sz="2000" dirty="0">
                <a:solidFill>
                  <a:srgbClr val="415A6B"/>
                </a:solidFill>
                <a:latin typeface="Segoe UI" pitchFamily="34" charset="0"/>
                <a:ea typeface="Segoe UI" pitchFamily="34" charset="-122"/>
                <a:cs typeface="Segoe UI" pitchFamily="34" charset="-120"/>
              </a:rPr>
              <a:t>Nhiều thư viện khoa học nhận và trả về mảng NumPy</a:t>
            </a:r>
            <a:endParaRPr lang="en-US" sz="2000" dirty="0"/>
          </a:p>
        </p:txBody>
      </p:sp>
      <p:sp>
        <p:nvSpPr>
          <p:cNvPr id="18" name="Shape 16"/>
          <p:cNvSpPr/>
          <p:nvPr/>
        </p:nvSpPr>
        <p:spPr>
          <a:xfrm>
            <a:off x="6355080" y="1463040"/>
            <a:ext cx="5285232" cy="1417320"/>
          </a:xfrm>
          <a:prstGeom prst="roundRect">
            <a:avLst>
              <a:gd name="adj" fmla="val 3226"/>
            </a:avLst>
          </a:prstGeom>
          <a:solidFill>
            <a:srgbClr val="0B2230"/>
          </a:solidFill>
          <a:ln w="9525">
            <a:solidFill>
              <a:srgbClr val="163B4C"/>
            </a:solidFill>
            <a:prstDash val="solid"/>
          </a:ln>
        </p:spPr>
      </p:sp>
      <p:sp>
        <p:nvSpPr>
          <p:cNvPr id="19" name="Shape 17"/>
          <p:cNvSpPr/>
          <p:nvPr/>
        </p:nvSpPr>
        <p:spPr>
          <a:xfrm>
            <a:off x="6355080" y="1463040"/>
            <a:ext cx="5285232" cy="310896"/>
          </a:xfrm>
          <a:prstGeom prst="rect">
            <a:avLst/>
          </a:prstGeom>
          <a:solidFill>
            <a:srgbClr val="103445"/>
          </a:solidFill>
          <a:ln w="12700">
            <a:solidFill>
              <a:srgbClr val="103445"/>
            </a:solidFill>
            <a:prstDash val="solid"/>
          </a:ln>
        </p:spPr>
      </p:sp>
      <p:sp>
        <p:nvSpPr>
          <p:cNvPr id="20" name="Text 18"/>
          <p:cNvSpPr/>
          <p:nvPr/>
        </p:nvSpPr>
        <p:spPr>
          <a:xfrm>
            <a:off x="6501384" y="1527048"/>
            <a:ext cx="437083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1" name="Shape 19"/>
          <p:cNvSpPr/>
          <p:nvPr/>
        </p:nvSpPr>
        <p:spPr>
          <a:xfrm>
            <a:off x="11073384" y="1581912"/>
            <a:ext cx="82296" cy="82296"/>
          </a:xfrm>
          <a:prstGeom prst="ellipse">
            <a:avLst/>
          </a:prstGeom>
          <a:solidFill>
            <a:srgbClr val="D96C5F"/>
          </a:solidFill>
          <a:ln w="12700">
            <a:solidFill>
              <a:srgbClr val="D96C5F"/>
            </a:solidFill>
            <a:prstDash val="solid"/>
          </a:ln>
        </p:spPr>
      </p:sp>
      <p:sp>
        <p:nvSpPr>
          <p:cNvPr id="22" name="Shape 20"/>
          <p:cNvSpPr/>
          <p:nvPr/>
        </p:nvSpPr>
        <p:spPr>
          <a:xfrm>
            <a:off x="11228832" y="1581912"/>
            <a:ext cx="82296" cy="82296"/>
          </a:xfrm>
          <a:prstGeom prst="ellipse">
            <a:avLst/>
          </a:prstGeom>
          <a:solidFill>
            <a:srgbClr val="E8A33D"/>
          </a:solidFill>
          <a:ln w="12700">
            <a:solidFill>
              <a:srgbClr val="E8A33D"/>
            </a:solidFill>
            <a:prstDash val="solid"/>
          </a:ln>
        </p:spPr>
      </p:sp>
      <p:sp>
        <p:nvSpPr>
          <p:cNvPr id="23" name="Shape 21"/>
          <p:cNvSpPr/>
          <p:nvPr/>
        </p:nvSpPr>
        <p:spPr>
          <a:xfrm>
            <a:off x="11384280" y="1581912"/>
            <a:ext cx="82296" cy="82296"/>
          </a:xfrm>
          <a:prstGeom prst="ellipse">
            <a:avLst/>
          </a:prstGeom>
          <a:solidFill>
            <a:srgbClr val="2D8C6F"/>
          </a:solidFill>
          <a:ln w="12700">
            <a:solidFill>
              <a:srgbClr val="2D8C6F"/>
            </a:solidFill>
            <a:prstDash val="solid"/>
          </a:ln>
        </p:spPr>
      </p:sp>
      <p:sp>
        <p:nvSpPr>
          <p:cNvPr id="24" name="Text 22"/>
          <p:cNvSpPr/>
          <p:nvPr/>
        </p:nvSpPr>
        <p:spPr>
          <a:xfrm>
            <a:off x="6519672" y="1874520"/>
            <a:ext cx="4992624" cy="941832"/>
          </a:xfrm>
          <a:prstGeom prst="rect">
            <a:avLst/>
          </a:prstGeom>
          <a:noFill/>
          <a:ln/>
        </p:spPr>
        <p:txBody>
          <a:bodyPr wrap="square" lIns="0" tIns="0" rIns="0" bIns="0" rtlCol="0" anchor="t"/>
          <a:lstStyle/>
          <a:p>
            <a:pPr marL="0" indent="0">
              <a:lnSpc>
                <a:spcPct val="100000"/>
              </a:lnSpc>
              <a:buNone/>
            </a:pPr>
            <a:r>
              <a:rPr lang="en-US" sz="1700" dirty="0">
                <a:solidFill>
                  <a:srgbClr val="6FD0E4"/>
                </a:solidFill>
                <a:latin typeface="Consolas" pitchFamily="34" charset="0"/>
                <a:ea typeface="Consolas" pitchFamily="34" charset="-122"/>
                <a:cs typeface="Consolas" pitchFamily="34" charset="-120"/>
              </a:rPr>
              <a:t>import</a:t>
            </a:r>
            <a:r>
              <a:rPr lang="en-US" sz="1700" dirty="0">
                <a:solidFill>
                  <a:srgbClr val="D6E6EF"/>
                </a:solidFill>
                <a:latin typeface="Consolas" pitchFamily="34" charset="0"/>
                <a:ea typeface="Consolas" pitchFamily="34" charset="-122"/>
                <a:cs typeface="Consolas" pitchFamily="34" charset="-120"/>
              </a:rPr>
              <a:t> </a:t>
            </a:r>
            <a:r>
              <a:rPr lang="en-US" sz="1700" dirty="0">
                <a:solidFill>
                  <a:srgbClr val="8AD9C0"/>
                </a:solidFill>
                <a:latin typeface="Consolas" pitchFamily="34" charset="0"/>
                <a:ea typeface="Consolas" pitchFamily="34" charset="-122"/>
                <a:cs typeface="Consolas" pitchFamily="34" charset="-120"/>
              </a:rPr>
              <a:t>numpy</a:t>
            </a:r>
            <a:r>
              <a:rPr lang="en-US" sz="1700" dirty="0">
                <a:solidFill>
                  <a:srgbClr val="D6E6EF"/>
                </a:solidFill>
                <a:latin typeface="Consolas" pitchFamily="34" charset="0"/>
                <a:ea typeface="Consolas" pitchFamily="34" charset="-122"/>
                <a:cs typeface="Consolas" pitchFamily="34" charset="-120"/>
              </a:rPr>
              <a:t> </a:t>
            </a:r>
            <a:r>
              <a:rPr lang="en-US" sz="1700" dirty="0">
                <a:solidFill>
                  <a:srgbClr val="6FD0E4"/>
                </a:solidFill>
                <a:latin typeface="Consolas" pitchFamily="34" charset="0"/>
                <a:ea typeface="Consolas" pitchFamily="34" charset="-122"/>
                <a:cs typeface="Consolas" pitchFamily="34" charset="-120"/>
              </a:rPr>
              <a:t>as</a:t>
            </a:r>
            <a:r>
              <a:rPr lang="en-US" sz="1700" dirty="0">
                <a:solidFill>
                  <a:srgbClr val="D6E6EF"/>
                </a:solidFill>
                <a:latin typeface="Consolas" pitchFamily="34" charset="0"/>
                <a:ea typeface="Consolas" pitchFamily="34" charset="-122"/>
                <a:cs typeface="Consolas" pitchFamily="34" charset="-120"/>
              </a:rPr>
              <a:t> </a:t>
            </a:r>
            <a:r>
              <a:rPr lang="en-US" sz="1700" dirty="0">
                <a:solidFill>
                  <a:srgbClr val="8AD9C0"/>
                </a:solidFill>
                <a:latin typeface="Consolas" pitchFamily="34" charset="0"/>
                <a:ea typeface="Consolas" pitchFamily="34" charset="-122"/>
                <a:cs typeface="Consolas" pitchFamily="34" charset="-120"/>
              </a:rPr>
              <a:t>np</a:t>
            </a:r>
            <a:endParaRPr lang="en-US" sz="1700" dirty="0"/>
          </a:p>
          <a:p>
            <a:pPr marL="0" indent="0">
              <a:lnSpc>
                <a:spcPct val="100000"/>
              </a:lnSpc>
              <a:buNone/>
            </a:pPr>
            <a:r>
              <a:rPr lang="en-US" sz="1700" dirty="0">
                <a:solidFill>
                  <a:srgbClr val="D6E6EF"/>
                </a:solidFill>
                <a:latin typeface="Consolas" pitchFamily="34" charset="0"/>
                <a:ea typeface="Consolas" pitchFamily="34" charset="-122"/>
                <a:cs typeface="Consolas" pitchFamily="34" charset="-120"/>
              </a:rPr>
              <a:t> </a:t>
            </a:r>
            <a:endParaRPr lang="en-US" sz="1700" dirty="0"/>
          </a:p>
          <a:p>
            <a:pPr marL="0" indent="0">
              <a:lnSpc>
                <a:spcPct val="100000"/>
              </a:lnSpc>
              <a:buNone/>
            </a:pPr>
            <a:r>
              <a:rPr lang="en-US" sz="1700" dirty="0">
                <a:solidFill>
                  <a:srgbClr val="6FD0E4"/>
                </a:solidFill>
                <a:latin typeface="Consolas" pitchFamily="34" charset="0"/>
                <a:ea typeface="Consolas" pitchFamily="34" charset="-122"/>
                <a:cs typeface="Consolas" pitchFamily="34" charset="-120"/>
              </a:rPr>
              <a:t>print</a:t>
            </a:r>
            <a:r>
              <a:rPr lang="en-US" sz="1700" dirty="0">
                <a:solidFill>
                  <a:srgbClr val="D6E6EF"/>
                </a:solidFill>
                <a:latin typeface="Consolas" pitchFamily="34" charset="0"/>
                <a:ea typeface="Consolas" pitchFamily="34" charset="-122"/>
                <a:cs typeface="Consolas" pitchFamily="34" charset="-120"/>
              </a:rPr>
              <a:t>(</a:t>
            </a:r>
            <a:r>
              <a:rPr lang="en-US" sz="1700" dirty="0">
                <a:solidFill>
                  <a:srgbClr val="8AD9C0"/>
                </a:solidFill>
                <a:latin typeface="Consolas" pitchFamily="34" charset="0"/>
                <a:ea typeface="Consolas" pitchFamily="34" charset="-122"/>
                <a:cs typeface="Consolas" pitchFamily="34" charset="-120"/>
              </a:rPr>
              <a:t>np</a:t>
            </a:r>
            <a:r>
              <a:rPr lang="en-US" sz="1700" dirty="0">
                <a:solidFill>
                  <a:srgbClr val="D6E6EF"/>
                </a:solidFill>
                <a:latin typeface="Consolas" pitchFamily="34" charset="0"/>
                <a:ea typeface="Consolas" pitchFamily="34" charset="-122"/>
                <a:cs typeface="Consolas" pitchFamily="34" charset="-120"/>
              </a:rPr>
              <a:t>.__version__)</a:t>
            </a:r>
            <a:endParaRPr lang="en-US" sz="1700" dirty="0"/>
          </a:p>
        </p:txBody>
      </p:sp>
      <p:sp>
        <p:nvSpPr>
          <p:cNvPr id="25" name="Shape 23"/>
          <p:cNvSpPr/>
          <p:nvPr/>
        </p:nvSpPr>
        <p:spPr>
          <a:xfrm>
            <a:off x="6355080" y="3063240"/>
            <a:ext cx="5285232" cy="822960"/>
          </a:xfrm>
          <a:prstGeom prst="roundRect">
            <a:avLst>
              <a:gd name="adj" fmla="val 5556"/>
            </a:avLst>
          </a:prstGeom>
          <a:solidFill>
            <a:srgbClr val="FFFFFF"/>
          </a:solidFill>
          <a:ln w="9525">
            <a:solidFill>
              <a:srgbClr val="CFE5EE"/>
            </a:solidFill>
            <a:prstDash val="solid"/>
          </a:ln>
        </p:spPr>
      </p:sp>
      <p:sp>
        <p:nvSpPr>
          <p:cNvPr id="26" name="Text 24"/>
          <p:cNvSpPr/>
          <p:nvPr/>
        </p:nvSpPr>
        <p:spPr>
          <a:xfrm>
            <a:off x="6501384" y="3154680"/>
            <a:ext cx="501091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27" name="Text 25"/>
          <p:cNvSpPr/>
          <p:nvPr/>
        </p:nvSpPr>
        <p:spPr>
          <a:xfrm>
            <a:off x="6501384" y="3410712"/>
            <a:ext cx="5010912" cy="402336"/>
          </a:xfrm>
          <a:prstGeom prst="rect">
            <a:avLst/>
          </a:prstGeom>
          <a:noFill/>
          <a:ln/>
        </p:spPr>
        <p:txBody>
          <a:bodyPr wrap="square" lIns="0" tIns="0" rIns="0" bIns="0" rtlCol="0" anchor="t"/>
          <a:lstStyle/>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2.5.4</a:t>
            </a:r>
            <a:endParaRPr lang="en-US" sz="2000" dirty="0"/>
          </a:p>
        </p:txBody>
      </p:sp>
      <p:sp>
        <p:nvSpPr>
          <p:cNvPr id="28" name="Shape 26"/>
          <p:cNvSpPr/>
          <p:nvPr/>
        </p:nvSpPr>
        <p:spPr>
          <a:xfrm>
            <a:off x="6355080" y="4069080"/>
            <a:ext cx="5285232" cy="960120"/>
          </a:xfrm>
          <a:prstGeom prst="roundRect">
            <a:avLst>
              <a:gd name="adj" fmla="val 6667"/>
            </a:avLst>
          </a:prstGeom>
          <a:solidFill>
            <a:srgbClr val="EAF4F8"/>
          </a:solidFill>
          <a:ln w="9525">
            <a:solidFill>
              <a:srgbClr val="CFE5EE"/>
            </a:solidFill>
            <a:prstDash val="solid"/>
          </a:ln>
        </p:spPr>
      </p:sp>
      <p:sp>
        <p:nvSpPr>
          <p:cNvPr id="29" name="Text 27"/>
          <p:cNvSpPr/>
          <p:nvPr/>
        </p:nvSpPr>
        <p:spPr>
          <a:xfrm>
            <a:off x="6501384" y="4069080"/>
            <a:ext cx="4974336" cy="960120"/>
          </a:xfrm>
          <a:prstGeom prst="rect">
            <a:avLst/>
          </a:prstGeom>
          <a:noFill/>
          <a:ln/>
        </p:spPr>
        <p:txBody>
          <a:bodyPr wrap="square" lIns="0" tIns="0" rIns="0" bIns="0" rtlCol="0" anchor="ctr"/>
          <a:lstStyle/>
          <a:p>
            <a:pPr marL="0" indent="0">
              <a:buNone/>
            </a:pPr>
            <a:r>
              <a:rPr lang="en-US" sz="2000" b="1" dirty="0">
                <a:solidFill>
                  <a:srgbClr val="1B8EA8"/>
                </a:solidFill>
                <a:latin typeface="Segoe UI" pitchFamily="34" charset="0"/>
                <a:ea typeface="Segoe UI" pitchFamily="34" charset="-122"/>
                <a:cs typeface="Segoe UI" pitchFamily="34" charset="-120"/>
              </a:rPr>
              <a:t>Quy </a:t>
            </a:r>
            <a:r>
              <a:rPr lang="en-US" sz="2000" b="1" dirty="0" err="1">
                <a:solidFill>
                  <a:srgbClr val="1B8EA8"/>
                </a:solidFill>
                <a:latin typeface="Segoe UI" pitchFamily="34" charset="0"/>
                <a:ea typeface="Segoe UI" pitchFamily="34" charset="-122"/>
                <a:cs typeface="Segoe UI" pitchFamily="34" charset="-120"/>
              </a:rPr>
              <a:t>ước</a:t>
            </a:r>
            <a:r>
              <a:rPr lang="en-US" sz="2000" b="1" dirty="0">
                <a:solidFill>
                  <a:srgbClr val="1B8EA8"/>
                </a:solidFill>
                <a:latin typeface="Segoe UI" pitchFamily="34" charset="0"/>
                <a:ea typeface="Segoe UI" pitchFamily="34" charset="-122"/>
                <a:cs typeface="Segoe UI" pitchFamily="34" charset="-120"/>
              </a:rPr>
              <a:t> </a:t>
            </a:r>
            <a:r>
              <a:rPr lang="en-US" sz="2000" b="1" dirty="0" err="1">
                <a:solidFill>
                  <a:srgbClr val="1B8EA8"/>
                </a:solidFill>
                <a:latin typeface="Segoe UI" pitchFamily="34" charset="0"/>
                <a:ea typeface="Segoe UI" pitchFamily="34" charset="-122"/>
                <a:cs typeface="Segoe UI" pitchFamily="34" charset="-120"/>
              </a:rPr>
              <a:t>thường</a:t>
            </a:r>
            <a:r>
              <a:rPr lang="en-US" sz="2000" b="1" dirty="0">
                <a:solidFill>
                  <a:srgbClr val="1B8EA8"/>
                </a:solidFill>
                <a:latin typeface="Segoe UI" pitchFamily="34" charset="0"/>
                <a:ea typeface="Segoe UI" pitchFamily="34" charset="-122"/>
                <a:cs typeface="Segoe UI" pitchFamily="34" charset="-120"/>
              </a:rPr>
              <a:t> </a:t>
            </a:r>
            <a:r>
              <a:rPr lang="en-US" sz="2000" b="1" dirty="0" err="1">
                <a:solidFill>
                  <a:srgbClr val="1B8EA8"/>
                </a:solidFill>
                <a:latin typeface="Segoe UI" pitchFamily="34" charset="0"/>
                <a:ea typeface="Segoe UI" pitchFamily="34" charset="-122"/>
                <a:cs typeface="Segoe UI" pitchFamily="34" charset="-120"/>
              </a:rPr>
              <a:t>sử</a:t>
            </a:r>
            <a:r>
              <a:rPr lang="en-US" sz="2000" b="1" dirty="0">
                <a:solidFill>
                  <a:srgbClr val="1B8EA8"/>
                </a:solidFill>
                <a:latin typeface="Segoe UI" pitchFamily="34" charset="0"/>
                <a:ea typeface="Segoe UI" pitchFamily="34" charset="-122"/>
                <a:cs typeface="Segoe UI" pitchFamily="34" charset="-120"/>
              </a:rPr>
              <a:t> </a:t>
            </a:r>
            <a:r>
              <a:rPr lang="en-US" sz="2000" b="1" dirty="0" err="1">
                <a:solidFill>
                  <a:srgbClr val="1B8EA8"/>
                </a:solidFill>
                <a:latin typeface="Segoe UI" pitchFamily="34" charset="0"/>
                <a:ea typeface="Segoe UI" pitchFamily="34" charset="-122"/>
                <a:cs typeface="Segoe UI" pitchFamily="34" charset="-120"/>
              </a:rPr>
              <a:t>dụng</a:t>
            </a:r>
            <a:r>
              <a:rPr lang="en-US" sz="2000" b="1" dirty="0">
                <a:solidFill>
                  <a:srgbClr val="1B8EA8"/>
                </a:solidFill>
                <a:latin typeface="Segoe UI" pitchFamily="34" charset="0"/>
                <a:ea typeface="Segoe UI" pitchFamily="34" charset="-122"/>
                <a:cs typeface="Segoe UI" pitchFamily="34" charset="-120"/>
              </a:rPr>
              <a:t> : import numpy as np</a:t>
            </a:r>
            <a:endParaRPr lang="en-US" sz="2000" dirty="0"/>
          </a:p>
        </p:txBody>
      </p:sp>
      <p:sp>
        <p:nvSpPr>
          <p:cNvPr id="30" name="Text 28"/>
          <p:cNvSpPr/>
          <p:nvPr/>
        </p:nvSpPr>
        <p:spPr>
          <a:xfrm>
            <a:off x="6355080" y="5212080"/>
            <a:ext cx="5212080" cy="246888"/>
          </a:xfrm>
          <a:prstGeom prst="rect">
            <a:avLst/>
          </a:prstGeom>
          <a:noFill/>
          <a:ln/>
        </p:spPr>
        <p:txBody>
          <a:bodyPr wrap="square" lIns="0" tIns="0" rIns="0" bIns="0" rtlCol="0" anchor="t"/>
          <a:lstStyle/>
          <a:p>
            <a:pPr marL="0" indent="0">
              <a:buNone/>
            </a:pPr>
            <a:r>
              <a:rPr lang="en-US" sz="1250" dirty="0">
                <a:solidFill>
                  <a:srgbClr val="728694"/>
                </a:solidFill>
                <a:latin typeface="Segoe UI" pitchFamily="34" charset="0"/>
                <a:ea typeface="Segoe UI" pitchFamily="34" charset="-122"/>
                <a:cs typeface="Segoe UI" pitchFamily="34" charset="-120"/>
              </a:rPr>
              <a:t>Nguồn: NumPy Documentation [1], [2]</a:t>
            </a:r>
            <a:endParaRPr lang="en-US" sz="1250" dirty="0"/>
          </a:p>
        </p:txBody>
      </p:sp>
      <p:sp>
        <p:nvSpPr>
          <p:cNvPr id="31" name="Shape 29"/>
          <p:cNvSpPr/>
          <p:nvPr/>
        </p:nvSpPr>
        <p:spPr>
          <a:xfrm>
            <a:off x="548640" y="6437376"/>
            <a:ext cx="11091672" cy="9144"/>
          </a:xfrm>
          <a:prstGeom prst="rect">
            <a:avLst/>
          </a:prstGeom>
          <a:solidFill>
            <a:srgbClr val="D7E5EC"/>
          </a:solidFill>
          <a:ln w="12700">
            <a:solidFill>
              <a:srgbClr val="D7E5EC"/>
            </a:solidFill>
            <a:prstDash val="solid"/>
          </a:ln>
        </p:spPr>
      </p:sp>
      <p:sp>
        <p:nvSpPr>
          <p:cNvPr id="32" name="Text 30"/>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3" name="Text 31"/>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03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01 · GIỚI THIỆU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NumPy giải quyết vấn đề gì?</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grpSp>
        <p:nvGrpSpPr>
          <p:cNvPr id="31" name="Group 30">
            <a:extLst>
              <a:ext uri="{FF2B5EF4-FFF2-40B4-BE49-F238E27FC236}">
                <a16:creationId xmlns:a16="http://schemas.microsoft.com/office/drawing/2014/main" id="{DE950A61-69D3-428C-A3C4-C6E02444906A}"/>
              </a:ext>
            </a:extLst>
          </p:cNvPr>
          <p:cNvGrpSpPr/>
          <p:nvPr/>
        </p:nvGrpSpPr>
        <p:grpSpPr>
          <a:xfrm>
            <a:off x="548640" y="1463040"/>
            <a:ext cx="5440680" cy="3429000"/>
            <a:chOff x="548640" y="1463040"/>
            <a:chExt cx="5440680" cy="3429000"/>
          </a:xfrm>
        </p:grpSpPr>
        <p:sp>
          <p:nvSpPr>
            <p:cNvPr id="5" name="Shape 3"/>
            <p:cNvSpPr/>
            <p:nvPr/>
          </p:nvSpPr>
          <p:spPr>
            <a:xfrm>
              <a:off x="548640" y="1463040"/>
              <a:ext cx="5440680" cy="3429000"/>
            </a:xfrm>
            <a:prstGeom prst="roundRect">
              <a:avLst>
                <a:gd name="adj" fmla="val 18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Shape 4"/>
            <p:cNvSpPr/>
            <p:nvPr/>
          </p:nvSpPr>
          <p:spPr>
            <a:xfrm>
              <a:off x="548640" y="1463040"/>
              <a:ext cx="5440680" cy="73152"/>
            </a:xfrm>
            <a:prstGeom prst="rect">
              <a:avLst/>
            </a:prstGeom>
            <a:solidFill>
              <a:srgbClr val="E8A33D"/>
            </a:solidFill>
            <a:ln w="12700">
              <a:solidFill>
                <a:srgbClr val="E8A33D"/>
              </a:solidFill>
              <a:prstDash val="solid"/>
            </a:ln>
          </p:spPr>
        </p:sp>
        <p:sp>
          <p:nvSpPr>
            <p:cNvPr id="7" name="Text 5"/>
            <p:cNvSpPr/>
            <p:nvPr/>
          </p:nvSpPr>
          <p:spPr>
            <a:xfrm>
              <a:off x="822960" y="1664208"/>
              <a:ext cx="4846320" cy="41148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Cách thủ công</a:t>
              </a:r>
              <a:endParaRPr lang="en-US" sz="2500" dirty="0"/>
            </a:p>
          </p:txBody>
        </p:sp>
        <p:sp>
          <p:nvSpPr>
            <p:cNvPr id="8" name="Text 6"/>
            <p:cNvSpPr/>
            <p:nvPr/>
          </p:nvSpPr>
          <p:spPr>
            <a:xfrm>
              <a:off x="822960" y="2139696"/>
              <a:ext cx="4892040" cy="868680"/>
            </a:xfrm>
            <a:prstGeom prst="rect">
              <a:avLst/>
            </a:prstGeom>
            <a:noFill/>
            <a:ln/>
          </p:spPr>
          <p:txBody>
            <a:bodyPr wrap="square" lIns="0" tIns="0" rIns="0" bIns="0" rtlCol="0" anchor="t"/>
            <a:lstStyle/>
            <a:p>
              <a:pPr marL="0" indent="0">
                <a:buNone/>
              </a:pPr>
              <a:r>
                <a:rPr lang="en-US" sz="1750" dirty="0">
                  <a:solidFill>
                    <a:srgbClr val="062A3A"/>
                  </a:solidFill>
                  <a:latin typeface="Consolas" pitchFamily="34" charset="0"/>
                  <a:ea typeface="Consolas" pitchFamily="34" charset="-122"/>
                  <a:cs typeface="Consolas" pitchFamily="34" charset="-120"/>
                </a:rPr>
                <a:t>d = [8.0, 7.5, 9.0,</a:t>
              </a:r>
              <a:endParaRPr lang="en-US" sz="1750" dirty="0"/>
            </a:p>
            <a:p>
              <a:pPr marL="0" indent="0">
                <a:buNone/>
              </a:pPr>
              <a:r>
                <a:rPr lang="en-US" sz="1750" dirty="0">
                  <a:solidFill>
                    <a:srgbClr val="062A3A"/>
                  </a:solidFill>
                  <a:latin typeface="Consolas" pitchFamily="34" charset="0"/>
                  <a:ea typeface="Consolas" pitchFamily="34" charset="-122"/>
                  <a:cs typeface="Consolas" pitchFamily="34" charset="-120"/>
                </a:rPr>
                <a:t>     6.5, 8.5]</a:t>
              </a:r>
              <a:endParaRPr lang="en-US" sz="1750" dirty="0"/>
            </a:p>
            <a:p>
              <a:pPr marL="0" indent="0">
                <a:buNone/>
              </a:pPr>
              <a:r>
                <a:rPr lang="en-US" sz="1750" dirty="0">
                  <a:solidFill>
                    <a:srgbClr val="062A3A"/>
                  </a:solidFill>
                  <a:latin typeface="Consolas" pitchFamily="34" charset="0"/>
                  <a:ea typeface="Consolas" pitchFamily="34" charset="-122"/>
                  <a:cs typeface="Consolas" pitchFamily="34" charset="-120"/>
                </a:rPr>
                <a:t>print([x + 0.5 for x in d])</a:t>
              </a:r>
              <a:endParaRPr lang="en-US" sz="1750" dirty="0"/>
            </a:p>
          </p:txBody>
        </p:sp>
        <p:sp>
          <p:nvSpPr>
            <p:cNvPr id="9" name="Text 7"/>
            <p:cNvSpPr/>
            <p:nvPr/>
          </p:nvSpPr>
          <p:spPr>
            <a:xfrm>
              <a:off x="822960" y="3090672"/>
              <a:ext cx="1828800" cy="201168"/>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0" name="Text 8"/>
            <p:cNvSpPr/>
            <p:nvPr/>
          </p:nvSpPr>
          <p:spPr>
            <a:xfrm>
              <a:off x="822960" y="3310128"/>
              <a:ext cx="4892040" cy="438912"/>
            </a:xfrm>
            <a:prstGeom prst="rect">
              <a:avLst/>
            </a:prstGeom>
            <a:noFill/>
            <a:ln/>
          </p:spPr>
          <p:txBody>
            <a:bodyPr wrap="square" lIns="0" tIns="0" rIns="0" bIns="0" rtlCol="0" anchor="t"/>
            <a:lstStyle/>
            <a:p>
              <a:pPr marL="0" indent="0">
                <a:buNone/>
              </a:pPr>
              <a:r>
                <a:rPr lang="en-US" sz="1800" dirty="0">
                  <a:solidFill>
                    <a:srgbClr val="E8A33D"/>
                  </a:solidFill>
                  <a:latin typeface="Consolas" pitchFamily="34" charset="0"/>
                  <a:ea typeface="Consolas" pitchFamily="34" charset="-122"/>
                  <a:cs typeface="Consolas" pitchFamily="34" charset="-120"/>
                </a:rPr>
                <a:t>[8.5, 8.0, 9.5, 7.0, 9.0]</a:t>
              </a:r>
              <a:endParaRPr lang="en-US" sz="1800" dirty="0"/>
            </a:p>
          </p:txBody>
        </p:sp>
        <p:sp>
          <p:nvSpPr>
            <p:cNvPr id="11" name="Text 9"/>
            <p:cNvSpPr/>
            <p:nvPr/>
          </p:nvSpPr>
          <p:spPr>
            <a:xfrm>
              <a:off x="822960" y="3913632"/>
              <a:ext cx="4846320" cy="749808"/>
            </a:xfrm>
            <a:prstGeom prst="rect">
              <a:avLst/>
            </a:prstGeom>
            <a:noFill/>
            <a:ln/>
          </p:spPr>
          <p:txBody>
            <a:bodyPr wrap="square" lIns="0" tIns="0" rIns="0" bIns="0" rtlCol="0" anchor="t"/>
            <a:lstStyle/>
            <a:p>
              <a:pPr marL="0" indent="0">
                <a:buNone/>
              </a:pPr>
              <a:r>
                <a:rPr lang="en-US" sz="2000" i="1" dirty="0">
                  <a:solidFill>
                    <a:srgbClr val="415A6B"/>
                  </a:solidFill>
                  <a:latin typeface="Segoe UI" pitchFamily="34" charset="0"/>
                  <a:ea typeface="Segoe UI" pitchFamily="34" charset="-122"/>
                  <a:cs typeface="Segoe UI" pitchFamily="34" charset="-120"/>
                </a:rPr>
                <a:t>Lặp qua từng phần tử — không có phép cộng cho cả danh sách.</a:t>
              </a:r>
              <a:endParaRPr lang="en-US" sz="2000" dirty="0"/>
            </a:p>
          </p:txBody>
        </p:sp>
      </p:grpSp>
      <p:grpSp>
        <p:nvGrpSpPr>
          <p:cNvPr id="32" name="Group 31">
            <a:extLst>
              <a:ext uri="{FF2B5EF4-FFF2-40B4-BE49-F238E27FC236}">
                <a16:creationId xmlns:a16="http://schemas.microsoft.com/office/drawing/2014/main" id="{68CAA585-1B4F-5478-24EA-4AD05F2A0298}"/>
              </a:ext>
            </a:extLst>
          </p:cNvPr>
          <p:cNvGrpSpPr/>
          <p:nvPr/>
        </p:nvGrpSpPr>
        <p:grpSpPr>
          <a:xfrm>
            <a:off x="6199632" y="1463040"/>
            <a:ext cx="5440680" cy="3429000"/>
            <a:chOff x="6199632" y="1463040"/>
            <a:chExt cx="5440680" cy="3429000"/>
          </a:xfrm>
        </p:grpSpPr>
        <p:sp>
          <p:nvSpPr>
            <p:cNvPr id="12" name="Shape 10"/>
            <p:cNvSpPr/>
            <p:nvPr/>
          </p:nvSpPr>
          <p:spPr>
            <a:xfrm>
              <a:off x="6199632" y="1463040"/>
              <a:ext cx="5440680" cy="3429000"/>
            </a:xfrm>
            <a:prstGeom prst="roundRect">
              <a:avLst>
                <a:gd name="adj" fmla="val 18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3" name="Shape 11"/>
            <p:cNvSpPr/>
            <p:nvPr/>
          </p:nvSpPr>
          <p:spPr>
            <a:xfrm>
              <a:off x="6199632" y="1463040"/>
              <a:ext cx="5440680" cy="73152"/>
            </a:xfrm>
            <a:prstGeom prst="rect">
              <a:avLst/>
            </a:prstGeom>
            <a:solidFill>
              <a:srgbClr val="1B8EA8"/>
            </a:solidFill>
            <a:ln w="12700">
              <a:solidFill>
                <a:srgbClr val="1B8EA8"/>
              </a:solidFill>
              <a:prstDash val="solid"/>
            </a:ln>
          </p:spPr>
        </p:sp>
        <p:sp>
          <p:nvSpPr>
            <p:cNvPr id="14" name="Text 12"/>
            <p:cNvSpPr/>
            <p:nvPr/>
          </p:nvSpPr>
          <p:spPr>
            <a:xfrm>
              <a:off x="6473952" y="1664208"/>
              <a:ext cx="4846320" cy="41148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Với NumPy</a:t>
              </a:r>
              <a:endParaRPr lang="en-US" sz="2500" dirty="0"/>
            </a:p>
          </p:txBody>
        </p:sp>
        <p:sp>
          <p:nvSpPr>
            <p:cNvPr id="15" name="Text 13"/>
            <p:cNvSpPr/>
            <p:nvPr/>
          </p:nvSpPr>
          <p:spPr>
            <a:xfrm>
              <a:off x="6473952" y="2139696"/>
              <a:ext cx="4892040" cy="868680"/>
            </a:xfrm>
            <a:prstGeom prst="rect">
              <a:avLst/>
            </a:prstGeom>
            <a:noFill/>
            <a:ln/>
          </p:spPr>
          <p:txBody>
            <a:bodyPr wrap="square" lIns="0" tIns="0" rIns="0" bIns="0" rtlCol="0" anchor="t"/>
            <a:lstStyle/>
            <a:p>
              <a:pPr marL="0" indent="0">
                <a:buNone/>
              </a:pPr>
              <a:r>
                <a:rPr lang="en-US" sz="1750" dirty="0">
                  <a:solidFill>
                    <a:srgbClr val="062A3A"/>
                  </a:solidFill>
                  <a:latin typeface="Consolas" pitchFamily="34" charset="0"/>
                  <a:ea typeface="Consolas" pitchFamily="34" charset="-122"/>
                  <a:cs typeface="Consolas" pitchFamily="34" charset="-120"/>
                </a:rPr>
                <a:t>d = np.array([8.0, 7.5,</a:t>
              </a:r>
              <a:endParaRPr lang="en-US" sz="1750" dirty="0"/>
            </a:p>
            <a:p>
              <a:pPr marL="0" indent="0">
                <a:buNone/>
              </a:pPr>
              <a:r>
                <a:rPr lang="en-US" sz="1750" dirty="0">
                  <a:solidFill>
                    <a:srgbClr val="062A3A"/>
                  </a:solidFill>
                  <a:latin typeface="Consolas" pitchFamily="34" charset="0"/>
                  <a:ea typeface="Consolas" pitchFamily="34" charset="-122"/>
                  <a:cs typeface="Consolas" pitchFamily="34" charset="-120"/>
                </a:rPr>
                <a:t>              9.0, 6.5, 8.5])</a:t>
              </a:r>
              <a:endParaRPr lang="en-US" sz="1750" dirty="0"/>
            </a:p>
            <a:p>
              <a:pPr marL="0" indent="0">
                <a:buNone/>
              </a:pPr>
              <a:r>
                <a:rPr lang="en-US" sz="1750" dirty="0">
                  <a:solidFill>
                    <a:srgbClr val="062A3A"/>
                  </a:solidFill>
                  <a:latin typeface="Consolas" pitchFamily="34" charset="0"/>
                  <a:ea typeface="Consolas" pitchFamily="34" charset="-122"/>
                  <a:cs typeface="Consolas" pitchFamily="34" charset="-120"/>
                </a:rPr>
                <a:t>print(d + 0.5)</a:t>
              </a:r>
              <a:endParaRPr lang="en-US" sz="1750" dirty="0"/>
            </a:p>
          </p:txBody>
        </p:sp>
        <p:sp>
          <p:nvSpPr>
            <p:cNvPr id="16" name="Text 14"/>
            <p:cNvSpPr/>
            <p:nvPr/>
          </p:nvSpPr>
          <p:spPr>
            <a:xfrm>
              <a:off x="6473952" y="3090672"/>
              <a:ext cx="1828800" cy="201168"/>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7" name="Text 15"/>
            <p:cNvSpPr/>
            <p:nvPr/>
          </p:nvSpPr>
          <p:spPr>
            <a:xfrm>
              <a:off x="6473952" y="3310128"/>
              <a:ext cx="4892040" cy="438912"/>
            </a:xfrm>
            <a:prstGeom prst="rect">
              <a:avLst/>
            </a:prstGeom>
            <a:noFill/>
            <a:ln/>
          </p:spPr>
          <p:txBody>
            <a:bodyPr wrap="square" lIns="0" tIns="0" rIns="0" bIns="0" rtlCol="0" anchor="t"/>
            <a:lstStyle/>
            <a:p>
              <a:pPr marL="0" indent="0">
                <a:buNone/>
              </a:pPr>
              <a:r>
                <a:rPr lang="en-US" sz="1800" dirty="0">
                  <a:solidFill>
                    <a:srgbClr val="1B8EA8"/>
                  </a:solidFill>
                  <a:latin typeface="Consolas" pitchFamily="34" charset="0"/>
                  <a:ea typeface="Consolas" pitchFamily="34" charset="-122"/>
                  <a:cs typeface="Consolas" pitchFamily="34" charset="-120"/>
                </a:rPr>
                <a:t>[8.5 8.  9.5 7.  9. ]</a:t>
              </a:r>
              <a:endParaRPr lang="en-US" sz="1800" dirty="0"/>
            </a:p>
          </p:txBody>
        </p:sp>
        <p:sp>
          <p:nvSpPr>
            <p:cNvPr id="18" name="Text 16"/>
            <p:cNvSpPr/>
            <p:nvPr/>
          </p:nvSpPr>
          <p:spPr>
            <a:xfrm>
              <a:off x="6473952" y="3913632"/>
              <a:ext cx="4846320" cy="749808"/>
            </a:xfrm>
            <a:prstGeom prst="rect">
              <a:avLst/>
            </a:prstGeom>
            <a:noFill/>
            <a:ln/>
          </p:spPr>
          <p:txBody>
            <a:bodyPr wrap="square" lIns="0" tIns="0" rIns="0" bIns="0" rtlCol="0" anchor="t"/>
            <a:lstStyle/>
            <a:p>
              <a:pPr marL="0" indent="0">
                <a:buNone/>
              </a:pPr>
              <a:r>
                <a:rPr lang="en-US" sz="2000" i="1" dirty="0">
                  <a:solidFill>
                    <a:srgbClr val="415A6B"/>
                  </a:solidFill>
                  <a:latin typeface="Segoe UI" pitchFamily="34" charset="0"/>
                  <a:ea typeface="Segoe UI" pitchFamily="34" charset="-122"/>
                  <a:cs typeface="Segoe UI" pitchFamily="34" charset="-120"/>
                </a:rPr>
                <a:t>Một phép cộng áp cho toàn mảng — không cần vòng lặp.</a:t>
              </a:r>
              <a:endParaRPr lang="en-US" sz="2000" dirty="0"/>
            </a:p>
          </p:txBody>
        </p:sp>
      </p:grpSp>
      <p:grpSp>
        <p:nvGrpSpPr>
          <p:cNvPr id="33" name="Group 32">
            <a:extLst>
              <a:ext uri="{FF2B5EF4-FFF2-40B4-BE49-F238E27FC236}">
                <a16:creationId xmlns:a16="http://schemas.microsoft.com/office/drawing/2014/main" id="{1086C9AB-8B5E-748A-6829-7147617BD47F}"/>
              </a:ext>
            </a:extLst>
          </p:cNvPr>
          <p:cNvGrpSpPr/>
          <p:nvPr/>
        </p:nvGrpSpPr>
        <p:grpSpPr>
          <a:xfrm>
            <a:off x="548640" y="4983480"/>
            <a:ext cx="3611880" cy="1051560"/>
            <a:chOff x="548640" y="4983480"/>
            <a:chExt cx="3611880" cy="1051560"/>
          </a:xfrm>
        </p:grpSpPr>
        <p:sp>
          <p:nvSpPr>
            <p:cNvPr id="19" name="Shape 17"/>
            <p:cNvSpPr/>
            <p:nvPr/>
          </p:nvSpPr>
          <p:spPr>
            <a:xfrm>
              <a:off x="548640" y="4983480"/>
              <a:ext cx="3611880" cy="1051560"/>
            </a:xfrm>
            <a:prstGeom prst="roundRect">
              <a:avLst>
                <a:gd name="adj" fmla="val 6087"/>
              </a:avLst>
            </a:prstGeom>
            <a:solidFill>
              <a:srgbClr val="EAF4F8"/>
            </a:solidFill>
            <a:ln w="9525">
              <a:solidFill>
                <a:srgbClr val="CFE5EE"/>
              </a:solidFill>
              <a:prstDash val="solid"/>
            </a:ln>
          </p:spPr>
        </p:sp>
        <p:sp>
          <p:nvSpPr>
            <p:cNvPr id="20" name="Text 18"/>
            <p:cNvSpPr/>
            <p:nvPr/>
          </p:nvSpPr>
          <p:spPr>
            <a:xfrm>
              <a:off x="731520" y="4983480"/>
              <a:ext cx="411480" cy="1051560"/>
            </a:xfrm>
            <a:prstGeom prst="rect">
              <a:avLst/>
            </a:prstGeom>
            <a:noFill/>
            <a:ln/>
          </p:spPr>
          <p:txBody>
            <a:bodyPr wrap="square" lIns="0" tIns="0" rIns="0" bIns="0" rtlCol="0" anchor="ctr"/>
            <a:lstStyle/>
            <a:p>
              <a:pPr marL="0" indent="0">
                <a:buNone/>
              </a:pPr>
              <a:r>
                <a:rPr lang="en-US" sz="2600" b="1" dirty="0">
                  <a:solidFill>
                    <a:srgbClr val="1B8EA8"/>
                  </a:solidFill>
                  <a:latin typeface="Segoe UI" pitchFamily="34" charset="0"/>
                  <a:ea typeface="Segoe UI" pitchFamily="34" charset="-122"/>
                  <a:cs typeface="Segoe UI" pitchFamily="34" charset="-120"/>
                </a:rPr>
                <a:t>1</a:t>
              </a:r>
              <a:endParaRPr lang="en-US" sz="2600" dirty="0"/>
            </a:p>
          </p:txBody>
        </p:sp>
        <p:sp>
          <p:nvSpPr>
            <p:cNvPr id="21" name="Text 19"/>
            <p:cNvSpPr/>
            <p:nvPr/>
          </p:nvSpPr>
          <p:spPr>
            <a:xfrm>
              <a:off x="1207008" y="4983480"/>
              <a:ext cx="2788920" cy="1051560"/>
            </a:xfrm>
            <a:prstGeom prst="rect">
              <a:avLst/>
            </a:prstGeom>
            <a:noFill/>
            <a:ln/>
          </p:spPr>
          <p:txBody>
            <a:bodyPr wrap="square" lIns="0" tIns="0" rIns="0" bIns="0" rtlCol="0" anchor="ctr"/>
            <a:lstStyle/>
            <a:p>
              <a:pPr marL="0" indent="0">
                <a:buNone/>
              </a:pPr>
              <a:r>
                <a:rPr lang="en-US" sz="2000" dirty="0">
                  <a:solidFill>
                    <a:srgbClr val="062A3A"/>
                  </a:solidFill>
                  <a:latin typeface="Segoe UI" pitchFamily="34" charset="0"/>
                  <a:ea typeface="Segoe UI" pitchFamily="34" charset="-122"/>
                  <a:cs typeface="Segoe UI" pitchFamily="34" charset="-120"/>
                </a:rPr>
                <a:t>Dữ liệu số nhiều chiều</a:t>
              </a:r>
              <a:endParaRPr lang="en-US" sz="2000" dirty="0"/>
            </a:p>
          </p:txBody>
        </p:sp>
      </p:grpSp>
      <p:grpSp>
        <p:nvGrpSpPr>
          <p:cNvPr id="34" name="Group 33">
            <a:extLst>
              <a:ext uri="{FF2B5EF4-FFF2-40B4-BE49-F238E27FC236}">
                <a16:creationId xmlns:a16="http://schemas.microsoft.com/office/drawing/2014/main" id="{F450E968-DBD8-5E01-4A0E-DAFDF6399E82}"/>
              </a:ext>
            </a:extLst>
          </p:cNvPr>
          <p:cNvGrpSpPr/>
          <p:nvPr/>
        </p:nvGrpSpPr>
        <p:grpSpPr>
          <a:xfrm>
            <a:off x="4288536" y="4983480"/>
            <a:ext cx="3611880" cy="1051560"/>
            <a:chOff x="4288536" y="4983480"/>
            <a:chExt cx="3611880" cy="1051560"/>
          </a:xfrm>
        </p:grpSpPr>
        <p:sp>
          <p:nvSpPr>
            <p:cNvPr id="22" name="Shape 20"/>
            <p:cNvSpPr/>
            <p:nvPr/>
          </p:nvSpPr>
          <p:spPr>
            <a:xfrm>
              <a:off x="4288536" y="4983480"/>
              <a:ext cx="3611880" cy="1051560"/>
            </a:xfrm>
            <a:prstGeom prst="roundRect">
              <a:avLst>
                <a:gd name="adj" fmla="val 6087"/>
              </a:avLst>
            </a:prstGeom>
            <a:solidFill>
              <a:srgbClr val="EAF4F8"/>
            </a:solidFill>
            <a:ln w="9525">
              <a:solidFill>
                <a:srgbClr val="CFE5EE"/>
              </a:solidFill>
              <a:prstDash val="solid"/>
            </a:ln>
          </p:spPr>
        </p:sp>
        <p:sp>
          <p:nvSpPr>
            <p:cNvPr id="23" name="Text 21"/>
            <p:cNvSpPr/>
            <p:nvPr/>
          </p:nvSpPr>
          <p:spPr>
            <a:xfrm>
              <a:off x="4471416" y="4983480"/>
              <a:ext cx="411480" cy="1051560"/>
            </a:xfrm>
            <a:prstGeom prst="rect">
              <a:avLst/>
            </a:prstGeom>
            <a:noFill/>
            <a:ln/>
          </p:spPr>
          <p:txBody>
            <a:bodyPr wrap="square" lIns="0" tIns="0" rIns="0" bIns="0" rtlCol="0" anchor="ctr"/>
            <a:lstStyle/>
            <a:p>
              <a:pPr marL="0" indent="0">
                <a:buNone/>
              </a:pPr>
              <a:r>
                <a:rPr lang="en-US" sz="2600" b="1" dirty="0">
                  <a:solidFill>
                    <a:srgbClr val="1B8EA8"/>
                  </a:solidFill>
                  <a:latin typeface="Segoe UI" pitchFamily="34" charset="0"/>
                  <a:ea typeface="Segoe UI" pitchFamily="34" charset="-122"/>
                  <a:cs typeface="Segoe UI" pitchFamily="34" charset="-120"/>
                </a:rPr>
                <a:t>2</a:t>
              </a:r>
              <a:endParaRPr lang="en-US" sz="2600" dirty="0"/>
            </a:p>
          </p:txBody>
        </p:sp>
        <p:sp>
          <p:nvSpPr>
            <p:cNvPr id="24" name="Text 22"/>
            <p:cNvSpPr/>
            <p:nvPr/>
          </p:nvSpPr>
          <p:spPr>
            <a:xfrm>
              <a:off x="4946904" y="4983480"/>
              <a:ext cx="2788920" cy="1051560"/>
            </a:xfrm>
            <a:prstGeom prst="rect">
              <a:avLst/>
            </a:prstGeom>
            <a:noFill/>
            <a:ln/>
          </p:spPr>
          <p:txBody>
            <a:bodyPr wrap="square" lIns="0" tIns="0" rIns="0" bIns="0" rtlCol="0" anchor="ctr"/>
            <a:lstStyle/>
            <a:p>
              <a:pPr marL="0" indent="0">
                <a:buNone/>
              </a:pPr>
              <a:r>
                <a:rPr lang="en-US" sz="2000" dirty="0">
                  <a:solidFill>
                    <a:srgbClr val="062A3A"/>
                  </a:solidFill>
                  <a:latin typeface="Segoe UI" pitchFamily="34" charset="0"/>
                  <a:ea typeface="Segoe UI" pitchFamily="34" charset="-122"/>
                  <a:cs typeface="Segoe UI" pitchFamily="34" charset="-120"/>
                </a:rPr>
                <a:t>Code ngắn, gần ký hiệu toán</a:t>
              </a:r>
              <a:endParaRPr lang="en-US" sz="2000" dirty="0"/>
            </a:p>
          </p:txBody>
        </p:sp>
      </p:grpSp>
      <p:grpSp>
        <p:nvGrpSpPr>
          <p:cNvPr id="35" name="Group 34">
            <a:extLst>
              <a:ext uri="{FF2B5EF4-FFF2-40B4-BE49-F238E27FC236}">
                <a16:creationId xmlns:a16="http://schemas.microsoft.com/office/drawing/2014/main" id="{CA57EB76-AB12-BDC6-2E8B-3AE612FE9581}"/>
              </a:ext>
            </a:extLst>
          </p:cNvPr>
          <p:cNvGrpSpPr/>
          <p:nvPr/>
        </p:nvGrpSpPr>
        <p:grpSpPr>
          <a:xfrm>
            <a:off x="8028432" y="4983480"/>
            <a:ext cx="3611880" cy="1051560"/>
            <a:chOff x="8028432" y="4983480"/>
            <a:chExt cx="3611880" cy="1051560"/>
          </a:xfrm>
        </p:grpSpPr>
        <p:sp>
          <p:nvSpPr>
            <p:cNvPr id="25" name="Shape 23"/>
            <p:cNvSpPr/>
            <p:nvPr/>
          </p:nvSpPr>
          <p:spPr>
            <a:xfrm>
              <a:off x="8028432" y="4983480"/>
              <a:ext cx="3611880" cy="1051560"/>
            </a:xfrm>
            <a:prstGeom prst="roundRect">
              <a:avLst>
                <a:gd name="adj" fmla="val 6087"/>
              </a:avLst>
            </a:prstGeom>
            <a:solidFill>
              <a:srgbClr val="EAF4F8"/>
            </a:solidFill>
            <a:ln w="9525">
              <a:solidFill>
                <a:srgbClr val="CFE5EE"/>
              </a:solidFill>
              <a:prstDash val="solid"/>
            </a:ln>
          </p:spPr>
        </p:sp>
        <p:sp>
          <p:nvSpPr>
            <p:cNvPr id="26" name="Text 24"/>
            <p:cNvSpPr/>
            <p:nvPr/>
          </p:nvSpPr>
          <p:spPr>
            <a:xfrm>
              <a:off x="8211312" y="4983480"/>
              <a:ext cx="411480" cy="1051560"/>
            </a:xfrm>
            <a:prstGeom prst="rect">
              <a:avLst/>
            </a:prstGeom>
            <a:noFill/>
            <a:ln/>
          </p:spPr>
          <p:txBody>
            <a:bodyPr wrap="square" lIns="0" tIns="0" rIns="0" bIns="0" rtlCol="0" anchor="ctr"/>
            <a:lstStyle/>
            <a:p>
              <a:pPr marL="0" indent="0">
                <a:buNone/>
              </a:pPr>
              <a:r>
                <a:rPr lang="en-US" sz="2600" b="1" dirty="0">
                  <a:solidFill>
                    <a:srgbClr val="1B8EA8"/>
                  </a:solidFill>
                  <a:latin typeface="Segoe UI" pitchFamily="34" charset="0"/>
                  <a:ea typeface="Segoe UI" pitchFamily="34" charset="-122"/>
                  <a:cs typeface="Segoe UI" pitchFamily="34" charset="-120"/>
                </a:rPr>
                <a:t>3</a:t>
              </a:r>
              <a:endParaRPr lang="en-US" sz="2600" dirty="0"/>
            </a:p>
          </p:txBody>
        </p:sp>
        <p:sp>
          <p:nvSpPr>
            <p:cNvPr id="27" name="Text 25"/>
            <p:cNvSpPr/>
            <p:nvPr/>
          </p:nvSpPr>
          <p:spPr>
            <a:xfrm>
              <a:off x="8686800" y="4983480"/>
              <a:ext cx="2788920" cy="1051560"/>
            </a:xfrm>
            <a:prstGeom prst="rect">
              <a:avLst/>
            </a:prstGeom>
            <a:noFill/>
            <a:ln/>
          </p:spPr>
          <p:txBody>
            <a:bodyPr wrap="square" lIns="0" tIns="0" rIns="0" bIns="0" rtlCol="0" anchor="ctr"/>
            <a:lstStyle/>
            <a:p>
              <a:pPr marL="0" indent="0">
                <a:buNone/>
              </a:pPr>
              <a:r>
                <a:rPr lang="en-US" sz="2000" dirty="0">
                  <a:solidFill>
                    <a:srgbClr val="062A3A"/>
                  </a:solidFill>
                  <a:latin typeface="Segoe UI" pitchFamily="34" charset="0"/>
                  <a:ea typeface="Segoe UI" pitchFamily="34" charset="-122"/>
                  <a:cs typeface="Segoe UI" pitchFamily="34" charset="-120"/>
                </a:rPr>
                <a:t>Tính toán trên toàn mảng</a:t>
              </a:r>
              <a:endParaRPr lang="en-US" sz="2000" dirty="0"/>
            </a:p>
          </p:txBody>
        </p:sp>
      </p:grpSp>
      <p:sp>
        <p:nvSpPr>
          <p:cNvPr id="28" name="Shape 26"/>
          <p:cNvSpPr/>
          <p:nvPr/>
        </p:nvSpPr>
        <p:spPr>
          <a:xfrm>
            <a:off x="548640" y="6437376"/>
            <a:ext cx="11091672" cy="9144"/>
          </a:xfrm>
          <a:prstGeom prst="rect">
            <a:avLst/>
          </a:prstGeom>
          <a:solidFill>
            <a:srgbClr val="D7E5EC"/>
          </a:solidFill>
          <a:ln w="12700">
            <a:solidFill>
              <a:srgbClr val="D7E5EC"/>
            </a:solidFill>
            <a:prstDash val="solid"/>
          </a:ln>
        </p:spPr>
      </p:sp>
      <p:sp>
        <p:nvSpPr>
          <p:cNvPr id="29" name="Text 27"/>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0" name="Text 28"/>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04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down)">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1000"/>
                                        <p:tgtEl>
                                          <p:spTgt spid="33"/>
                                        </p:tgtEl>
                                      </p:cBhvr>
                                    </p:animEffect>
                                    <p:anim calcmode="lin" valueType="num">
                                      <p:cBhvr>
                                        <p:cTn id="18" dur="1000" fill="hold"/>
                                        <p:tgtEl>
                                          <p:spTgt spid="33"/>
                                        </p:tgtEl>
                                        <p:attrNameLst>
                                          <p:attrName>ppt_x</p:attrName>
                                        </p:attrNameLst>
                                      </p:cBhvr>
                                      <p:tavLst>
                                        <p:tav tm="0">
                                          <p:val>
                                            <p:strVal val="#ppt_x"/>
                                          </p:val>
                                        </p:tav>
                                        <p:tav tm="100000">
                                          <p:val>
                                            <p:strVal val="#ppt_x"/>
                                          </p:val>
                                        </p:tav>
                                      </p:tavLst>
                                    </p:anim>
                                    <p:anim calcmode="lin" valueType="num">
                                      <p:cBhvr>
                                        <p:cTn id="19" dur="1000" fill="hold"/>
                                        <p:tgtEl>
                                          <p:spTgt spid="33"/>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1000"/>
                                        <p:tgtEl>
                                          <p:spTgt spid="34"/>
                                        </p:tgtEl>
                                      </p:cBhvr>
                                    </p:animEffect>
                                    <p:anim calcmode="lin" valueType="num">
                                      <p:cBhvr>
                                        <p:cTn id="23" dur="1000" fill="hold"/>
                                        <p:tgtEl>
                                          <p:spTgt spid="34"/>
                                        </p:tgtEl>
                                        <p:attrNameLst>
                                          <p:attrName>ppt_x</p:attrName>
                                        </p:attrNameLst>
                                      </p:cBhvr>
                                      <p:tavLst>
                                        <p:tav tm="0">
                                          <p:val>
                                            <p:strVal val="#ppt_x"/>
                                          </p:val>
                                        </p:tav>
                                        <p:tav tm="100000">
                                          <p:val>
                                            <p:strVal val="#ppt_x"/>
                                          </p:val>
                                        </p:tav>
                                      </p:tavLst>
                                    </p:anim>
                                    <p:anim calcmode="lin" valueType="num">
                                      <p:cBhvr>
                                        <p:cTn id="24" dur="1000" fill="hold"/>
                                        <p:tgtEl>
                                          <p:spTgt spid="3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1000"/>
                                        <p:tgtEl>
                                          <p:spTgt spid="35"/>
                                        </p:tgtEl>
                                      </p:cBhvr>
                                    </p:animEffect>
                                    <p:anim calcmode="lin" valueType="num">
                                      <p:cBhvr>
                                        <p:cTn id="28" dur="1000" fill="hold"/>
                                        <p:tgtEl>
                                          <p:spTgt spid="35"/>
                                        </p:tgtEl>
                                        <p:attrNameLst>
                                          <p:attrName>ppt_x</p:attrName>
                                        </p:attrNameLst>
                                      </p:cBhvr>
                                      <p:tavLst>
                                        <p:tav tm="0">
                                          <p:val>
                                            <p:strVal val="#ppt_x"/>
                                          </p:val>
                                        </p:tav>
                                        <p:tav tm="100000">
                                          <p:val>
                                            <p:strVal val="#ppt_x"/>
                                          </p:val>
                                        </p:tav>
                                      </p:tavLst>
                                    </p:anim>
                                    <p:anim calcmode="lin" valueType="num">
                                      <p:cBhvr>
                                        <p:cTn id="2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ndarray — đối tượng trung tâm</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85216" y="1746504"/>
            <a:ext cx="118872" cy="118872"/>
          </a:xfrm>
          <a:prstGeom prst="ellipse">
            <a:avLst/>
          </a:prstGeom>
          <a:solidFill>
            <a:srgbClr val="1B8EA8"/>
          </a:solidFill>
          <a:ln w="12700">
            <a:solidFill>
              <a:srgbClr val="FFFFFF"/>
            </a:solidFill>
            <a:prstDash val="solid"/>
          </a:ln>
        </p:spPr>
      </p:sp>
      <p:sp>
        <p:nvSpPr>
          <p:cNvPr id="6" name="Text 4"/>
          <p:cNvSpPr/>
          <p:nvPr/>
        </p:nvSpPr>
        <p:spPr>
          <a:xfrm>
            <a:off x="841248" y="1627632"/>
            <a:ext cx="4846320" cy="603504"/>
          </a:xfrm>
          <a:prstGeom prst="rect">
            <a:avLst/>
          </a:prstGeom>
          <a:noFill/>
          <a:ln/>
        </p:spPr>
        <p:txBody>
          <a:bodyPr wrap="square" lIns="0" tIns="0" rIns="0" bIns="0" rtlCol="0" anchor="t"/>
          <a:lstStyle/>
          <a:p>
            <a:pPr marL="0" indent="0">
              <a:lnSpc>
                <a:spcPct val="108000"/>
              </a:lnSpc>
              <a:buNone/>
            </a:pPr>
            <a:r>
              <a:rPr lang="en-US" sz="2000" dirty="0">
                <a:solidFill>
                  <a:srgbClr val="062A3A"/>
                </a:solidFill>
                <a:latin typeface="Segoe UI" pitchFamily="34" charset="0"/>
                <a:ea typeface="Segoe UI" pitchFamily="34" charset="-122"/>
                <a:cs typeface="Segoe UI" pitchFamily="34" charset="-120"/>
              </a:rPr>
              <a:t>Mảng N chiều: 0-D, 1-D, 2-D hoặc nhiều hơn.</a:t>
            </a:r>
            <a:endParaRPr lang="en-US" sz="2000" dirty="0"/>
          </a:p>
        </p:txBody>
      </p:sp>
      <p:sp>
        <p:nvSpPr>
          <p:cNvPr id="7" name="Shape 5"/>
          <p:cNvSpPr/>
          <p:nvPr/>
        </p:nvSpPr>
        <p:spPr>
          <a:xfrm>
            <a:off x="585216" y="2587752"/>
            <a:ext cx="118872" cy="118872"/>
          </a:xfrm>
          <a:prstGeom prst="ellipse">
            <a:avLst/>
          </a:prstGeom>
          <a:solidFill>
            <a:srgbClr val="1B8EA8"/>
          </a:solidFill>
          <a:ln w="12700">
            <a:solidFill>
              <a:srgbClr val="FFFFFF"/>
            </a:solidFill>
            <a:prstDash val="solid"/>
          </a:ln>
        </p:spPr>
      </p:sp>
      <p:sp>
        <p:nvSpPr>
          <p:cNvPr id="8" name="Text 6"/>
          <p:cNvSpPr/>
          <p:nvPr/>
        </p:nvSpPr>
        <p:spPr>
          <a:xfrm>
            <a:off x="841248" y="2468880"/>
            <a:ext cx="4846320" cy="603504"/>
          </a:xfrm>
          <a:prstGeom prst="rect">
            <a:avLst/>
          </a:prstGeom>
          <a:noFill/>
          <a:ln/>
        </p:spPr>
        <p:txBody>
          <a:bodyPr wrap="square" lIns="0" tIns="0" rIns="0" bIns="0" rtlCol="0" anchor="t"/>
          <a:lstStyle/>
          <a:p>
            <a:pPr marL="0" indent="0">
              <a:lnSpc>
                <a:spcPct val="108000"/>
              </a:lnSpc>
              <a:buNone/>
            </a:pPr>
            <a:r>
              <a:rPr lang="en-US" sz="2000" dirty="0">
                <a:solidFill>
                  <a:srgbClr val="062A3A"/>
                </a:solidFill>
                <a:latin typeface="Segoe UI" pitchFamily="34" charset="0"/>
                <a:ea typeface="Segoe UI" pitchFamily="34" charset="-122"/>
                <a:cs typeface="Segoe UI" pitchFamily="34" charset="-120"/>
              </a:rPr>
              <a:t>Các phần tử cùng một kiểu dữ liệu (dtype).</a:t>
            </a:r>
            <a:endParaRPr lang="en-US" sz="2000" dirty="0"/>
          </a:p>
        </p:txBody>
      </p:sp>
      <p:sp>
        <p:nvSpPr>
          <p:cNvPr id="9" name="Shape 7"/>
          <p:cNvSpPr/>
          <p:nvPr/>
        </p:nvSpPr>
        <p:spPr>
          <a:xfrm>
            <a:off x="585216" y="3429000"/>
            <a:ext cx="118872" cy="118872"/>
          </a:xfrm>
          <a:prstGeom prst="ellipse">
            <a:avLst/>
          </a:prstGeom>
          <a:solidFill>
            <a:srgbClr val="1B8EA8"/>
          </a:solidFill>
          <a:ln w="12700">
            <a:solidFill>
              <a:srgbClr val="FFFFFF"/>
            </a:solidFill>
            <a:prstDash val="solid"/>
          </a:ln>
        </p:spPr>
      </p:sp>
      <p:sp>
        <p:nvSpPr>
          <p:cNvPr id="10" name="Text 8"/>
          <p:cNvSpPr/>
          <p:nvPr/>
        </p:nvSpPr>
        <p:spPr>
          <a:xfrm>
            <a:off x="841248" y="3310128"/>
            <a:ext cx="4846320" cy="603504"/>
          </a:xfrm>
          <a:prstGeom prst="rect">
            <a:avLst/>
          </a:prstGeom>
          <a:noFill/>
          <a:ln/>
        </p:spPr>
        <p:txBody>
          <a:bodyPr wrap="square" lIns="0" tIns="0" rIns="0" bIns="0" rtlCol="0" anchor="t"/>
          <a:lstStyle/>
          <a:p>
            <a:pPr marL="0" indent="0">
              <a:lnSpc>
                <a:spcPct val="108000"/>
              </a:lnSpc>
              <a:buNone/>
            </a:pPr>
            <a:r>
              <a:rPr lang="en-US" sz="2000" dirty="0">
                <a:solidFill>
                  <a:srgbClr val="062A3A"/>
                </a:solidFill>
                <a:latin typeface="Segoe UI" pitchFamily="34" charset="0"/>
                <a:ea typeface="Segoe UI" pitchFamily="34" charset="-122"/>
                <a:cs typeface="Segoe UI" pitchFamily="34" charset="-120"/>
              </a:rPr>
              <a:t>Kích thước cố định sau khi khởi tạo.</a:t>
            </a:r>
            <a:endParaRPr lang="en-US" sz="2000" dirty="0"/>
          </a:p>
        </p:txBody>
      </p:sp>
      <p:sp>
        <p:nvSpPr>
          <p:cNvPr id="11" name="Shape 9"/>
          <p:cNvSpPr/>
          <p:nvPr/>
        </p:nvSpPr>
        <p:spPr>
          <a:xfrm>
            <a:off x="585216" y="4270248"/>
            <a:ext cx="118872" cy="118872"/>
          </a:xfrm>
          <a:prstGeom prst="ellipse">
            <a:avLst/>
          </a:prstGeom>
          <a:solidFill>
            <a:srgbClr val="1B8EA8"/>
          </a:solidFill>
          <a:ln w="12700">
            <a:solidFill>
              <a:srgbClr val="FFFFFF"/>
            </a:solidFill>
            <a:prstDash val="solid"/>
          </a:ln>
        </p:spPr>
      </p:sp>
      <p:sp>
        <p:nvSpPr>
          <p:cNvPr id="12" name="Text 10"/>
          <p:cNvSpPr/>
          <p:nvPr/>
        </p:nvSpPr>
        <p:spPr>
          <a:xfrm>
            <a:off x="841248" y="4151376"/>
            <a:ext cx="4846320" cy="603504"/>
          </a:xfrm>
          <a:prstGeom prst="rect">
            <a:avLst/>
          </a:prstGeom>
          <a:noFill/>
          <a:ln/>
        </p:spPr>
        <p:txBody>
          <a:bodyPr wrap="square" lIns="0" tIns="0" rIns="0" bIns="0" rtlCol="0" anchor="t"/>
          <a:lstStyle/>
          <a:p>
            <a:pPr marL="0" indent="0">
              <a:lnSpc>
                <a:spcPct val="108000"/>
              </a:lnSpc>
              <a:buNone/>
            </a:pPr>
            <a:r>
              <a:rPr lang="en-US" sz="2000" dirty="0">
                <a:solidFill>
                  <a:srgbClr val="062A3A"/>
                </a:solidFill>
                <a:latin typeface="Segoe UI" pitchFamily="34" charset="0"/>
                <a:ea typeface="Segoe UI" pitchFamily="34" charset="-122"/>
                <a:cs typeface="Segoe UI" pitchFamily="34" charset="-120"/>
              </a:rPr>
              <a:t>Lưới chữ nhật — mọi hàng cùng số cột.</a:t>
            </a:r>
            <a:endParaRPr lang="en-US" sz="2000" dirty="0"/>
          </a:p>
        </p:txBody>
      </p:sp>
      <p:sp>
        <p:nvSpPr>
          <p:cNvPr id="13" name="Shape 11"/>
          <p:cNvSpPr/>
          <p:nvPr/>
        </p:nvSpPr>
        <p:spPr>
          <a:xfrm>
            <a:off x="585216" y="5111496"/>
            <a:ext cx="118872" cy="118872"/>
          </a:xfrm>
          <a:prstGeom prst="ellipse">
            <a:avLst/>
          </a:prstGeom>
          <a:solidFill>
            <a:srgbClr val="E8A33D"/>
          </a:solidFill>
          <a:ln w="12700">
            <a:solidFill>
              <a:srgbClr val="FFFFFF"/>
            </a:solidFill>
            <a:prstDash val="solid"/>
          </a:ln>
        </p:spPr>
      </p:sp>
      <p:sp>
        <p:nvSpPr>
          <p:cNvPr id="14" name="Text 12"/>
          <p:cNvSpPr/>
          <p:nvPr/>
        </p:nvSpPr>
        <p:spPr>
          <a:xfrm>
            <a:off x="841248" y="4992624"/>
            <a:ext cx="4846320" cy="603504"/>
          </a:xfrm>
          <a:prstGeom prst="rect">
            <a:avLst/>
          </a:prstGeom>
          <a:noFill/>
          <a:ln/>
        </p:spPr>
        <p:txBody>
          <a:bodyPr wrap="square" lIns="0" tIns="0" rIns="0" bIns="0" rtlCol="0" anchor="t"/>
          <a:lstStyle/>
          <a:p>
            <a:pPr marL="0" indent="0">
              <a:lnSpc>
                <a:spcPct val="108000"/>
              </a:lnSpc>
              <a:buNone/>
            </a:pPr>
            <a:r>
              <a:rPr lang="en-US" sz="2000" dirty="0">
                <a:solidFill>
                  <a:srgbClr val="062A3A"/>
                </a:solidFill>
                <a:latin typeface="Segoe UI" pitchFamily="34" charset="0"/>
                <a:ea typeface="Segoe UI" pitchFamily="34" charset="-122"/>
                <a:cs typeface="Segoe UI" pitchFamily="34" charset="-120"/>
              </a:rPr>
              <a:t>Mọi hàm NumPy nhận hoặc trả về ndarray.</a:t>
            </a:r>
            <a:endParaRPr lang="en-US" sz="2000" dirty="0"/>
          </a:p>
        </p:txBody>
      </p:sp>
      <p:sp>
        <p:nvSpPr>
          <p:cNvPr id="15" name="Text 13"/>
          <p:cNvSpPr/>
          <p:nvPr/>
        </p:nvSpPr>
        <p:spPr>
          <a:xfrm>
            <a:off x="6400800" y="1341929"/>
            <a:ext cx="5029200" cy="384048"/>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Một mảng 3 × 4</a:t>
            </a:r>
            <a:endParaRPr lang="en-US" sz="2500" dirty="0"/>
          </a:p>
        </p:txBody>
      </p:sp>
      <p:sp>
        <p:nvSpPr>
          <p:cNvPr id="16" name="Text 14"/>
          <p:cNvSpPr/>
          <p:nvPr/>
        </p:nvSpPr>
        <p:spPr>
          <a:xfrm>
            <a:off x="6446520" y="1837944"/>
            <a:ext cx="3886200" cy="201168"/>
          </a:xfrm>
          <a:prstGeom prst="rect">
            <a:avLst/>
          </a:prstGeom>
          <a:noFill/>
          <a:ln/>
        </p:spPr>
        <p:txBody>
          <a:bodyPr wrap="square" lIns="0" tIns="0" rIns="0" bIns="0" rtlCol="0" anchor="t"/>
          <a:lstStyle/>
          <a:p>
            <a:pPr marL="0" indent="0">
              <a:buNone/>
            </a:pPr>
            <a:r>
              <a:rPr lang="en-US" sz="1400" dirty="0">
                <a:solidFill>
                  <a:srgbClr val="728694"/>
                </a:solidFill>
                <a:latin typeface="Segoe UI" pitchFamily="34" charset="0"/>
                <a:ea typeface="Segoe UI" pitchFamily="34" charset="-122"/>
                <a:cs typeface="Segoe UI" pitchFamily="34" charset="-120"/>
              </a:rPr>
              <a:t>trục 1  →</a:t>
            </a:r>
            <a:endParaRPr lang="en-US" sz="1400" dirty="0"/>
          </a:p>
        </p:txBody>
      </p:sp>
      <p:sp>
        <p:nvSpPr>
          <p:cNvPr id="17" name="Text 15"/>
          <p:cNvSpPr/>
          <p:nvPr/>
        </p:nvSpPr>
        <p:spPr>
          <a:xfrm>
            <a:off x="5760720" y="2084832"/>
            <a:ext cx="502920" cy="2011680"/>
          </a:xfrm>
          <a:prstGeom prst="rect">
            <a:avLst/>
          </a:prstGeom>
          <a:noFill/>
          <a:ln/>
        </p:spPr>
        <p:txBody>
          <a:bodyPr wrap="square" lIns="0" tIns="0" rIns="0" bIns="0" rtlCol="0" anchor="ctr"/>
          <a:lstStyle/>
          <a:p>
            <a:pPr marL="0" indent="0" algn="ctr">
              <a:buNone/>
            </a:pPr>
            <a:r>
              <a:rPr lang="en-US" sz="1300" dirty="0">
                <a:solidFill>
                  <a:srgbClr val="728694"/>
                </a:solidFill>
                <a:latin typeface="Segoe UI" pitchFamily="34" charset="0"/>
                <a:ea typeface="Segoe UI" pitchFamily="34" charset="-122"/>
                <a:cs typeface="Segoe UI" pitchFamily="34" charset="-120"/>
              </a:rPr>
              <a:t>trục 0</a:t>
            </a:r>
            <a:endParaRPr lang="en-US" sz="1300" dirty="0"/>
          </a:p>
        </p:txBody>
      </p:sp>
      <p:sp>
        <p:nvSpPr>
          <p:cNvPr id="18" name="Shape 16"/>
          <p:cNvSpPr/>
          <p:nvPr/>
        </p:nvSpPr>
        <p:spPr>
          <a:xfrm>
            <a:off x="6446520" y="2103120"/>
            <a:ext cx="960120" cy="640080"/>
          </a:xfrm>
          <a:prstGeom prst="rect">
            <a:avLst/>
          </a:prstGeom>
          <a:solidFill>
            <a:srgbClr val="EAF4F8"/>
          </a:solidFill>
          <a:ln w="9525">
            <a:solidFill>
              <a:srgbClr val="A9CDDB"/>
            </a:solidFill>
            <a:prstDash val="solid"/>
          </a:ln>
        </p:spPr>
      </p:sp>
      <p:sp>
        <p:nvSpPr>
          <p:cNvPr id="19" name="Text 17"/>
          <p:cNvSpPr/>
          <p:nvPr/>
        </p:nvSpPr>
        <p:spPr>
          <a:xfrm>
            <a:off x="6446520" y="210312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1</a:t>
            </a:r>
            <a:endParaRPr lang="en-US" sz="2000" dirty="0"/>
          </a:p>
        </p:txBody>
      </p:sp>
      <p:sp>
        <p:nvSpPr>
          <p:cNvPr id="20" name="Shape 18"/>
          <p:cNvSpPr/>
          <p:nvPr/>
        </p:nvSpPr>
        <p:spPr>
          <a:xfrm>
            <a:off x="7406640" y="2103120"/>
            <a:ext cx="960120" cy="640080"/>
          </a:xfrm>
          <a:prstGeom prst="rect">
            <a:avLst/>
          </a:prstGeom>
          <a:solidFill>
            <a:srgbClr val="EAF4F8"/>
          </a:solidFill>
          <a:ln w="9525">
            <a:solidFill>
              <a:srgbClr val="A9CDDB"/>
            </a:solidFill>
            <a:prstDash val="solid"/>
          </a:ln>
        </p:spPr>
      </p:sp>
      <p:sp>
        <p:nvSpPr>
          <p:cNvPr id="21" name="Text 19"/>
          <p:cNvSpPr/>
          <p:nvPr/>
        </p:nvSpPr>
        <p:spPr>
          <a:xfrm>
            <a:off x="7406640" y="210312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2</a:t>
            </a:r>
            <a:endParaRPr lang="en-US" sz="2000" dirty="0"/>
          </a:p>
        </p:txBody>
      </p:sp>
      <p:sp>
        <p:nvSpPr>
          <p:cNvPr id="22" name="Shape 20"/>
          <p:cNvSpPr/>
          <p:nvPr/>
        </p:nvSpPr>
        <p:spPr>
          <a:xfrm>
            <a:off x="8366760" y="2103120"/>
            <a:ext cx="960120" cy="640080"/>
          </a:xfrm>
          <a:prstGeom prst="rect">
            <a:avLst/>
          </a:prstGeom>
          <a:solidFill>
            <a:srgbClr val="EAF4F8"/>
          </a:solidFill>
          <a:ln w="9525">
            <a:solidFill>
              <a:srgbClr val="A9CDDB"/>
            </a:solidFill>
            <a:prstDash val="solid"/>
          </a:ln>
        </p:spPr>
      </p:sp>
      <p:sp>
        <p:nvSpPr>
          <p:cNvPr id="23" name="Text 21"/>
          <p:cNvSpPr/>
          <p:nvPr/>
        </p:nvSpPr>
        <p:spPr>
          <a:xfrm>
            <a:off x="8366760" y="210312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3</a:t>
            </a:r>
            <a:endParaRPr lang="en-US" sz="2000" dirty="0"/>
          </a:p>
        </p:txBody>
      </p:sp>
      <p:sp>
        <p:nvSpPr>
          <p:cNvPr id="24" name="Shape 22"/>
          <p:cNvSpPr/>
          <p:nvPr/>
        </p:nvSpPr>
        <p:spPr>
          <a:xfrm>
            <a:off x="9326880" y="2103120"/>
            <a:ext cx="960120" cy="640080"/>
          </a:xfrm>
          <a:prstGeom prst="rect">
            <a:avLst/>
          </a:prstGeom>
          <a:solidFill>
            <a:srgbClr val="EAF4F8"/>
          </a:solidFill>
          <a:ln w="9525">
            <a:solidFill>
              <a:srgbClr val="A9CDDB"/>
            </a:solidFill>
            <a:prstDash val="solid"/>
          </a:ln>
        </p:spPr>
      </p:sp>
      <p:sp>
        <p:nvSpPr>
          <p:cNvPr id="25" name="Text 23"/>
          <p:cNvSpPr/>
          <p:nvPr/>
        </p:nvSpPr>
        <p:spPr>
          <a:xfrm>
            <a:off x="9326880" y="210312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4</a:t>
            </a:r>
            <a:endParaRPr lang="en-US" sz="2000" dirty="0"/>
          </a:p>
        </p:txBody>
      </p:sp>
      <p:sp>
        <p:nvSpPr>
          <p:cNvPr id="26" name="Shape 24"/>
          <p:cNvSpPr/>
          <p:nvPr/>
        </p:nvSpPr>
        <p:spPr>
          <a:xfrm>
            <a:off x="6446520" y="2743200"/>
            <a:ext cx="960120" cy="640080"/>
          </a:xfrm>
          <a:prstGeom prst="rect">
            <a:avLst/>
          </a:prstGeom>
          <a:solidFill>
            <a:srgbClr val="EAF4F8"/>
          </a:solidFill>
          <a:ln w="9525">
            <a:solidFill>
              <a:srgbClr val="A9CDDB"/>
            </a:solidFill>
            <a:prstDash val="solid"/>
          </a:ln>
        </p:spPr>
      </p:sp>
      <p:sp>
        <p:nvSpPr>
          <p:cNvPr id="27" name="Text 25"/>
          <p:cNvSpPr/>
          <p:nvPr/>
        </p:nvSpPr>
        <p:spPr>
          <a:xfrm>
            <a:off x="6446520" y="274320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5</a:t>
            </a:r>
            <a:endParaRPr lang="en-US" sz="2000" dirty="0"/>
          </a:p>
        </p:txBody>
      </p:sp>
      <p:sp>
        <p:nvSpPr>
          <p:cNvPr id="28" name="Shape 26"/>
          <p:cNvSpPr/>
          <p:nvPr/>
        </p:nvSpPr>
        <p:spPr>
          <a:xfrm>
            <a:off x="7406640" y="2743200"/>
            <a:ext cx="960120" cy="640080"/>
          </a:xfrm>
          <a:prstGeom prst="rect">
            <a:avLst/>
          </a:prstGeom>
          <a:solidFill>
            <a:srgbClr val="EAF4F8"/>
          </a:solidFill>
          <a:ln w="9525">
            <a:solidFill>
              <a:srgbClr val="A9CDDB"/>
            </a:solidFill>
            <a:prstDash val="solid"/>
          </a:ln>
        </p:spPr>
      </p:sp>
      <p:sp>
        <p:nvSpPr>
          <p:cNvPr id="29" name="Text 27"/>
          <p:cNvSpPr/>
          <p:nvPr/>
        </p:nvSpPr>
        <p:spPr>
          <a:xfrm>
            <a:off x="7406640" y="274320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6</a:t>
            </a:r>
            <a:endParaRPr lang="en-US" sz="2000" dirty="0"/>
          </a:p>
        </p:txBody>
      </p:sp>
      <p:sp>
        <p:nvSpPr>
          <p:cNvPr id="30" name="Shape 28"/>
          <p:cNvSpPr/>
          <p:nvPr/>
        </p:nvSpPr>
        <p:spPr>
          <a:xfrm>
            <a:off x="8366760" y="2743200"/>
            <a:ext cx="960120" cy="640080"/>
          </a:xfrm>
          <a:prstGeom prst="rect">
            <a:avLst/>
          </a:prstGeom>
          <a:solidFill>
            <a:srgbClr val="EAF4F8"/>
          </a:solidFill>
          <a:ln w="9525">
            <a:solidFill>
              <a:srgbClr val="A9CDDB"/>
            </a:solidFill>
            <a:prstDash val="solid"/>
          </a:ln>
        </p:spPr>
      </p:sp>
      <p:sp>
        <p:nvSpPr>
          <p:cNvPr id="31" name="Text 29"/>
          <p:cNvSpPr/>
          <p:nvPr/>
        </p:nvSpPr>
        <p:spPr>
          <a:xfrm>
            <a:off x="8366760" y="274320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7</a:t>
            </a:r>
            <a:endParaRPr lang="en-US" sz="2000" dirty="0"/>
          </a:p>
        </p:txBody>
      </p:sp>
      <p:sp>
        <p:nvSpPr>
          <p:cNvPr id="32" name="Shape 30"/>
          <p:cNvSpPr/>
          <p:nvPr/>
        </p:nvSpPr>
        <p:spPr>
          <a:xfrm>
            <a:off x="9326880" y="2743200"/>
            <a:ext cx="960120" cy="640080"/>
          </a:xfrm>
          <a:prstGeom prst="rect">
            <a:avLst/>
          </a:prstGeom>
          <a:solidFill>
            <a:srgbClr val="EAF4F8"/>
          </a:solidFill>
          <a:ln w="9525">
            <a:solidFill>
              <a:srgbClr val="A9CDDB"/>
            </a:solidFill>
            <a:prstDash val="solid"/>
          </a:ln>
        </p:spPr>
      </p:sp>
      <p:sp>
        <p:nvSpPr>
          <p:cNvPr id="33" name="Text 31"/>
          <p:cNvSpPr/>
          <p:nvPr/>
        </p:nvSpPr>
        <p:spPr>
          <a:xfrm>
            <a:off x="9326880" y="274320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8</a:t>
            </a:r>
            <a:endParaRPr lang="en-US" sz="2000" dirty="0"/>
          </a:p>
        </p:txBody>
      </p:sp>
      <p:sp>
        <p:nvSpPr>
          <p:cNvPr id="34" name="Shape 32"/>
          <p:cNvSpPr/>
          <p:nvPr/>
        </p:nvSpPr>
        <p:spPr>
          <a:xfrm>
            <a:off x="6446520" y="3383280"/>
            <a:ext cx="960120" cy="640080"/>
          </a:xfrm>
          <a:prstGeom prst="rect">
            <a:avLst/>
          </a:prstGeom>
          <a:solidFill>
            <a:srgbClr val="EAF4F8"/>
          </a:solidFill>
          <a:ln w="9525">
            <a:solidFill>
              <a:srgbClr val="A9CDDB"/>
            </a:solidFill>
            <a:prstDash val="solid"/>
          </a:ln>
        </p:spPr>
      </p:sp>
      <p:sp>
        <p:nvSpPr>
          <p:cNvPr id="35" name="Text 33"/>
          <p:cNvSpPr/>
          <p:nvPr/>
        </p:nvSpPr>
        <p:spPr>
          <a:xfrm>
            <a:off x="6446520" y="338328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9</a:t>
            </a:r>
            <a:endParaRPr lang="en-US" sz="2000" dirty="0"/>
          </a:p>
        </p:txBody>
      </p:sp>
      <p:sp>
        <p:nvSpPr>
          <p:cNvPr id="36" name="Shape 34"/>
          <p:cNvSpPr/>
          <p:nvPr/>
        </p:nvSpPr>
        <p:spPr>
          <a:xfrm>
            <a:off x="7406640" y="3383280"/>
            <a:ext cx="960120" cy="640080"/>
          </a:xfrm>
          <a:prstGeom prst="rect">
            <a:avLst/>
          </a:prstGeom>
          <a:solidFill>
            <a:srgbClr val="EAF4F8"/>
          </a:solidFill>
          <a:ln w="9525">
            <a:solidFill>
              <a:srgbClr val="A9CDDB"/>
            </a:solidFill>
            <a:prstDash val="solid"/>
          </a:ln>
        </p:spPr>
      </p:sp>
      <p:sp>
        <p:nvSpPr>
          <p:cNvPr id="37" name="Text 35"/>
          <p:cNvSpPr/>
          <p:nvPr/>
        </p:nvSpPr>
        <p:spPr>
          <a:xfrm>
            <a:off x="7406640" y="338328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10</a:t>
            </a:r>
            <a:endParaRPr lang="en-US" sz="2000" dirty="0"/>
          </a:p>
        </p:txBody>
      </p:sp>
      <p:sp>
        <p:nvSpPr>
          <p:cNvPr id="38" name="Shape 36"/>
          <p:cNvSpPr/>
          <p:nvPr/>
        </p:nvSpPr>
        <p:spPr>
          <a:xfrm>
            <a:off x="8366760" y="3383280"/>
            <a:ext cx="960120" cy="640080"/>
          </a:xfrm>
          <a:prstGeom prst="rect">
            <a:avLst/>
          </a:prstGeom>
          <a:solidFill>
            <a:srgbClr val="EAF4F8"/>
          </a:solidFill>
          <a:ln w="9525">
            <a:solidFill>
              <a:srgbClr val="A9CDDB"/>
            </a:solidFill>
            <a:prstDash val="solid"/>
          </a:ln>
        </p:spPr>
      </p:sp>
      <p:sp>
        <p:nvSpPr>
          <p:cNvPr id="39" name="Text 37"/>
          <p:cNvSpPr/>
          <p:nvPr/>
        </p:nvSpPr>
        <p:spPr>
          <a:xfrm>
            <a:off x="8366760" y="338328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11</a:t>
            </a:r>
            <a:endParaRPr lang="en-US" sz="2000" dirty="0"/>
          </a:p>
        </p:txBody>
      </p:sp>
      <p:sp>
        <p:nvSpPr>
          <p:cNvPr id="40" name="Shape 38"/>
          <p:cNvSpPr/>
          <p:nvPr/>
        </p:nvSpPr>
        <p:spPr>
          <a:xfrm>
            <a:off x="9326880" y="3383280"/>
            <a:ext cx="960120" cy="640080"/>
          </a:xfrm>
          <a:prstGeom prst="rect">
            <a:avLst/>
          </a:prstGeom>
          <a:solidFill>
            <a:srgbClr val="EAF4F8"/>
          </a:solidFill>
          <a:ln w="9525">
            <a:solidFill>
              <a:srgbClr val="A9CDDB"/>
            </a:solidFill>
            <a:prstDash val="solid"/>
          </a:ln>
        </p:spPr>
      </p:sp>
      <p:sp>
        <p:nvSpPr>
          <p:cNvPr id="41" name="Text 39"/>
          <p:cNvSpPr/>
          <p:nvPr/>
        </p:nvSpPr>
        <p:spPr>
          <a:xfrm>
            <a:off x="9326880" y="3383280"/>
            <a:ext cx="960120" cy="64008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12</a:t>
            </a:r>
            <a:endParaRPr lang="en-US" sz="2000" dirty="0"/>
          </a:p>
        </p:txBody>
      </p:sp>
      <p:sp>
        <p:nvSpPr>
          <p:cNvPr id="42" name="Shape 40"/>
          <p:cNvSpPr/>
          <p:nvPr/>
        </p:nvSpPr>
        <p:spPr>
          <a:xfrm>
            <a:off x="6446520" y="4160520"/>
            <a:ext cx="3840480" cy="438912"/>
          </a:xfrm>
          <a:prstGeom prst="roundRect">
            <a:avLst>
              <a:gd name="adj" fmla="val 104167"/>
            </a:avLst>
          </a:prstGeom>
          <a:solidFill>
            <a:srgbClr val="EAF4F8"/>
          </a:solidFill>
          <a:ln w="9525">
            <a:solidFill>
              <a:srgbClr val="CFE5EE"/>
            </a:solidFill>
            <a:prstDash val="solid"/>
          </a:ln>
        </p:spPr>
      </p:sp>
      <p:sp>
        <p:nvSpPr>
          <p:cNvPr id="43" name="Text 41"/>
          <p:cNvSpPr/>
          <p:nvPr/>
        </p:nvSpPr>
        <p:spPr>
          <a:xfrm>
            <a:off x="6446520" y="4160520"/>
            <a:ext cx="3840480" cy="438912"/>
          </a:xfrm>
          <a:prstGeom prst="rect">
            <a:avLst/>
          </a:prstGeom>
          <a:noFill/>
          <a:ln/>
        </p:spPr>
        <p:txBody>
          <a:bodyPr wrap="square" lIns="0" tIns="0" rIns="0" bIns="0" rtlCol="0" anchor="ctr"/>
          <a:lstStyle/>
          <a:p>
            <a:pPr marL="0" indent="0" algn="ctr">
              <a:buNone/>
            </a:pPr>
            <a:r>
              <a:rPr lang="en-US" b="1" dirty="0">
                <a:solidFill>
                  <a:srgbClr val="1B8EA8"/>
                </a:solidFill>
                <a:latin typeface="Segoe UI" pitchFamily="34" charset="0"/>
                <a:ea typeface="Segoe UI" pitchFamily="34" charset="-122"/>
                <a:cs typeface="Segoe UI" pitchFamily="34" charset="-120"/>
              </a:rPr>
              <a:t>shape (3, 4)   ·   dtype int64</a:t>
            </a:r>
            <a:endParaRPr lang="en-US" dirty="0"/>
          </a:p>
        </p:txBody>
      </p:sp>
      <p:sp>
        <p:nvSpPr>
          <p:cNvPr id="44" name="Text 42"/>
          <p:cNvSpPr/>
          <p:nvPr/>
        </p:nvSpPr>
        <p:spPr>
          <a:xfrm>
            <a:off x="6446520" y="4773168"/>
            <a:ext cx="5029200" cy="960120"/>
          </a:xfrm>
          <a:prstGeom prst="rect">
            <a:avLst/>
          </a:prstGeom>
          <a:noFill/>
          <a:ln/>
        </p:spPr>
        <p:txBody>
          <a:bodyPr wrap="square" lIns="0" tIns="0" rIns="0" bIns="0" rtlCol="0" anchor="t"/>
          <a:lstStyle/>
          <a:p>
            <a:pPr marL="0" indent="0">
              <a:buNone/>
            </a:pPr>
            <a:r>
              <a:rPr lang="en-US" sz="2000" i="1" dirty="0">
                <a:solidFill>
                  <a:srgbClr val="415A6B"/>
                </a:solidFill>
                <a:latin typeface="Segoe UI" pitchFamily="34" charset="0"/>
                <a:ea typeface="Segoe UI" pitchFamily="34" charset="-122"/>
                <a:cs typeface="Segoe UI" pitchFamily="34" charset="-120"/>
              </a:rPr>
              <a:t>Cùng một dtype cho mọi ô — điều kiện để vector hóa.</a:t>
            </a:r>
            <a:endParaRPr lang="en-US" sz="2000" dirty="0"/>
          </a:p>
        </p:txBody>
      </p:sp>
      <p:sp>
        <p:nvSpPr>
          <p:cNvPr id="45" name="Text 43"/>
          <p:cNvSpPr/>
          <p:nvPr/>
        </p:nvSpPr>
        <p:spPr>
          <a:xfrm>
            <a:off x="6446520" y="5925312"/>
            <a:ext cx="4937760" cy="228600"/>
          </a:xfrm>
          <a:prstGeom prst="rect">
            <a:avLst/>
          </a:prstGeom>
          <a:noFill/>
          <a:ln/>
        </p:spPr>
        <p:txBody>
          <a:bodyPr wrap="square" lIns="0" tIns="0" rIns="0" bIns="0" rtlCol="0" anchor="t"/>
          <a:lstStyle/>
          <a:p>
            <a:pPr marL="0" indent="0">
              <a:buNone/>
            </a:pPr>
            <a:r>
              <a:rPr lang="en-US" sz="1250" dirty="0">
                <a:solidFill>
                  <a:srgbClr val="728694"/>
                </a:solidFill>
                <a:latin typeface="Segoe UI" pitchFamily="34" charset="0"/>
                <a:ea typeface="Segoe UI" pitchFamily="34" charset="-122"/>
                <a:cs typeface="Segoe UI" pitchFamily="34" charset="-120"/>
              </a:rPr>
              <a:t>Nguồn: NumPy Documentation [1], [2]</a:t>
            </a:r>
            <a:endParaRPr lang="en-US" sz="1250" dirty="0"/>
          </a:p>
        </p:txBody>
      </p:sp>
      <p:sp>
        <p:nvSpPr>
          <p:cNvPr id="46" name="Shape 44"/>
          <p:cNvSpPr/>
          <p:nvPr/>
        </p:nvSpPr>
        <p:spPr>
          <a:xfrm>
            <a:off x="548640" y="6437376"/>
            <a:ext cx="11091672" cy="9144"/>
          </a:xfrm>
          <a:prstGeom prst="rect">
            <a:avLst/>
          </a:prstGeom>
          <a:solidFill>
            <a:srgbClr val="D7E5EC"/>
          </a:solidFill>
          <a:ln w="12700">
            <a:solidFill>
              <a:srgbClr val="D7E5EC"/>
            </a:solidFill>
            <a:prstDash val="solid"/>
          </a:ln>
        </p:spPr>
      </p:sp>
      <p:sp>
        <p:nvSpPr>
          <p:cNvPr id="47" name="Text 45"/>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8" name="Text 46"/>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05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r>
              <a:rPr lang="en-US" sz="1200" b="1" kern="0" spc="15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Ưu điểm và giới hạn</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440680" cy="4160520"/>
          </a:xfrm>
          <a:prstGeom prst="roundRect">
            <a:avLst>
              <a:gd name="adj" fmla="val 1538"/>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Shape 4"/>
          <p:cNvSpPr/>
          <p:nvPr/>
        </p:nvSpPr>
        <p:spPr>
          <a:xfrm>
            <a:off x="548640" y="1463040"/>
            <a:ext cx="5440680" cy="73152"/>
          </a:xfrm>
          <a:prstGeom prst="rect">
            <a:avLst/>
          </a:prstGeom>
          <a:solidFill>
            <a:srgbClr val="1B8EA8"/>
          </a:solidFill>
          <a:ln w="12700">
            <a:solidFill>
              <a:srgbClr val="1B8EA8"/>
            </a:solidFill>
            <a:prstDash val="solid"/>
          </a:ln>
        </p:spPr>
      </p:sp>
      <p:sp>
        <p:nvSpPr>
          <p:cNvPr id="7" name="Text 5"/>
          <p:cNvSpPr/>
          <p:nvPr/>
        </p:nvSpPr>
        <p:spPr>
          <a:xfrm>
            <a:off x="822960" y="1664208"/>
            <a:ext cx="4663440" cy="41148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Ưu điểm</a:t>
            </a:r>
            <a:endParaRPr lang="en-US" sz="2500" dirty="0"/>
          </a:p>
        </p:txBody>
      </p:sp>
      <p:sp>
        <p:nvSpPr>
          <p:cNvPr id="8" name="Text 6"/>
          <p:cNvSpPr/>
          <p:nvPr/>
        </p:nvSpPr>
        <p:spPr>
          <a:xfrm>
            <a:off x="841248" y="2331720"/>
            <a:ext cx="274320" cy="320040"/>
          </a:xfrm>
          <a:prstGeom prst="rect">
            <a:avLst/>
          </a:prstGeom>
          <a:noFill/>
          <a:ln/>
        </p:spPr>
        <p:txBody>
          <a:bodyPr wrap="square" lIns="0" tIns="0" rIns="0" bIns="0" rtlCol="0" anchor="t"/>
          <a:lstStyle/>
          <a:p>
            <a:pPr marL="0" indent="0">
              <a:buNone/>
            </a:pPr>
            <a:r>
              <a:rPr lang="en-US" sz="2000" b="1" dirty="0">
                <a:solidFill>
                  <a:srgbClr val="1B8EA8"/>
                </a:solidFill>
                <a:latin typeface="Segoe UI" pitchFamily="34" charset="0"/>
                <a:ea typeface="Segoe UI" pitchFamily="34" charset="-122"/>
                <a:cs typeface="Segoe UI" pitchFamily="34" charset="-120"/>
              </a:rPr>
              <a:t>✓</a:t>
            </a:r>
            <a:endParaRPr lang="en-US" sz="2000" dirty="0"/>
          </a:p>
        </p:txBody>
      </p:sp>
      <p:sp>
        <p:nvSpPr>
          <p:cNvPr id="9" name="Text 7"/>
          <p:cNvSpPr/>
          <p:nvPr/>
        </p:nvSpPr>
        <p:spPr>
          <a:xfrm>
            <a:off x="1170432" y="2313432"/>
            <a:ext cx="4480560" cy="713232"/>
          </a:xfrm>
          <a:prstGeom prst="rect">
            <a:avLst/>
          </a:prstGeom>
          <a:noFill/>
          <a:ln/>
        </p:spPr>
        <p:txBody>
          <a:bodyPr wrap="square" lIns="0" tIns="0" rIns="0" bIns="0" rtlCol="0" anchor="t"/>
          <a:lstStyle/>
          <a:p>
            <a:pPr marL="0" indent="0">
              <a:lnSpc>
                <a:spcPct val="102000"/>
              </a:lnSpc>
              <a:buNone/>
            </a:pPr>
            <a:r>
              <a:rPr lang="en-US" sz="2000" dirty="0">
                <a:solidFill>
                  <a:srgbClr val="415A6B"/>
                </a:solidFill>
                <a:latin typeface="Segoe UI" pitchFamily="34" charset="0"/>
                <a:ea typeface="Segoe UI" pitchFamily="34" charset="-122"/>
                <a:cs typeface="Segoe UI" pitchFamily="34" charset="-120"/>
              </a:rPr>
              <a:t>Vector hóa: tính trên cả mảng, không cần vòng lặp.</a:t>
            </a:r>
            <a:endParaRPr lang="en-US" sz="2000" dirty="0"/>
          </a:p>
        </p:txBody>
      </p:sp>
      <p:sp>
        <p:nvSpPr>
          <p:cNvPr id="10" name="Text 8"/>
          <p:cNvSpPr/>
          <p:nvPr/>
        </p:nvSpPr>
        <p:spPr>
          <a:xfrm>
            <a:off x="841248" y="3108960"/>
            <a:ext cx="274320" cy="320040"/>
          </a:xfrm>
          <a:prstGeom prst="rect">
            <a:avLst/>
          </a:prstGeom>
          <a:noFill/>
          <a:ln/>
        </p:spPr>
        <p:txBody>
          <a:bodyPr wrap="square" lIns="0" tIns="0" rIns="0" bIns="0" rtlCol="0" anchor="t"/>
          <a:lstStyle/>
          <a:p>
            <a:pPr marL="0" indent="0">
              <a:buNone/>
            </a:pPr>
            <a:r>
              <a:rPr lang="en-US" sz="2000" b="1" dirty="0">
                <a:solidFill>
                  <a:srgbClr val="1B8EA8"/>
                </a:solidFill>
                <a:latin typeface="Segoe UI" pitchFamily="34" charset="0"/>
                <a:ea typeface="Segoe UI" pitchFamily="34" charset="-122"/>
                <a:cs typeface="Segoe UI" pitchFamily="34" charset="-120"/>
              </a:rPr>
              <a:t>✓</a:t>
            </a:r>
            <a:endParaRPr lang="en-US" sz="2000" dirty="0"/>
          </a:p>
        </p:txBody>
      </p:sp>
      <p:sp>
        <p:nvSpPr>
          <p:cNvPr id="11" name="Text 9"/>
          <p:cNvSpPr/>
          <p:nvPr/>
        </p:nvSpPr>
        <p:spPr>
          <a:xfrm>
            <a:off x="1170432" y="3090672"/>
            <a:ext cx="4480560" cy="713232"/>
          </a:xfrm>
          <a:prstGeom prst="rect">
            <a:avLst/>
          </a:prstGeom>
          <a:noFill/>
          <a:ln/>
        </p:spPr>
        <p:txBody>
          <a:bodyPr wrap="square" lIns="0" tIns="0" rIns="0" bIns="0" rtlCol="0" anchor="t"/>
          <a:lstStyle/>
          <a:p>
            <a:pPr marL="0" indent="0">
              <a:lnSpc>
                <a:spcPct val="102000"/>
              </a:lnSpc>
              <a:buNone/>
            </a:pPr>
            <a:r>
              <a:rPr lang="en-US" sz="2000" dirty="0">
                <a:solidFill>
                  <a:srgbClr val="415A6B"/>
                </a:solidFill>
                <a:latin typeface="Segoe UI" pitchFamily="34" charset="0"/>
                <a:ea typeface="Segoe UI" pitchFamily="34" charset="-122"/>
                <a:cs typeface="Segoe UI" pitchFamily="34" charset="-120"/>
              </a:rPr>
              <a:t>Broadcasting: tính giữa các shape khác nhau.</a:t>
            </a:r>
            <a:endParaRPr lang="en-US" sz="2000" dirty="0"/>
          </a:p>
        </p:txBody>
      </p:sp>
      <p:sp>
        <p:nvSpPr>
          <p:cNvPr id="12" name="Text 10"/>
          <p:cNvSpPr/>
          <p:nvPr/>
        </p:nvSpPr>
        <p:spPr>
          <a:xfrm>
            <a:off x="841248" y="3886200"/>
            <a:ext cx="274320" cy="320040"/>
          </a:xfrm>
          <a:prstGeom prst="rect">
            <a:avLst/>
          </a:prstGeom>
          <a:noFill/>
          <a:ln/>
        </p:spPr>
        <p:txBody>
          <a:bodyPr wrap="square" lIns="0" tIns="0" rIns="0" bIns="0" rtlCol="0" anchor="t"/>
          <a:lstStyle/>
          <a:p>
            <a:pPr marL="0" indent="0">
              <a:buNone/>
            </a:pPr>
            <a:r>
              <a:rPr lang="en-US" sz="2000" b="1" dirty="0">
                <a:solidFill>
                  <a:srgbClr val="1B8EA8"/>
                </a:solidFill>
                <a:latin typeface="Segoe UI" pitchFamily="34" charset="0"/>
                <a:ea typeface="Segoe UI" pitchFamily="34" charset="-122"/>
                <a:cs typeface="Segoe UI" pitchFamily="34" charset="-120"/>
              </a:rPr>
              <a:t>✓</a:t>
            </a:r>
            <a:endParaRPr lang="en-US" sz="2000" dirty="0"/>
          </a:p>
        </p:txBody>
      </p:sp>
      <p:sp>
        <p:nvSpPr>
          <p:cNvPr id="13" name="Text 11"/>
          <p:cNvSpPr/>
          <p:nvPr/>
        </p:nvSpPr>
        <p:spPr>
          <a:xfrm>
            <a:off x="1170432" y="3867912"/>
            <a:ext cx="4480560" cy="713232"/>
          </a:xfrm>
          <a:prstGeom prst="rect">
            <a:avLst/>
          </a:prstGeom>
          <a:noFill/>
          <a:ln/>
        </p:spPr>
        <p:txBody>
          <a:bodyPr wrap="square" lIns="0" tIns="0" rIns="0" bIns="0" rtlCol="0" anchor="t"/>
          <a:lstStyle/>
          <a:p>
            <a:pPr marL="0" indent="0">
              <a:lnSpc>
                <a:spcPct val="102000"/>
              </a:lnSpc>
              <a:buNone/>
            </a:pPr>
            <a:r>
              <a:rPr lang="en-US" sz="2000" dirty="0">
                <a:solidFill>
                  <a:srgbClr val="415A6B"/>
                </a:solidFill>
                <a:latin typeface="Segoe UI" pitchFamily="34" charset="0"/>
                <a:ea typeface="Segoe UI" pitchFamily="34" charset="-122"/>
                <a:cs typeface="Segoe UI" pitchFamily="34" charset="-120"/>
              </a:rPr>
              <a:t>Kho hàm toán học, thống kê, đại số tuyến tính.</a:t>
            </a:r>
            <a:endParaRPr lang="en-US" sz="2000" dirty="0"/>
          </a:p>
        </p:txBody>
      </p:sp>
      <p:sp>
        <p:nvSpPr>
          <p:cNvPr id="14" name="Text 12"/>
          <p:cNvSpPr/>
          <p:nvPr/>
        </p:nvSpPr>
        <p:spPr>
          <a:xfrm>
            <a:off x="841248" y="4663440"/>
            <a:ext cx="274320" cy="320040"/>
          </a:xfrm>
          <a:prstGeom prst="rect">
            <a:avLst/>
          </a:prstGeom>
          <a:noFill/>
          <a:ln/>
        </p:spPr>
        <p:txBody>
          <a:bodyPr wrap="square" lIns="0" tIns="0" rIns="0" bIns="0" rtlCol="0" anchor="t"/>
          <a:lstStyle/>
          <a:p>
            <a:pPr marL="0" indent="0">
              <a:buNone/>
            </a:pPr>
            <a:r>
              <a:rPr lang="en-US" sz="2000" b="1" dirty="0">
                <a:solidFill>
                  <a:srgbClr val="1B8EA8"/>
                </a:solidFill>
                <a:latin typeface="Segoe UI" pitchFamily="34" charset="0"/>
                <a:ea typeface="Segoe UI" pitchFamily="34" charset="-122"/>
                <a:cs typeface="Segoe UI" pitchFamily="34" charset="-120"/>
              </a:rPr>
              <a:t>✓</a:t>
            </a:r>
            <a:endParaRPr lang="en-US" sz="2000" dirty="0"/>
          </a:p>
        </p:txBody>
      </p:sp>
      <p:sp>
        <p:nvSpPr>
          <p:cNvPr id="15" name="Text 13"/>
          <p:cNvSpPr/>
          <p:nvPr/>
        </p:nvSpPr>
        <p:spPr>
          <a:xfrm>
            <a:off x="1170432" y="4645152"/>
            <a:ext cx="4480560" cy="713232"/>
          </a:xfrm>
          <a:prstGeom prst="rect">
            <a:avLst/>
          </a:prstGeom>
          <a:noFill/>
          <a:ln/>
        </p:spPr>
        <p:txBody>
          <a:bodyPr wrap="square" lIns="0" tIns="0" rIns="0" bIns="0" rtlCol="0" anchor="t"/>
          <a:lstStyle/>
          <a:p>
            <a:pPr marL="0" indent="0">
              <a:lnSpc>
                <a:spcPct val="102000"/>
              </a:lnSpc>
              <a:buNone/>
            </a:pPr>
            <a:r>
              <a:rPr lang="en-US" sz="2000" dirty="0">
                <a:solidFill>
                  <a:srgbClr val="415A6B"/>
                </a:solidFill>
                <a:latin typeface="Segoe UI" pitchFamily="34" charset="0"/>
                <a:ea typeface="Segoe UI" pitchFamily="34" charset="-122"/>
                <a:cs typeface="Segoe UI" pitchFamily="34" charset="-120"/>
              </a:rPr>
              <a:t>Nền tảng của hệ sinh thái khoa học.</a:t>
            </a:r>
            <a:endParaRPr lang="en-US" sz="2000" dirty="0"/>
          </a:p>
        </p:txBody>
      </p:sp>
      <p:sp>
        <p:nvSpPr>
          <p:cNvPr id="16" name="Shape 14"/>
          <p:cNvSpPr/>
          <p:nvPr/>
        </p:nvSpPr>
        <p:spPr>
          <a:xfrm>
            <a:off x="6199632" y="1463040"/>
            <a:ext cx="5440680" cy="4160520"/>
          </a:xfrm>
          <a:prstGeom prst="roundRect">
            <a:avLst>
              <a:gd name="adj" fmla="val 1538"/>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7" name="Shape 15"/>
          <p:cNvSpPr/>
          <p:nvPr/>
        </p:nvSpPr>
        <p:spPr>
          <a:xfrm>
            <a:off x="6199632" y="1463040"/>
            <a:ext cx="5440680" cy="73152"/>
          </a:xfrm>
          <a:prstGeom prst="rect">
            <a:avLst/>
          </a:prstGeom>
          <a:solidFill>
            <a:srgbClr val="D96C5F"/>
          </a:solidFill>
          <a:ln w="12700">
            <a:solidFill>
              <a:srgbClr val="D96C5F"/>
            </a:solidFill>
            <a:prstDash val="solid"/>
          </a:ln>
        </p:spPr>
      </p:sp>
      <p:sp>
        <p:nvSpPr>
          <p:cNvPr id="18" name="Text 16"/>
          <p:cNvSpPr/>
          <p:nvPr/>
        </p:nvSpPr>
        <p:spPr>
          <a:xfrm>
            <a:off x="6473952" y="1664208"/>
            <a:ext cx="4663440" cy="41148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Giới hạn</a:t>
            </a:r>
            <a:endParaRPr lang="en-US" sz="2500" dirty="0"/>
          </a:p>
        </p:txBody>
      </p:sp>
      <p:sp>
        <p:nvSpPr>
          <p:cNvPr id="19" name="Text 17"/>
          <p:cNvSpPr/>
          <p:nvPr/>
        </p:nvSpPr>
        <p:spPr>
          <a:xfrm>
            <a:off x="6492240" y="2331720"/>
            <a:ext cx="274320" cy="320040"/>
          </a:xfrm>
          <a:prstGeom prst="rect">
            <a:avLst/>
          </a:prstGeom>
          <a:noFill/>
          <a:ln/>
        </p:spPr>
        <p:txBody>
          <a:bodyPr wrap="square" lIns="0" tIns="0" rIns="0" bIns="0" rtlCol="0" anchor="t"/>
          <a:lstStyle/>
          <a:p>
            <a:pPr marL="0" indent="0">
              <a:buNone/>
            </a:pPr>
            <a:r>
              <a:rPr lang="en-US" sz="2000" b="1" dirty="0">
                <a:solidFill>
                  <a:srgbClr val="D96C5F"/>
                </a:solidFill>
                <a:latin typeface="Segoe UI" pitchFamily="34" charset="0"/>
                <a:ea typeface="Segoe UI" pitchFamily="34" charset="-122"/>
                <a:cs typeface="Segoe UI" pitchFamily="34" charset="-120"/>
              </a:rPr>
              <a:t>!</a:t>
            </a:r>
            <a:endParaRPr lang="en-US" sz="2000" dirty="0"/>
          </a:p>
        </p:txBody>
      </p:sp>
      <p:sp>
        <p:nvSpPr>
          <p:cNvPr id="20" name="Text 18"/>
          <p:cNvSpPr/>
          <p:nvPr/>
        </p:nvSpPr>
        <p:spPr>
          <a:xfrm>
            <a:off x="6821424" y="2313432"/>
            <a:ext cx="4480560" cy="713232"/>
          </a:xfrm>
          <a:prstGeom prst="rect">
            <a:avLst/>
          </a:prstGeom>
          <a:noFill/>
          <a:ln/>
        </p:spPr>
        <p:txBody>
          <a:bodyPr wrap="square" lIns="0" tIns="0" rIns="0" bIns="0" rtlCol="0" anchor="t"/>
          <a:lstStyle/>
          <a:p>
            <a:pPr marL="0" indent="0">
              <a:lnSpc>
                <a:spcPct val="102000"/>
              </a:lnSpc>
              <a:buNone/>
            </a:pPr>
            <a:r>
              <a:rPr lang="en-US" sz="2000" dirty="0">
                <a:solidFill>
                  <a:srgbClr val="415A6B"/>
                </a:solidFill>
                <a:latin typeface="Segoe UI" pitchFamily="34" charset="0"/>
                <a:ea typeface="Segoe UI" pitchFamily="34" charset="-122"/>
                <a:cs typeface="Segoe UI" pitchFamily="34" charset="-120"/>
              </a:rPr>
              <a:t>Dữ liệu phải đồng nhất kiểu.</a:t>
            </a:r>
            <a:endParaRPr lang="en-US" sz="2000" dirty="0"/>
          </a:p>
        </p:txBody>
      </p:sp>
      <p:sp>
        <p:nvSpPr>
          <p:cNvPr id="21" name="Text 19"/>
          <p:cNvSpPr/>
          <p:nvPr/>
        </p:nvSpPr>
        <p:spPr>
          <a:xfrm>
            <a:off x="6492240" y="3108960"/>
            <a:ext cx="274320" cy="320040"/>
          </a:xfrm>
          <a:prstGeom prst="rect">
            <a:avLst/>
          </a:prstGeom>
          <a:noFill/>
          <a:ln/>
        </p:spPr>
        <p:txBody>
          <a:bodyPr wrap="square" lIns="0" tIns="0" rIns="0" bIns="0" rtlCol="0" anchor="t"/>
          <a:lstStyle/>
          <a:p>
            <a:pPr marL="0" indent="0">
              <a:buNone/>
            </a:pPr>
            <a:r>
              <a:rPr lang="en-US" sz="2000" b="1" dirty="0">
                <a:solidFill>
                  <a:srgbClr val="D96C5F"/>
                </a:solidFill>
                <a:latin typeface="Segoe UI" pitchFamily="34" charset="0"/>
                <a:ea typeface="Segoe UI" pitchFamily="34" charset="-122"/>
                <a:cs typeface="Segoe UI" pitchFamily="34" charset="-120"/>
              </a:rPr>
              <a:t>!</a:t>
            </a:r>
            <a:endParaRPr lang="en-US" sz="2000" dirty="0"/>
          </a:p>
        </p:txBody>
      </p:sp>
      <p:sp>
        <p:nvSpPr>
          <p:cNvPr id="22" name="Text 20"/>
          <p:cNvSpPr/>
          <p:nvPr/>
        </p:nvSpPr>
        <p:spPr>
          <a:xfrm>
            <a:off x="6821424" y="3090672"/>
            <a:ext cx="4480560" cy="713232"/>
          </a:xfrm>
          <a:prstGeom prst="rect">
            <a:avLst/>
          </a:prstGeom>
          <a:noFill/>
          <a:ln/>
        </p:spPr>
        <p:txBody>
          <a:bodyPr wrap="square" lIns="0" tIns="0" rIns="0" bIns="0" rtlCol="0" anchor="t"/>
          <a:lstStyle/>
          <a:p>
            <a:pPr marL="0" indent="0">
              <a:lnSpc>
                <a:spcPct val="102000"/>
              </a:lnSpc>
              <a:buNone/>
            </a:pPr>
            <a:r>
              <a:rPr lang="en-US" sz="2000" dirty="0">
                <a:solidFill>
                  <a:srgbClr val="415A6B"/>
                </a:solidFill>
                <a:latin typeface="Segoe UI" pitchFamily="34" charset="0"/>
                <a:ea typeface="Segoe UI" pitchFamily="34" charset="-122"/>
                <a:cs typeface="Segoe UI" pitchFamily="34" charset="-120"/>
              </a:rPr>
              <a:t>Kích thước cố định sau khi tạo.</a:t>
            </a:r>
            <a:endParaRPr lang="en-US" sz="2000" dirty="0"/>
          </a:p>
        </p:txBody>
      </p:sp>
      <p:sp>
        <p:nvSpPr>
          <p:cNvPr id="23" name="Text 21"/>
          <p:cNvSpPr/>
          <p:nvPr/>
        </p:nvSpPr>
        <p:spPr>
          <a:xfrm>
            <a:off x="6492240" y="3886200"/>
            <a:ext cx="274320" cy="320040"/>
          </a:xfrm>
          <a:prstGeom prst="rect">
            <a:avLst/>
          </a:prstGeom>
          <a:noFill/>
          <a:ln/>
        </p:spPr>
        <p:txBody>
          <a:bodyPr wrap="square" lIns="0" tIns="0" rIns="0" bIns="0" rtlCol="0" anchor="t"/>
          <a:lstStyle/>
          <a:p>
            <a:pPr marL="0" indent="0">
              <a:buNone/>
            </a:pPr>
            <a:r>
              <a:rPr lang="en-US" sz="2000" b="1" dirty="0">
                <a:solidFill>
                  <a:srgbClr val="D96C5F"/>
                </a:solidFill>
                <a:latin typeface="Segoe UI" pitchFamily="34" charset="0"/>
                <a:ea typeface="Segoe UI" pitchFamily="34" charset="-122"/>
                <a:cs typeface="Segoe UI" pitchFamily="34" charset="-120"/>
              </a:rPr>
              <a:t>!</a:t>
            </a:r>
            <a:endParaRPr lang="en-US" sz="2000" dirty="0"/>
          </a:p>
        </p:txBody>
      </p:sp>
      <p:sp>
        <p:nvSpPr>
          <p:cNvPr id="24" name="Text 22"/>
          <p:cNvSpPr/>
          <p:nvPr/>
        </p:nvSpPr>
        <p:spPr>
          <a:xfrm>
            <a:off x="6821424" y="3867912"/>
            <a:ext cx="4480560" cy="713232"/>
          </a:xfrm>
          <a:prstGeom prst="rect">
            <a:avLst/>
          </a:prstGeom>
          <a:noFill/>
          <a:ln/>
        </p:spPr>
        <p:txBody>
          <a:bodyPr wrap="square" lIns="0" tIns="0" rIns="0" bIns="0" rtlCol="0" anchor="t"/>
          <a:lstStyle/>
          <a:p>
            <a:pPr marL="0" indent="0">
              <a:lnSpc>
                <a:spcPct val="102000"/>
              </a:lnSpc>
              <a:buNone/>
            </a:pPr>
            <a:r>
              <a:rPr lang="en-US" sz="2000" dirty="0">
                <a:solidFill>
                  <a:srgbClr val="415A6B"/>
                </a:solidFill>
                <a:latin typeface="Segoe UI" pitchFamily="34" charset="0"/>
                <a:ea typeface="Segoe UI" pitchFamily="34" charset="-122"/>
                <a:cs typeface="Segoe UI" pitchFamily="34" charset="-120"/>
              </a:rPr>
              <a:t>Không có nhãn cột, nhãn hàng.</a:t>
            </a:r>
            <a:endParaRPr lang="en-US" sz="2000" dirty="0"/>
          </a:p>
        </p:txBody>
      </p:sp>
      <p:sp>
        <p:nvSpPr>
          <p:cNvPr id="25" name="Text 23"/>
          <p:cNvSpPr/>
          <p:nvPr/>
        </p:nvSpPr>
        <p:spPr>
          <a:xfrm>
            <a:off x="6492240" y="4663440"/>
            <a:ext cx="274320" cy="320040"/>
          </a:xfrm>
          <a:prstGeom prst="rect">
            <a:avLst/>
          </a:prstGeom>
          <a:noFill/>
          <a:ln/>
        </p:spPr>
        <p:txBody>
          <a:bodyPr wrap="square" lIns="0" tIns="0" rIns="0" bIns="0" rtlCol="0" anchor="t"/>
          <a:lstStyle/>
          <a:p>
            <a:pPr marL="0" indent="0">
              <a:buNone/>
            </a:pPr>
            <a:r>
              <a:rPr lang="en-US" sz="2000" b="1" dirty="0">
                <a:solidFill>
                  <a:srgbClr val="D96C5F"/>
                </a:solidFill>
                <a:latin typeface="Segoe UI" pitchFamily="34" charset="0"/>
                <a:ea typeface="Segoe UI" pitchFamily="34" charset="-122"/>
                <a:cs typeface="Segoe UI" pitchFamily="34" charset="-120"/>
              </a:rPr>
              <a:t>!</a:t>
            </a:r>
            <a:endParaRPr lang="en-US" sz="2000" dirty="0"/>
          </a:p>
        </p:txBody>
      </p:sp>
      <p:sp>
        <p:nvSpPr>
          <p:cNvPr id="26" name="Text 24"/>
          <p:cNvSpPr/>
          <p:nvPr/>
        </p:nvSpPr>
        <p:spPr>
          <a:xfrm>
            <a:off x="6821424" y="4645152"/>
            <a:ext cx="4480560" cy="713232"/>
          </a:xfrm>
          <a:prstGeom prst="rect">
            <a:avLst/>
          </a:prstGeom>
          <a:noFill/>
          <a:ln/>
        </p:spPr>
        <p:txBody>
          <a:bodyPr wrap="square" lIns="0" tIns="0" rIns="0" bIns="0" rtlCol="0" anchor="t"/>
          <a:lstStyle/>
          <a:p>
            <a:pPr marL="0" indent="0">
              <a:lnSpc>
                <a:spcPct val="102000"/>
              </a:lnSpc>
              <a:buNone/>
            </a:pPr>
            <a:r>
              <a:rPr lang="en-US" sz="2000" dirty="0">
                <a:solidFill>
                  <a:srgbClr val="415A6B"/>
                </a:solidFill>
                <a:latin typeface="Segoe UI" pitchFamily="34" charset="0"/>
                <a:ea typeface="Segoe UI" pitchFamily="34" charset="-122"/>
                <a:cs typeface="Segoe UI" pitchFamily="34" charset="-120"/>
              </a:rPr>
              <a:t>Mảng rất nhỏ có thể không cần tối ưu.</a:t>
            </a:r>
            <a:endParaRPr lang="en-US" sz="2000" dirty="0"/>
          </a:p>
        </p:txBody>
      </p:sp>
      <p:sp>
        <p:nvSpPr>
          <p:cNvPr id="27" name="Text 25"/>
          <p:cNvSpPr/>
          <p:nvPr/>
        </p:nvSpPr>
        <p:spPr>
          <a:xfrm>
            <a:off x="548640" y="5779008"/>
            <a:ext cx="11064240" cy="274320"/>
          </a:xfrm>
          <a:prstGeom prst="rect">
            <a:avLst/>
          </a:prstGeom>
          <a:noFill/>
          <a:ln/>
        </p:spPr>
        <p:txBody>
          <a:bodyPr wrap="square" lIns="0" tIns="0" rIns="0" bIns="0" rtlCol="0" anchor="t"/>
          <a:lstStyle/>
          <a:p>
            <a:pPr marL="0" indent="0" algn="ctr">
              <a:buNone/>
            </a:pPr>
            <a:r>
              <a:rPr lang="en-US" sz="1500" i="1" dirty="0">
                <a:solidFill>
                  <a:srgbClr val="728694"/>
                </a:solidFill>
                <a:latin typeface="Segoe UI" pitchFamily="34" charset="0"/>
                <a:ea typeface="Segoe UI" pitchFamily="34" charset="-122"/>
                <a:cs typeface="Segoe UI" pitchFamily="34" charset="-120"/>
              </a:rPr>
              <a:t>Nhận định tổng quát, không phải kết quả đo hiệu năng.</a:t>
            </a:r>
            <a:endParaRPr lang="en-US" sz="1500" dirty="0"/>
          </a:p>
        </p:txBody>
      </p:sp>
      <p:sp>
        <p:nvSpPr>
          <p:cNvPr id="28" name="Shape 26"/>
          <p:cNvSpPr/>
          <p:nvPr/>
        </p:nvSpPr>
        <p:spPr>
          <a:xfrm>
            <a:off x="548640" y="6437376"/>
            <a:ext cx="11091672" cy="9144"/>
          </a:xfrm>
          <a:prstGeom prst="rect">
            <a:avLst/>
          </a:prstGeom>
          <a:solidFill>
            <a:srgbClr val="D7E5EC"/>
          </a:solidFill>
          <a:ln w="12700">
            <a:solidFill>
              <a:srgbClr val="D7E5EC"/>
            </a:solidFill>
            <a:prstDash val="solid"/>
          </a:ln>
        </p:spPr>
      </p:sp>
      <p:sp>
        <p:nvSpPr>
          <p:cNvPr id="29" name="Text 27"/>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0" name="Text 28"/>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06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r>
              <a:rPr lang="en-US" sz="1200" b="1" kern="0" spc="15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Ứng dụng </a:t>
            </a:r>
            <a:r>
              <a:rPr lang="en-US" sz="3200" b="1" dirty="0" err="1">
                <a:solidFill>
                  <a:srgbClr val="062A3A"/>
                </a:solidFill>
                <a:latin typeface="Segoe UI" pitchFamily="34" charset="0"/>
                <a:ea typeface="Segoe UI" pitchFamily="34" charset="-122"/>
                <a:cs typeface="Segoe UI" pitchFamily="34" charset="-120"/>
              </a:rPr>
              <a:t>thực</a:t>
            </a:r>
            <a:r>
              <a:rPr lang="en-US" sz="3200" b="1" dirty="0">
                <a:solidFill>
                  <a:srgbClr val="062A3A"/>
                </a:solidFill>
                <a:latin typeface="Segoe UI" pitchFamily="34" charset="0"/>
                <a:ea typeface="Segoe UI" pitchFamily="34" charset="-122"/>
                <a:cs typeface="Segoe UI" pitchFamily="34" charset="-120"/>
              </a:rPr>
              <a:t> </a:t>
            </a:r>
            <a:r>
              <a:rPr lang="en-US" sz="3200" b="1" dirty="0" err="1">
                <a:solidFill>
                  <a:srgbClr val="062A3A"/>
                </a:solidFill>
                <a:latin typeface="Segoe UI" pitchFamily="34" charset="0"/>
                <a:ea typeface="Segoe UI" pitchFamily="34" charset="-122"/>
                <a:cs typeface="Segoe UI" pitchFamily="34" charset="-120"/>
              </a:rPr>
              <a:t>tế</a:t>
            </a:r>
            <a:r>
              <a:rPr lang="en-US" sz="3200" b="1" dirty="0">
                <a:solidFill>
                  <a:srgbClr val="062A3A"/>
                </a:solidFill>
                <a:latin typeface="Segoe UI" pitchFamily="34" charset="0"/>
                <a:ea typeface="Segoe UI" pitchFamily="34" charset="-122"/>
                <a:cs typeface="Segoe UI" pitchFamily="34" charset="-120"/>
              </a:rPr>
              <a:t> </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3547872" cy="2103120"/>
          </a:xfrm>
          <a:prstGeom prst="roundRect">
            <a:avLst>
              <a:gd name="adj" fmla="val 304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Shape 4"/>
          <p:cNvSpPr/>
          <p:nvPr/>
        </p:nvSpPr>
        <p:spPr>
          <a:xfrm>
            <a:off x="786384" y="1645920"/>
            <a:ext cx="475488" cy="475488"/>
          </a:xfrm>
          <a:prstGeom prst="roundRect">
            <a:avLst>
              <a:gd name="adj" fmla="val 23077"/>
            </a:avLst>
          </a:prstGeom>
          <a:solidFill>
            <a:srgbClr val="D6EEF5"/>
          </a:solidFill>
          <a:ln w="9525">
            <a:solidFill>
              <a:srgbClr val="BFDFE9"/>
            </a:solidFill>
            <a:prstDash val="solid"/>
          </a:ln>
        </p:spPr>
      </p:sp>
      <p:sp>
        <p:nvSpPr>
          <p:cNvPr id="7" name="Text 5"/>
          <p:cNvSpPr/>
          <p:nvPr/>
        </p:nvSpPr>
        <p:spPr>
          <a:xfrm>
            <a:off x="786384" y="1645920"/>
            <a:ext cx="475488" cy="475488"/>
          </a:xfrm>
          <a:prstGeom prst="rect">
            <a:avLst/>
          </a:prstGeom>
          <a:noFill/>
          <a:ln/>
        </p:spPr>
        <p:txBody>
          <a:bodyPr wrap="square" lIns="0" tIns="0" rIns="0" bIns="0" rtlCol="0" anchor="ctr"/>
          <a:lstStyle/>
          <a:p>
            <a:pPr marL="0" indent="0" algn="ctr">
              <a:buNone/>
            </a:pPr>
            <a:r>
              <a:rPr lang="en-US" sz="1700" b="1" dirty="0">
                <a:solidFill>
                  <a:srgbClr val="1B8EA8"/>
                </a:solidFill>
                <a:latin typeface="Consolas" pitchFamily="34" charset="0"/>
                <a:ea typeface="Consolas" pitchFamily="34" charset="-122"/>
                <a:cs typeface="Consolas" pitchFamily="34" charset="-120"/>
              </a:rPr>
              <a:t>1</a:t>
            </a:r>
            <a:endParaRPr lang="en-US" sz="1700" dirty="0"/>
          </a:p>
        </p:txBody>
      </p:sp>
      <p:sp>
        <p:nvSpPr>
          <p:cNvPr id="8" name="Text 6"/>
          <p:cNvSpPr/>
          <p:nvPr/>
        </p:nvSpPr>
        <p:spPr>
          <a:xfrm>
            <a:off x="768096" y="2199132"/>
            <a:ext cx="3090672" cy="566928"/>
          </a:xfrm>
          <a:prstGeom prst="rect">
            <a:avLst/>
          </a:prstGeom>
          <a:noFill/>
          <a:ln/>
        </p:spPr>
        <p:txBody>
          <a:bodyPr wrap="square" lIns="0" tIns="0" rIns="0" bIns="0" rtlCol="0" anchor="t"/>
          <a:lstStyle/>
          <a:p>
            <a:pPr marL="0" indent="0">
              <a:lnSpc>
                <a:spcPct val="98000"/>
              </a:lnSpc>
              <a:buNone/>
            </a:pPr>
            <a:r>
              <a:rPr lang="en-US" sz="2500" b="1" dirty="0">
                <a:solidFill>
                  <a:srgbClr val="062A3A"/>
                </a:solidFill>
                <a:latin typeface="Segoe UI" pitchFamily="34" charset="0"/>
                <a:ea typeface="Segoe UI" pitchFamily="34" charset="-122"/>
                <a:cs typeface="Segoe UI" pitchFamily="34" charset="-120"/>
              </a:rPr>
              <a:t>Khoa học &amp; kỹ thuật</a:t>
            </a:r>
            <a:endParaRPr lang="en-US" sz="2500" dirty="0"/>
          </a:p>
        </p:txBody>
      </p:sp>
      <p:sp>
        <p:nvSpPr>
          <p:cNvPr id="9" name="Text 7"/>
          <p:cNvSpPr/>
          <p:nvPr/>
        </p:nvSpPr>
        <p:spPr>
          <a:xfrm>
            <a:off x="768096" y="2633472"/>
            <a:ext cx="3090672" cy="603504"/>
          </a:xfrm>
          <a:prstGeom prst="rect">
            <a:avLst/>
          </a:prstGeom>
          <a:noFill/>
          <a:ln/>
        </p:spPr>
        <p:txBody>
          <a:bodyPr wrap="square" lIns="0" tIns="0" rIns="0" bIns="0" rtlCol="0" anchor="t"/>
          <a:lstStyle/>
          <a:p>
            <a:pPr marL="0" indent="0">
              <a:lnSpc>
                <a:spcPct val="100000"/>
              </a:lnSpc>
              <a:buNone/>
            </a:pPr>
            <a:r>
              <a:rPr lang="en-US" sz="2000" dirty="0">
                <a:solidFill>
                  <a:srgbClr val="415A6B"/>
                </a:solidFill>
                <a:latin typeface="Segoe UI" pitchFamily="34" charset="0"/>
                <a:ea typeface="Segoe UI" pitchFamily="34" charset="-122"/>
                <a:cs typeface="Segoe UI" pitchFamily="34" charset="-120"/>
              </a:rPr>
              <a:t>Mô phỏng, xử lý tín hiệu.</a:t>
            </a:r>
            <a:endParaRPr lang="en-US" sz="2000" dirty="0"/>
          </a:p>
        </p:txBody>
      </p:sp>
      <p:sp>
        <p:nvSpPr>
          <p:cNvPr id="10" name="Shape 8"/>
          <p:cNvSpPr/>
          <p:nvPr/>
        </p:nvSpPr>
        <p:spPr>
          <a:xfrm>
            <a:off x="4315968" y="1463040"/>
            <a:ext cx="3547872" cy="2103120"/>
          </a:xfrm>
          <a:prstGeom prst="roundRect">
            <a:avLst>
              <a:gd name="adj" fmla="val 304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txBody>
          <a:bodyPr/>
          <a:lstStyle/>
          <a:p>
            <a:endParaRPr lang="vi-VN" dirty="0"/>
          </a:p>
        </p:txBody>
      </p:sp>
      <p:sp>
        <p:nvSpPr>
          <p:cNvPr id="11" name="Shape 9"/>
          <p:cNvSpPr/>
          <p:nvPr/>
        </p:nvSpPr>
        <p:spPr>
          <a:xfrm>
            <a:off x="4553712" y="1645920"/>
            <a:ext cx="475488" cy="475488"/>
          </a:xfrm>
          <a:prstGeom prst="roundRect">
            <a:avLst>
              <a:gd name="adj" fmla="val 23077"/>
            </a:avLst>
          </a:prstGeom>
          <a:solidFill>
            <a:srgbClr val="EAF4F8"/>
          </a:solidFill>
          <a:ln w="9525">
            <a:solidFill>
              <a:srgbClr val="BFDFE9"/>
            </a:solidFill>
            <a:prstDash val="solid"/>
          </a:ln>
        </p:spPr>
      </p:sp>
      <p:sp>
        <p:nvSpPr>
          <p:cNvPr id="12" name="Text 10"/>
          <p:cNvSpPr/>
          <p:nvPr/>
        </p:nvSpPr>
        <p:spPr>
          <a:xfrm>
            <a:off x="4553712" y="1645920"/>
            <a:ext cx="475488" cy="475488"/>
          </a:xfrm>
          <a:prstGeom prst="rect">
            <a:avLst/>
          </a:prstGeom>
          <a:noFill/>
          <a:ln/>
        </p:spPr>
        <p:txBody>
          <a:bodyPr wrap="square" lIns="0" tIns="0" rIns="0" bIns="0" rtlCol="0" anchor="ctr"/>
          <a:lstStyle/>
          <a:p>
            <a:pPr marL="0" indent="0" algn="ctr">
              <a:buNone/>
            </a:pPr>
            <a:r>
              <a:rPr lang="en-US" sz="1700" b="1" dirty="0">
                <a:solidFill>
                  <a:srgbClr val="1B8EA8"/>
                </a:solidFill>
                <a:latin typeface="Consolas" pitchFamily="34" charset="0"/>
                <a:ea typeface="Consolas" pitchFamily="34" charset="-122"/>
                <a:cs typeface="Consolas" pitchFamily="34" charset="-120"/>
              </a:rPr>
              <a:t>2</a:t>
            </a:r>
            <a:endParaRPr lang="en-US" sz="1700" dirty="0"/>
          </a:p>
        </p:txBody>
      </p:sp>
      <p:sp>
        <p:nvSpPr>
          <p:cNvPr id="13" name="Text 11"/>
          <p:cNvSpPr/>
          <p:nvPr/>
        </p:nvSpPr>
        <p:spPr>
          <a:xfrm>
            <a:off x="4553712" y="2185416"/>
            <a:ext cx="3090672" cy="566928"/>
          </a:xfrm>
          <a:prstGeom prst="rect">
            <a:avLst/>
          </a:prstGeom>
          <a:noFill/>
          <a:ln/>
        </p:spPr>
        <p:txBody>
          <a:bodyPr wrap="square" lIns="0" tIns="0" rIns="0" bIns="0" rtlCol="0" anchor="t"/>
          <a:lstStyle/>
          <a:p>
            <a:pPr marL="0" indent="0">
              <a:lnSpc>
                <a:spcPct val="98000"/>
              </a:lnSpc>
              <a:buNone/>
            </a:pPr>
            <a:r>
              <a:rPr lang="en-US" sz="2500" b="1" dirty="0">
                <a:solidFill>
                  <a:srgbClr val="062A3A"/>
                </a:solidFill>
                <a:latin typeface="Segoe UI" pitchFamily="34" charset="0"/>
                <a:ea typeface="Segoe UI" pitchFamily="34" charset="-122"/>
                <a:cs typeface="Segoe UI" pitchFamily="34" charset="-120"/>
              </a:rPr>
              <a:t>Xử lý ảnh</a:t>
            </a:r>
            <a:endParaRPr lang="en-US" sz="2500" dirty="0"/>
          </a:p>
        </p:txBody>
      </p:sp>
      <p:sp>
        <p:nvSpPr>
          <p:cNvPr id="14" name="Text 12"/>
          <p:cNvSpPr/>
          <p:nvPr/>
        </p:nvSpPr>
        <p:spPr>
          <a:xfrm>
            <a:off x="4535424" y="2633472"/>
            <a:ext cx="3090672" cy="603504"/>
          </a:xfrm>
          <a:prstGeom prst="rect">
            <a:avLst/>
          </a:prstGeom>
          <a:noFill/>
          <a:ln/>
        </p:spPr>
        <p:txBody>
          <a:bodyPr wrap="square" lIns="0" tIns="0" rIns="0" bIns="0" rtlCol="0" anchor="t"/>
          <a:lstStyle/>
          <a:p>
            <a:pPr marL="0" indent="0">
              <a:lnSpc>
                <a:spcPct val="100000"/>
              </a:lnSpc>
              <a:buNone/>
            </a:pPr>
            <a:r>
              <a:rPr lang="en-US" sz="2000" dirty="0">
                <a:solidFill>
                  <a:srgbClr val="415A6B"/>
                </a:solidFill>
                <a:latin typeface="Segoe UI" pitchFamily="34" charset="0"/>
                <a:ea typeface="Segoe UI" pitchFamily="34" charset="-122"/>
                <a:cs typeface="Segoe UI" pitchFamily="34" charset="-120"/>
              </a:rPr>
              <a:t>Ảnh là ma </a:t>
            </a:r>
            <a:r>
              <a:rPr lang="en-US" sz="2000" dirty="0" err="1">
                <a:solidFill>
                  <a:srgbClr val="415A6B"/>
                </a:solidFill>
                <a:latin typeface="Segoe UI" pitchFamily="34" charset="0"/>
                <a:ea typeface="Segoe UI" pitchFamily="34" charset="-122"/>
                <a:cs typeface="Segoe UI" pitchFamily="34" charset="-120"/>
              </a:rPr>
              <a:t>trận</a:t>
            </a:r>
            <a:r>
              <a:rPr lang="en-US" sz="2000" dirty="0">
                <a:solidFill>
                  <a:srgbClr val="415A6B"/>
                </a:solidFill>
                <a:latin typeface="Segoe UI" pitchFamily="34" charset="0"/>
                <a:ea typeface="Segoe UI" pitchFamily="34" charset="-122"/>
                <a:cs typeface="Segoe UI" pitchFamily="34" charset="-120"/>
              </a:rPr>
              <a:t> </a:t>
            </a:r>
            <a:r>
              <a:rPr lang="en-US" sz="2000" dirty="0" err="1">
                <a:solidFill>
                  <a:srgbClr val="415A6B"/>
                </a:solidFill>
                <a:latin typeface="Segoe UI" pitchFamily="34" charset="0"/>
                <a:ea typeface="Segoe UI" pitchFamily="34" charset="-122"/>
                <a:cs typeface="Segoe UI" pitchFamily="34" charset="-120"/>
              </a:rPr>
              <a:t>điểm</a:t>
            </a:r>
            <a:r>
              <a:rPr lang="en-US" sz="2000" dirty="0">
                <a:solidFill>
                  <a:srgbClr val="415A6B"/>
                </a:solidFill>
                <a:latin typeface="Segoe UI" pitchFamily="34" charset="0"/>
                <a:ea typeface="Segoe UI" pitchFamily="34" charset="-122"/>
                <a:cs typeface="Segoe UI" pitchFamily="34" charset="-120"/>
              </a:rPr>
              <a:t> </a:t>
            </a:r>
            <a:r>
              <a:rPr lang="en-US" sz="2000" dirty="0" err="1">
                <a:solidFill>
                  <a:srgbClr val="415A6B"/>
                </a:solidFill>
                <a:latin typeface="Segoe UI" pitchFamily="34" charset="0"/>
                <a:ea typeface="Segoe UI" pitchFamily="34" charset="-122"/>
                <a:cs typeface="Segoe UI" pitchFamily="34" charset="-120"/>
              </a:rPr>
              <a:t>ảnh</a:t>
            </a:r>
            <a:r>
              <a:rPr lang="en-US" sz="2000" dirty="0">
                <a:solidFill>
                  <a:srgbClr val="415A6B"/>
                </a:solidFill>
                <a:latin typeface="Segoe UI" pitchFamily="34" charset="0"/>
                <a:ea typeface="Segoe UI" pitchFamily="34" charset="-122"/>
                <a:cs typeface="Segoe UI" pitchFamily="34" charset="-120"/>
              </a:rPr>
              <a:t> ( bitmap ).</a:t>
            </a:r>
            <a:endParaRPr lang="en-US" sz="2000" dirty="0"/>
          </a:p>
        </p:txBody>
      </p:sp>
      <p:sp>
        <p:nvSpPr>
          <p:cNvPr id="15" name="Shape 13"/>
          <p:cNvSpPr/>
          <p:nvPr/>
        </p:nvSpPr>
        <p:spPr>
          <a:xfrm>
            <a:off x="8083296" y="1463040"/>
            <a:ext cx="3547872" cy="2103120"/>
          </a:xfrm>
          <a:prstGeom prst="roundRect">
            <a:avLst>
              <a:gd name="adj" fmla="val 304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6" name="Shape 14"/>
          <p:cNvSpPr/>
          <p:nvPr/>
        </p:nvSpPr>
        <p:spPr>
          <a:xfrm>
            <a:off x="8321040" y="1645920"/>
            <a:ext cx="475488" cy="475488"/>
          </a:xfrm>
          <a:prstGeom prst="roundRect">
            <a:avLst>
              <a:gd name="adj" fmla="val 23077"/>
            </a:avLst>
          </a:prstGeom>
          <a:solidFill>
            <a:srgbClr val="D6EEF5"/>
          </a:solidFill>
          <a:ln w="9525">
            <a:solidFill>
              <a:srgbClr val="BFDFE9"/>
            </a:solidFill>
            <a:prstDash val="solid"/>
          </a:ln>
        </p:spPr>
      </p:sp>
      <p:sp>
        <p:nvSpPr>
          <p:cNvPr id="17" name="Text 15"/>
          <p:cNvSpPr/>
          <p:nvPr/>
        </p:nvSpPr>
        <p:spPr>
          <a:xfrm>
            <a:off x="8321040" y="1645920"/>
            <a:ext cx="475488" cy="475488"/>
          </a:xfrm>
          <a:prstGeom prst="rect">
            <a:avLst/>
          </a:prstGeom>
          <a:noFill/>
          <a:ln/>
        </p:spPr>
        <p:txBody>
          <a:bodyPr wrap="square" lIns="0" tIns="0" rIns="0" bIns="0" rtlCol="0" anchor="ctr"/>
          <a:lstStyle/>
          <a:p>
            <a:pPr marL="0" indent="0" algn="ctr">
              <a:buNone/>
            </a:pPr>
            <a:r>
              <a:rPr lang="en-US" sz="1700" b="1" dirty="0">
                <a:solidFill>
                  <a:srgbClr val="1B8EA8"/>
                </a:solidFill>
                <a:latin typeface="Consolas" pitchFamily="34" charset="0"/>
                <a:ea typeface="Consolas" pitchFamily="34" charset="-122"/>
                <a:cs typeface="Consolas" pitchFamily="34" charset="-120"/>
              </a:rPr>
              <a:t>3</a:t>
            </a:r>
            <a:endParaRPr lang="en-US" sz="1700" dirty="0"/>
          </a:p>
        </p:txBody>
      </p:sp>
      <p:sp>
        <p:nvSpPr>
          <p:cNvPr id="18" name="Text 16"/>
          <p:cNvSpPr/>
          <p:nvPr/>
        </p:nvSpPr>
        <p:spPr>
          <a:xfrm>
            <a:off x="8321040" y="2185416"/>
            <a:ext cx="3090672" cy="566928"/>
          </a:xfrm>
          <a:prstGeom prst="rect">
            <a:avLst/>
          </a:prstGeom>
          <a:noFill/>
          <a:ln/>
        </p:spPr>
        <p:txBody>
          <a:bodyPr wrap="square" lIns="0" tIns="0" rIns="0" bIns="0" rtlCol="0" anchor="t"/>
          <a:lstStyle/>
          <a:p>
            <a:pPr marL="0" indent="0">
              <a:lnSpc>
                <a:spcPct val="98000"/>
              </a:lnSpc>
              <a:buNone/>
            </a:pPr>
            <a:r>
              <a:rPr lang="en-US" sz="2500" b="1" dirty="0">
                <a:solidFill>
                  <a:srgbClr val="062A3A"/>
                </a:solidFill>
                <a:latin typeface="Segoe UI" pitchFamily="34" charset="0"/>
                <a:ea typeface="Segoe UI" pitchFamily="34" charset="-122"/>
                <a:cs typeface="Segoe UI" pitchFamily="34" charset="-120"/>
              </a:rPr>
              <a:t>Thống kê &amp; dữ liệu</a:t>
            </a:r>
            <a:endParaRPr lang="en-US" sz="2500" dirty="0"/>
          </a:p>
        </p:txBody>
      </p:sp>
      <p:sp>
        <p:nvSpPr>
          <p:cNvPr id="19" name="Text 17"/>
          <p:cNvSpPr/>
          <p:nvPr/>
        </p:nvSpPr>
        <p:spPr>
          <a:xfrm>
            <a:off x="8302752" y="2633472"/>
            <a:ext cx="3090672" cy="603504"/>
          </a:xfrm>
          <a:prstGeom prst="rect">
            <a:avLst/>
          </a:prstGeom>
          <a:noFill/>
          <a:ln/>
        </p:spPr>
        <p:txBody>
          <a:bodyPr wrap="square" lIns="0" tIns="0" rIns="0" bIns="0" rtlCol="0" anchor="t"/>
          <a:lstStyle/>
          <a:p>
            <a:pPr marL="0" indent="0">
              <a:lnSpc>
                <a:spcPct val="100000"/>
              </a:lnSpc>
              <a:buNone/>
            </a:pPr>
            <a:r>
              <a:rPr lang="en-US" sz="2000" dirty="0" err="1">
                <a:solidFill>
                  <a:srgbClr val="415A6B"/>
                </a:solidFill>
                <a:latin typeface="Segoe UI" pitchFamily="34" charset="0"/>
                <a:ea typeface="Segoe UI" pitchFamily="34" charset="-122"/>
                <a:cs typeface="Segoe UI" pitchFamily="34" charset="-120"/>
              </a:rPr>
              <a:t>Tính</a:t>
            </a:r>
            <a:r>
              <a:rPr lang="en-US" sz="2000" dirty="0">
                <a:solidFill>
                  <a:srgbClr val="415A6B"/>
                </a:solidFill>
                <a:latin typeface="Segoe UI" pitchFamily="34" charset="0"/>
                <a:ea typeface="Segoe UI" pitchFamily="34" charset="-122"/>
                <a:cs typeface="Segoe UI" pitchFamily="34" charset="-120"/>
              </a:rPr>
              <a:t> </a:t>
            </a:r>
            <a:r>
              <a:rPr lang="en-US" sz="2000" dirty="0" err="1">
                <a:solidFill>
                  <a:srgbClr val="415A6B"/>
                </a:solidFill>
                <a:latin typeface="Segoe UI" pitchFamily="34" charset="0"/>
                <a:ea typeface="Segoe UI" pitchFamily="34" charset="-122"/>
                <a:cs typeface="Segoe UI" pitchFamily="34" charset="-120"/>
              </a:rPr>
              <a:t>toán</a:t>
            </a:r>
            <a:r>
              <a:rPr lang="en-US" sz="2000" dirty="0">
                <a:solidFill>
                  <a:srgbClr val="415A6B"/>
                </a:solidFill>
                <a:latin typeface="Segoe UI" pitchFamily="34" charset="0"/>
                <a:ea typeface="Segoe UI" pitchFamily="34" charset="-122"/>
                <a:cs typeface="Segoe UI" pitchFamily="34" charset="-120"/>
              </a:rPr>
              <a:t> </a:t>
            </a:r>
            <a:r>
              <a:rPr lang="en-US" sz="2000" dirty="0" err="1">
                <a:solidFill>
                  <a:srgbClr val="415A6B"/>
                </a:solidFill>
                <a:latin typeface="Segoe UI" pitchFamily="34" charset="0"/>
                <a:ea typeface="Segoe UI" pitchFamily="34" charset="-122"/>
                <a:cs typeface="Segoe UI" pitchFamily="34" charset="-120"/>
              </a:rPr>
              <a:t>nhanh</a:t>
            </a:r>
            <a:r>
              <a:rPr lang="en-US" sz="2000" dirty="0">
                <a:solidFill>
                  <a:srgbClr val="415A6B"/>
                </a:solidFill>
                <a:latin typeface="Segoe UI" pitchFamily="34" charset="0"/>
                <a:ea typeface="Segoe UI" pitchFamily="34" charset="-122"/>
                <a:cs typeface="Segoe UI" pitchFamily="34" charset="-120"/>
              </a:rPr>
              <a:t> </a:t>
            </a:r>
            <a:r>
              <a:rPr lang="en-US" sz="2000" dirty="0" err="1">
                <a:solidFill>
                  <a:srgbClr val="415A6B"/>
                </a:solidFill>
                <a:latin typeface="Segoe UI" pitchFamily="34" charset="0"/>
                <a:ea typeface="Segoe UI" pitchFamily="34" charset="-122"/>
                <a:cs typeface="Segoe UI" pitchFamily="34" charset="-120"/>
              </a:rPr>
              <a:t>trên</a:t>
            </a:r>
            <a:r>
              <a:rPr lang="en-US" sz="2000" dirty="0">
                <a:solidFill>
                  <a:srgbClr val="415A6B"/>
                </a:solidFill>
                <a:latin typeface="Segoe UI" pitchFamily="34" charset="0"/>
                <a:ea typeface="Segoe UI" pitchFamily="34" charset="-122"/>
                <a:cs typeface="Segoe UI" pitchFamily="34" charset="-120"/>
              </a:rPr>
              <a:t> mảng lớn.</a:t>
            </a:r>
            <a:endParaRPr lang="en-US" sz="2000" dirty="0"/>
          </a:p>
        </p:txBody>
      </p:sp>
      <p:sp>
        <p:nvSpPr>
          <p:cNvPr id="20" name="Shape 18"/>
          <p:cNvSpPr/>
          <p:nvPr/>
        </p:nvSpPr>
        <p:spPr>
          <a:xfrm>
            <a:off x="2432304" y="3675888"/>
            <a:ext cx="3547872" cy="2103120"/>
          </a:xfrm>
          <a:prstGeom prst="roundRect">
            <a:avLst>
              <a:gd name="adj" fmla="val 304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1" name="Shape 19"/>
          <p:cNvSpPr/>
          <p:nvPr/>
        </p:nvSpPr>
        <p:spPr>
          <a:xfrm>
            <a:off x="2670048" y="3858768"/>
            <a:ext cx="475488" cy="475488"/>
          </a:xfrm>
          <a:prstGeom prst="roundRect">
            <a:avLst>
              <a:gd name="adj" fmla="val 23077"/>
            </a:avLst>
          </a:prstGeom>
          <a:solidFill>
            <a:srgbClr val="EAF4F8"/>
          </a:solidFill>
          <a:ln w="9525">
            <a:solidFill>
              <a:srgbClr val="BFDFE9"/>
            </a:solidFill>
            <a:prstDash val="solid"/>
          </a:ln>
        </p:spPr>
      </p:sp>
      <p:sp>
        <p:nvSpPr>
          <p:cNvPr id="22" name="Text 20"/>
          <p:cNvSpPr/>
          <p:nvPr/>
        </p:nvSpPr>
        <p:spPr>
          <a:xfrm>
            <a:off x="2670048" y="3858768"/>
            <a:ext cx="475488" cy="475488"/>
          </a:xfrm>
          <a:prstGeom prst="rect">
            <a:avLst/>
          </a:prstGeom>
          <a:noFill/>
          <a:ln/>
        </p:spPr>
        <p:txBody>
          <a:bodyPr wrap="square" lIns="0" tIns="0" rIns="0" bIns="0" rtlCol="0" anchor="ctr"/>
          <a:lstStyle/>
          <a:p>
            <a:pPr marL="0" indent="0" algn="ctr">
              <a:buNone/>
            </a:pPr>
            <a:r>
              <a:rPr lang="en-US" sz="1700" b="1" dirty="0">
                <a:solidFill>
                  <a:srgbClr val="1B8EA8"/>
                </a:solidFill>
                <a:latin typeface="Consolas" pitchFamily="34" charset="0"/>
                <a:ea typeface="Consolas" pitchFamily="34" charset="-122"/>
                <a:cs typeface="Consolas" pitchFamily="34" charset="-120"/>
              </a:rPr>
              <a:t>4</a:t>
            </a:r>
            <a:endParaRPr lang="en-US" sz="1700" dirty="0"/>
          </a:p>
        </p:txBody>
      </p:sp>
      <p:sp>
        <p:nvSpPr>
          <p:cNvPr id="23" name="Text 21"/>
          <p:cNvSpPr/>
          <p:nvPr/>
        </p:nvSpPr>
        <p:spPr>
          <a:xfrm>
            <a:off x="2651760" y="4398264"/>
            <a:ext cx="3090672" cy="566928"/>
          </a:xfrm>
          <a:prstGeom prst="rect">
            <a:avLst/>
          </a:prstGeom>
          <a:noFill/>
          <a:ln/>
        </p:spPr>
        <p:txBody>
          <a:bodyPr wrap="square" lIns="0" tIns="0" rIns="0" bIns="0" rtlCol="0" anchor="t"/>
          <a:lstStyle/>
          <a:p>
            <a:pPr marL="0" indent="0">
              <a:lnSpc>
                <a:spcPct val="98000"/>
              </a:lnSpc>
              <a:buNone/>
            </a:pPr>
            <a:r>
              <a:rPr lang="en-US" sz="2500" b="1" dirty="0">
                <a:solidFill>
                  <a:srgbClr val="062A3A"/>
                </a:solidFill>
                <a:latin typeface="Segoe UI" pitchFamily="34" charset="0"/>
                <a:ea typeface="Segoe UI" pitchFamily="34" charset="-122"/>
                <a:cs typeface="Segoe UI" pitchFamily="34" charset="-120"/>
              </a:rPr>
              <a:t>Học máy</a:t>
            </a:r>
            <a:endParaRPr lang="en-US" sz="2500" dirty="0"/>
          </a:p>
        </p:txBody>
      </p:sp>
      <p:sp>
        <p:nvSpPr>
          <p:cNvPr id="24" name="Text 22"/>
          <p:cNvSpPr/>
          <p:nvPr/>
        </p:nvSpPr>
        <p:spPr>
          <a:xfrm>
            <a:off x="2651760" y="4846320"/>
            <a:ext cx="3090672" cy="603504"/>
          </a:xfrm>
          <a:prstGeom prst="rect">
            <a:avLst/>
          </a:prstGeom>
          <a:noFill/>
          <a:ln/>
        </p:spPr>
        <p:txBody>
          <a:bodyPr wrap="square" lIns="0" tIns="0" rIns="0" bIns="0" rtlCol="0" anchor="t"/>
          <a:lstStyle/>
          <a:p>
            <a:pPr marL="0" indent="0">
              <a:lnSpc>
                <a:spcPct val="100000"/>
              </a:lnSpc>
              <a:buNone/>
            </a:pPr>
            <a:r>
              <a:rPr lang="en-US" sz="2000" dirty="0">
                <a:solidFill>
                  <a:srgbClr val="415A6B"/>
                </a:solidFill>
                <a:latin typeface="Segoe UI" pitchFamily="34" charset="0"/>
                <a:ea typeface="Segoe UI" pitchFamily="34" charset="-122"/>
                <a:cs typeface="Segoe UI" pitchFamily="34" charset="-120"/>
              </a:rPr>
              <a:t>Đặc trưng, trọng số, gradient.</a:t>
            </a:r>
            <a:endParaRPr lang="en-US" sz="2000" dirty="0"/>
          </a:p>
        </p:txBody>
      </p:sp>
      <p:sp>
        <p:nvSpPr>
          <p:cNvPr id="25" name="Shape 23"/>
          <p:cNvSpPr/>
          <p:nvPr/>
        </p:nvSpPr>
        <p:spPr>
          <a:xfrm>
            <a:off x="6199632" y="3675888"/>
            <a:ext cx="3547872" cy="2103120"/>
          </a:xfrm>
          <a:prstGeom prst="roundRect">
            <a:avLst>
              <a:gd name="adj" fmla="val 304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6" name="Shape 24"/>
          <p:cNvSpPr/>
          <p:nvPr/>
        </p:nvSpPr>
        <p:spPr>
          <a:xfrm>
            <a:off x="6437376" y="3858768"/>
            <a:ext cx="475488" cy="475488"/>
          </a:xfrm>
          <a:prstGeom prst="roundRect">
            <a:avLst>
              <a:gd name="adj" fmla="val 23077"/>
            </a:avLst>
          </a:prstGeom>
          <a:solidFill>
            <a:srgbClr val="D6EEF5"/>
          </a:solidFill>
          <a:ln w="9525">
            <a:solidFill>
              <a:srgbClr val="BFDFE9"/>
            </a:solidFill>
            <a:prstDash val="solid"/>
          </a:ln>
        </p:spPr>
      </p:sp>
      <p:sp>
        <p:nvSpPr>
          <p:cNvPr id="27" name="Text 25"/>
          <p:cNvSpPr/>
          <p:nvPr/>
        </p:nvSpPr>
        <p:spPr>
          <a:xfrm>
            <a:off x="6437376" y="3858768"/>
            <a:ext cx="475488" cy="475488"/>
          </a:xfrm>
          <a:prstGeom prst="rect">
            <a:avLst/>
          </a:prstGeom>
          <a:noFill/>
          <a:ln/>
        </p:spPr>
        <p:txBody>
          <a:bodyPr wrap="square" lIns="0" tIns="0" rIns="0" bIns="0" rtlCol="0" anchor="ctr"/>
          <a:lstStyle/>
          <a:p>
            <a:pPr marL="0" indent="0" algn="ctr">
              <a:buNone/>
            </a:pPr>
            <a:r>
              <a:rPr lang="en-US" sz="1700" b="1" dirty="0">
                <a:solidFill>
                  <a:srgbClr val="1B8EA8"/>
                </a:solidFill>
                <a:latin typeface="Consolas" pitchFamily="34" charset="0"/>
                <a:ea typeface="Consolas" pitchFamily="34" charset="-122"/>
                <a:cs typeface="Consolas" pitchFamily="34" charset="-120"/>
              </a:rPr>
              <a:t>5</a:t>
            </a:r>
            <a:endParaRPr lang="en-US" sz="1700" dirty="0"/>
          </a:p>
        </p:txBody>
      </p:sp>
      <p:sp>
        <p:nvSpPr>
          <p:cNvPr id="28" name="Text 26"/>
          <p:cNvSpPr/>
          <p:nvPr/>
        </p:nvSpPr>
        <p:spPr>
          <a:xfrm>
            <a:off x="6419088" y="4462272"/>
            <a:ext cx="3090672" cy="566928"/>
          </a:xfrm>
          <a:prstGeom prst="rect">
            <a:avLst/>
          </a:prstGeom>
          <a:noFill/>
          <a:ln/>
        </p:spPr>
        <p:txBody>
          <a:bodyPr wrap="square" lIns="0" tIns="0" rIns="0" bIns="0" rtlCol="0" anchor="t"/>
          <a:lstStyle/>
          <a:p>
            <a:pPr marL="0" indent="0">
              <a:lnSpc>
                <a:spcPct val="98000"/>
              </a:lnSpc>
              <a:buNone/>
            </a:pPr>
            <a:r>
              <a:rPr lang="en-US" sz="2500" b="1" dirty="0">
                <a:solidFill>
                  <a:srgbClr val="062A3A"/>
                </a:solidFill>
                <a:latin typeface="Segoe UI" pitchFamily="34" charset="0"/>
                <a:ea typeface="Segoe UI" pitchFamily="34" charset="-122"/>
                <a:cs typeface="Segoe UI" pitchFamily="34" charset="-120"/>
              </a:rPr>
              <a:t>Mô phỏng số</a:t>
            </a:r>
            <a:endParaRPr lang="en-US" sz="2500" dirty="0"/>
          </a:p>
        </p:txBody>
      </p:sp>
      <p:sp>
        <p:nvSpPr>
          <p:cNvPr id="29" name="Text 27"/>
          <p:cNvSpPr/>
          <p:nvPr/>
        </p:nvSpPr>
        <p:spPr>
          <a:xfrm>
            <a:off x="6428232" y="4855464"/>
            <a:ext cx="3090672" cy="603504"/>
          </a:xfrm>
          <a:prstGeom prst="rect">
            <a:avLst/>
          </a:prstGeom>
          <a:noFill/>
          <a:ln/>
        </p:spPr>
        <p:txBody>
          <a:bodyPr wrap="square" lIns="0" tIns="0" rIns="0" bIns="0" rtlCol="0" anchor="t"/>
          <a:lstStyle/>
          <a:p>
            <a:pPr marL="0" indent="0">
              <a:lnSpc>
                <a:spcPct val="100000"/>
              </a:lnSpc>
              <a:buNone/>
            </a:pPr>
            <a:r>
              <a:rPr lang="en-US" sz="2000" dirty="0">
                <a:solidFill>
                  <a:srgbClr val="415A6B"/>
                </a:solidFill>
                <a:latin typeface="Segoe UI" pitchFamily="34" charset="0"/>
                <a:ea typeface="Segoe UI" pitchFamily="34" charset="-122"/>
                <a:cs typeface="Segoe UI" pitchFamily="34" charset="-120"/>
              </a:rPr>
              <a:t>Lưới không gian, thời gian.</a:t>
            </a:r>
            <a:endParaRPr lang="en-US" sz="2000" dirty="0"/>
          </a:p>
        </p:txBody>
      </p:sp>
      <p:sp>
        <p:nvSpPr>
          <p:cNvPr id="30" name="Shape 28"/>
          <p:cNvSpPr/>
          <p:nvPr/>
        </p:nvSpPr>
        <p:spPr>
          <a:xfrm>
            <a:off x="548640" y="5888736"/>
            <a:ext cx="11091672" cy="420624"/>
          </a:xfrm>
          <a:prstGeom prst="roundRect">
            <a:avLst>
              <a:gd name="adj" fmla="val 15217"/>
            </a:avLst>
          </a:prstGeom>
          <a:solidFill>
            <a:srgbClr val="EAF4F8"/>
          </a:solidFill>
          <a:ln w="9525">
            <a:solidFill>
              <a:srgbClr val="CFE5EE"/>
            </a:solidFill>
            <a:prstDash val="solid"/>
          </a:ln>
        </p:spPr>
      </p:sp>
      <p:sp>
        <p:nvSpPr>
          <p:cNvPr id="31" name="Text 29"/>
          <p:cNvSpPr/>
          <p:nvPr/>
        </p:nvSpPr>
        <p:spPr>
          <a:xfrm>
            <a:off x="777240" y="5888736"/>
            <a:ext cx="10607040" cy="420624"/>
          </a:xfrm>
          <a:prstGeom prst="rect">
            <a:avLst/>
          </a:prstGeom>
          <a:noFill/>
          <a:ln/>
        </p:spPr>
        <p:txBody>
          <a:bodyPr wrap="square" lIns="0" tIns="0" rIns="0" bIns="0" rtlCol="0" anchor="ctr"/>
          <a:lstStyle/>
          <a:p>
            <a:pPr marL="0" indent="0" algn="ctr">
              <a:buNone/>
            </a:pPr>
            <a:r>
              <a:rPr lang="en-US" sz="2000" b="1" dirty="0">
                <a:solidFill>
                  <a:srgbClr val="1B8EA8"/>
                </a:solidFill>
                <a:latin typeface="Segoe UI" pitchFamily="34" charset="0"/>
                <a:ea typeface="Segoe UI" pitchFamily="34" charset="-122"/>
                <a:cs typeface="Segoe UI" pitchFamily="34" charset="-120"/>
              </a:rPr>
              <a:t>Điểm chung: dữ liệu số, đồng nhất kiểu, kích thước lớn.</a:t>
            </a:r>
            <a:endParaRPr lang="en-US" sz="2000" dirty="0"/>
          </a:p>
        </p:txBody>
      </p:sp>
      <p:sp>
        <p:nvSpPr>
          <p:cNvPr id="32" name="Shape 30"/>
          <p:cNvSpPr/>
          <p:nvPr/>
        </p:nvSpPr>
        <p:spPr>
          <a:xfrm>
            <a:off x="548640" y="6437376"/>
            <a:ext cx="11091672" cy="9144"/>
          </a:xfrm>
          <a:prstGeom prst="rect">
            <a:avLst/>
          </a:prstGeom>
          <a:solidFill>
            <a:srgbClr val="D7E5EC"/>
          </a:solidFill>
          <a:ln w="12700">
            <a:solidFill>
              <a:srgbClr val="D7E5EC"/>
            </a:solidFill>
            <a:prstDash val="solid"/>
          </a:ln>
        </p:spPr>
      </p:sp>
      <p:sp>
        <p:nvSpPr>
          <p:cNvPr id="33" name="Text 31"/>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4" name="Text 32"/>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07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r>
              <a:rPr lang="en-US" sz="1200" b="1" kern="0" spc="15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Python list và NumPy array – So </a:t>
            </a:r>
            <a:r>
              <a:rPr lang="en-US" sz="3200" b="1" dirty="0" err="1">
                <a:solidFill>
                  <a:srgbClr val="062A3A"/>
                </a:solidFill>
                <a:latin typeface="Segoe UI" pitchFamily="34" charset="0"/>
                <a:ea typeface="Segoe UI" pitchFamily="34" charset="-122"/>
                <a:cs typeface="Segoe UI" pitchFamily="34" charset="-120"/>
              </a:rPr>
              <a:t>sánh</a:t>
            </a:r>
            <a:r>
              <a:rPr lang="en-US" sz="3200" b="1" dirty="0">
                <a:solidFill>
                  <a:srgbClr val="062A3A"/>
                </a:solidFill>
                <a:latin typeface="Segoe UI" pitchFamily="34" charset="0"/>
                <a:ea typeface="Segoe UI" pitchFamily="34" charset="-122"/>
                <a:cs typeface="Segoe UI" pitchFamily="34" charset="-120"/>
              </a:rPr>
              <a:t> chi </a:t>
            </a:r>
            <a:r>
              <a:rPr lang="en-US" sz="3200" b="1" dirty="0" err="1">
                <a:solidFill>
                  <a:srgbClr val="062A3A"/>
                </a:solidFill>
                <a:latin typeface="Segoe UI" pitchFamily="34" charset="0"/>
                <a:ea typeface="Segoe UI" pitchFamily="34" charset="-122"/>
                <a:cs typeface="Segoe UI" pitchFamily="34" charset="-120"/>
              </a:rPr>
              <a:t>tiết</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3684924841"/>
              </p:ext>
            </p:extLst>
          </p:nvPr>
        </p:nvGraphicFramePr>
        <p:xfrm>
          <a:off x="548640" y="1481328"/>
          <a:ext cx="5989320" cy="3906520"/>
        </p:xfrm>
        <a:graphic>
          <a:graphicData uri="http://schemas.openxmlformats.org/drawingml/2006/table">
            <a:tbl>
              <a:tblPr/>
              <a:tblGrid>
                <a:gridCol w="123444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438912">
                <a:tc>
                  <a:txBody>
                    <a:bodyPr/>
                    <a:lstStyle/>
                    <a:p>
                      <a:pPr marL="0" indent="0">
                        <a:buNone/>
                      </a:pPr>
                      <a:r>
                        <a:rPr lang="en-US" sz="2000" b="1" dirty="0">
                          <a:solidFill>
                            <a:srgbClr val="FFFFFF"/>
                          </a:solidFill>
                          <a:latin typeface="Segoe UI" pitchFamily="34" charset="0"/>
                          <a:ea typeface="Segoe UI" pitchFamily="34" charset="-122"/>
                          <a:cs typeface="Segoe UI" pitchFamily="34" charset="-120"/>
                        </a:rPr>
                        <a:t>Tiêu chí</a:t>
                      </a:r>
                      <a:endParaRPr lang="en-US" sz="20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2000" b="1" dirty="0">
                          <a:solidFill>
                            <a:srgbClr val="FFFFFF"/>
                          </a:solidFill>
                          <a:latin typeface="Segoe UI" pitchFamily="34" charset="0"/>
                          <a:ea typeface="Segoe UI" pitchFamily="34" charset="-122"/>
                          <a:cs typeface="Segoe UI" pitchFamily="34" charset="-120"/>
                        </a:rPr>
                        <a:t>Python list</a:t>
                      </a:r>
                      <a:endParaRPr lang="en-US" sz="20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2000" b="1" dirty="0">
                          <a:solidFill>
                            <a:srgbClr val="FFFFFF"/>
                          </a:solidFill>
                          <a:latin typeface="Segoe UI" pitchFamily="34" charset="0"/>
                          <a:ea typeface="Segoe UI" pitchFamily="34" charset="-122"/>
                          <a:cs typeface="Segoe UI" pitchFamily="34" charset="-120"/>
                        </a:rPr>
                        <a:t>NumPy array</a:t>
                      </a:r>
                      <a:endParaRPr lang="en-US" sz="20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extLst>
                  <a:ext uri="{0D108BD9-81ED-4DB2-BD59-A6C34878D82A}">
                    <a16:rowId xmlns:a16="http://schemas.microsoft.com/office/drawing/2014/main" val="10000"/>
                  </a:ext>
                </a:extLst>
              </a:tr>
              <a:tr h="640080">
                <a:tc>
                  <a:txBody>
                    <a:bodyPr/>
                    <a:lstStyle/>
                    <a:p>
                      <a:pPr marL="0" indent="0">
                        <a:buNone/>
                      </a:pPr>
                      <a:r>
                        <a:rPr lang="en-US" sz="1800" b="1" dirty="0">
                          <a:solidFill>
                            <a:srgbClr val="062A3A"/>
                          </a:solidFill>
                          <a:latin typeface="Segoe UI" pitchFamily="34" charset="0"/>
                          <a:ea typeface="Segoe UI" pitchFamily="34" charset="-122"/>
                          <a:cs typeface="Segoe UI" pitchFamily="34" charset="-120"/>
                        </a:rPr>
                        <a:t>Kiểu dữ liệu</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Hỗn hợp</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Đồng nhất, một dtype</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800" b="1" dirty="0">
                          <a:solidFill>
                            <a:srgbClr val="062A3A"/>
                          </a:solidFill>
                          <a:latin typeface="Segoe UI" pitchFamily="34" charset="0"/>
                          <a:ea typeface="Segoe UI" pitchFamily="34" charset="-122"/>
                          <a:cs typeface="Segoe UI" pitchFamily="34" charset="-120"/>
                        </a:rPr>
                        <a:t>Phép * 2</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Lặp danh sách</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Nhân từng phần tử</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2"/>
                  </a:ext>
                </a:extLst>
              </a:tr>
              <a:tr h="658368">
                <a:tc>
                  <a:txBody>
                    <a:bodyPr/>
                    <a:lstStyle/>
                    <a:p>
                      <a:pPr marL="0" indent="0">
                        <a:buNone/>
                      </a:pPr>
                      <a:r>
                        <a:rPr lang="en-US" sz="1800" b="1" dirty="0">
                          <a:solidFill>
                            <a:srgbClr val="062A3A"/>
                          </a:solidFill>
                          <a:latin typeface="Segoe UI" pitchFamily="34" charset="0"/>
                          <a:ea typeface="Segoe UI" pitchFamily="34" charset="-122"/>
                          <a:cs typeface="Segoe UI" pitchFamily="34" charset="-120"/>
                        </a:rPr>
                        <a:t>Nhiều chiều</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List lồng nhau, có thể “răng cưa”</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Mảng N chiều xác định</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800" b="1" dirty="0">
                          <a:solidFill>
                            <a:srgbClr val="062A3A"/>
                          </a:solidFill>
                          <a:latin typeface="Segoe UI" pitchFamily="34" charset="0"/>
                          <a:ea typeface="Segoe UI" pitchFamily="34" charset="-122"/>
                          <a:cs typeface="Segoe UI" pitchFamily="34" charset="-120"/>
                        </a:rPr>
                        <a:t>Bộ nhớ</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Các object rời rạc</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Khối dữ liệu đồng nhất</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4"/>
                  </a:ext>
                </a:extLst>
              </a:tr>
              <a:tr h="502920">
                <a:tc>
                  <a:txBody>
                    <a:bodyPr/>
                    <a:lstStyle/>
                    <a:p>
                      <a:pPr marL="0" indent="0">
                        <a:buNone/>
                      </a:pPr>
                      <a:r>
                        <a:rPr lang="en-US" sz="1800" b="1" dirty="0">
                          <a:solidFill>
                            <a:srgbClr val="062A3A"/>
                          </a:solidFill>
                          <a:latin typeface="Segoe UI" pitchFamily="34" charset="0"/>
                          <a:ea typeface="Segoe UI" pitchFamily="34" charset="-122"/>
                          <a:cs typeface="Segoe UI" pitchFamily="34" charset="-120"/>
                        </a:rPr>
                        <a:t>Hiệu năng</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Vòng lặp Python</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Vector hóa trong code C</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800" b="1" dirty="0">
                          <a:solidFill>
                            <a:srgbClr val="062A3A"/>
                          </a:solidFill>
                          <a:latin typeface="Segoe UI" pitchFamily="34" charset="0"/>
                          <a:ea typeface="Segoe UI" pitchFamily="34" charset="-122"/>
                          <a:cs typeface="Segoe UI" pitchFamily="34" charset="-120"/>
                        </a:rPr>
                        <a:t>Kích thước</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Linh hoạt</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Cố định sau khi tạo</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6"/>
                  </a:ext>
                </a:extLst>
              </a:tr>
            </a:tbl>
          </a:graphicData>
        </a:graphic>
      </p:graphicFrame>
      <p:sp>
        <p:nvSpPr>
          <p:cNvPr id="6" name="Shape 3"/>
          <p:cNvSpPr/>
          <p:nvPr/>
        </p:nvSpPr>
        <p:spPr>
          <a:xfrm>
            <a:off x="6720840" y="1481328"/>
            <a:ext cx="4919472" cy="1645920"/>
          </a:xfrm>
          <a:prstGeom prst="roundRect">
            <a:avLst>
              <a:gd name="adj" fmla="val 2778"/>
            </a:avLst>
          </a:prstGeom>
          <a:solidFill>
            <a:srgbClr val="0B2230"/>
          </a:solidFill>
          <a:ln w="9525">
            <a:solidFill>
              <a:srgbClr val="163B4C"/>
            </a:solidFill>
            <a:prstDash val="solid"/>
          </a:ln>
        </p:spPr>
      </p:sp>
      <p:sp>
        <p:nvSpPr>
          <p:cNvPr id="7" name="Shape 4"/>
          <p:cNvSpPr/>
          <p:nvPr/>
        </p:nvSpPr>
        <p:spPr>
          <a:xfrm>
            <a:off x="6720840" y="1481328"/>
            <a:ext cx="4919472" cy="310896"/>
          </a:xfrm>
          <a:prstGeom prst="rect">
            <a:avLst/>
          </a:prstGeom>
          <a:solidFill>
            <a:srgbClr val="103445"/>
          </a:solidFill>
          <a:ln w="12700">
            <a:solidFill>
              <a:srgbClr val="103445"/>
            </a:solidFill>
            <a:prstDash val="solid"/>
          </a:ln>
        </p:spPr>
      </p:sp>
      <p:sp>
        <p:nvSpPr>
          <p:cNvPr id="8" name="Text 5"/>
          <p:cNvSpPr/>
          <p:nvPr/>
        </p:nvSpPr>
        <p:spPr>
          <a:xfrm>
            <a:off x="6867144" y="1545336"/>
            <a:ext cx="4005072" cy="201168"/>
          </a:xfrm>
          <a:prstGeom prst="rect">
            <a:avLst/>
          </a:prstGeom>
          <a:noFill/>
          <a:ln/>
        </p:spPr>
        <p:txBody>
          <a:bodyPr wrap="square" lIns="0" tIns="0" rIns="0" bIns="0" rtlCol="0" anchor="t"/>
          <a:lstStyle/>
          <a:p>
            <a:pPr marL="0" indent="0">
              <a:buNone/>
            </a:pPr>
            <a:r>
              <a:rPr lang="en-US" sz="1300" dirty="0">
                <a:solidFill>
                  <a:srgbClr val="8FB6C8"/>
                </a:solidFill>
                <a:latin typeface="Consolas" pitchFamily="34" charset="0"/>
                <a:ea typeface="Consolas" pitchFamily="34" charset="-122"/>
                <a:cs typeface="Consolas" pitchFamily="34" charset="-120"/>
              </a:rPr>
              <a:t>python</a:t>
            </a:r>
            <a:endParaRPr lang="en-US" sz="1300" dirty="0"/>
          </a:p>
        </p:txBody>
      </p:sp>
      <p:sp>
        <p:nvSpPr>
          <p:cNvPr id="5" name="Shape 6"/>
          <p:cNvSpPr/>
          <p:nvPr/>
        </p:nvSpPr>
        <p:spPr>
          <a:xfrm>
            <a:off x="11073384" y="1600200"/>
            <a:ext cx="82296" cy="82296"/>
          </a:xfrm>
          <a:prstGeom prst="ellipse">
            <a:avLst/>
          </a:prstGeom>
          <a:solidFill>
            <a:srgbClr val="D96C5F"/>
          </a:solidFill>
          <a:ln w="12700">
            <a:solidFill>
              <a:srgbClr val="D96C5F"/>
            </a:solidFill>
            <a:prstDash val="solid"/>
          </a:ln>
        </p:spPr>
      </p:sp>
      <p:sp>
        <p:nvSpPr>
          <p:cNvPr id="10" name="Shape 7"/>
          <p:cNvSpPr/>
          <p:nvPr/>
        </p:nvSpPr>
        <p:spPr>
          <a:xfrm>
            <a:off x="11228832" y="1600200"/>
            <a:ext cx="82296" cy="82296"/>
          </a:xfrm>
          <a:prstGeom prst="ellipse">
            <a:avLst/>
          </a:prstGeom>
          <a:solidFill>
            <a:srgbClr val="E8A33D"/>
          </a:solidFill>
          <a:ln w="12700">
            <a:solidFill>
              <a:srgbClr val="E8A33D"/>
            </a:solidFill>
            <a:prstDash val="solid"/>
          </a:ln>
        </p:spPr>
      </p:sp>
      <p:sp>
        <p:nvSpPr>
          <p:cNvPr id="11" name="Shape 8"/>
          <p:cNvSpPr/>
          <p:nvPr/>
        </p:nvSpPr>
        <p:spPr>
          <a:xfrm>
            <a:off x="11384280" y="1600200"/>
            <a:ext cx="82296" cy="82296"/>
          </a:xfrm>
          <a:prstGeom prst="ellipse">
            <a:avLst/>
          </a:prstGeom>
          <a:solidFill>
            <a:srgbClr val="2D8C6F"/>
          </a:solidFill>
          <a:ln w="12700">
            <a:solidFill>
              <a:srgbClr val="2D8C6F"/>
            </a:solidFill>
            <a:prstDash val="solid"/>
          </a:ln>
        </p:spPr>
      </p:sp>
      <p:sp>
        <p:nvSpPr>
          <p:cNvPr id="12" name="Text 9"/>
          <p:cNvSpPr/>
          <p:nvPr/>
        </p:nvSpPr>
        <p:spPr>
          <a:xfrm>
            <a:off x="6885432" y="1892808"/>
            <a:ext cx="4626864" cy="1170432"/>
          </a:xfrm>
          <a:prstGeom prst="rect">
            <a:avLst/>
          </a:prstGeom>
          <a:noFill/>
          <a:ln/>
        </p:spPr>
        <p:txBody>
          <a:bodyPr wrap="square" lIns="0" tIns="0" rIns="0" bIns="0" rtlCol="0" anchor="t"/>
          <a:lstStyle/>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F08A7C"/>
                </a:solidFill>
                <a:latin typeface="Consolas" pitchFamily="34" charset="0"/>
                <a:ea typeface="Consolas" pitchFamily="34" charset="-122"/>
                <a:cs typeface="Consolas" pitchFamily="34" charset="-120"/>
              </a:rPr>
              <a:t>1</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3</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4</a:t>
            </a:r>
            <a:r>
              <a:rPr lang="en-US" dirty="0">
                <a:solidFill>
                  <a:srgbClr val="D6E6EF"/>
                </a:solidFill>
                <a:latin typeface="Consolas" pitchFamily="34" charset="0"/>
                <a:ea typeface="Consolas" pitchFamily="34" charset="-122"/>
                <a:cs typeface="Consolas" pitchFamily="34" charset="-120"/>
              </a:rPr>
              <a:t>] * </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D6E6EF"/>
                </a:solidFill>
                <a:latin typeface="Consolas" pitchFamily="34" charset="0"/>
                <a:ea typeface="Consolas" pitchFamily="34" charset="-122"/>
                <a:cs typeface="Consolas" pitchFamily="34" charset="-120"/>
              </a:rPr>
              <a:t>a =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.array([</a:t>
            </a:r>
            <a:r>
              <a:rPr lang="en-US" dirty="0">
                <a:solidFill>
                  <a:srgbClr val="F08A7C"/>
                </a:solidFill>
                <a:latin typeface="Consolas" pitchFamily="34" charset="0"/>
                <a:ea typeface="Consolas" pitchFamily="34" charset="-122"/>
                <a:cs typeface="Consolas" pitchFamily="34" charset="-120"/>
              </a:rPr>
              <a:t>1</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3</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4</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 * </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a:t>
            </a:r>
            <a:endParaRPr lang="en-US" dirty="0"/>
          </a:p>
        </p:txBody>
      </p:sp>
      <p:sp>
        <p:nvSpPr>
          <p:cNvPr id="13" name="Shape 10"/>
          <p:cNvSpPr/>
          <p:nvPr/>
        </p:nvSpPr>
        <p:spPr>
          <a:xfrm>
            <a:off x="6720840" y="3246120"/>
            <a:ext cx="4919472" cy="1143000"/>
          </a:xfrm>
          <a:prstGeom prst="roundRect">
            <a:avLst>
              <a:gd name="adj" fmla="val 4000"/>
            </a:avLst>
          </a:prstGeom>
          <a:solidFill>
            <a:srgbClr val="FFFFFF"/>
          </a:solidFill>
          <a:ln w="9525">
            <a:solidFill>
              <a:srgbClr val="CFE5EE"/>
            </a:solidFill>
            <a:prstDash val="solid"/>
          </a:ln>
        </p:spPr>
      </p:sp>
      <p:sp>
        <p:nvSpPr>
          <p:cNvPr id="14" name="Text 11"/>
          <p:cNvSpPr/>
          <p:nvPr/>
        </p:nvSpPr>
        <p:spPr>
          <a:xfrm>
            <a:off x="6867144" y="3337560"/>
            <a:ext cx="464515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5" name="Text 12"/>
          <p:cNvSpPr/>
          <p:nvPr/>
        </p:nvSpPr>
        <p:spPr>
          <a:xfrm>
            <a:off x="6867144" y="3593592"/>
            <a:ext cx="4645152" cy="72237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 2, 3, 4, 1, 2, 3, 4]</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[2 4 6 8]</a:t>
            </a:r>
            <a:endParaRPr lang="en-US" dirty="0"/>
          </a:p>
        </p:txBody>
      </p:sp>
      <p:sp>
        <p:nvSpPr>
          <p:cNvPr id="16" name="Shape 13"/>
          <p:cNvSpPr/>
          <p:nvPr/>
        </p:nvSpPr>
        <p:spPr>
          <a:xfrm>
            <a:off x="6720840" y="4526280"/>
            <a:ext cx="4919472" cy="868680"/>
          </a:xfrm>
          <a:prstGeom prst="roundRect">
            <a:avLst>
              <a:gd name="adj" fmla="val 7368"/>
            </a:avLst>
          </a:prstGeom>
          <a:solidFill>
            <a:srgbClr val="FFF6E7"/>
          </a:solidFill>
          <a:ln w="9525">
            <a:solidFill>
              <a:srgbClr val="F0D8B4"/>
            </a:solidFill>
            <a:prstDash val="solid"/>
          </a:ln>
        </p:spPr>
      </p:sp>
      <p:sp>
        <p:nvSpPr>
          <p:cNvPr id="17" name="Text 14"/>
          <p:cNvSpPr/>
          <p:nvPr/>
        </p:nvSpPr>
        <p:spPr>
          <a:xfrm>
            <a:off x="6903720" y="4526280"/>
            <a:ext cx="4572000" cy="868680"/>
          </a:xfrm>
          <a:prstGeom prst="rect">
            <a:avLst/>
          </a:prstGeom>
          <a:noFill/>
          <a:ln/>
        </p:spPr>
        <p:txBody>
          <a:bodyPr wrap="square" lIns="0" tIns="0" rIns="0" bIns="0" rtlCol="0" anchor="ctr"/>
          <a:lstStyle/>
          <a:p>
            <a:pPr marL="0" indent="0">
              <a:buNone/>
            </a:pPr>
            <a:r>
              <a:rPr lang="en-US" sz="2000" b="1" dirty="0">
                <a:solidFill>
                  <a:srgbClr val="9A6412"/>
                </a:solidFill>
                <a:latin typeface="Segoe UI" pitchFamily="34" charset="0"/>
                <a:ea typeface="Segoe UI" pitchFamily="34" charset="-122"/>
                <a:cs typeface="Segoe UI" pitchFamily="34" charset="-120"/>
              </a:rPr>
              <a:t>Cùng </a:t>
            </a:r>
            <a:r>
              <a:rPr lang="en-US" sz="2000" b="1" dirty="0" err="1">
                <a:solidFill>
                  <a:srgbClr val="9A6412"/>
                </a:solidFill>
                <a:latin typeface="Segoe UI" pitchFamily="34" charset="0"/>
                <a:ea typeface="Segoe UI" pitchFamily="34" charset="-122"/>
                <a:cs typeface="Segoe UI" pitchFamily="34" charset="-120"/>
              </a:rPr>
              <a:t>một</a:t>
            </a:r>
            <a:r>
              <a:rPr lang="en-US" sz="2000" b="1" dirty="0">
                <a:solidFill>
                  <a:srgbClr val="9A6412"/>
                </a:solidFill>
                <a:latin typeface="Segoe UI" pitchFamily="34" charset="0"/>
                <a:ea typeface="Segoe UI" pitchFamily="34" charset="-122"/>
                <a:cs typeface="Segoe UI" pitchFamily="34" charset="-120"/>
              </a:rPr>
              <a:t> </a:t>
            </a:r>
            <a:r>
              <a:rPr lang="en-US" sz="2000" b="1" dirty="0" err="1">
                <a:solidFill>
                  <a:srgbClr val="9A6412"/>
                </a:solidFill>
                <a:latin typeface="Segoe UI" pitchFamily="34" charset="0"/>
                <a:ea typeface="Segoe UI" pitchFamily="34" charset="-122"/>
                <a:cs typeface="Segoe UI" pitchFamily="34" charset="-120"/>
              </a:rPr>
              <a:t>phép</a:t>
            </a:r>
            <a:r>
              <a:rPr lang="en-US" sz="2000" b="1" dirty="0">
                <a:solidFill>
                  <a:srgbClr val="9A6412"/>
                </a:solidFill>
                <a:latin typeface="Segoe UI" pitchFamily="34" charset="0"/>
                <a:ea typeface="Segoe UI" pitchFamily="34" charset="-122"/>
                <a:cs typeface="Segoe UI" pitchFamily="34" charset="-120"/>
              </a:rPr>
              <a:t> </a:t>
            </a:r>
            <a:r>
              <a:rPr lang="en-US" sz="2000" b="1" dirty="0" err="1">
                <a:solidFill>
                  <a:srgbClr val="9A6412"/>
                </a:solidFill>
                <a:latin typeface="Segoe UI" pitchFamily="34" charset="0"/>
                <a:ea typeface="Segoe UI" pitchFamily="34" charset="-122"/>
                <a:cs typeface="Segoe UI" pitchFamily="34" charset="-120"/>
              </a:rPr>
              <a:t>nhân</a:t>
            </a:r>
            <a:r>
              <a:rPr lang="en-US" sz="2000" b="1" dirty="0">
                <a:solidFill>
                  <a:srgbClr val="9A6412"/>
                </a:solidFill>
                <a:latin typeface="Segoe UI" pitchFamily="34" charset="0"/>
                <a:ea typeface="Segoe UI" pitchFamily="34" charset="-122"/>
                <a:cs typeface="Segoe UI" pitchFamily="34" charset="-120"/>
              </a:rPr>
              <a:t> </a:t>
            </a:r>
            <a:r>
              <a:rPr lang="en-US" sz="2000" b="1" dirty="0" err="1">
                <a:solidFill>
                  <a:srgbClr val="9A6412"/>
                </a:solidFill>
                <a:latin typeface="Segoe UI" pitchFamily="34" charset="0"/>
                <a:ea typeface="Segoe UI" pitchFamily="34" charset="-122"/>
                <a:cs typeface="Segoe UI" pitchFamily="34" charset="-120"/>
              </a:rPr>
              <a:t>nhưng</a:t>
            </a:r>
            <a:r>
              <a:rPr lang="en-US" sz="2000" b="1" dirty="0">
                <a:solidFill>
                  <a:srgbClr val="9A6412"/>
                </a:solidFill>
                <a:latin typeface="Segoe UI" pitchFamily="34" charset="0"/>
                <a:ea typeface="Segoe UI" pitchFamily="34" charset="-122"/>
                <a:cs typeface="Segoe UI" pitchFamily="34" charset="-120"/>
              </a:rPr>
              <a:t> </a:t>
            </a:r>
            <a:r>
              <a:rPr lang="en-US" sz="2000" b="1" dirty="0" err="1">
                <a:solidFill>
                  <a:srgbClr val="9A6412"/>
                </a:solidFill>
                <a:latin typeface="Segoe UI" pitchFamily="34" charset="0"/>
                <a:ea typeface="Segoe UI" pitchFamily="34" charset="-122"/>
                <a:cs typeface="Segoe UI" pitchFamily="34" charset="-120"/>
              </a:rPr>
              <a:t>hai</a:t>
            </a:r>
            <a:r>
              <a:rPr lang="en-US" sz="2000" b="1" dirty="0">
                <a:solidFill>
                  <a:srgbClr val="9A6412"/>
                </a:solidFill>
                <a:latin typeface="Segoe UI" pitchFamily="34" charset="0"/>
                <a:ea typeface="Segoe UI" pitchFamily="34" charset="-122"/>
                <a:cs typeface="Segoe UI" pitchFamily="34" charset="-120"/>
              </a:rPr>
              <a:t> ngữ nghĩa khác nhau.</a:t>
            </a:r>
            <a:endParaRPr lang="en-US" sz="2000" dirty="0"/>
          </a:p>
        </p:txBody>
      </p:sp>
      <p:sp>
        <p:nvSpPr>
          <p:cNvPr id="18" name="Text 15"/>
          <p:cNvSpPr/>
          <p:nvPr/>
        </p:nvSpPr>
        <p:spPr>
          <a:xfrm>
            <a:off x="548640" y="5468112"/>
            <a:ext cx="5897880" cy="685800"/>
          </a:xfrm>
          <a:prstGeom prst="rect">
            <a:avLst/>
          </a:prstGeom>
          <a:noFill/>
          <a:ln/>
        </p:spPr>
        <p:txBody>
          <a:bodyPr wrap="square" lIns="0" tIns="0" rIns="0" bIns="0" rtlCol="0" anchor="t"/>
          <a:lstStyle/>
          <a:p>
            <a:pPr marL="0" indent="0">
              <a:buNone/>
            </a:pPr>
            <a:r>
              <a:rPr lang="en-US" i="1" dirty="0">
                <a:solidFill>
                  <a:srgbClr val="415A6B"/>
                </a:solidFill>
                <a:latin typeface="Segoe UI" pitchFamily="34" charset="0"/>
                <a:ea typeface="Segoe UI" pitchFamily="34" charset="-122"/>
                <a:cs typeface="Segoe UI" pitchFamily="34" charset="-120"/>
              </a:rPr>
              <a:t>Chọn cấu trúc theo phép toán, không chỉ theo cách lưu.</a:t>
            </a:r>
            <a:endParaRPr lang="en-US" dirty="0"/>
          </a:p>
        </p:txBody>
      </p:sp>
      <p:sp>
        <p:nvSpPr>
          <p:cNvPr id="19" name="Text 16"/>
          <p:cNvSpPr/>
          <p:nvPr/>
        </p:nvSpPr>
        <p:spPr>
          <a:xfrm>
            <a:off x="548640" y="6181344"/>
            <a:ext cx="5943600" cy="219456"/>
          </a:xfrm>
          <a:prstGeom prst="rect">
            <a:avLst/>
          </a:prstGeom>
          <a:noFill/>
          <a:ln/>
        </p:spPr>
        <p:txBody>
          <a:bodyPr wrap="square" lIns="0" tIns="0" rIns="0" bIns="0" rtlCol="0" anchor="t"/>
          <a:lstStyle/>
          <a:p>
            <a:pPr marL="0" indent="0">
              <a:buNone/>
            </a:pPr>
            <a:r>
              <a:rPr lang="en-US" sz="1250" dirty="0">
                <a:solidFill>
                  <a:srgbClr val="728694"/>
                </a:solidFill>
                <a:latin typeface="Segoe UI" pitchFamily="34" charset="0"/>
                <a:ea typeface="Segoe UI" pitchFamily="34" charset="-122"/>
                <a:cs typeface="Segoe UI" pitchFamily="34" charset="-120"/>
              </a:rPr>
              <a:t>Nguồn: NumPy Documentation [2], Python Tutorial [7]</a:t>
            </a:r>
            <a:endParaRPr lang="en-US" sz="1250" dirty="0"/>
          </a:p>
        </p:txBody>
      </p:sp>
      <p:sp>
        <p:nvSpPr>
          <p:cNvPr id="20" name="Shape 17"/>
          <p:cNvSpPr/>
          <p:nvPr/>
        </p:nvSpPr>
        <p:spPr>
          <a:xfrm>
            <a:off x="548640" y="6437376"/>
            <a:ext cx="11091672" cy="9144"/>
          </a:xfrm>
          <a:prstGeom prst="rect">
            <a:avLst/>
          </a:prstGeom>
          <a:solidFill>
            <a:srgbClr val="D7E5EC"/>
          </a:solidFill>
          <a:ln w="12700">
            <a:solidFill>
              <a:srgbClr val="D7E5EC"/>
            </a:solidFill>
            <a:prstDash val="solid"/>
          </a:ln>
        </p:spPr>
      </p:sp>
      <p:sp>
        <p:nvSpPr>
          <p:cNvPr id="21" name="Text 18"/>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22" name="Text 19"/>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08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0-D, 1-D, 2-D và nhiều chiều</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81328"/>
            <a:ext cx="2670048" cy="2267712"/>
          </a:xfrm>
          <a:prstGeom prst="roundRect">
            <a:avLst>
              <a:gd name="adj" fmla="val 282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Text 4"/>
          <p:cNvSpPr/>
          <p:nvPr/>
        </p:nvSpPr>
        <p:spPr>
          <a:xfrm>
            <a:off x="749808" y="1609344"/>
            <a:ext cx="914400" cy="365760"/>
          </a:xfrm>
          <a:prstGeom prst="rect">
            <a:avLst/>
          </a:prstGeom>
          <a:noFill/>
          <a:ln/>
        </p:spPr>
        <p:txBody>
          <a:bodyPr wrap="square" lIns="0" tIns="0" rIns="0" bIns="0" rtlCol="0" anchor="t"/>
          <a:lstStyle/>
          <a:p>
            <a:pPr marL="0" indent="0">
              <a:buNone/>
            </a:pPr>
            <a:r>
              <a:rPr lang="en-US" sz="2500" b="1" dirty="0">
                <a:solidFill>
                  <a:srgbClr val="1B8EA8"/>
                </a:solidFill>
                <a:latin typeface="Consolas" pitchFamily="34" charset="0"/>
                <a:ea typeface="Consolas" pitchFamily="34" charset="-122"/>
                <a:cs typeface="Consolas" pitchFamily="34" charset="-120"/>
              </a:rPr>
              <a:t>0-D</a:t>
            </a:r>
            <a:endParaRPr lang="en-US" sz="2500" dirty="0"/>
          </a:p>
        </p:txBody>
      </p:sp>
      <p:sp>
        <p:nvSpPr>
          <p:cNvPr id="7" name="Text 5"/>
          <p:cNvSpPr/>
          <p:nvPr/>
        </p:nvSpPr>
        <p:spPr>
          <a:xfrm>
            <a:off x="1444752" y="1636309"/>
            <a:ext cx="1600200" cy="411480"/>
          </a:xfrm>
          <a:prstGeom prst="rect">
            <a:avLst/>
          </a:prstGeom>
          <a:noFill/>
          <a:ln/>
        </p:spPr>
        <p:txBody>
          <a:bodyPr wrap="square" lIns="0" tIns="0" rIns="0" bIns="0" rtlCol="0" anchor="t"/>
          <a:lstStyle/>
          <a:p>
            <a:pPr marL="0" indent="0">
              <a:buNone/>
            </a:pPr>
            <a:r>
              <a:rPr lang="en-US" sz="2000" dirty="0">
                <a:solidFill>
                  <a:srgbClr val="728694"/>
                </a:solidFill>
                <a:latin typeface="Segoe UI" pitchFamily="34" charset="0"/>
                <a:ea typeface="Segoe UI" pitchFamily="34" charset="-122"/>
                <a:cs typeface="Segoe UI" pitchFamily="34" charset="-120"/>
              </a:rPr>
              <a:t>Một giá trị</a:t>
            </a:r>
            <a:endParaRPr lang="en-US" sz="2000" dirty="0"/>
          </a:p>
        </p:txBody>
      </p:sp>
      <p:sp>
        <p:nvSpPr>
          <p:cNvPr id="8" name="Shape 6"/>
          <p:cNvSpPr/>
          <p:nvPr/>
        </p:nvSpPr>
        <p:spPr>
          <a:xfrm>
            <a:off x="1609344" y="2331720"/>
            <a:ext cx="512064" cy="512064"/>
          </a:xfrm>
          <a:prstGeom prst="rect">
            <a:avLst/>
          </a:prstGeom>
          <a:solidFill>
            <a:srgbClr val="4DB8D4"/>
          </a:solidFill>
          <a:ln w="12700">
            <a:solidFill>
              <a:srgbClr val="FFFFFF"/>
            </a:solidFill>
            <a:prstDash val="solid"/>
          </a:ln>
        </p:spPr>
      </p:sp>
      <p:sp>
        <p:nvSpPr>
          <p:cNvPr id="9" name="Text 7"/>
          <p:cNvSpPr/>
          <p:nvPr/>
        </p:nvSpPr>
        <p:spPr>
          <a:xfrm>
            <a:off x="1609344" y="2331720"/>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7</a:t>
            </a:r>
            <a:endParaRPr lang="en-US" sz="1800" dirty="0"/>
          </a:p>
        </p:txBody>
      </p:sp>
      <p:sp>
        <p:nvSpPr>
          <p:cNvPr id="10" name="Text 8"/>
          <p:cNvSpPr/>
          <p:nvPr/>
        </p:nvSpPr>
        <p:spPr>
          <a:xfrm>
            <a:off x="749808" y="3273552"/>
            <a:ext cx="2331720" cy="320040"/>
          </a:xfrm>
          <a:prstGeom prst="rect">
            <a:avLst/>
          </a:prstGeom>
          <a:noFill/>
          <a:ln/>
        </p:spPr>
        <p:txBody>
          <a:bodyPr wrap="square" lIns="0" tIns="0" rIns="0" bIns="0" rtlCol="0" anchor="t"/>
          <a:lstStyle/>
          <a:p>
            <a:pPr marL="0" indent="0">
              <a:buNone/>
            </a:pPr>
            <a:r>
              <a:rPr lang="en-US" sz="2000" b="1" dirty="0">
                <a:solidFill>
                  <a:srgbClr val="062A3A"/>
                </a:solidFill>
                <a:latin typeface="Consolas" pitchFamily="34" charset="0"/>
                <a:ea typeface="Consolas" pitchFamily="34" charset="-122"/>
                <a:cs typeface="Consolas" pitchFamily="34" charset="-120"/>
              </a:rPr>
              <a:t>shape ()</a:t>
            </a:r>
            <a:endParaRPr lang="en-US" sz="2000" dirty="0"/>
          </a:p>
        </p:txBody>
      </p:sp>
      <p:sp>
        <p:nvSpPr>
          <p:cNvPr id="11" name="Shape 9"/>
          <p:cNvSpPr/>
          <p:nvPr/>
        </p:nvSpPr>
        <p:spPr>
          <a:xfrm>
            <a:off x="3355848" y="1481328"/>
            <a:ext cx="2670048" cy="2267712"/>
          </a:xfrm>
          <a:prstGeom prst="roundRect">
            <a:avLst>
              <a:gd name="adj" fmla="val 282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2" name="Text 10"/>
          <p:cNvSpPr/>
          <p:nvPr/>
        </p:nvSpPr>
        <p:spPr>
          <a:xfrm>
            <a:off x="3557016" y="1609344"/>
            <a:ext cx="914400" cy="365760"/>
          </a:xfrm>
          <a:prstGeom prst="rect">
            <a:avLst/>
          </a:prstGeom>
          <a:noFill/>
          <a:ln/>
        </p:spPr>
        <p:txBody>
          <a:bodyPr wrap="square" lIns="0" tIns="0" rIns="0" bIns="0" rtlCol="0" anchor="t"/>
          <a:lstStyle/>
          <a:p>
            <a:pPr marL="0" indent="0">
              <a:buNone/>
            </a:pPr>
            <a:r>
              <a:rPr lang="en-US" sz="2500" b="1" dirty="0">
                <a:solidFill>
                  <a:srgbClr val="1B8EA8"/>
                </a:solidFill>
                <a:latin typeface="Consolas" pitchFamily="34" charset="0"/>
                <a:ea typeface="Consolas" pitchFamily="34" charset="-122"/>
                <a:cs typeface="Consolas" pitchFamily="34" charset="-120"/>
              </a:rPr>
              <a:t>1-D</a:t>
            </a:r>
            <a:endParaRPr lang="en-US" sz="2500" dirty="0"/>
          </a:p>
        </p:txBody>
      </p:sp>
      <p:sp>
        <p:nvSpPr>
          <p:cNvPr id="13" name="Text 11"/>
          <p:cNvSpPr/>
          <p:nvPr/>
        </p:nvSpPr>
        <p:spPr>
          <a:xfrm>
            <a:off x="4251960" y="1636776"/>
            <a:ext cx="1600200" cy="411480"/>
          </a:xfrm>
          <a:prstGeom prst="rect">
            <a:avLst/>
          </a:prstGeom>
          <a:noFill/>
          <a:ln/>
        </p:spPr>
        <p:txBody>
          <a:bodyPr wrap="square" lIns="0" tIns="0" rIns="0" bIns="0" rtlCol="0" anchor="t"/>
          <a:lstStyle/>
          <a:p>
            <a:pPr marL="0" indent="0">
              <a:buNone/>
            </a:pPr>
            <a:r>
              <a:rPr lang="en-US" sz="2000" dirty="0" err="1">
                <a:solidFill>
                  <a:srgbClr val="728694"/>
                </a:solidFill>
                <a:latin typeface="Segoe UI" pitchFamily="34" charset="0"/>
                <a:ea typeface="Segoe UI" pitchFamily="34" charset="-122"/>
                <a:cs typeface="Segoe UI" pitchFamily="34" charset="-120"/>
              </a:rPr>
              <a:t>Một</a:t>
            </a:r>
            <a:r>
              <a:rPr lang="en-US" sz="2000" dirty="0">
                <a:solidFill>
                  <a:srgbClr val="728694"/>
                </a:solidFill>
                <a:latin typeface="Segoe UI" pitchFamily="34" charset="0"/>
                <a:ea typeface="Segoe UI" pitchFamily="34" charset="-122"/>
                <a:cs typeface="Segoe UI" pitchFamily="34" charset="-120"/>
              </a:rPr>
              <a:t> </a:t>
            </a:r>
            <a:r>
              <a:rPr lang="en-US" sz="2000" dirty="0" err="1">
                <a:solidFill>
                  <a:srgbClr val="728694"/>
                </a:solidFill>
                <a:latin typeface="Segoe UI" pitchFamily="34" charset="0"/>
                <a:ea typeface="Segoe UI" pitchFamily="34" charset="-122"/>
                <a:cs typeface="Segoe UI" pitchFamily="34" charset="-120"/>
              </a:rPr>
              <a:t>dãy</a:t>
            </a:r>
            <a:endParaRPr lang="en-US" sz="2000" dirty="0"/>
          </a:p>
        </p:txBody>
      </p:sp>
      <p:sp>
        <p:nvSpPr>
          <p:cNvPr id="14" name="Shape 12"/>
          <p:cNvSpPr/>
          <p:nvPr/>
        </p:nvSpPr>
        <p:spPr>
          <a:xfrm>
            <a:off x="4114800" y="2331720"/>
            <a:ext cx="384048" cy="512064"/>
          </a:xfrm>
          <a:prstGeom prst="rect">
            <a:avLst/>
          </a:prstGeom>
          <a:solidFill>
            <a:srgbClr val="EAF4F8"/>
          </a:solidFill>
          <a:ln w="9525">
            <a:solidFill>
              <a:srgbClr val="A9CDDB"/>
            </a:solidFill>
            <a:prstDash val="solid"/>
          </a:ln>
        </p:spPr>
      </p:sp>
      <p:sp>
        <p:nvSpPr>
          <p:cNvPr id="15" name="Text 13"/>
          <p:cNvSpPr/>
          <p:nvPr/>
        </p:nvSpPr>
        <p:spPr>
          <a:xfrm>
            <a:off x="4114800" y="2331720"/>
            <a:ext cx="384048" cy="512064"/>
          </a:xfrm>
          <a:prstGeom prst="rect">
            <a:avLst/>
          </a:prstGeom>
          <a:noFill/>
          <a:ln/>
        </p:spPr>
        <p:txBody>
          <a:bodyPr wrap="square" lIns="0" tIns="0" rIns="0" bIns="0" rtlCol="0" anchor="ctr"/>
          <a:lstStyle/>
          <a:p>
            <a:pPr marL="0" indent="0" algn="ctr">
              <a:buNone/>
            </a:pPr>
            <a:r>
              <a:rPr lang="en-US" sz="1500" dirty="0">
                <a:solidFill>
                  <a:srgbClr val="062A3A"/>
                </a:solidFill>
                <a:latin typeface="Consolas" pitchFamily="34" charset="0"/>
                <a:ea typeface="Consolas" pitchFamily="34" charset="-122"/>
                <a:cs typeface="Consolas" pitchFamily="34" charset="-120"/>
              </a:rPr>
              <a:t>1</a:t>
            </a:r>
            <a:endParaRPr lang="en-US" sz="1500" dirty="0"/>
          </a:p>
        </p:txBody>
      </p:sp>
      <p:sp>
        <p:nvSpPr>
          <p:cNvPr id="16" name="Shape 14"/>
          <p:cNvSpPr/>
          <p:nvPr/>
        </p:nvSpPr>
        <p:spPr>
          <a:xfrm>
            <a:off x="4498848" y="2331720"/>
            <a:ext cx="384048" cy="512064"/>
          </a:xfrm>
          <a:prstGeom prst="rect">
            <a:avLst/>
          </a:prstGeom>
          <a:solidFill>
            <a:srgbClr val="EAF4F8"/>
          </a:solidFill>
          <a:ln w="9525">
            <a:solidFill>
              <a:srgbClr val="A9CDDB"/>
            </a:solidFill>
            <a:prstDash val="solid"/>
          </a:ln>
        </p:spPr>
      </p:sp>
      <p:sp>
        <p:nvSpPr>
          <p:cNvPr id="17" name="Text 15"/>
          <p:cNvSpPr/>
          <p:nvPr/>
        </p:nvSpPr>
        <p:spPr>
          <a:xfrm>
            <a:off x="4498848" y="2331720"/>
            <a:ext cx="384048" cy="512064"/>
          </a:xfrm>
          <a:prstGeom prst="rect">
            <a:avLst/>
          </a:prstGeom>
          <a:noFill/>
          <a:ln/>
        </p:spPr>
        <p:txBody>
          <a:bodyPr wrap="square" lIns="0" tIns="0" rIns="0" bIns="0" rtlCol="0" anchor="ctr"/>
          <a:lstStyle/>
          <a:p>
            <a:pPr marL="0" indent="0" algn="ctr">
              <a:buNone/>
            </a:pPr>
            <a:r>
              <a:rPr lang="en-US" sz="1500" dirty="0">
                <a:solidFill>
                  <a:srgbClr val="062A3A"/>
                </a:solidFill>
                <a:latin typeface="Consolas" pitchFamily="34" charset="0"/>
                <a:ea typeface="Consolas" pitchFamily="34" charset="-122"/>
                <a:cs typeface="Consolas" pitchFamily="34" charset="-120"/>
              </a:rPr>
              <a:t>2</a:t>
            </a:r>
            <a:endParaRPr lang="en-US" sz="1500" dirty="0"/>
          </a:p>
        </p:txBody>
      </p:sp>
      <p:sp>
        <p:nvSpPr>
          <p:cNvPr id="18" name="Shape 16"/>
          <p:cNvSpPr/>
          <p:nvPr/>
        </p:nvSpPr>
        <p:spPr>
          <a:xfrm>
            <a:off x="4882896" y="2331720"/>
            <a:ext cx="384048" cy="512064"/>
          </a:xfrm>
          <a:prstGeom prst="rect">
            <a:avLst/>
          </a:prstGeom>
          <a:solidFill>
            <a:srgbClr val="EAF4F8"/>
          </a:solidFill>
          <a:ln w="9525">
            <a:solidFill>
              <a:srgbClr val="A9CDDB"/>
            </a:solidFill>
            <a:prstDash val="solid"/>
          </a:ln>
        </p:spPr>
      </p:sp>
      <p:sp>
        <p:nvSpPr>
          <p:cNvPr id="19" name="Text 17"/>
          <p:cNvSpPr/>
          <p:nvPr/>
        </p:nvSpPr>
        <p:spPr>
          <a:xfrm>
            <a:off x="4882896" y="2331720"/>
            <a:ext cx="384048" cy="512064"/>
          </a:xfrm>
          <a:prstGeom prst="rect">
            <a:avLst/>
          </a:prstGeom>
          <a:noFill/>
          <a:ln/>
        </p:spPr>
        <p:txBody>
          <a:bodyPr wrap="square" lIns="0" tIns="0" rIns="0" bIns="0" rtlCol="0" anchor="ctr"/>
          <a:lstStyle/>
          <a:p>
            <a:pPr marL="0" indent="0" algn="ctr">
              <a:buNone/>
            </a:pPr>
            <a:r>
              <a:rPr lang="en-US" sz="1500" dirty="0">
                <a:solidFill>
                  <a:srgbClr val="062A3A"/>
                </a:solidFill>
                <a:latin typeface="Consolas" pitchFamily="34" charset="0"/>
                <a:ea typeface="Consolas" pitchFamily="34" charset="-122"/>
                <a:cs typeface="Consolas" pitchFamily="34" charset="-120"/>
              </a:rPr>
              <a:t>3</a:t>
            </a:r>
            <a:endParaRPr lang="en-US" sz="1500" dirty="0"/>
          </a:p>
        </p:txBody>
      </p:sp>
      <p:sp>
        <p:nvSpPr>
          <p:cNvPr id="20" name="Text 18"/>
          <p:cNvSpPr/>
          <p:nvPr/>
        </p:nvSpPr>
        <p:spPr>
          <a:xfrm>
            <a:off x="3557016" y="3273552"/>
            <a:ext cx="2331720" cy="320040"/>
          </a:xfrm>
          <a:prstGeom prst="rect">
            <a:avLst/>
          </a:prstGeom>
          <a:noFill/>
          <a:ln/>
        </p:spPr>
        <p:txBody>
          <a:bodyPr wrap="square" lIns="0" tIns="0" rIns="0" bIns="0" rtlCol="0" anchor="t"/>
          <a:lstStyle/>
          <a:p>
            <a:pPr marL="0" indent="0">
              <a:buNone/>
            </a:pPr>
            <a:r>
              <a:rPr lang="en-US" sz="2000" b="1" dirty="0">
                <a:solidFill>
                  <a:srgbClr val="062A3A"/>
                </a:solidFill>
                <a:latin typeface="Consolas" pitchFamily="34" charset="0"/>
                <a:ea typeface="Consolas" pitchFamily="34" charset="-122"/>
                <a:cs typeface="Consolas" pitchFamily="34" charset="-120"/>
              </a:rPr>
              <a:t>shape (3,)</a:t>
            </a:r>
            <a:endParaRPr lang="en-US" sz="2000" dirty="0"/>
          </a:p>
        </p:txBody>
      </p:sp>
      <p:sp>
        <p:nvSpPr>
          <p:cNvPr id="21" name="Shape 19"/>
          <p:cNvSpPr/>
          <p:nvPr/>
        </p:nvSpPr>
        <p:spPr>
          <a:xfrm>
            <a:off x="6163056" y="1481328"/>
            <a:ext cx="2670048" cy="2267712"/>
          </a:xfrm>
          <a:prstGeom prst="roundRect">
            <a:avLst>
              <a:gd name="adj" fmla="val 282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2" name="Text 20"/>
          <p:cNvSpPr/>
          <p:nvPr/>
        </p:nvSpPr>
        <p:spPr>
          <a:xfrm>
            <a:off x="6364224" y="1609344"/>
            <a:ext cx="914400" cy="365760"/>
          </a:xfrm>
          <a:prstGeom prst="rect">
            <a:avLst/>
          </a:prstGeom>
          <a:noFill/>
          <a:ln/>
        </p:spPr>
        <p:txBody>
          <a:bodyPr wrap="square" lIns="0" tIns="0" rIns="0" bIns="0" rtlCol="0" anchor="t"/>
          <a:lstStyle/>
          <a:p>
            <a:pPr marL="0" indent="0">
              <a:buNone/>
            </a:pPr>
            <a:r>
              <a:rPr lang="en-US" sz="2500" b="1" dirty="0">
                <a:solidFill>
                  <a:srgbClr val="1B8EA8"/>
                </a:solidFill>
                <a:latin typeface="Consolas" pitchFamily="34" charset="0"/>
                <a:ea typeface="Consolas" pitchFamily="34" charset="-122"/>
                <a:cs typeface="Consolas" pitchFamily="34" charset="-120"/>
              </a:rPr>
              <a:t>2-D</a:t>
            </a:r>
            <a:endParaRPr lang="en-US" sz="2500" dirty="0"/>
          </a:p>
        </p:txBody>
      </p:sp>
      <p:sp>
        <p:nvSpPr>
          <p:cNvPr id="23" name="Text 21"/>
          <p:cNvSpPr/>
          <p:nvPr/>
        </p:nvSpPr>
        <p:spPr>
          <a:xfrm>
            <a:off x="7059168" y="1636776"/>
            <a:ext cx="1600200" cy="411480"/>
          </a:xfrm>
          <a:prstGeom prst="rect">
            <a:avLst/>
          </a:prstGeom>
          <a:noFill/>
          <a:ln/>
        </p:spPr>
        <p:txBody>
          <a:bodyPr wrap="square" lIns="0" tIns="0" rIns="0" bIns="0" rtlCol="0" anchor="t"/>
          <a:lstStyle/>
          <a:p>
            <a:pPr marL="0" indent="0">
              <a:buNone/>
            </a:pPr>
            <a:r>
              <a:rPr lang="en-US" sz="2000" dirty="0">
                <a:solidFill>
                  <a:srgbClr val="728694"/>
                </a:solidFill>
                <a:latin typeface="Segoe UI" pitchFamily="34" charset="0"/>
                <a:ea typeface="Segoe UI" pitchFamily="34" charset="-122"/>
                <a:cs typeface="Segoe UI" pitchFamily="34" charset="-120"/>
              </a:rPr>
              <a:t>Một bảng</a:t>
            </a:r>
            <a:endParaRPr lang="en-US" sz="2000" dirty="0"/>
          </a:p>
        </p:txBody>
      </p:sp>
      <p:sp>
        <p:nvSpPr>
          <p:cNvPr id="24" name="Shape 22"/>
          <p:cNvSpPr/>
          <p:nvPr/>
        </p:nvSpPr>
        <p:spPr>
          <a:xfrm>
            <a:off x="6858000" y="2221992"/>
            <a:ext cx="411480" cy="420624"/>
          </a:xfrm>
          <a:prstGeom prst="rect">
            <a:avLst/>
          </a:prstGeom>
          <a:solidFill>
            <a:srgbClr val="EAF4F8"/>
          </a:solidFill>
          <a:ln w="9525">
            <a:solidFill>
              <a:srgbClr val="A9CDDB"/>
            </a:solidFill>
            <a:prstDash val="solid"/>
          </a:ln>
        </p:spPr>
      </p:sp>
      <p:sp>
        <p:nvSpPr>
          <p:cNvPr id="25" name="Text 23"/>
          <p:cNvSpPr/>
          <p:nvPr/>
        </p:nvSpPr>
        <p:spPr>
          <a:xfrm>
            <a:off x="6858000" y="2221992"/>
            <a:ext cx="411480" cy="420624"/>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1</a:t>
            </a:r>
            <a:endParaRPr lang="en-US" sz="1300" dirty="0"/>
          </a:p>
        </p:txBody>
      </p:sp>
      <p:sp>
        <p:nvSpPr>
          <p:cNvPr id="26" name="Shape 24"/>
          <p:cNvSpPr/>
          <p:nvPr/>
        </p:nvSpPr>
        <p:spPr>
          <a:xfrm>
            <a:off x="7269480" y="2221992"/>
            <a:ext cx="411480" cy="420624"/>
          </a:xfrm>
          <a:prstGeom prst="rect">
            <a:avLst/>
          </a:prstGeom>
          <a:solidFill>
            <a:srgbClr val="EAF4F8"/>
          </a:solidFill>
          <a:ln w="9525">
            <a:solidFill>
              <a:srgbClr val="A9CDDB"/>
            </a:solidFill>
            <a:prstDash val="solid"/>
          </a:ln>
        </p:spPr>
      </p:sp>
      <p:sp>
        <p:nvSpPr>
          <p:cNvPr id="27" name="Text 25"/>
          <p:cNvSpPr/>
          <p:nvPr/>
        </p:nvSpPr>
        <p:spPr>
          <a:xfrm>
            <a:off x="7269480" y="2221992"/>
            <a:ext cx="411480" cy="420624"/>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2</a:t>
            </a:r>
            <a:endParaRPr lang="en-US" sz="1300" dirty="0"/>
          </a:p>
        </p:txBody>
      </p:sp>
      <p:sp>
        <p:nvSpPr>
          <p:cNvPr id="28" name="Shape 26"/>
          <p:cNvSpPr/>
          <p:nvPr/>
        </p:nvSpPr>
        <p:spPr>
          <a:xfrm>
            <a:off x="7680960" y="2221992"/>
            <a:ext cx="411480" cy="420624"/>
          </a:xfrm>
          <a:prstGeom prst="rect">
            <a:avLst/>
          </a:prstGeom>
          <a:solidFill>
            <a:srgbClr val="EAF4F8"/>
          </a:solidFill>
          <a:ln w="9525">
            <a:solidFill>
              <a:srgbClr val="A9CDDB"/>
            </a:solidFill>
            <a:prstDash val="solid"/>
          </a:ln>
        </p:spPr>
      </p:sp>
      <p:sp>
        <p:nvSpPr>
          <p:cNvPr id="29" name="Text 27"/>
          <p:cNvSpPr/>
          <p:nvPr/>
        </p:nvSpPr>
        <p:spPr>
          <a:xfrm>
            <a:off x="7680960" y="2221992"/>
            <a:ext cx="411480" cy="420624"/>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3</a:t>
            </a:r>
            <a:endParaRPr lang="en-US" sz="1300" dirty="0"/>
          </a:p>
        </p:txBody>
      </p:sp>
      <p:sp>
        <p:nvSpPr>
          <p:cNvPr id="30" name="Shape 28"/>
          <p:cNvSpPr/>
          <p:nvPr/>
        </p:nvSpPr>
        <p:spPr>
          <a:xfrm>
            <a:off x="6858000" y="2642616"/>
            <a:ext cx="411480" cy="420624"/>
          </a:xfrm>
          <a:prstGeom prst="rect">
            <a:avLst/>
          </a:prstGeom>
          <a:solidFill>
            <a:srgbClr val="EAF4F8"/>
          </a:solidFill>
          <a:ln w="9525">
            <a:solidFill>
              <a:srgbClr val="A9CDDB"/>
            </a:solidFill>
            <a:prstDash val="solid"/>
          </a:ln>
        </p:spPr>
      </p:sp>
      <p:sp>
        <p:nvSpPr>
          <p:cNvPr id="31" name="Text 29"/>
          <p:cNvSpPr/>
          <p:nvPr/>
        </p:nvSpPr>
        <p:spPr>
          <a:xfrm>
            <a:off x="6858000" y="2642616"/>
            <a:ext cx="411480" cy="420624"/>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4</a:t>
            </a:r>
            <a:endParaRPr lang="en-US" sz="1300" dirty="0"/>
          </a:p>
        </p:txBody>
      </p:sp>
      <p:sp>
        <p:nvSpPr>
          <p:cNvPr id="32" name="Shape 30"/>
          <p:cNvSpPr/>
          <p:nvPr/>
        </p:nvSpPr>
        <p:spPr>
          <a:xfrm>
            <a:off x="7269480" y="2642616"/>
            <a:ext cx="411480" cy="420624"/>
          </a:xfrm>
          <a:prstGeom prst="rect">
            <a:avLst/>
          </a:prstGeom>
          <a:solidFill>
            <a:srgbClr val="EAF4F8"/>
          </a:solidFill>
          <a:ln w="9525">
            <a:solidFill>
              <a:srgbClr val="A9CDDB"/>
            </a:solidFill>
            <a:prstDash val="solid"/>
          </a:ln>
        </p:spPr>
      </p:sp>
      <p:sp>
        <p:nvSpPr>
          <p:cNvPr id="33" name="Text 31"/>
          <p:cNvSpPr/>
          <p:nvPr/>
        </p:nvSpPr>
        <p:spPr>
          <a:xfrm>
            <a:off x="7269480" y="2642616"/>
            <a:ext cx="411480" cy="420624"/>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5</a:t>
            </a:r>
            <a:endParaRPr lang="en-US" sz="1300" dirty="0"/>
          </a:p>
        </p:txBody>
      </p:sp>
      <p:sp>
        <p:nvSpPr>
          <p:cNvPr id="34" name="Shape 32"/>
          <p:cNvSpPr/>
          <p:nvPr/>
        </p:nvSpPr>
        <p:spPr>
          <a:xfrm>
            <a:off x="7680960" y="2642616"/>
            <a:ext cx="411480" cy="420624"/>
          </a:xfrm>
          <a:prstGeom prst="rect">
            <a:avLst/>
          </a:prstGeom>
          <a:solidFill>
            <a:srgbClr val="EAF4F8"/>
          </a:solidFill>
          <a:ln w="9525">
            <a:solidFill>
              <a:srgbClr val="A9CDDB"/>
            </a:solidFill>
            <a:prstDash val="solid"/>
          </a:ln>
        </p:spPr>
      </p:sp>
      <p:sp>
        <p:nvSpPr>
          <p:cNvPr id="35" name="Text 33"/>
          <p:cNvSpPr/>
          <p:nvPr/>
        </p:nvSpPr>
        <p:spPr>
          <a:xfrm>
            <a:off x="7680960" y="2642616"/>
            <a:ext cx="411480" cy="420624"/>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6</a:t>
            </a:r>
            <a:endParaRPr lang="en-US" sz="1300" dirty="0"/>
          </a:p>
        </p:txBody>
      </p:sp>
      <p:sp>
        <p:nvSpPr>
          <p:cNvPr id="36" name="Text 34"/>
          <p:cNvSpPr/>
          <p:nvPr/>
        </p:nvSpPr>
        <p:spPr>
          <a:xfrm>
            <a:off x="6364224" y="3273552"/>
            <a:ext cx="2331720" cy="320040"/>
          </a:xfrm>
          <a:prstGeom prst="rect">
            <a:avLst/>
          </a:prstGeom>
          <a:noFill/>
          <a:ln/>
        </p:spPr>
        <p:txBody>
          <a:bodyPr wrap="square" lIns="0" tIns="0" rIns="0" bIns="0" rtlCol="0" anchor="t"/>
          <a:lstStyle/>
          <a:p>
            <a:pPr marL="0" indent="0">
              <a:buNone/>
            </a:pPr>
            <a:r>
              <a:rPr lang="en-US" sz="2000" b="1" dirty="0">
                <a:solidFill>
                  <a:srgbClr val="062A3A"/>
                </a:solidFill>
                <a:latin typeface="Consolas" pitchFamily="34" charset="0"/>
                <a:ea typeface="Consolas" pitchFamily="34" charset="-122"/>
                <a:cs typeface="Consolas" pitchFamily="34" charset="-120"/>
              </a:rPr>
              <a:t>shape (2, 3)</a:t>
            </a:r>
            <a:endParaRPr lang="en-US" sz="2000" dirty="0"/>
          </a:p>
        </p:txBody>
      </p:sp>
      <p:sp>
        <p:nvSpPr>
          <p:cNvPr id="37" name="Shape 35"/>
          <p:cNvSpPr/>
          <p:nvPr/>
        </p:nvSpPr>
        <p:spPr>
          <a:xfrm>
            <a:off x="8970264" y="1481328"/>
            <a:ext cx="2670048" cy="2267712"/>
          </a:xfrm>
          <a:prstGeom prst="roundRect">
            <a:avLst>
              <a:gd name="adj" fmla="val 2823"/>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38" name="Text 36"/>
          <p:cNvSpPr/>
          <p:nvPr/>
        </p:nvSpPr>
        <p:spPr>
          <a:xfrm>
            <a:off x="9171432" y="1609344"/>
            <a:ext cx="914400" cy="365760"/>
          </a:xfrm>
          <a:prstGeom prst="rect">
            <a:avLst/>
          </a:prstGeom>
          <a:noFill/>
          <a:ln/>
        </p:spPr>
        <p:txBody>
          <a:bodyPr wrap="square" lIns="0" tIns="0" rIns="0" bIns="0" rtlCol="0" anchor="t"/>
          <a:lstStyle/>
          <a:p>
            <a:pPr marL="0" indent="0">
              <a:buNone/>
            </a:pPr>
            <a:r>
              <a:rPr lang="en-US" sz="2500" b="1" dirty="0">
                <a:solidFill>
                  <a:srgbClr val="1B8EA8"/>
                </a:solidFill>
                <a:latin typeface="Consolas" pitchFamily="34" charset="0"/>
                <a:ea typeface="Consolas" pitchFamily="34" charset="-122"/>
                <a:cs typeface="Consolas" pitchFamily="34" charset="-120"/>
              </a:rPr>
              <a:t>3-D</a:t>
            </a:r>
            <a:endParaRPr lang="en-US" sz="2500" dirty="0"/>
          </a:p>
        </p:txBody>
      </p:sp>
      <p:sp>
        <p:nvSpPr>
          <p:cNvPr id="39" name="Text 37"/>
          <p:cNvSpPr/>
          <p:nvPr/>
        </p:nvSpPr>
        <p:spPr>
          <a:xfrm>
            <a:off x="9870668" y="1636309"/>
            <a:ext cx="1600200" cy="411480"/>
          </a:xfrm>
          <a:prstGeom prst="rect">
            <a:avLst/>
          </a:prstGeom>
          <a:noFill/>
          <a:ln/>
        </p:spPr>
        <p:txBody>
          <a:bodyPr wrap="square" lIns="0" tIns="0" rIns="0" bIns="0" rtlCol="0" anchor="t"/>
          <a:lstStyle/>
          <a:p>
            <a:pPr marL="0" indent="0">
              <a:buNone/>
            </a:pPr>
            <a:r>
              <a:rPr lang="en-US" sz="2000" dirty="0">
                <a:solidFill>
                  <a:srgbClr val="728694"/>
                </a:solidFill>
                <a:latin typeface="Segoe UI" pitchFamily="34" charset="0"/>
                <a:ea typeface="Segoe UI" pitchFamily="34" charset="-122"/>
                <a:cs typeface="Segoe UI" pitchFamily="34" charset="-120"/>
              </a:rPr>
              <a:t>Chồng bảng</a:t>
            </a:r>
            <a:endParaRPr lang="en-US" sz="2000" dirty="0"/>
          </a:p>
        </p:txBody>
      </p:sp>
      <p:sp>
        <p:nvSpPr>
          <p:cNvPr id="40" name="Shape 38"/>
          <p:cNvSpPr/>
          <p:nvPr/>
        </p:nvSpPr>
        <p:spPr>
          <a:xfrm>
            <a:off x="9820656" y="2176272"/>
            <a:ext cx="1005840" cy="566928"/>
          </a:xfrm>
          <a:prstGeom prst="rect">
            <a:avLst/>
          </a:prstGeom>
          <a:solidFill>
            <a:srgbClr val="EAF4F8"/>
          </a:solidFill>
          <a:ln w="9525">
            <a:solidFill>
              <a:srgbClr val="A9CDDB"/>
            </a:solidFill>
            <a:prstDash val="solid"/>
          </a:ln>
        </p:spPr>
      </p:sp>
      <p:sp>
        <p:nvSpPr>
          <p:cNvPr id="41" name="Shape 39"/>
          <p:cNvSpPr/>
          <p:nvPr/>
        </p:nvSpPr>
        <p:spPr>
          <a:xfrm>
            <a:off x="9710928" y="2286000"/>
            <a:ext cx="1005840" cy="566928"/>
          </a:xfrm>
          <a:prstGeom prst="rect">
            <a:avLst/>
          </a:prstGeom>
          <a:solidFill>
            <a:srgbClr val="BFE6F1"/>
          </a:solidFill>
          <a:ln w="9525">
            <a:solidFill>
              <a:srgbClr val="A9CDDB"/>
            </a:solidFill>
            <a:prstDash val="solid"/>
          </a:ln>
        </p:spPr>
      </p:sp>
      <p:sp>
        <p:nvSpPr>
          <p:cNvPr id="42" name="Text 40"/>
          <p:cNvSpPr/>
          <p:nvPr/>
        </p:nvSpPr>
        <p:spPr>
          <a:xfrm>
            <a:off x="9546336" y="2971800"/>
            <a:ext cx="1554480" cy="228600"/>
          </a:xfrm>
          <a:prstGeom prst="rect">
            <a:avLst/>
          </a:prstGeom>
          <a:noFill/>
          <a:ln/>
        </p:spPr>
        <p:txBody>
          <a:bodyPr wrap="square" lIns="0" tIns="0" rIns="0" bIns="0" rtlCol="0" anchor="t"/>
          <a:lstStyle/>
          <a:p>
            <a:pPr marL="0" indent="0" algn="ctr">
              <a:buNone/>
            </a:pPr>
            <a:r>
              <a:rPr lang="en-US" sz="1300" dirty="0">
                <a:solidFill>
                  <a:srgbClr val="728694"/>
                </a:solidFill>
                <a:latin typeface="Segoe UI" pitchFamily="34" charset="0"/>
                <a:ea typeface="Segoe UI" pitchFamily="34" charset="-122"/>
                <a:cs typeface="Segoe UI" pitchFamily="34" charset="-120"/>
              </a:rPr>
              <a:t>2 lớp · 3 × 4</a:t>
            </a:r>
            <a:endParaRPr lang="en-US" sz="1300" dirty="0"/>
          </a:p>
        </p:txBody>
      </p:sp>
      <p:sp>
        <p:nvSpPr>
          <p:cNvPr id="43" name="Text 41"/>
          <p:cNvSpPr/>
          <p:nvPr/>
        </p:nvSpPr>
        <p:spPr>
          <a:xfrm>
            <a:off x="9171432" y="3273552"/>
            <a:ext cx="2331720" cy="320040"/>
          </a:xfrm>
          <a:prstGeom prst="rect">
            <a:avLst/>
          </a:prstGeom>
          <a:noFill/>
          <a:ln/>
        </p:spPr>
        <p:txBody>
          <a:bodyPr wrap="square" lIns="0" tIns="0" rIns="0" bIns="0" rtlCol="0" anchor="t"/>
          <a:lstStyle/>
          <a:p>
            <a:pPr marL="0" indent="0">
              <a:buNone/>
            </a:pPr>
            <a:r>
              <a:rPr lang="en-US" sz="2000" b="1" dirty="0">
                <a:solidFill>
                  <a:srgbClr val="062A3A"/>
                </a:solidFill>
                <a:latin typeface="Consolas" pitchFamily="34" charset="0"/>
                <a:ea typeface="Consolas" pitchFamily="34" charset="-122"/>
                <a:cs typeface="Consolas" pitchFamily="34" charset="-120"/>
              </a:rPr>
              <a:t>shape (2, 3, 4)</a:t>
            </a:r>
            <a:endParaRPr lang="en-US" sz="2000" dirty="0"/>
          </a:p>
        </p:txBody>
      </p:sp>
      <p:sp>
        <p:nvSpPr>
          <p:cNvPr id="44" name="Shape 42"/>
          <p:cNvSpPr/>
          <p:nvPr/>
        </p:nvSpPr>
        <p:spPr>
          <a:xfrm>
            <a:off x="548640" y="3931920"/>
            <a:ext cx="6858000" cy="1837944"/>
          </a:xfrm>
          <a:prstGeom prst="roundRect">
            <a:avLst>
              <a:gd name="adj" fmla="val 2564"/>
            </a:avLst>
          </a:prstGeom>
          <a:solidFill>
            <a:srgbClr val="0B2230"/>
          </a:solidFill>
          <a:ln w="9525">
            <a:solidFill>
              <a:srgbClr val="163B4C"/>
            </a:solidFill>
            <a:prstDash val="solid"/>
          </a:ln>
        </p:spPr>
      </p:sp>
      <p:sp>
        <p:nvSpPr>
          <p:cNvPr id="45" name="Shape 43"/>
          <p:cNvSpPr/>
          <p:nvPr/>
        </p:nvSpPr>
        <p:spPr>
          <a:xfrm>
            <a:off x="548640" y="3931920"/>
            <a:ext cx="6858000" cy="310896"/>
          </a:xfrm>
          <a:prstGeom prst="rect">
            <a:avLst/>
          </a:prstGeom>
          <a:solidFill>
            <a:srgbClr val="103445"/>
          </a:solidFill>
          <a:ln w="12700">
            <a:solidFill>
              <a:srgbClr val="103445"/>
            </a:solidFill>
            <a:prstDash val="solid"/>
          </a:ln>
        </p:spPr>
      </p:sp>
      <p:sp>
        <p:nvSpPr>
          <p:cNvPr id="46" name="Text 44"/>
          <p:cNvSpPr/>
          <p:nvPr/>
        </p:nvSpPr>
        <p:spPr>
          <a:xfrm>
            <a:off x="694944" y="3995928"/>
            <a:ext cx="5943600"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47" name="Shape 45"/>
          <p:cNvSpPr/>
          <p:nvPr/>
        </p:nvSpPr>
        <p:spPr>
          <a:xfrm>
            <a:off x="6839712" y="4050792"/>
            <a:ext cx="82296" cy="82296"/>
          </a:xfrm>
          <a:prstGeom prst="ellipse">
            <a:avLst/>
          </a:prstGeom>
          <a:solidFill>
            <a:srgbClr val="D96C5F"/>
          </a:solidFill>
          <a:ln w="12700">
            <a:solidFill>
              <a:srgbClr val="D96C5F"/>
            </a:solidFill>
            <a:prstDash val="solid"/>
          </a:ln>
        </p:spPr>
      </p:sp>
      <p:sp>
        <p:nvSpPr>
          <p:cNvPr id="48" name="Shape 46"/>
          <p:cNvSpPr/>
          <p:nvPr/>
        </p:nvSpPr>
        <p:spPr>
          <a:xfrm>
            <a:off x="6995160" y="4050792"/>
            <a:ext cx="82296" cy="82296"/>
          </a:xfrm>
          <a:prstGeom prst="ellipse">
            <a:avLst/>
          </a:prstGeom>
          <a:solidFill>
            <a:srgbClr val="E8A33D"/>
          </a:solidFill>
          <a:ln w="12700">
            <a:solidFill>
              <a:srgbClr val="E8A33D"/>
            </a:solidFill>
            <a:prstDash val="solid"/>
          </a:ln>
        </p:spPr>
      </p:sp>
      <p:sp>
        <p:nvSpPr>
          <p:cNvPr id="49" name="Shape 47"/>
          <p:cNvSpPr/>
          <p:nvPr/>
        </p:nvSpPr>
        <p:spPr>
          <a:xfrm>
            <a:off x="7150608" y="4050792"/>
            <a:ext cx="82296" cy="82296"/>
          </a:xfrm>
          <a:prstGeom prst="ellipse">
            <a:avLst/>
          </a:prstGeom>
          <a:solidFill>
            <a:srgbClr val="2D8C6F"/>
          </a:solidFill>
          <a:ln w="12700">
            <a:solidFill>
              <a:srgbClr val="2D8C6F"/>
            </a:solidFill>
            <a:prstDash val="solid"/>
          </a:ln>
        </p:spPr>
      </p:sp>
      <p:sp>
        <p:nvSpPr>
          <p:cNvPr id="50" name="Text 48"/>
          <p:cNvSpPr/>
          <p:nvPr/>
        </p:nvSpPr>
        <p:spPr>
          <a:xfrm>
            <a:off x="713232" y="4343400"/>
            <a:ext cx="6565392" cy="1307592"/>
          </a:xfrm>
          <a:prstGeom prst="rect">
            <a:avLst/>
          </a:prstGeom>
          <a:noFill/>
          <a:ln/>
        </p:spPr>
        <p:txBody>
          <a:bodyPr wrap="square" lIns="0" tIns="0" rIns="0" bIns="0" rtlCol="0" anchor="t"/>
          <a:lstStyle/>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.array(</a:t>
            </a:r>
            <a:r>
              <a:rPr lang="en-US" dirty="0">
                <a:solidFill>
                  <a:srgbClr val="F08A7C"/>
                </a:solidFill>
                <a:latin typeface="Consolas" pitchFamily="34" charset="0"/>
                <a:ea typeface="Consolas" pitchFamily="34" charset="-122"/>
                <a:cs typeface="Consolas" pitchFamily="34" charset="-120"/>
              </a:rPr>
              <a:t>7</a:t>
            </a:r>
            <a:r>
              <a:rPr lang="en-US" dirty="0">
                <a:solidFill>
                  <a:srgbClr val="D6E6EF"/>
                </a:solidFill>
                <a:latin typeface="Consolas" pitchFamily="34" charset="0"/>
                <a:ea typeface="Consolas" pitchFamily="34" charset="-122"/>
                <a:cs typeface="Consolas" pitchFamily="34" charset="-120"/>
              </a:rPr>
              <a:t>).shape)</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.array([</a:t>
            </a:r>
            <a:r>
              <a:rPr lang="en-US" dirty="0">
                <a:solidFill>
                  <a:srgbClr val="F08A7C"/>
                </a:solidFill>
                <a:latin typeface="Consolas" pitchFamily="34" charset="0"/>
                <a:ea typeface="Consolas" pitchFamily="34" charset="-122"/>
                <a:cs typeface="Consolas" pitchFamily="34" charset="-120"/>
              </a:rPr>
              <a:t>1</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3</a:t>
            </a:r>
            <a:r>
              <a:rPr lang="en-US" dirty="0">
                <a:solidFill>
                  <a:srgbClr val="D6E6EF"/>
                </a:solidFill>
                <a:latin typeface="Consolas" pitchFamily="34" charset="0"/>
                <a:ea typeface="Consolas" pitchFamily="34" charset="-122"/>
                <a:cs typeface="Consolas" pitchFamily="34" charset="-120"/>
              </a:rPr>
              <a:t>]).shape)</a:t>
            </a:r>
            <a:endParaRPr lang="en-US" dirty="0"/>
          </a:p>
          <a:p>
            <a:pPr marL="0" indent="0">
              <a:lnSpc>
                <a:spcPct val="100000"/>
              </a:lnSpc>
              <a:buNone/>
            </a:pPr>
            <a:r>
              <a:rPr lang="en-US" dirty="0">
                <a:solidFill>
                  <a:srgbClr val="D6E6EF"/>
                </a:solidFill>
                <a:latin typeface="Consolas" pitchFamily="34" charset="0"/>
                <a:ea typeface="Consolas" pitchFamily="34" charset="-122"/>
                <a:cs typeface="Consolas" pitchFamily="34" charset="-120"/>
              </a:rPr>
              <a:t>a =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.array([[</a:t>
            </a:r>
            <a:r>
              <a:rPr lang="en-US" dirty="0">
                <a:solidFill>
                  <a:srgbClr val="F08A7C"/>
                </a:solidFill>
                <a:latin typeface="Consolas" pitchFamily="34" charset="0"/>
                <a:ea typeface="Consolas" pitchFamily="34" charset="-122"/>
                <a:cs typeface="Consolas" pitchFamily="34" charset="-120"/>
              </a:rPr>
              <a:t>1</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3</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4</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5</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6</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(a.shape)</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.zeros((</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3</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4</a:t>
            </a:r>
            <a:r>
              <a:rPr lang="en-US" dirty="0">
                <a:solidFill>
                  <a:srgbClr val="D6E6EF"/>
                </a:solidFill>
                <a:latin typeface="Consolas" pitchFamily="34" charset="0"/>
                <a:ea typeface="Consolas" pitchFamily="34" charset="-122"/>
                <a:cs typeface="Consolas" pitchFamily="34" charset="-120"/>
              </a:rPr>
              <a:t>)).shape)</a:t>
            </a:r>
            <a:endParaRPr lang="en-US" dirty="0"/>
          </a:p>
        </p:txBody>
      </p:sp>
      <p:sp>
        <p:nvSpPr>
          <p:cNvPr id="51" name="Shape 49"/>
          <p:cNvSpPr/>
          <p:nvPr/>
        </p:nvSpPr>
        <p:spPr>
          <a:xfrm>
            <a:off x="7543800" y="3931920"/>
            <a:ext cx="4096512" cy="1783080"/>
          </a:xfrm>
          <a:prstGeom prst="roundRect">
            <a:avLst>
              <a:gd name="adj" fmla="val 2564"/>
            </a:avLst>
          </a:prstGeom>
          <a:solidFill>
            <a:srgbClr val="FFFFFF"/>
          </a:solidFill>
          <a:ln w="9525">
            <a:solidFill>
              <a:srgbClr val="CFE5EE"/>
            </a:solidFill>
            <a:prstDash val="solid"/>
          </a:ln>
        </p:spPr>
      </p:sp>
      <p:sp>
        <p:nvSpPr>
          <p:cNvPr id="52" name="Text 50"/>
          <p:cNvSpPr/>
          <p:nvPr/>
        </p:nvSpPr>
        <p:spPr>
          <a:xfrm>
            <a:off x="7690104" y="4023360"/>
            <a:ext cx="382219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53" name="Text 51"/>
          <p:cNvSpPr/>
          <p:nvPr/>
        </p:nvSpPr>
        <p:spPr>
          <a:xfrm>
            <a:off x="7690104" y="4279392"/>
            <a:ext cx="3822192" cy="1362456"/>
          </a:xfrm>
          <a:prstGeom prst="rect">
            <a:avLst/>
          </a:prstGeom>
          <a:noFill/>
          <a:ln/>
        </p:spPr>
        <p:txBody>
          <a:bodyPr wrap="square" lIns="0" tIns="0" rIns="0" bIns="0" rtlCol="0" anchor="t"/>
          <a:lstStyle/>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(3,)</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(2, 3)</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(2, 3, 4)</a:t>
            </a:r>
            <a:endParaRPr lang="en-US" sz="2000" dirty="0"/>
          </a:p>
        </p:txBody>
      </p:sp>
      <p:sp>
        <p:nvSpPr>
          <p:cNvPr id="54" name="Text 52"/>
          <p:cNvSpPr/>
          <p:nvPr/>
        </p:nvSpPr>
        <p:spPr>
          <a:xfrm>
            <a:off x="548640" y="5925312"/>
            <a:ext cx="11064240" cy="347472"/>
          </a:xfrm>
          <a:prstGeom prst="rect">
            <a:avLst/>
          </a:prstGeom>
          <a:noFill/>
          <a:ln/>
        </p:spPr>
        <p:txBody>
          <a:bodyPr wrap="square" lIns="0" tIns="0" rIns="0" bIns="0" rtlCol="0" anchor="t"/>
          <a:lstStyle/>
          <a:p>
            <a:pPr marL="0" indent="0">
              <a:buNone/>
            </a:pPr>
            <a:r>
              <a:rPr lang="en-US" sz="1600" i="1" dirty="0">
                <a:solidFill>
                  <a:srgbClr val="728694"/>
                </a:solidFill>
                <a:latin typeface="Segoe UI" pitchFamily="34" charset="0"/>
                <a:ea typeface="Segoe UI" pitchFamily="34" charset="-122"/>
                <a:cs typeface="Segoe UI" pitchFamily="34" charset="-120"/>
              </a:rPr>
              <a:t>Cú pháp (3,) cần dấu phẩy để Python hiểu là tuple một phần tử.</a:t>
            </a:r>
            <a:endParaRPr lang="en-US" sz="1600" dirty="0"/>
          </a:p>
        </p:txBody>
      </p:sp>
      <p:sp>
        <p:nvSpPr>
          <p:cNvPr id="55" name="Shape 53"/>
          <p:cNvSpPr/>
          <p:nvPr/>
        </p:nvSpPr>
        <p:spPr>
          <a:xfrm>
            <a:off x="548640" y="6437376"/>
            <a:ext cx="11091672" cy="9144"/>
          </a:xfrm>
          <a:prstGeom prst="rect">
            <a:avLst/>
          </a:prstGeom>
          <a:solidFill>
            <a:srgbClr val="D7E5EC"/>
          </a:solidFill>
          <a:ln w="12700">
            <a:solidFill>
              <a:srgbClr val="D7E5EC"/>
            </a:solidFill>
            <a:prstDash val="solid"/>
          </a:ln>
        </p:spPr>
      </p:sp>
      <p:sp>
        <p:nvSpPr>
          <p:cNvPr id="56" name="Text 54"/>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57" name="Text 55"/>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09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Bốn thuộc tính quan trọng</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029200" cy="3840480"/>
          </a:xfrm>
          <a:prstGeom prst="roundRect">
            <a:avLst>
              <a:gd name="adj" fmla="val 1667"/>
            </a:avLst>
          </a:prstGeom>
          <a:solidFill>
            <a:srgbClr val="062A3A"/>
          </a:solidFill>
          <a:ln w="9525">
            <a:solidFill>
              <a:srgbClr val="062A3A"/>
            </a:solidFill>
            <a:prstDash val="solid"/>
          </a:ln>
          <a:effectLst>
            <a:outerShdw blurRad="63500" dist="12700" dir="5400000" algn="bl" rotWithShape="0">
              <a:srgbClr val="062A3A">
                <a:alpha val="7000"/>
              </a:srgbClr>
            </a:outerShdw>
          </a:effectLst>
        </p:spPr>
      </p:sp>
      <p:sp>
        <p:nvSpPr>
          <p:cNvPr id="6" name="Text 4"/>
          <p:cNvSpPr/>
          <p:nvPr/>
        </p:nvSpPr>
        <p:spPr>
          <a:xfrm>
            <a:off x="822960" y="1627632"/>
            <a:ext cx="4114800" cy="256032"/>
          </a:xfrm>
          <a:prstGeom prst="rect">
            <a:avLst/>
          </a:prstGeom>
          <a:noFill/>
          <a:ln/>
        </p:spPr>
        <p:txBody>
          <a:bodyPr wrap="square" lIns="0" tIns="0" rIns="0" bIns="0" rtlCol="0" anchor="t"/>
          <a:lstStyle/>
          <a:p>
            <a:pPr marL="0" indent="0">
              <a:buNone/>
            </a:pPr>
            <a:r>
              <a:rPr lang="en-US" sz="1200" b="1" kern="0" spc="150" dirty="0">
                <a:solidFill>
                  <a:srgbClr val="4DB8D4"/>
                </a:solidFill>
                <a:latin typeface="Segoe UI" pitchFamily="34" charset="0"/>
                <a:ea typeface="Segoe UI" pitchFamily="34" charset="-122"/>
                <a:cs typeface="Segoe UI" pitchFamily="34" charset="-120"/>
              </a:rPr>
              <a:t>HỘ CHIẾU MẢNG</a:t>
            </a:r>
            <a:endParaRPr lang="en-US" sz="1200" dirty="0"/>
          </a:p>
        </p:txBody>
      </p:sp>
      <p:sp>
        <p:nvSpPr>
          <p:cNvPr id="7" name="Text 5"/>
          <p:cNvSpPr/>
          <p:nvPr/>
        </p:nvSpPr>
        <p:spPr>
          <a:xfrm>
            <a:off x="822960" y="1901952"/>
            <a:ext cx="4297680" cy="411480"/>
          </a:xfrm>
          <a:prstGeom prst="rect">
            <a:avLst/>
          </a:prstGeom>
          <a:noFill/>
          <a:ln/>
        </p:spPr>
        <p:txBody>
          <a:bodyPr wrap="square" lIns="0" tIns="0" rIns="0" bIns="0" rtlCol="0" anchor="t"/>
          <a:lstStyle/>
          <a:p>
            <a:pPr marL="0" indent="0">
              <a:buNone/>
            </a:pPr>
            <a:r>
              <a:rPr lang="en-US" sz="2500" b="1" dirty="0">
                <a:solidFill>
                  <a:srgbClr val="FFFFFF"/>
                </a:solidFill>
                <a:latin typeface="Consolas" pitchFamily="34" charset="0"/>
                <a:ea typeface="Consolas" pitchFamily="34" charset="-122"/>
                <a:cs typeface="Consolas" pitchFamily="34" charset="-120"/>
              </a:rPr>
              <a:t>ndarray  ·  (2, 3)</a:t>
            </a:r>
            <a:endParaRPr lang="en-US" sz="2500" dirty="0"/>
          </a:p>
        </p:txBody>
      </p:sp>
      <p:sp>
        <p:nvSpPr>
          <p:cNvPr id="8" name="Shape 6"/>
          <p:cNvSpPr/>
          <p:nvPr/>
        </p:nvSpPr>
        <p:spPr>
          <a:xfrm>
            <a:off x="822960" y="3017520"/>
            <a:ext cx="4480560" cy="9144"/>
          </a:xfrm>
          <a:prstGeom prst="rect">
            <a:avLst/>
          </a:prstGeom>
          <a:solidFill>
            <a:srgbClr val="1D4657"/>
          </a:solidFill>
          <a:ln w="12700">
            <a:solidFill>
              <a:srgbClr val="1D4657"/>
            </a:solidFill>
            <a:prstDash val="solid"/>
          </a:ln>
        </p:spPr>
      </p:sp>
      <p:sp>
        <p:nvSpPr>
          <p:cNvPr id="9" name="Text 7"/>
          <p:cNvSpPr/>
          <p:nvPr/>
        </p:nvSpPr>
        <p:spPr>
          <a:xfrm>
            <a:off x="822960" y="2468880"/>
            <a:ext cx="868680" cy="320040"/>
          </a:xfrm>
          <a:prstGeom prst="rect">
            <a:avLst/>
          </a:prstGeom>
          <a:noFill/>
          <a:ln/>
        </p:spPr>
        <p:txBody>
          <a:bodyPr wrap="square" lIns="0" tIns="0" rIns="0" bIns="0" rtlCol="0" anchor="t"/>
          <a:lstStyle/>
          <a:p>
            <a:pPr marL="0" indent="0">
              <a:buNone/>
            </a:pPr>
            <a:r>
              <a:rPr lang="en-US" sz="1800" dirty="0">
                <a:solidFill>
                  <a:srgbClr val="4DB8D4"/>
                </a:solidFill>
                <a:latin typeface="Consolas" pitchFamily="34" charset="0"/>
                <a:ea typeface="Consolas" pitchFamily="34" charset="-122"/>
                <a:cs typeface="Consolas" pitchFamily="34" charset="-120"/>
              </a:rPr>
              <a:t>ndim</a:t>
            </a:r>
            <a:endParaRPr lang="en-US" sz="1800" dirty="0"/>
          </a:p>
        </p:txBody>
      </p:sp>
      <p:sp>
        <p:nvSpPr>
          <p:cNvPr id="10" name="Text 8"/>
          <p:cNvSpPr/>
          <p:nvPr/>
        </p:nvSpPr>
        <p:spPr>
          <a:xfrm>
            <a:off x="1691640" y="2450592"/>
            <a:ext cx="1143000" cy="365760"/>
          </a:xfrm>
          <a:prstGeom prst="rect">
            <a:avLst/>
          </a:prstGeom>
          <a:noFill/>
          <a:ln/>
        </p:spPr>
        <p:txBody>
          <a:bodyPr wrap="square" lIns="0" tIns="0" rIns="0" bIns="0" rtlCol="0" anchor="t"/>
          <a:lstStyle/>
          <a:p>
            <a:pPr marL="0" indent="0">
              <a:buNone/>
            </a:pPr>
            <a:r>
              <a:rPr lang="en-US" sz="2000" b="1" dirty="0">
                <a:solidFill>
                  <a:srgbClr val="FFFFFF"/>
                </a:solidFill>
                <a:latin typeface="Consolas" pitchFamily="34" charset="0"/>
                <a:ea typeface="Consolas" pitchFamily="34" charset="-122"/>
                <a:cs typeface="Consolas" pitchFamily="34" charset="-120"/>
              </a:rPr>
              <a:t>2</a:t>
            </a:r>
            <a:endParaRPr lang="en-US" sz="2000" dirty="0"/>
          </a:p>
        </p:txBody>
      </p:sp>
      <p:sp>
        <p:nvSpPr>
          <p:cNvPr id="11" name="Text 9"/>
          <p:cNvSpPr/>
          <p:nvPr/>
        </p:nvSpPr>
        <p:spPr>
          <a:xfrm>
            <a:off x="2880360" y="2505456"/>
            <a:ext cx="2377440" cy="347472"/>
          </a:xfrm>
          <a:prstGeom prst="rect">
            <a:avLst/>
          </a:prstGeom>
          <a:noFill/>
          <a:ln/>
        </p:spPr>
        <p:txBody>
          <a:bodyPr wrap="square" lIns="0" tIns="0" rIns="0" bIns="0" rtlCol="0" anchor="t"/>
          <a:lstStyle/>
          <a:p>
            <a:pPr marL="0" indent="0" algn="r">
              <a:buNone/>
            </a:pPr>
            <a:r>
              <a:rPr lang="en-US" dirty="0">
                <a:solidFill>
                  <a:srgbClr val="8FB0BF"/>
                </a:solidFill>
                <a:latin typeface="Segoe UI" pitchFamily="34" charset="0"/>
                <a:ea typeface="Segoe UI" pitchFamily="34" charset="-122"/>
                <a:cs typeface="Segoe UI" pitchFamily="34" charset="-120"/>
              </a:rPr>
              <a:t>số chiều</a:t>
            </a:r>
            <a:endParaRPr lang="en-US" dirty="0"/>
          </a:p>
        </p:txBody>
      </p:sp>
      <p:sp>
        <p:nvSpPr>
          <p:cNvPr id="12" name="Shape 10"/>
          <p:cNvSpPr/>
          <p:nvPr/>
        </p:nvSpPr>
        <p:spPr>
          <a:xfrm>
            <a:off x="822960" y="3657600"/>
            <a:ext cx="4480560" cy="9144"/>
          </a:xfrm>
          <a:prstGeom prst="rect">
            <a:avLst/>
          </a:prstGeom>
          <a:solidFill>
            <a:srgbClr val="1D4657"/>
          </a:solidFill>
          <a:ln w="12700">
            <a:solidFill>
              <a:srgbClr val="1D4657"/>
            </a:solidFill>
            <a:prstDash val="solid"/>
          </a:ln>
        </p:spPr>
      </p:sp>
      <p:sp>
        <p:nvSpPr>
          <p:cNvPr id="13" name="Text 11"/>
          <p:cNvSpPr/>
          <p:nvPr/>
        </p:nvSpPr>
        <p:spPr>
          <a:xfrm>
            <a:off x="822960" y="3108960"/>
            <a:ext cx="868680" cy="320040"/>
          </a:xfrm>
          <a:prstGeom prst="rect">
            <a:avLst/>
          </a:prstGeom>
          <a:noFill/>
          <a:ln/>
        </p:spPr>
        <p:txBody>
          <a:bodyPr wrap="square" lIns="0" tIns="0" rIns="0" bIns="0" rtlCol="0" anchor="t"/>
          <a:lstStyle/>
          <a:p>
            <a:pPr marL="0" indent="0">
              <a:buNone/>
            </a:pPr>
            <a:r>
              <a:rPr lang="en-US" sz="1800" dirty="0">
                <a:solidFill>
                  <a:srgbClr val="4DB8D4"/>
                </a:solidFill>
                <a:latin typeface="Consolas" pitchFamily="34" charset="0"/>
                <a:ea typeface="Consolas" pitchFamily="34" charset="-122"/>
                <a:cs typeface="Consolas" pitchFamily="34" charset="-120"/>
              </a:rPr>
              <a:t>shape</a:t>
            </a:r>
            <a:endParaRPr lang="en-US" sz="1800" dirty="0"/>
          </a:p>
        </p:txBody>
      </p:sp>
      <p:sp>
        <p:nvSpPr>
          <p:cNvPr id="14" name="Text 12"/>
          <p:cNvSpPr/>
          <p:nvPr/>
        </p:nvSpPr>
        <p:spPr>
          <a:xfrm>
            <a:off x="1691640" y="3090672"/>
            <a:ext cx="1143000" cy="365760"/>
          </a:xfrm>
          <a:prstGeom prst="rect">
            <a:avLst/>
          </a:prstGeom>
          <a:noFill/>
          <a:ln/>
        </p:spPr>
        <p:txBody>
          <a:bodyPr wrap="square" lIns="0" tIns="0" rIns="0" bIns="0" rtlCol="0" anchor="t"/>
          <a:lstStyle/>
          <a:p>
            <a:pPr marL="0" indent="0">
              <a:buNone/>
            </a:pPr>
            <a:r>
              <a:rPr lang="en-US" sz="2000" b="1" dirty="0">
                <a:solidFill>
                  <a:srgbClr val="FFFFFF"/>
                </a:solidFill>
                <a:latin typeface="Consolas" pitchFamily="34" charset="0"/>
                <a:ea typeface="Consolas" pitchFamily="34" charset="-122"/>
                <a:cs typeface="Consolas" pitchFamily="34" charset="-120"/>
              </a:rPr>
              <a:t>(2, 3)</a:t>
            </a:r>
            <a:endParaRPr lang="en-US" sz="2000" dirty="0"/>
          </a:p>
        </p:txBody>
      </p:sp>
      <p:sp>
        <p:nvSpPr>
          <p:cNvPr id="15" name="Text 13"/>
          <p:cNvSpPr/>
          <p:nvPr/>
        </p:nvSpPr>
        <p:spPr>
          <a:xfrm>
            <a:off x="2761861" y="3145536"/>
            <a:ext cx="2495939" cy="347472"/>
          </a:xfrm>
          <a:prstGeom prst="rect">
            <a:avLst/>
          </a:prstGeom>
          <a:noFill/>
          <a:ln/>
        </p:spPr>
        <p:txBody>
          <a:bodyPr wrap="square" lIns="0" tIns="0" rIns="0" bIns="0" rtlCol="0" anchor="t"/>
          <a:lstStyle/>
          <a:p>
            <a:pPr marL="0" indent="0" algn="r">
              <a:buNone/>
            </a:pPr>
            <a:r>
              <a:rPr lang="en-US" dirty="0">
                <a:solidFill>
                  <a:srgbClr val="8FB0BF"/>
                </a:solidFill>
                <a:latin typeface="Segoe UI" pitchFamily="34" charset="0"/>
                <a:ea typeface="Segoe UI" pitchFamily="34" charset="-122"/>
                <a:cs typeface="Segoe UI" pitchFamily="34" charset="-120"/>
              </a:rPr>
              <a:t>kích thước từng chiều</a:t>
            </a:r>
            <a:endParaRPr lang="en-US" dirty="0"/>
          </a:p>
        </p:txBody>
      </p:sp>
      <p:sp>
        <p:nvSpPr>
          <p:cNvPr id="16" name="Shape 14"/>
          <p:cNvSpPr/>
          <p:nvPr/>
        </p:nvSpPr>
        <p:spPr>
          <a:xfrm>
            <a:off x="822960" y="4297680"/>
            <a:ext cx="4480560" cy="9144"/>
          </a:xfrm>
          <a:prstGeom prst="rect">
            <a:avLst/>
          </a:prstGeom>
          <a:solidFill>
            <a:srgbClr val="1D4657"/>
          </a:solidFill>
          <a:ln w="12700">
            <a:solidFill>
              <a:srgbClr val="1D4657"/>
            </a:solidFill>
            <a:prstDash val="solid"/>
          </a:ln>
        </p:spPr>
      </p:sp>
      <p:sp>
        <p:nvSpPr>
          <p:cNvPr id="17" name="Text 15"/>
          <p:cNvSpPr/>
          <p:nvPr/>
        </p:nvSpPr>
        <p:spPr>
          <a:xfrm>
            <a:off x="822960" y="3749040"/>
            <a:ext cx="868680" cy="320040"/>
          </a:xfrm>
          <a:prstGeom prst="rect">
            <a:avLst/>
          </a:prstGeom>
          <a:noFill/>
          <a:ln/>
        </p:spPr>
        <p:txBody>
          <a:bodyPr wrap="square" lIns="0" tIns="0" rIns="0" bIns="0" rtlCol="0" anchor="t"/>
          <a:lstStyle/>
          <a:p>
            <a:pPr marL="0" indent="0">
              <a:buNone/>
            </a:pPr>
            <a:r>
              <a:rPr lang="en-US" sz="1800" dirty="0">
                <a:solidFill>
                  <a:srgbClr val="4DB8D4"/>
                </a:solidFill>
                <a:latin typeface="Consolas" pitchFamily="34" charset="0"/>
                <a:ea typeface="Consolas" pitchFamily="34" charset="-122"/>
                <a:cs typeface="Consolas" pitchFamily="34" charset="-120"/>
              </a:rPr>
              <a:t>size</a:t>
            </a:r>
            <a:endParaRPr lang="en-US" sz="1800" dirty="0"/>
          </a:p>
        </p:txBody>
      </p:sp>
      <p:sp>
        <p:nvSpPr>
          <p:cNvPr id="18" name="Text 16"/>
          <p:cNvSpPr/>
          <p:nvPr/>
        </p:nvSpPr>
        <p:spPr>
          <a:xfrm>
            <a:off x="1691640" y="3730752"/>
            <a:ext cx="1143000" cy="365760"/>
          </a:xfrm>
          <a:prstGeom prst="rect">
            <a:avLst/>
          </a:prstGeom>
          <a:noFill/>
          <a:ln/>
        </p:spPr>
        <p:txBody>
          <a:bodyPr wrap="square" lIns="0" tIns="0" rIns="0" bIns="0" rtlCol="0" anchor="t"/>
          <a:lstStyle/>
          <a:p>
            <a:pPr marL="0" indent="0">
              <a:buNone/>
            </a:pPr>
            <a:r>
              <a:rPr lang="en-US" sz="2000" b="1" dirty="0">
                <a:solidFill>
                  <a:srgbClr val="FFFFFF"/>
                </a:solidFill>
                <a:latin typeface="Consolas" pitchFamily="34" charset="0"/>
                <a:ea typeface="Consolas" pitchFamily="34" charset="-122"/>
                <a:cs typeface="Consolas" pitchFamily="34" charset="-120"/>
              </a:rPr>
              <a:t>6</a:t>
            </a:r>
            <a:endParaRPr lang="en-US" sz="2000" dirty="0"/>
          </a:p>
        </p:txBody>
      </p:sp>
      <p:sp>
        <p:nvSpPr>
          <p:cNvPr id="19" name="Text 17"/>
          <p:cNvSpPr/>
          <p:nvPr/>
        </p:nvSpPr>
        <p:spPr>
          <a:xfrm>
            <a:off x="2880360" y="3785616"/>
            <a:ext cx="2377440" cy="347472"/>
          </a:xfrm>
          <a:prstGeom prst="rect">
            <a:avLst/>
          </a:prstGeom>
          <a:noFill/>
          <a:ln/>
        </p:spPr>
        <p:txBody>
          <a:bodyPr wrap="square" lIns="0" tIns="0" rIns="0" bIns="0" rtlCol="0" anchor="t"/>
          <a:lstStyle/>
          <a:p>
            <a:pPr marL="0" indent="0" algn="r">
              <a:buNone/>
            </a:pPr>
            <a:r>
              <a:rPr lang="en-US" dirty="0" err="1">
                <a:solidFill>
                  <a:srgbClr val="8FB0BF"/>
                </a:solidFill>
                <a:latin typeface="Segoe UI" pitchFamily="34" charset="0"/>
                <a:ea typeface="Segoe UI" pitchFamily="34" charset="-122"/>
                <a:cs typeface="Segoe UI" pitchFamily="34" charset="-120"/>
              </a:rPr>
              <a:t>tổng</a:t>
            </a:r>
            <a:r>
              <a:rPr lang="en-US" dirty="0">
                <a:solidFill>
                  <a:srgbClr val="8FB0BF"/>
                </a:solidFill>
                <a:latin typeface="Segoe UI" pitchFamily="34" charset="0"/>
                <a:ea typeface="Segoe UI" pitchFamily="34" charset="-122"/>
                <a:cs typeface="Segoe UI" pitchFamily="34" charset="-120"/>
              </a:rPr>
              <a:t> </a:t>
            </a:r>
            <a:r>
              <a:rPr lang="en-US" dirty="0" err="1">
                <a:solidFill>
                  <a:srgbClr val="8FB0BF"/>
                </a:solidFill>
                <a:latin typeface="Segoe UI" pitchFamily="34" charset="0"/>
                <a:ea typeface="Segoe UI" pitchFamily="34" charset="-122"/>
                <a:cs typeface="Segoe UI" pitchFamily="34" charset="-120"/>
              </a:rPr>
              <a:t>số</a:t>
            </a:r>
            <a:r>
              <a:rPr lang="en-US" dirty="0">
                <a:solidFill>
                  <a:srgbClr val="8FB0BF"/>
                </a:solidFill>
                <a:latin typeface="Segoe UI" pitchFamily="34" charset="0"/>
                <a:ea typeface="Segoe UI" pitchFamily="34" charset="-122"/>
                <a:cs typeface="Segoe UI" pitchFamily="34" charset="-120"/>
              </a:rPr>
              <a:t> </a:t>
            </a:r>
            <a:r>
              <a:rPr lang="en-US" dirty="0" err="1">
                <a:solidFill>
                  <a:srgbClr val="8FB0BF"/>
                </a:solidFill>
                <a:latin typeface="Segoe UI" pitchFamily="34" charset="0"/>
                <a:ea typeface="Segoe UI" pitchFamily="34" charset="-122"/>
                <a:cs typeface="Segoe UI" pitchFamily="34" charset="-120"/>
              </a:rPr>
              <a:t>phần</a:t>
            </a:r>
            <a:r>
              <a:rPr lang="en-US" dirty="0">
                <a:solidFill>
                  <a:srgbClr val="8FB0BF"/>
                </a:solidFill>
                <a:latin typeface="Segoe UI" pitchFamily="34" charset="0"/>
                <a:ea typeface="Segoe UI" pitchFamily="34" charset="-122"/>
                <a:cs typeface="Segoe UI" pitchFamily="34" charset="-120"/>
              </a:rPr>
              <a:t> </a:t>
            </a:r>
            <a:r>
              <a:rPr lang="en-US" dirty="0" err="1">
                <a:solidFill>
                  <a:srgbClr val="8FB0BF"/>
                </a:solidFill>
                <a:latin typeface="Segoe UI" pitchFamily="34" charset="0"/>
                <a:ea typeface="Segoe UI" pitchFamily="34" charset="-122"/>
                <a:cs typeface="Segoe UI" pitchFamily="34" charset="-120"/>
              </a:rPr>
              <a:t>tử</a:t>
            </a:r>
            <a:endParaRPr lang="en-US" dirty="0"/>
          </a:p>
        </p:txBody>
      </p:sp>
      <p:sp>
        <p:nvSpPr>
          <p:cNvPr id="20" name="Shape 18"/>
          <p:cNvSpPr/>
          <p:nvPr/>
        </p:nvSpPr>
        <p:spPr>
          <a:xfrm>
            <a:off x="822960" y="4937760"/>
            <a:ext cx="4480560" cy="9144"/>
          </a:xfrm>
          <a:prstGeom prst="rect">
            <a:avLst/>
          </a:prstGeom>
          <a:solidFill>
            <a:srgbClr val="1D4657"/>
          </a:solidFill>
          <a:ln w="12700">
            <a:solidFill>
              <a:srgbClr val="1D4657"/>
            </a:solidFill>
            <a:prstDash val="solid"/>
          </a:ln>
        </p:spPr>
      </p:sp>
      <p:sp>
        <p:nvSpPr>
          <p:cNvPr id="21" name="Text 19"/>
          <p:cNvSpPr/>
          <p:nvPr/>
        </p:nvSpPr>
        <p:spPr>
          <a:xfrm>
            <a:off x="822960" y="4389120"/>
            <a:ext cx="868680" cy="320040"/>
          </a:xfrm>
          <a:prstGeom prst="rect">
            <a:avLst/>
          </a:prstGeom>
          <a:noFill/>
          <a:ln/>
        </p:spPr>
        <p:txBody>
          <a:bodyPr wrap="square" lIns="0" tIns="0" rIns="0" bIns="0" rtlCol="0" anchor="t"/>
          <a:lstStyle/>
          <a:p>
            <a:pPr marL="0" indent="0">
              <a:buNone/>
            </a:pPr>
            <a:r>
              <a:rPr lang="en-US" sz="1800" dirty="0">
                <a:solidFill>
                  <a:srgbClr val="4DB8D4"/>
                </a:solidFill>
                <a:latin typeface="Consolas" pitchFamily="34" charset="0"/>
                <a:ea typeface="Consolas" pitchFamily="34" charset="-122"/>
                <a:cs typeface="Consolas" pitchFamily="34" charset="-120"/>
              </a:rPr>
              <a:t>dtype</a:t>
            </a:r>
            <a:endParaRPr lang="en-US" sz="1800" dirty="0"/>
          </a:p>
        </p:txBody>
      </p:sp>
      <p:sp>
        <p:nvSpPr>
          <p:cNvPr id="22" name="Text 20"/>
          <p:cNvSpPr/>
          <p:nvPr/>
        </p:nvSpPr>
        <p:spPr>
          <a:xfrm>
            <a:off x="1691640" y="4370832"/>
            <a:ext cx="1143000" cy="365760"/>
          </a:xfrm>
          <a:prstGeom prst="rect">
            <a:avLst/>
          </a:prstGeom>
          <a:noFill/>
          <a:ln/>
        </p:spPr>
        <p:txBody>
          <a:bodyPr wrap="square" lIns="0" tIns="0" rIns="0" bIns="0" rtlCol="0" anchor="t"/>
          <a:lstStyle/>
          <a:p>
            <a:pPr marL="0" indent="0">
              <a:buNone/>
            </a:pPr>
            <a:r>
              <a:rPr lang="en-US" sz="2000" b="1" dirty="0">
                <a:solidFill>
                  <a:srgbClr val="FFFFFF"/>
                </a:solidFill>
                <a:latin typeface="Consolas" pitchFamily="34" charset="0"/>
                <a:ea typeface="Consolas" pitchFamily="34" charset="-122"/>
                <a:cs typeface="Consolas" pitchFamily="34" charset="-120"/>
              </a:rPr>
              <a:t>int64</a:t>
            </a:r>
            <a:endParaRPr lang="en-US" sz="2000" dirty="0"/>
          </a:p>
        </p:txBody>
      </p:sp>
      <p:sp>
        <p:nvSpPr>
          <p:cNvPr id="23" name="Text 21"/>
          <p:cNvSpPr/>
          <p:nvPr/>
        </p:nvSpPr>
        <p:spPr>
          <a:xfrm>
            <a:off x="2880360" y="4425696"/>
            <a:ext cx="2377440" cy="347472"/>
          </a:xfrm>
          <a:prstGeom prst="rect">
            <a:avLst/>
          </a:prstGeom>
          <a:noFill/>
          <a:ln/>
        </p:spPr>
        <p:txBody>
          <a:bodyPr wrap="square" lIns="0" tIns="0" rIns="0" bIns="0" rtlCol="0" anchor="t"/>
          <a:lstStyle/>
          <a:p>
            <a:pPr marL="0" indent="0" algn="r">
              <a:buNone/>
            </a:pPr>
            <a:r>
              <a:rPr lang="en-US" dirty="0" err="1">
                <a:solidFill>
                  <a:srgbClr val="8FB0BF"/>
                </a:solidFill>
                <a:latin typeface="Segoe UI" pitchFamily="34" charset="0"/>
                <a:ea typeface="Segoe UI" pitchFamily="34" charset="-122"/>
                <a:cs typeface="Segoe UI" pitchFamily="34" charset="-120"/>
              </a:rPr>
              <a:t>kiểu</a:t>
            </a:r>
            <a:r>
              <a:rPr lang="en-US" dirty="0">
                <a:solidFill>
                  <a:srgbClr val="8FB0BF"/>
                </a:solidFill>
                <a:latin typeface="Segoe UI" pitchFamily="34" charset="0"/>
                <a:ea typeface="Segoe UI" pitchFamily="34" charset="-122"/>
                <a:cs typeface="Segoe UI" pitchFamily="34" charset="-120"/>
              </a:rPr>
              <a:t> </a:t>
            </a:r>
            <a:r>
              <a:rPr lang="en-US" dirty="0" err="1">
                <a:solidFill>
                  <a:srgbClr val="8FB0BF"/>
                </a:solidFill>
                <a:latin typeface="Segoe UI" pitchFamily="34" charset="0"/>
                <a:ea typeface="Segoe UI" pitchFamily="34" charset="-122"/>
                <a:cs typeface="Segoe UI" pitchFamily="34" charset="-120"/>
              </a:rPr>
              <a:t>dữ</a:t>
            </a:r>
            <a:r>
              <a:rPr lang="en-US" dirty="0">
                <a:solidFill>
                  <a:srgbClr val="8FB0BF"/>
                </a:solidFill>
                <a:latin typeface="Segoe UI" pitchFamily="34" charset="0"/>
                <a:ea typeface="Segoe UI" pitchFamily="34" charset="-122"/>
                <a:cs typeface="Segoe UI" pitchFamily="34" charset="-120"/>
              </a:rPr>
              <a:t> </a:t>
            </a:r>
            <a:r>
              <a:rPr lang="en-US" dirty="0" err="1">
                <a:solidFill>
                  <a:srgbClr val="8FB0BF"/>
                </a:solidFill>
                <a:latin typeface="Segoe UI" pitchFamily="34" charset="0"/>
                <a:ea typeface="Segoe UI" pitchFamily="34" charset="-122"/>
                <a:cs typeface="Segoe UI" pitchFamily="34" charset="-120"/>
              </a:rPr>
              <a:t>liệu</a:t>
            </a:r>
            <a:endParaRPr lang="en-US" dirty="0"/>
          </a:p>
        </p:txBody>
      </p:sp>
      <p:sp>
        <p:nvSpPr>
          <p:cNvPr id="24" name="Shape 22"/>
          <p:cNvSpPr/>
          <p:nvPr/>
        </p:nvSpPr>
        <p:spPr>
          <a:xfrm>
            <a:off x="5806440" y="1463040"/>
            <a:ext cx="5833872" cy="2076248"/>
          </a:xfrm>
          <a:prstGeom prst="roundRect">
            <a:avLst>
              <a:gd name="adj" fmla="val 2326"/>
            </a:avLst>
          </a:prstGeom>
          <a:solidFill>
            <a:srgbClr val="0B2230"/>
          </a:solidFill>
          <a:ln w="9525">
            <a:solidFill>
              <a:srgbClr val="163B4C"/>
            </a:solidFill>
            <a:prstDash val="solid"/>
          </a:ln>
        </p:spPr>
      </p:sp>
      <p:sp>
        <p:nvSpPr>
          <p:cNvPr id="25" name="Shape 23"/>
          <p:cNvSpPr/>
          <p:nvPr/>
        </p:nvSpPr>
        <p:spPr>
          <a:xfrm>
            <a:off x="5806440" y="1463040"/>
            <a:ext cx="5833872" cy="310896"/>
          </a:xfrm>
          <a:prstGeom prst="rect">
            <a:avLst/>
          </a:prstGeom>
          <a:solidFill>
            <a:srgbClr val="103445"/>
          </a:solidFill>
          <a:ln w="12700">
            <a:solidFill>
              <a:srgbClr val="103445"/>
            </a:solidFill>
            <a:prstDash val="solid"/>
          </a:ln>
        </p:spPr>
      </p:sp>
      <p:sp>
        <p:nvSpPr>
          <p:cNvPr id="26" name="Text 24"/>
          <p:cNvSpPr/>
          <p:nvPr/>
        </p:nvSpPr>
        <p:spPr>
          <a:xfrm>
            <a:off x="5952744" y="1527048"/>
            <a:ext cx="491947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7" name="Shape 25"/>
          <p:cNvSpPr/>
          <p:nvPr/>
        </p:nvSpPr>
        <p:spPr>
          <a:xfrm>
            <a:off x="11073384" y="1581912"/>
            <a:ext cx="82296" cy="82296"/>
          </a:xfrm>
          <a:prstGeom prst="ellipse">
            <a:avLst/>
          </a:prstGeom>
          <a:solidFill>
            <a:srgbClr val="D96C5F"/>
          </a:solidFill>
          <a:ln w="12700">
            <a:solidFill>
              <a:srgbClr val="D96C5F"/>
            </a:solidFill>
            <a:prstDash val="solid"/>
          </a:ln>
        </p:spPr>
      </p:sp>
      <p:sp>
        <p:nvSpPr>
          <p:cNvPr id="28" name="Shape 26"/>
          <p:cNvSpPr/>
          <p:nvPr/>
        </p:nvSpPr>
        <p:spPr>
          <a:xfrm>
            <a:off x="11228832" y="1581912"/>
            <a:ext cx="82296" cy="82296"/>
          </a:xfrm>
          <a:prstGeom prst="ellipse">
            <a:avLst/>
          </a:prstGeom>
          <a:solidFill>
            <a:srgbClr val="E8A33D"/>
          </a:solidFill>
          <a:ln w="12700">
            <a:solidFill>
              <a:srgbClr val="E8A33D"/>
            </a:solidFill>
            <a:prstDash val="solid"/>
          </a:ln>
        </p:spPr>
      </p:sp>
      <p:sp>
        <p:nvSpPr>
          <p:cNvPr id="29" name="Shape 27"/>
          <p:cNvSpPr/>
          <p:nvPr/>
        </p:nvSpPr>
        <p:spPr>
          <a:xfrm>
            <a:off x="11384280" y="1581912"/>
            <a:ext cx="82296" cy="82296"/>
          </a:xfrm>
          <a:prstGeom prst="ellipse">
            <a:avLst/>
          </a:prstGeom>
          <a:solidFill>
            <a:srgbClr val="2D8C6F"/>
          </a:solidFill>
          <a:ln w="12700">
            <a:solidFill>
              <a:srgbClr val="2D8C6F"/>
            </a:solidFill>
            <a:prstDash val="solid"/>
          </a:ln>
        </p:spPr>
      </p:sp>
      <p:sp>
        <p:nvSpPr>
          <p:cNvPr id="30" name="Text 28"/>
          <p:cNvSpPr/>
          <p:nvPr/>
        </p:nvSpPr>
        <p:spPr>
          <a:xfrm>
            <a:off x="5971032" y="1874520"/>
            <a:ext cx="5541264" cy="1490472"/>
          </a:xfrm>
          <a:prstGeom prst="rect">
            <a:avLst/>
          </a:prstGeom>
          <a:noFill/>
          <a:ln/>
        </p:spPr>
        <p:txBody>
          <a:bodyPr wrap="square" lIns="0" tIns="0" rIns="0" bIns="0" rtlCol="0" anchor="t"/>
          <a:lstStyle/>
          <a:p>
            <a:pPr marL="0" indent="0">
              <a:lnSpc>
                <a:spcPct val="100000"/>
              </a:lnSpc>
              <a:buNone/>
            </a:pPr>
            <a:r>
              <a:rPr lang="en-US" sz="2000" dirty="0">
                <a:solidFill>
                  <a:srgbClr val="D6E6EF"/>
                </a:solidFill>
                <a:latin typeface="Consolas" pitchFamily="34" charset="0"/>
                <a:ea typeface="Consolas" pitchFamily="34" charset="-122"/>
                <a:cs typeface="Consolas" pitchFamily="34" charset="-120"/>
              </a:rPr>
              <a:t>a = </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.array([[</a:t>
            </a:r>
            <a:r>
              <a:rPr lang="en-US" sz="2000" dirty="0">
                <a:solidFill>
                  <a:srgbClr val="F08A7C"/>
                </a:solidFill>
                <a:latin typeface="Consolas" pitchFamily="34" charset="0"/>
                <a:ea typeface="Consolas" pitchFamily="34" charset="-122"/>
                <a:cs typeface="Consolas" pitchFamily="34" charset="-120"/>
              </a:rPr>
              <a:t>1</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2</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3</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4</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5</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6</a:t>
            </a:r>
            <a:r>
              <a:rPr lang="en-US" sz="2000" dirty="0">
                <a:solidFill>
                  <a:srgbClr val="D6E6EF"/>
                </a:solidFill>
                <a:latin typeface="Consolas" pitchFamily="34" charset="0"/>
                <a:ea typeface="Consolas" pitchFamily="34" charset="-122"/>
                <a:cs typeface="Consolas" pitchFamily="34" charset="-120"/>
              </a:rPr>
              <a:t>]])</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(a.ndim)</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(a.shape)</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(a.size)</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(a.dtype)</a:t>
            </a:r>
            <a:endParaRPr lang="en-US" sz="2000" dirty="0"/>
          </a:p>
        </p:txBody>
      </p:sp>
      <p:sp>
        <p:nvSpPr>
          <p:cNvPr id="31" name="Shape 29"/>
          <p:cNvSpPr/>
          <p:nvPr/>
        </p:nvSpPr>
        <p:spPr>
          <a:xfrm>
            <a:off x="5852160" y="3639872"/>
            <a:ext cx="5833872" cy="1682496"/>
          </a:xfrm>
          <a:prstGeom prst="roundRect">
            <a:avLst>
              <a:gd name="adj" fmla="val 3030"/>
            </a:avLst>
          </a:prstGeom>
          <a:solidFill>
            <a:srgbClr val="FFFFFF"/>
          </a:solidFill>
          <a:ln w="9525">
            <a:solidFill>
              <a:srgbClr val="CFE5EE"/>
            </a:solidFill>
            <a:prstDash val="solid"/>
          </a:ln>
        </p:spPr>
      </p:sp>
      <p:sp>
        <p:nvSpPr>
          <p:cNvPr id="32" name="Text 30"/>
          <p:cNvSpPr/>
          <p:nvPr/>
        </p:nvSpPr>
        <p:spPr>
          <a:xfrm>
            <a:off x="5998464" y="3731312"/>
            <a:ext cx="555955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3" name="Text 31"/>
          <p:cNvSpPr/>
          <p:nvPr/>
        </p:nvSpPr>
        <p:spPr>
          <a:xfrm>
            <a:off x="5998464" y="3987344"/>
            <a:ext cx="5559552" cy="1088136"/>
          </a:xfrm>
          <a:prstGeom prst="rect">
            <a:avLst/>
          </a:prstGeom>
          <a:noFill/>
          <a:ln/>
        </p:spPr>
        <p:txBody>
          <a:bodyPr wrap="square" lIns="0" tIns="0" rIns="0" bIns="0" rtlCol="0" anchor="t"/>
          <a:lstStyle/>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2</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(2, 3)</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6</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int64</a:t>
            </a:r>
            <a:endParaRPr lang="en-US" sz="2000" dirty="0"/>
          </a:p>
        </p:txBody>
      </p:sp>
      <p:sp>
        <p:nvSpPr>
          <p:cNvPr id="34" name="Shape 32"/>
          <p:cNvSpPr/>
          <p:nvPr/>
        </p:nvSpPr>
        <p:spPr>
          <a:xfrm>
            <a:off x="548640" y="5440680"/>
            <a:ext cx="5486400" cy="548640"/>
          </a:xfrm>
          <a:prstGeom prst="roundRect">
            <a:avLst>
              <a:gd name="adj" fmla="val 11667"/>
            </a:avLst>
          </a:prstGeom>
          <a:solidFill>
            <a:srgbClr val="EAF4F8"/>
          </a:solidFill>
          <a:ln w="9525">
            <a:solidFill>
              <a:srgbClr val="CFE5EE"/>
            </a:solidFill>
            <a:prstDash val="solid"/>
          </a:ln>
        </p:spPr>
      </p:sp>
      <p:sp>
        <p:nvSpPr>
          <p:cNvPr id="35" name="Text 33"/>
          <p:cNvSpPr/>
          <p:nvPr/>
        </p:nvSpPr>
        <p:spPr>
          <a:xfrm>
            <a:off x="777240" y="5440680"/>
            <a:ext cx="5029200" cy="548640"/>
          </a:xfrm>
          <a:prstGeom prst="rect">
            <a:avLst/>
          </a:prstGeom>
          <a:noFill/>
          <a:ln/>
        </p:spPr>
        <p:txBody>
          <a:bodyPr wrap="square" lIns="0" tIns="0" rIns="0" bIns="0" rtlCol="0" anchor="ctr"/>
          <a:lstStyle/>
          <a:p>
            <a:pPr marL="0" indent="0">
              <a:buNone/>
            </a:pPr>
            <a:r>
              <a:rPr lang="en-US" sz="2000" b="1" dirty="0">
                <a:solidFill>
                  <a:srgbClr val="1B8EA8"/>
                </a:solidFill>
                <a:latin typeface="Consolas" pitchFamily="34" charset="0"/>
                <a:ea typeface="Consolas" pitchFamily="34" charset="-122"/>
                <a:cs typeface="Consolas" pitchFamily="34" charset="-120"/>
              </a:rPr>
              <a:t>ndim = len(shape)</a:t>
            </a:r>
            <a:endParaRPr lang="en-US" sz="2000" dirty="0"/>
          </a:p>
        </p:txBody>
      </p:sp>
      <p:sp>
        <p:nvSpPr>
          <p:cNvPr id="36" name="Shape 34"/>
          <p:cNvSpPr/>
          <p:nvPr/>
        </p:nvSpPr>
        <p:spPr>
          <a:xfrm>
            <a:off x="6153912" y="5440680"/>
            <a:ext cx="5486400" cy="548640"/>
          </a:xfrm>
          <a:prstGeom prst="roundRect">
            <a:avLst>
              <a:gd name="adj" fmla="val 11667"/>
            </a:avLst>
          </a:prstGeom>
          <a:solidFill>
            <a:srgbClr val="EAF4F8"/>
          </a:solidFill>
          <a:ln w="9525">
            <a:solidFill>
              <a:srgbClr val="CFE5EE"/>
            </a:solidFill>
            <a:prstDash val="solid"/>
          </a:ln>
        </p:spPr>
      </p:sp>
      <p:sp>
        <p:nvSpPr>
          <p:cNvPr id="37" name="Text 35"/>
          <p:cNvSpPr/>
          <p:nvPr/>
        </p:nvSpPr>
        <p:spPr>
          <a:xfrm>
            <a:off x="6382512" y="5440680"/>
            <a:ext cx="5029200" cy="548640"/>
          </a:xfrm>
          <a:prstGeom prst="rect">
            <a:avLst/>
          </a:prstGeom>
          <a:noFill/>
          <a:ln/>
        </p:spPr>
        <p:txBody>
          <a:bodyPr wrap="square" lIns="0" tIns="0" rIns="0" bIns="0" rtlCol="0" anchor="ctr"/>
          <a:lstStyle/>
          <a:p>
            <a:pPr marL="0" indent="0">
              <a:buNone/>
            </a:pPr>
            <a:r>
              <a:rPr lang="en-US" sz="2000" b="1" dirty="0">
                <a:solidFill>
                  <a:srgbClr val="1B8EA8"/>
                </a:solidFill>
                <a:latin typeface="Consolas" pitchFamily="34" charset="0"/>
                <a:ea typeface="Consolas" pitchFamily="34" charset="-122"/>
                <a:cs typeface="Consolas" pitchFamily="34" charset="-120"/>
              </a:rPr>
              <a:t>size = tích(shape)</a:t>
            </a:r>
            <a:endParaRPr lang="en-US" sz="2000" dirty="0"/>
          </a:p>
        </p:txBody>
      </p:sp>
      <p:sp>
        <p:nvSpPr>
          <p:cNvPr id="38" name="Text 36"/>
          <p:cNvSpPr/>
          <p:nvPr/>
        </p:nvSpPr>
        <p:spPr>
          <a:xfrm>
            <a:off x="548640" y="6126480"/>
            <a:ext cx="4572000" cy="219456"/>
          </a:xfrm>
          <a:prstGeom prst="rect">
            <a:avLst/>
          </a:prstGeom>
          <a:noFill/>
          <a:ln/>
        </p:spPr>
        <p:txBody>
          <a:bodyPr wrap="square" lIns="0" tIns="0" rIns="0" bIns="0" rtlCol="0" anchor="t"/>
          <a:lstStyle/>
          <a:p>
            <a:pPr marL="0" indent="0">
              <a:buNone/>
            </a:pPr>
            <a:r>
              <a:rPr lang="en-US" sz="1250" dirty="0">
                <a:solidFill>
                  <a:srgbClr val="728694"/>
                </a:solidFill>
                <a:latin typeface="Segoe UI" pitchFamily="34" charset="0"/>
                <a:ea typeface="Segoe UI" pitchFamily="34" charset="-122"/>
                <a:cs typeface="Segoe UI" pitchFamily="34" charset="-120"/>
              </a:rPr>
              <a:t>Nguồn: NumPy Documentation [2]</a:t>
            </a:r>
            <a:endParaRPr lang="en-US" sz="1250" dirty="0"/>
          </a:p>
        </p:txBody>
      </p:sp>
      <p:sp>
        <p:nvSpPr>
          <p:cNvPr id="39" name="Shape 37"/>
          <p:cNvSpPr/>
          <p:nvPr/>
        </p:nvSpPr>
        <p:spPr>
          <a:xfrm>
            <a:off x="548640" y="6437376"/>
            <a:ext cx="11091672" cy="9144"/>
          </a:xfrm>
          <a:prstGeom prst="rect">
            <a:avLst/>
          </a:prstGeom>
          <a:solidFill>
            <a:srgbClr val="D7E5EC"/>
          </a:solidFill>
          <a:ln w="12700">
            <a:solidFill>
              <a:srgbClr val="D7E5EC"/>
            </a:solidFill>
            <a:prstDash val="solid"/>
          </a:ln>
        </p:spPr>
      </p:sp>
      <p:sp>
        <p:nvSpPr>
          <p:cNvPr id="40" name="Text 38"/>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1" name="Text 39"/>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10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03 · TẠO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Ba hàm cơ bản: array, zeros, ones</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3611880" cy="4434840"/>
          </a:xfrm>
          <a:prstGeom prst="roundRect">
            <a:avLst>
              <a:gd name="adj" fmla="val 1772"/>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Text 4"/>
          <p:cNvSpPr/>
          <p:nvPr/>
        </p:nvSpPr>
        <p:spPr>
          <a:xfrm>
            <a:off x="768096" y="1645920"/>
            <a:ext cx="3154680" cy="365760"/>
          </a:xfrm>
          <a:prstGeom prst="rect">
            <a:avLst/>
          </a:prstGeom>
          <a:noFill/>
          <a:ln/>
        </p:spPr>
        <p:txBody>
          <a:bodyPr wrap="square" lIns="0" tIns="0" rIns="0" bIns="0" rtlCol="0" anchor="t"/>
          <a:lstStyle/>
          <a:p>
            <a:pPr marL="0" indent="0">
              <a:buNone/>
            </a:pPr>
            <a:r>
              <a:rPr lang="en-US" sz="2500" b="1" dirty="0">
                <a:solidFill>
                  <a:srgbClr val="062A3A"/>
                </a:solidFill>
                <a:latin typeface="Consolas" pitchFamily="34" charset="0"/>
                <a:ea typeface="Consolas" pitchFamily="34" charset="-122"/>
                <a:cs typeface="Consolas" pitchFamily="34" charset="-120"/>
              </a:rPr>
              <a:t>np.array()</a:t>
            </a:r>
            <a:endParaRPr lang="en-US" sz="2500" dirty="0"/>
          </a:p>
        </p:txBody>
      </p:sp>
      <p:sp>
        <p:nvSpPr>
          <p:cNvPr id="7" name="Text 5"/>
          <p:cNvSpPr/>
          <p:nvPr/>
        </p:nvSpPr>
        <p:spPr>
          <a:xfrm>
            <a:off x="768096" y="2057400"/>
            <a:ext cx="3154680" cy="347472"/>
          </a:xfrm>
          <a:prstGeom prst="rect">
            <a:avLst/>
          </a:prstGeom>
          <a:noFill/>
          <a:ln/>
        </p:spPr>
        <p:txBody>
          <a:bodyPr wrap="square" lIns="0" tIns="0" rIns="0" bIns="0" rtlCol="0" anchor="t"/>
          <a:lstStyle/>
          <a:p>
            <a:pPr marL="0" indent="0">
              <a:buNone/>
            </a:pPr>
            <a:r>
              <a:rPr lang="en-US" sz="2000" dirty="0">
                <a:solidFill>
                  <a:srgbClr val="728694"/>
                </a:solidFill>
                <a:latin typeface="Segoe UI" pitchFamily="34" charset="0"/>
                <a:ea typeface="Segoe UI" pitchFamily="34" charset="-122"/>
                <a:cs typeface="Segoe UI" pitchFamily="34" charset="-120"/>
              </a:rPr>
              <a:t>Từ list hoặc tuple</a:t>
            </a:r>
            <a:endParaRPr lang="en-US" sz="2000" dirty="0"/>
          </a:p>
        </p:txBody>
      </p:sp>
      <p:sp>
        <p:nvSpPr>
          <p:cNvPr id="8" name="Shape 6"/>
          <p:cNvSpPr/>
          <p:nvPr/>
        </p:nvSpPr>
        <p:spPr>
          <a:xfrm>
            <a:off x="731520" y="2487168"/>
            <a:ext cx="3182112" cy="1408176"/>
          </a:xfrm>
          <a:prstGeom prst="roundRect">
            <a:avLst>
              <a:gd name="adj" fmla="val 3226"/>
            </a:avLst>
          </a:prstGeom>
          <a:solidFill>
            <a:srgbClr val="0B2230"/>
          </a:solidFill>
          <a:ln w="9525">
            <a:solidFill>
              <a:srgbClr val="163B4C"/>
            </a:solidFill>
            <a:prstDash val="solid"/>
          </a:ln>
        </p:spPr>
      </p:sp>
      <p:sp>
        <p:nvSpPr>
          <p:cNvPr id="9" name="Shape 7"/>
          <p:cNvSpPr/>
          <p:nvPr/>
        </p:nvSpPr>
        <p:spPr>
          <a:xfrm>
            <a:off x="731520" y="2487168"/>
            <a:ext cx="3182112" cy="310896"/>
          </a:xfrm>
          <a:prstGeom prst="rect">
            <a:avLst/>
          </a:prstGeom>
          <a:solidFill>
            <a:srgbClr val="103445"/>
          </a:solidFill>
          <a:ln w="12700">
            <a:solidFill>
              <a:srgbClr val="103445"/>
            </a:solidFill>
            <a:prstDash val="solid"/>
          </a:ln>
        </p:spPr>
      </p:sp>
      <p:sp>
        <p:nvSpPr>
          <p:cNvPr id="10" name="Text 8"/>
          <p:cNvSpPr/>
          <p:nvPr/>
        </p:nvSpPr>
        <p:spPr>
          <a:xfrm>
            <a:off x="877824" y="2551176"/>
            <a:ext cx="226771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11" name="Shape 9"/>
          <p:cNvSpPr/>
          <p:nvPr/>
        </p:nvSpPr>
        <p:spPr>
          <a:xfrm>
            <a:off x="3346704" y="2606040"/>
            <a:ext cx="82296" cy="82296"/>
          </a:xfrm>
          <a:prstGeom prst="ellipse">
            <a:avLst/>
          </a:prstGeom>
          <a:solidFill>
            <a:srgbClr val="D96C5F"/>
          </a:solidFill>
          <a:ln w="12700">
            <a:solidFill>
              <a:srgbClr val="D96C5F"/>
            </a:solidFill>
            <a:prstDash val="solid"/>
          </a:ln>
        </p:spPr>
      </p:sp>
      <p:sp>
        <p:nvSpPr>
          <p:cNvPr id="12" name="Shape 10"/>
          <p:cNvSpPr/>
          <p:nvPr/>
        </p:nvSpPr>
        <p:spPr>
          <a:xfrm>
            <a:off x="3502152" y="2606040"/>
            <a:ext cx="82296" cy="82296"/>
          </a:xfrm>
          <a:prstGeom prst="ellipse">
            <a:avLst/>
          </a:prstGeom>
          <a:solidFill>
            <a:srgbClr val="E8A33D"/>
          </a:solidFill>
          <a:ln w="12700">
            <a:solidFill>
              <a:srgbClr val="E8A33D"/>
            </a:solidFill>
            <a:prstDash val="solid"/>
          </a:ln>
        </p:spPr>
      </p:sp>
      <p:sp>
        <p:nvSpPr>
          <p:cNvPr id="13" name="Shape 11"/>
          <p:cNvSpPr/>
          <p:nvPr/>
        </p:nvSpPr>
        <p:spPr>
          <a:xfrm>
            <a:off x="3657600" y="2606040"/>
            <a:ext cx="82296" cy="82296"/>
          </a:xfrm>
          <a:prstGeom prst="ellipse">
            <a:avLst/>
          </a:prstGeom>
          <a:solidFill>
            <a:srgbClr val="2D8C6F"/>
          </a:solidFill>
          <a:ln w="12700">
            <a:solidFill>
              <a:srgbClr val="2D8C6F"/>
            </a:solidFill>
            <a:prstDash val="solid"/>
          </a:ln>
        </p:spPr>
      </p:sp>
      <p:sp>
        <p:nvSpPr>
          <p:cNvPr id="14" name="Text 12"/>
          <p:cNvSpPr/>
          <p:nvPr/>
        </p:nvSpPr>
        <p:spPr>
          <a:xfrm>
            <a:off x="896112" y="2898648"/>
            <a:ext cx="3017520" cy="941832"/>
          </a:xfrm>
          <a:prstGeom prst="rect">
            <a:avLst/>
          </a:prstGeom>
          <a:noFill/>
          <a:ln/>
        </p:spPr>
        <p:txBody>
          <a:bodyPr wrap="square" lIns="0" tIns="0" rIns="0" bIns="0" rtlCol="0" anchor="t"/>
          <a:lstStyle/>
          <a:p>
            <a:pPr marL="0" indent="0">
              <a:lnSpc>
                <a:spcPct val="100000"/>
              </a:lnSpc>
              <a:buNone/>
            </a:pP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.array([</a:t>
            </a:r>
            <a:r>
              <a:rPr lang="en-US" sz="2000" dirty="0">
                <a:solidFill>
                  <a:srgbClr val="F08A7C"/>
                </a:solidFill>
                <a:latin typeface="Consolas" pitchFamily="34" charset="0"/>
                <a:ea typeface="Consolas" pitchFamily="34" charset="-122"/>
                <a:cs typeface="Consolas" pitchFamily="34" charset="-120"/>
              </a:rPr>
              <a:t>1</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2</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3</a:t>
            </a:r>
            <a:r>
              <a:rPr lang="en-US" sz="2000" dirty="0">
                <a:solidFill>
                  <a:srgbClr val="D6E6EF"/>
                </a:solidFill>
                <a:latin typeface="Consolas" pitchFamily="34" charset="0"/>
                <a:ea typeface="Consolas" pitchFamily="34" charset="-122"/>
                <a:cs typeface="Consolas" pitchFamily="34" charset="-120"/>
              </a:rPr>
              <a:t>])</a:t>
            </a:r>
            <a:endParaRPr lang="en-US" sz="2000" dirty="0"/>
          </a:p>
          <a:p>
            <a:pPr marL="0" indent="0">
              <a:lnSpc>
                <a:spcPct val="100000"/>
              </a:lnSpc>
              <a:buNone/>
            </a:pP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.array([[</a:t>
            </a:r>
            <a:r>
              <a:rPr lang="en-US" sz="2000" dirty="0">
                <a:solidFill>
                  <a:srgbClr val="F08A7C"/>
                </a:solidFill>
                <a:latin typeface="Consolas" pitchFamily="34" charset="0"/>
                <a:ea typeface="Consolas" pitchFamily="34" charset="-122"/>
                <a:cs typeface="Consolas" pitchFamily="34" charset="-120"/>
              </a:rPr>
              <a:t>1</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2</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3</a:t>
            </a:r>
            <a:r>
              <a:rPr lang="en-US" sz="2000" dirty="0">
                <a:solidFill>
                  <a:srgbClr val="D6E6EF"/>
                </a:solidFill>
                <a:latin typeface="Consolas" pitchFamily="34" charset="0"/>
                <a:ea typeface="Consolas" pitchFamily="34" charset="-122"/>
                <a:cs typeface="Consolas" pitchFamily="34" charset="-120"/>
              </a:rPr>
              <a:t>],</a:t>
            </a:r>
            <a:endParaRPr lang="en-US" sz="2000" dirty="0"/>
          </a:p>
          <a:p>
            <a:pPr marL="0" indent="0">
              <a:lnSpc>
                <a:spcPct val="100000"/>
              </a:lnSpc>
              <a:buNone/>
            </a:pP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4</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5</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6</a:t>
            </a:r>
            <a:r>
              <a:rPr lang="en-US" sz="2000" dirty="0">
                <a:solidFill>
                  <a:srgbClr val="D6E6EF"/>
                </a:solidFill>
                <a:latin typeface="Consolas" pitchFamily="34" charset="0"/>
                <a:ea typeface="Consolas" pitchFamily="34" charset="-122"/>
                <a:cs typeface="Consolas" pitchFamily="34" charset="-120"/>
              </a:rPr>
              <a:t>]])</a:t>
            </a:r>
            <a:endParaRPr lang="en-US" sz="2000" dirty="0"/>
          </a:p>
        </p:txBody>
      </p:sp>
      <p:sp>
        <p:nvSpPr>
          <p:cNvPr id="15" name="Shape 13"/>
          <p:cNvSpPr/>
          <p:nvPr/>
        </p:nvSpPr>
        <p:spPr>
          <a:xfrm>
            <a:off x="731520" y="4041648"/>
            <a:ext cx="3182112" cy="1307592"/>
          </a:xfrm>
          <a:prstGeom prst="roundRect">
            <a:avLst>
              <a:gd name="adj" fmla="val 3704"/>
            </a:avLst>
          </a:prstGeom>
          <a:solidFill>
            <a:srgbClr val="FFFFFF"/>
          </a:solidFill>
          <a:ln w="9525">
            <a:solidFill>
              <a:srgbClr val="CFE5EE"/>
            </a:solidFill>
            <a:prstDash val="solid"/>
          </a:ln>
        </p:spPr>
      </p:sp>
      <p:sp>
        <p:nvSpPr>
          <p:cNvPr id="16" name="Text 14"/>
          <p:cNvSpPr/>
          <p:nvPr/>
        </p:nvSpPr>
        <p:spPr>
          <a:xfrm>
            <a:off x="877824" y="4133088"/>
            <a:ext cx="290779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7" name="Text 15"/>
          <p:cNvSpPr/>
          <p:nvPr/>
        </p:nvSpPr>
        <p:spPr>
          <a:xfrm>
            <a:off x="877824" y="4389120"/>
            <a:ext cx="2907792" cy="81381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 2 3]</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 2 3]</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 [4 5 6]]</a:t>
            </a:r>
            <a:endParaRPr lang="en-US" dirty="0"/>
          </a:p>
        </p:txBody>
      </p:sp>
      <p:sp>
        <p:nvSpPr>
          <p:cNvPr id="18" name="Text 16"/>
          <p:cNvSpPr/>
          <p:nvPr/>
        </p:nvSpPr>
        <p:spPr>
          <a:xfrm>
            <a:off x="768096" y="5413248"/>
            <a:ext cx="3154680" cy="320040"/>
          </a:xfrm>
          <a:prstGeom prst="rect">
            <a:avLst/>
          </a:prstGeom>
          <a:noFill/>
          <a:ln/>
        </p:spPr>
        <p:txBody>
          <a:bodyPr wrap="square" lIns="0" tIns="0" rIns="0" bIns="0" rtlCol="0" anchor="t"/>
          <a:lstStyle/>
          <a:p>
            <a:pPr marL="0" indent="0">
              <a:buNone/>
            </a:pPr>
            <a:r>
              <a:rPr lang="en-US" sz="1500" i="1" dirty="0">
                <a:solidFill>
                  <a:srgbClr val="728694"/>
                </a:solidFill>
                <a:latin typeface="Segoe UI" pitchFamily="34" charset="0"/>
                <a:ea typeface="Segoe UI" pitchFamily="34" charset="-122"/>
                <a:cs typeface="Segoe UI" pitchFamily="34" charset="-120"/>
              </a:rPr>
              <a:t>Tự suy ra dtype từ dữ liệu.</a:t>
            </a:r>
            <a:endParaRPr lang="en-US" sz="1500" dirty="0"/>
          </a:p>
        </p:txBody>
      </p:sp>
      <p:sp>
        <p:nvSpPr>
          <p:cNvPr id="19" name="Shape 17"/>
          <p:cNvSpPr/>
          <p:nvPr/>
        </p:nvSpPr>
        <p:spPr>
          <a:xfrm>
            <a:off x="4288536" y="1463040"/>
            <a:ext cx="3611880" cy="4434840"/>
          </a:xfrm>
          <a:prstGeom prst="roundRect">
            <a:avLst>
              <a:gd name="adj" fmla="val 1772"/>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0" name="Text 18"/>
          <p:cNvSpPr/>
          <p:nvPr/>
        </p:nvSpPr>
        <p:spPr>
          <a:xfrm>
            <a:off x="4507992" y="1645920"/>
            <a:ext cx="3154680" cy="365760"/>
          </a:xfrm>
          <a:prstGeom prst="rect">
            <a:avLst/>
          </a:prstGeom>
          <a:noFill/>
          <a:ln/>
        </p:spPr>
        <p:txBody>
          <a:bodyPr wrap="square" lIns="0" tIns="0" rIns="0" bIns="0" rtlCol="0" anchor="t"/>
          <a:lstStyle/>
          <a:p>
            <a:pPr marL="0" indent="0">
              <a:buNone/>
            </a:pPr>
            <a:r>
              <a:rPr lang="en-US" sz="2500" b="1" dirty="0">
                <a:solidFill>
                  <a:srgbClr val="062A3A"/>
                </a:solidFill>
                <a:latin typeface="Consolas" pitchFamily="34" charset="0"/>
                <a:ea typeface="Consolas" pitchFamily="34" charset="-122"/>
                <a:cs typeface="Consolas" pitchFamily="34" charset="-120"/>
              </a:rPr>
              <a:t>np.zeros()</a:t>
            </a:r>
            <a:endParaRPr lang="en-US" sz="2500" dirty="0"/>
          </a:p>
        </p:txBody>
      </p:sp>
      <p:sp>
        <p:nvSpPr>
          <p:cNvPr id="21" name="Text 19"/>
          <p:cNvSpPr/>
          <p:nvPr/>
        </p:nvSpPr>
        <p:spPr>
          <a:xfrm>
            <a:off x="4507992" y="2057400"/>
            <a:ext cx="3154680" cy="347472"/>
          </a:xfrm>
          <a:prstGeom prst="rect">
            <a:avLst/>
          </a:prstGeom>
          <a:noFill/>
          <a:ln/>
        </p:spPr>
        <p:txBody>
          <a:bodyPr wrap="square" lIns="0" tIns="0" rIns="0" bIns="0" rtlCol="0" anchor="t"/>
          <a:lstStyle/>
          <a:p>
            <a:pPr marL="0" indent="0">
              <a:buNone/>
            </a:pPr>
            <a:r>
              <a:rPr lang="en-US" sz="2000" dirty="0">
                <a:solidFill>
                  <a:srgbClr val="728694"/>
                </a:solidFill>
                <a:latin typeface="Segoe UI" pitchFamily="34" charset="0"/>
                <a:ea typeface="Segoe UI" pitchFamily="34" charset="-122"/>
                <a:cs typeface="Segoe UI" pitchFamily="34" charset="-120"/>
              </a:rPr>
              <a:t>Mảng toàn số 0</a:t>
            </a:r>
            <a:endParaRPr lang="en-US" sz="2000" dirty="0"/>
          </a:p>
        </p:txBody>
      </p:sp>
      <p:sp>
        <p:nvSpPr>
          <p:cNvPr id="22" name="Shape 20"/>
          <p:cNvSpPr/>
          <p:nvPr/>
        </p:nvSpPr>
        <p:spPr>
          <a:xfrm>
            <a:off x="4471416" y="2487168"/>
            <a:ext cx="3182112" cy="1417320"/>
          </a:xfrm>
          <a:prstGeom prst="roundRect">
            <a:avLst>
              <a:gd name="adj" fmla="val 3226"/>
            </a:avLst>
          </a:prstGeom>
          <a:solidFill>
            <a:srgbClr val="0B2230"/>
          </a:solidFill>
          <a:ln w="9525">
            <a:solidFill>
              <a:srgbClr val="163B4C"/>
            </a:solidFill>
            <a:prstDash val="solid"/>
          </a:ln>
        </p:spPr>
      </p:sp>
      <p:sp>
        <p:nvSpPr>
          <p:cNvPr id="23" name="Shape 21"/>
          <p:cNvSpPr/>
          <p:nvPr/>
        </p:nvSpPr>
        <p:spPr>
          <a:xfrm>
            <a:off x="4471416" y="2487168"/>
            <a:ext cx="3182112" cy="310896"/>
          </a:xfrm>
          <a:prstGeom prst="rect">
            <a:avLst/>
          </a:prstGeom>
          <a:solidFill>
            <a:srgbClr val="103445"/>
          </a:solidFill>
          <a:ln w="12700">
            <a:solidFill>
              <a:srgbClr val="103445"/>
            </a:solidFill>
            <a:prstDash val="solid"/>
          </a:ln>
        </p:spPr>
      </p:sp>
      <p:sp>
        <p:nvSpPr>
          <p:cNvPr id="24" name="Text 22"/>
          <p:cNvSpPr/>
          <p:nvPr/>
        </p:nvSpPr>
        <p:spPr>
          <a:xfrm>
            <a:off x="4617720" y="2551176"/>
            <a:ext cx="226771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5" name="Shape 23"/>
          <p:cNvSpPr/>
          <p:nvPr/>
        </p:nvSpPr>
        <p:spPr>
          <a:xfrm>
            <a:off x="7086600" y="2606040"/>
            <a:ext cx="82296" cy="82296"/>
          </a:xfrm>
          <a:prstGeom prst="ellipse">
            <a:avLst/>
          </a:prstGeom>
          <a:solidFill>
            <a:srgbClr val="D96C5F"/>
          </a:solidFill>
          <a:ln w="12700">
            <a:solidFill>
              <a:srgbClr val="D96C5F"/>
            </a:solidFill>
            <a:prstDash val="solid"/>
          </a:ln>
        </p:spPr>
      </p:sp>
      <p:sp>
        <p:nvSpPr>
          <p:cNvPr id="26" name="Shape 24"/>
          <p:cNvSpPr/>
          <p:nvPr/>
        </p:nvSpPr>
        <p:spPr>
          <a:xfrm>
            <a:off x="7242048" y="2606040"/>
            <a:ext cx="82296" cy="82296"/>
          </a:xfrm>
          <a:prstGeom prst="ellipse">
            <a:avLst/>
          </a:prstGeom>
          <a:solidFill>
            <a:srgbClr val="E8A33D"/>
          </a:solidFill>
          <a:ln w="12700">
            <a:solidFill>
              <a:srgbClr val="E8A33D"/>
            </a:solidFill>
            <a:prstDash val="solid"/>
          </a:ln>
        </p:spPr>
      </p:sp>
      <p:sp>
        <p:nvSpPr>
          <p:cNvPr id="27" name="Shape 25"/>
          <p:cNvSpPr/>
          <p:nvPr/>
        </p:nvSpPr>
        <p:spPr>
          <a:xfrm>
            <a:off x="7397496" y="2606040"/>
            <a:ext cx="82296" cy="82296"/>
          </a:xfrm>
          <a:prstGeom prst="ellipse">
            <a:avLst/>
          </a:prstGeom>
          <a:solidFill>
            <a:srgbClr val="2D8C6F"/>
          </a:solidFill>
          <a:ln w="12700">
            <a:solidFill>
              <a:srgbClr val="2D8C6F"/>
            </a:solidFill>
            <a:prstDash val="solid"/>
          </a:ln>
        </p:spPr>
      </p:sp>
      <p:sp>
        <p:nvSpPr>
          <p:cNvPr id="28" name="Text 26"/>
          <p:cNvSpPr/>
          <p:nvPr/>
        </p:nvSpPr>
        <p:spPr>
          <a:xfrm>
            <a:off x="4636008" y="2898648"/>
            <a:ext cx="2889504" cy="941832"/>
          </a:xfrm>
          <a:prstGeom prst="rect">
            <a:avLst/>
          </a:prstGeom>
          <a:noFill/>
          <a:ln/>
        </p:spPr>
        <p:txBody>
          <a:bodyPr wrap="square" lIns="0" tIns="0" rIns="0" bIns="0" rtlCol="0" anchor="t"/>
          <a:lstStyle/>
          <a:p>
            <a:pPr marL="0" indent="0">
              <a:lnSpc>
                <a:spcPct val="100000"/>
              </a:lnSpc>
              <a:buNone/>
            </a:pP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.zeros((</a:t>
            </a:r>
            <a:r>
              <a:rPr lang="en-US" sz="2000" dirty="0">
                <a:solidFill>
                  <a:srgbClr val="F08A7C"/>
                </a:solidFill>
                <a:latin typeface="Consolas" pitchFamily="34" charset="0"/>
                <a:ea typeface="Consolas" pitchFamily="34" charset="-122"/>
                <a:cs typeface="Consolas" pitchFamily="34" charset="-120"/>
              </a:rPr>
              <a:t>2</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3</a:t>
            </a:r>
            <a:r>
              <a:rPr lang="en-US" sz="2000" dirty="0">
                <a:solidFill>
                  <a:srgbClr val="D6E6EF"/>
                </a:solidFill>
                <a:latin typeface="Consolas" pitchFamily="34" charset="0"/>
                <a:ea typeface="Consolas" pitchFamily="34" charset="-122"/>
                <a:cs typeface="Consolas" pitchFamily="34" charset="-120"/>
              </a:rPr>
              <a:t>))</a:t>
            </a:r>
            <a:endParaRPr lang="en-US" sz="2000" dirty="0"/>
          </a:p>
        </p:txBody>
      </p:sp>
      <p:sp>
        <p:nvSpPr>
          <p:cNvPr id="29" name="Shape 27"/>
          <p:cNvSpPr/>
          <p:nvPr/>
        </p:nvSpPr>
        <p:spPr>
          <a:xfrm>
            <a:off x="4471416" y="4041648"/>
            <a:ext cx="3182112" cy="1234440"/>
          </a:xfrm>
          <a:prstGeom prst="roundRect">
            <a:avLst>
              <a:gd name="adj" fmla="val 3704"/>
            </a:avLst>
          </a:prstGeom>
          <a:solidFill>
            <a:srgbClr val="FFFFFF"/>
          </a:solidFill>
          <a:ln w="9525">
            <a:solidFill>
              <a:srgbClr val="CFE5EE"/>
            </a:solidFill>
            <a:prstDash val="solid"/>
          </a:ln>
        </p:spPr>
      </p:sp>
      <p:sp>
        <p:nvSpPr>
          <p:cNvPr id="30" name="Text 28"/>
          <p:cNvSpPr/>
          <p:nvPr/>
        </p:nvSpPr>
        <p:spPr>
          <a:xfrm>
            <a:off x="4617720" y="4133088"/>
            <a:ext cx="290779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1" name="Text 29"/>
          <p:cNvSpPr/>
          <p:nvPr/>
        </p:nvSpPr>
        <p:spPr>
          <a:xfrm>
            <a:off x="4617720" y="4389120"/>
            <a:ext cx="2907792" cy="81381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[[0. 0. 0.]</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 [0. 0. 0.]]</a:t>
            </a:r>
            <a:endParaRPr lang="en-US" dirty="0"/>
          </a:p>
        </p:txBody>
      </p:sp>
      <p:sp>
        <p:nvSpPr>
          <p:cNvPr id="32" name="Text 30"/>
          <p:cNvSpPr/>
          <p:nvPr/>
        </p:nvSpPr>
        <p:spPr>
          <a:xfrm>
            <a:off x="4507992" y="5413248"/>
            <a:ext cx="3154680" cy="320040"/>
          </a:xfrm>
          <a:prstGeom prst="rect">
            <a:avLst/>
          </a:prstGeom>
          <a:noFill/>
          <a:ln/>
        </p:spPr>
        <p:txBody>
          <a:bodyPr wrap="square" lIns="0" tIns="0" rIns="0" bIns="0" rtlCol="0" anchor="t"/>
          <a:lstStyle/>
          <a:p>
            <a:pPr marL="0" indent="0">
              <a:buNone/>
            </a:pPr>
            <a:r>
              <a:rPr lang="en-US" sz="1500" i="1" dirty="0">
                <a:solidFill>
                  <a:srgbClr val="728694"/>
                </a:solidFill>
                <a:latin typeface="Segoe UI" pitchFamily="34" charset="0"/>
                <a:ea typeface="Segoe UI" pitchFamily="34" charset="-122"/>
                <a:cs typeface="Segoe UI" pitchFamily="34" charset="-120"/>
              </a:rPr>
              <a:t>Nhận shape dạng tuple.</a:t>
            </a:r>
            <a:endParaRPr lang="en-US" sz="1500" dirty="0"/>
          </a:p>
        </p:txBody>
      </p:sp>
      <p:sp>
        <p:nvSpPr>
          <p:cNvPr id="33" name="Shape 31"/>
          <p:cNvSpPr/>
          <p:nvPr/>
        </p:nvSpPr>
        <p:spPr>
          <a:xfrm>
            <a:off x="8028432" y="1463040"/>
            <a:ext cx="3611880" cy="4434840"/>
          </a:xfrm>
          <a:prstGeom prst="roundRect">
            <a:avLst>
              <a:gd name="adj" fmla="val 1772"/>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34" name="Text 32"/>
          <p:cNvSpPr/>
          <p:nvPr/>
        </p:nvSpPr>
        <p:spPr>
          <a:xfrm>
            <a:off x="8247888" y="1645920"/>
            <a:ext cx="3154680" cy="365760"/>
          </a:xfrm>
          <a:prstGeom prst="rect">
            <a:avLst/>
          </a:prstGeom>
          <a:noFill/>
          <a:ln/>
        </p:spPr>
        <p:txBody>
          <a:bodyPr wrap="square" lIns="0" tIns="0" rIns="0" bIns="0" rtlCol="0" anchor="t"/>
          <a:lstStyle/>
          <a:p>
            <a:pPr marL="0" indent="0">
              <a:buNone/>
            </a:pPr>
            <a:r>
              <a:rPr lang="en-US" sz="2500" b="1" dirty="0">
                <a:solidFill>
                  <a:srgbClr val="062A3A"/>
                </a:solidFill>
                <a:latin typeface="Consolas" pitchFamily="34" charset="0"/>
                <a:ea typeface="Consolas" pitchFamily="34" charset="-122"/>
                <a:cs typeface="Consolas" pitchFamily="34" charset="-120"/>
              </a:rPr>
              <a:t>np.ones()</a:t>
            </a:r>
            <a:endParaRPr lang="en-US" sz="2500" dirty="0"/>
          </a:p>
        </p:txBody>
      </p:sp>
      <p:sp>
        <p:nvSpPr>
          <p:cNvPr id="35" name="Text 33"/>
          <p:cNvSpPr/>
          <p:nvPr/>
        </p:nvSpPr>
        <p:spPr>
          <a:xfrm>
            <a:off x="8247888" y="2057400"/>
            <a:ext cx="3154680" cy="347472"/>
          </a:xfrm>
          <a:prstGeom prst="rect">
            <a:avLst/>
          </a:prstGeom>
          <a:noFill/>
          <a:ln/>
        </p:spPr>
        <p:txBody>
          <a:bodyPr wrap="square" lIns="0" tIns="0" rIns="0" bIns="0" rtlCol="0" anchor="t"/>
          <a:lstStyle/>
          <a:p>
            <a:pPr marL="0" indent="0">
              <a:buNone/>
            </a:pPr>
            <a:r>
              <a:rPr lang="en-US" sz="2000" dirty="0">
                <a:solidFill>
                  <a:srgbClr val="728694"/>
                </a:solidFill>
                <a:latin typeface="Segoe UI" pitchFamily="34" charset="0"/>
                <a:ea typeface="Segoe UI" pitchFamily="34" charset="-122"/>
                <a:cs typeface="Segoe UI" pitchFamily="34" charset="-120"/>
              </a:rPr>
              <a:t>Mảng toàn số 1</a:t>
            </a:r>
            <a:endParaRPr lang="en-US" sz="2000" dirty="0"/>
          </a:p>
        </p:txBody>
      </p:sp>
      <p:sp>
        <p:nvSpPr>
          <p:cNvPr id="36" name="Shape 34"/>
          <p:cNvSpPr/>
          <p:nvPr/>
        </p:nvSpPr>
        <p:spPr>
          <a:xfrm>
            <a:off x="8211312" y="2487168"/>
            <a:ext cx="3182112" cy="1417320"/>
          </a:xfrm>
          <a:prstGeom prst="roundRect">
            <a:avLst>
              <a:gd name="adj" fmla="val 3226"/>
            </a:avLst>
          </a:prstGeom>
          <a:solidFill>
            <a:srgbClr val="0B2230"/>
          </a:solidFill>
          <a:ln w="9525">
            <a:solidFill>
              <a:srgbClr val="163B4C"/>
            </a:solidFill>
            <a:prstDash val="solid"/>
          </a:ln>
        </p:spPr>
      </p:sp>
      <p:sp>
        <p:nvSpPr>
          <p:cNvPr id="37" name="Shape 35"/>
          <p:cNvSpPr/>
          <p:nvPr/>
        </p:nvSpPr>
        <p:spPr>
          <a:xfrm>
            <a:off x="8211312" y="2487168"/>
            <a:ext cx="3182112" cy="310896"/>
          </a:xfrm>
          <a:prstGeom prst="rect">
            <a:avLst/>
          </a:prstGeom>
          <a:solidFill>
            <a:srgbClr val="103445"/>
          </a:solidFill>
          <a:ln w="12700">
            <a:solidFill>
              <a:srgbClr val="103445"/>
            </a:solidFill>
            <a:prstDash val="solid"/>
          </a:ln>
        </p:spPr>
      </p:sp>
      <p:sp>
        <p:nvSpPr>
          <p:cNvPr id="38" name="Text 36"/>
          <p:cNvSpPr/>
          <p:nvPr/>
        </p:nvSpPr>
        <p:spPr>
          <a:xfrm>
            <a:off x="8357616" y="2551176"/>
            <a:ext cx="226771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39" name="Shape 37"/>
          <p:cNvSpPr/>
          <p:nvPr/>
        </p:nvSpPr>
        <p:spPr>
          <a:xfrm>
            <a:off x="10826496" y="2606040"/>
            <a:ext cx="82296" cy="82296"/>
          </a:xfrm>
          <a:prstGeom prst="ellipse">
            <a:avLst/>
          </a:prstGeom>
          <a:solidFill>
            <a:srgbClr val="D96C5F"/>
          </a:solidFill>
          <a:ln w="12700">
            <a:solidFill>
              <a:srgbClr val="D96C5F"/>
            </a:solidFill>
            <a:prstDash val="solid"/>
          </a:ln>
        </p:spPr>
      </p:sp>
      <p:sp>
        <p:nvSpPr>
          <p:cNvPr id="40" name="Shape 38"/>
          <p:cNvSpPr/>
          <p:nvPr/>
        </p:nvSpPr>
        <p:spPr>
          <a:xfrm>
            <a:off x="10981944" y="2606040"/>
            <a:ext cx="82296" cy="82296"/>
          </a:xfrm>
          <a:prstGeom prst="ellipse">
            <a:avLst/>
          </a:prstGeom>
          <a:solidFill>
            <a:srgbClr val="E8A33D"/>
          </a:solidFill>
          <a:ln w="12700">
            <a:solidFill>
              <a:srgbClr val="E8A33D"/>
            </a:solidFill>
            <a:prstDash val="solid"/>
          </a:ln>
        </p:spPr>
      </p:sp>
      <p:sp>
        <p:nvSpPr>
          <p:cNvPr id="41" name="Shape 39"/>
          <p:cNvSpPr/>
          <p:nvPr/>
        </p:nvSpPr>
        <p:spPr>
          <a:xfrm>
            <a:off x="11137392" y="2606040"/>
            <a:ext cx="82296" cy="82296"/>
          </a:xfrm>
          <a:prstGeom prst="ellipse">
            <a:avLst/>
          </a:prstGeom>
          <a:solidFill>
            <a:srgbClr val="2D8C6F"/>
          </a:solidFill>
          <a:ln w="12700">
            <a:solidFill>
              <a:srgbClr val="2D8C6F"/>
            </a:solidFill>
            <a:prstDash val="solid"/>
          </a:ln>
        </p:spPr>
      </p:sp>
      <p:sp>
        <p:nvSpPr>
          <p:cNvPr id="42" name="Text 40"/>
          <p:cNvSpPr/>
          <p:nvPr/>
        </p:nvSpPr>
        <p:spPr>
          <a:xfrm>
            <a:off x="8375904" y="2898648"/>
            <a:ext cx="2889504" cy="941832"/>
          </a:xfrm>
          <a:prstGeom prst="rect">
            <a:avLst/>
          </a:prstGeom>
          <a:noFill/>
          <a:ln/>
        </p:spPr>
        <p:txBody>
          <a:bodyPr wrap="square" lIns="0" tIns="0" rIns="0" bIns="0" rtlCol="0" anchor="t"/>
          <a:lstStyle/>
          <a:p>
            <a:pPr marL="0" indent="0">
              <a:lnSpc>
                <a:spcPct val="100000"/>
              </a:lnSpc>
              <a:buNone/>
            </a:pPr>
            <a:r>
              <a:rPr lang="en-US" sz="2000" dirty="0" err="1">
                <a:solidFill>
                  <a:srgbClr val="8AD9C0"/>
                </a:solidFill>
                <a:latin typeface="Consolas" pitchFamily="34" charset="0"/>
                <a:ea typeface="Consolas" pitchFamily="34" charset="-122"/>
                <a:cs typeface="Consolas" pitchFamily="34" charset="-120"/>
              </a:rPr>
              <a:t>np</a:t>
            </a:r>
            <a:r>
              <a:rPr lang="en-US" sz="2000" dirty="0" err="1">
                <a:solidFill>
                  <a:srgbClr val="D6E6EF"/>
                </a:solidFill>
                <a:latin typeface="Consolas" pitchFamily="34" charset="0"/>
                <a:ea typeface="Consolas" pitchFamily="34" charset="-122"/>
                <a:cs typeface="Consolas" pitchFamily="34" charset="-120"/>
              </a:rPr>
              <a:t>.ones</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F08A7C"/>
                </a:solidFill>
                <a:latin typeface="Consolas" pitchFamily="34" charset="0"/>
                <a:ea typeface="Consolas" pitchFamily="34" charset="-122"/>
                <a:cs typeface="Consolas" pitchFamily="34" charset="-120"/>
              </a:rPr>
              <a:t>4</a:t>
            </a:r>
            <a:r>
              <a:rPr lang="en-US" sz="2000" dirty="0">
                <a:solidFill>
                  <a:srgbClr val="D6E6EF"/>
                </a:solidFill>
                <a:latin typeface="Consolas" pitchFamily="34" charset="0"/>
                <a:ea typeface="Consolas" pitchFamily="34" charset="-122"/>
                <a:cs typeface="Consolas" pitchFamily="34" charset="-120"/>
              </a:rPr>
              <a:t>)</a:t>
            </a:r>
            <a:endParaRPr lang="en-US" sz="2000" dirty="0"/>
          </a:p>
          <a:p>
            <a:pPr marL="0" indent="0">
              <a:lnSpc>
                <a:spcPct val="100000"/>
              </a:lnSpc>
              <a:buNone/>
            </a:pPr>
            <a:r>
              <a:rPr lang="en-US" sz="2000" dirty="0" err="1">
                <a:solidFill>
                  <a:srgbClr val="8AD9C0"/>
                </a:solidFill>
                <a:latin typeface="Consolas" pitchFamily="34" charset="0"/>
                <a:ea typeface="Consolas" pitchFamily="34" charset="-122"/>
                <a:cs typeface="Consolas" pitchFamily="34" charset="-120"/>
              </a:rPr>
              <a:t>np</a:t>
            </a:r>
            <a:r>
              <a:rPr lang="en-US" sz="2000" dirty="0" err="1">
                <a:solidFill>
                  <a:srgbClr val="D6E6EF"/>
                </a:solidFill>
                <a:latin typeface="Consolas" pitchFamily="34" charset="0"/>
                <a:ea typeface="Consolas" pitchFamily="34" charset="-122"/>
                <a:cs typeface="Consolas" pitchFamily="34" charset="-120"/>
              </a:rPr>
              <a:t>.ones</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F08A7C"/>
                </a:solidFill>
                <a:latin typeface="Consolas" pitchFamily="34" charset="0"/>
                <a:ea typeface="Consolas" pitchFamily="34" charset="-122"/>
                <a:cs typeface="Consolas" pitchFamily="34" charset="-120"/>
              </a:rPr>
              <a:t>3</a:t>
            </a:r>
            <a:r>
              <a:rPr lang="en-US" sz="2000" dirty="0">
                <a:solidFill>
                  <a:srgbClr val="D6E6EF"/>
                </a:solidFill>
                <a:latin typeface="Consolas" pitchFamily="34" charset="0"/>
                <a:ea typeface="Consolas" pitchFamily="34" charset="-122"/>
                <a:cs typeface="Consolas" pitchFamily="34" charset="-120"/>
              </a:rPr>
              <a:t>, </a:t>
            </a:r>
            <a:r>
              <a:rPr lang="en-US" sz="2000" dirty="0" err="1">
                <a:solidFill>
                  <a:srgbClr val="D6E6EF"/>
                </a:solidFill>
                <a:latin typeface="Consolas" pitchFamily="34" charset="0"/>
                <a:ea typeface="Consolas" pitchFamily="34" charset="-122"/>
                <a:cs typeface="Consolas" pitchFamily="34" charset="-120"/>
              </a:rPr>
              <a:t>dtype</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.int64)</a:t>
            </a:r>
            <a:endParaRPr lang="en-US" sz="2000" dirty="0"/>
          </a:p>
        </p:txBody>
      </p:sp>
      <p:sp>
        <p:nvSpPr>
          <p:cNvPr id="43" name="Shape 41"/>
          <p:cNvSpPr/>
          <p:nvPr/>
        </p:nvSpPr>
        <p:spPr>
          <a:xfrm>
            <a:off x="8211312" y="4041648"/>
            <a:ext cx="3182112" cy="1234440"/>
          </a:xfrm>
          <a:prstGeom prst="roundRect">
            <a:avLst>
              <a:gd name="adj" fmla="val 3704"/>
            </a:avLst>
          </a:prstGeom>
          <a:solidFill>
            <a:srgbClr val="FFFFFF"/>
          </a:solidFill>
          <a:ln w="9525">
            <a:solidFill>
              <a:srgbClr val="CFE5EE"/>
            </a:solidFill>
            <a:prstDash val="solid"/>
          </a:ln>
        </p:spPr>
      </p:sp>
      <p:sp>
        <p:nvSpPr>
          <p:cNvPr id="44" name="Text 42"/>
          <p:cNvSpPr/>
          <p:nvPr/>
        </p:nvSpPr>
        <p:spPr>
          <a:xfrm>
            <a:off x="8357616" y="4133088"/>
            <a:ext cx="290779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45" name="Text 43"/>
          <p:cNvSpPr/>
          <p:nvPr/>
        </p:nvSpPr>
        <p:spPr>
          <a:xfrm>
            <a:off x="8357616" y="4389120"/>
            <a:ext cx="2907792" cy="81381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 1. 1. 1.]</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 1 1]</a:t>
            </a:r>
            <a:endParaRPr lang="en-US" dirty="0"/>
          </a:p>
        </p:txBody>
      </p:sp>
      <p:sp>
        <p:nvSpPr>
          <p:cNvPr id="46" name="Text 44"/>
          <p:cNvSpPr/>
          <p:nvPr/>
        </p:nvSpPr>
        <p:spPr>
          <a:xfrm>
            <a:off x="8247888" y="5413248"/>
            <a:ext cx="3154680" cy="320040"/>
          </a:xfrm>
          <a:prstGeom prst="rect">
            <a:avLst/>
          </a:prstGeom>
          <a:noFill/>
          <a:ln/>
        </p:spPr>
        <p:txBody>
          <a:bodyPr wrap="square" lIns="0" tIns="0" rIns="0" bIns="0" rtlCol="0" anchor="t"/>
          <a:lstStyle/>
          <a:p>
            <a:pPr marL="0" indent="0">
              <a:buNone/>
            </a:pPr>
            <a:r>
              <a:rPr lang="en-US" sz="1500" i="1" dirty="0">
                <a:solidFill>
                  <a:srgbClr val="728694"/>
                </a:solidFill>
                <a:latin typeface="Segoe UI" pitchFamily="34" charset="0"/>
                <a:ea typeface="Segoe UI" pitchFamily="34" charset="-122"/>
                <a:cs typeface="Segoe UI" pitchFamily="34" charset="-120"/>
              </a:rPr>
              <a:t>Chỉ định dtype khi cần.</a:t>
            </a:r>
            <a:endParaRPr lang="en-US" sz="1500" dirty="0"/>
          </a:p>
        </p:txBody>
      </p:sp>
      <p:sp>
        <p:nvSpPr>
          <p:cNvPr id="47" name="Text 45"/>
          <p:cNvSpPr/>
          <p:nvPr/>
        </p:nvSpPr>
        <p:spPr>
          <a:xfrm>
            <a:off x="548640" y="5989320"/>
            <a:ext cx="11064240" cy="320040"/>
          </a:xfrm>
          <a:prstGeom prst="rect">
            <a:avLst/>
          </a:prstGeom>
          <a:noFill/>
          <a:ln/>
        </p:spPr>
        <p:txBody>
          <a:bodyPr wrap="square" lIns="0" tIns="0" rIns="0" bIns="0" rtlCol="0" anchor="t"/>
          <a:lstStyle/>
          <a:p>
            <a:pPr marL="0" indent="0">
              <a:buNone/>
            </a:pPr>
            <a:r>
              <a:rPr lang="en-US" sz="2000" i="1" dirty="0">
                <a:solidFill>
                  <a:srgbClr val="728694"/>
                </a:solidFill>
                <a:latin typeface="Segoe UI" pitchFamily="34" charset="0"/>
                <a:ea typeface="Segoe UI" pitchFamily="34" charset="-122"/>
                <a:cs typeface="Segoe UI" pitchFamily="34" charset="-120"/>
              </a:rPr>
              <a:t>zeros/ones mặc định float64; dùng dtype=np.int64 nếu cần số nguyên.</a:t>
            </a:r>
            <a:endParaRPr lang="en-US" sz="2000" dirty="0"/>
          </a:p>
        </p:txBody>
      </p:sp>
      <p:sp>
        <p:nvSpPr>
          <p:cNvPr id="48" name="Shape 46"/>
          <p:cNvSpPr/>
          <p:nvPr/>
        </p:nvSpPr>
        <p:spPr>
          <a:xfrm>
            <a:off x="548640" y="6437376"/>
            <a:ext cx="11091672" cy="9144"/>
          </a:xfrm>
          <a:prstGeom prst="rect">
            <a:avLst/>
          </a:prstGeom>
          <a:solidFill>
            <a:srgbClr val="D7E5EC"/>
          </a:solidFill>
          <a:ln w="12700">
            <a:solidFill>
              <a:srgbClr val="D7E5EC"/>
            </a:solidFill>
            <a:prstDash val="solid"/>
          </a:ln>
        </p:spPr>
      </p:sp>
      <p:sp>
        <p:nvSpPr>
          <p:cNvPr id="49" name="Text 47"/>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50" name="Text 48"/>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11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03 · TẠO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Tạo dãy: arange, linspace, eye</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669280" cy="2148840"/>
          </a:xfrm>
          <a:prstGeom prst="roundRect">
            <a:avLst>
              <a:gd name="adj" fmla="val 2128"/>
            </a:avLst>
          </a:prstGeom>
          <a:solidFill>
            <a:srgbClr val="0B2230"/>
          </a:solidFill>
          <a:ln w="9525">
            <a:solidFill>
              <a:srgbClr val="163B4C"/>
            </a:solidFill>
            <a:prstDash val="solid"/>
          </a:ln>
        </p:spPr>
      </p:sp>
      <p:sp>
        <p:nvSpPr>
          <p:cNvPr id="6" name="Shape 4"/>
          <p:cNvSpPr/>
          <p:nvPr/>
        </p:nvSpPr>
        <p:spPr>
          <a:xfrm>
            <a:off x="548640" y="1463040"/>
            <a:ext cx="5669280" cy="310896"/>
          </a:xfrm>
          <a:prstGeom prst="rect">
            <a:avLst/>
          </a:prstGeom>
          <a:solidFill>
            <a:srgbClr val="103445"/>
          </a:solidFill>
          <a:ln w="12700">
            <a:solidFill>
              <a:srgbClr val="103445"/>
            </a:solidFill>
            <a:prstDash val="solid"/>
          </a:ln>
        </p:spPr>
      </p:sp>
      <p:sp>
        <p:nvSpPr>
          <p:cNvPr id="7" name="Text 5"/>
          <p:cNvSpPr/>
          <p:nvPr/>
        </p:nvSpPr>
        <p:spPr>
          <a:xfrm>
            <a:off x="694944" y="1527048"/>
            <a:ext cx="4754880"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8" name="Shape 6"/>
          <p:cNvSpPr/>
          <p:nvPr/>
        </p:nvSpPr>
        <p:spPr>
          <a:xfrm>
            <a:off x="5650992" y="1581912"/>
            <a:ext cx="82296" cy="82296"/>
          </a:xfrm>
          <a:prstGeom prst="ellipse">
            <a:avLst/>
          </a:prstGeom>
          <a:solidFill>
            <a:srgbClr val="D96C5F"/>
          </a:solidFill>
          <a:ln w="12700">
            <a:solidFill>
              <a:srgbClr val="D96C5F"/>
            </a:solidFill>
            <a:prstDash val="solid"/>
          </a:ln>
        </p:spPr>
      </p:sp>
      <p:sp>
        <p:nvSpPr>
          <p:cNvPr id="9" name="Shape 7"/>
          <p:cNvSpPr/>
          <p:nvPr/>
        </p:nvSpPr>
        <p:spPr>
          <a:xfrm>
            <a:off x="5806440" y="1581912"/>
            <a:ext cx="82296" cy="82296"/>
          </a:xfrm>
          <a:prstGeom prst="ellipse">
            <a:avLst/>
          </a:prstGeom>
          <a:solidFill>
            <a:srgbClr val="E8A33D"/>
          </a:solidFill>
          <a:ln w="12700">
            <a:solidFill>
              <a:srgbClr val="E8A33D"/>
            </a:solidFill>
            <a:prstDash val="solid"/>
          </a:ln>
        </p:spPr>
      </p:sp>
      <p:sp>
        <p:nvSpPr>
          <p:cNvPr id="10" name="Shape 8"/>
          <p:cNvSpPr/>
          <p:nvPr/>
        </p:nvSpPr>
        <p:spPr>
          <a:xfrm>
            <a:off x="5961888" y="1581912"/>
            <a:ext cx="82296" cy="82296"/>
          </a:xfrm>
          <a:prstGeom prst="ellipse">
            <a:avLst/>
          </a:prstGeom>
          <a:solidFill>
            <a:srgbClr val="2D8C6F"/>
          </a:solidFill>
          <a:ln w="12700">
            <a:solidFill>
              <a:srgbClr val="2D8C6F"/>
            </a:solidFill>
            <a:prstDash val="solid"/>
          </a:ln>
        </p:spPr>
      </p:sp>
      <p:sp>
        <p:nvSpPr>
          <p:cNvPr id="11" name="Text 9"/>
          <p:cNvSpPr/>
          <p:nvPr/>
        </p:nvSpPr>
        <p:spPr>
          <a:xfrm>
            <a:off x="713232" y="1874520"/>
            <a:ext cx="5376672" cy="1673352"/>
          </a:xfrm>
          <a:prstGeom prst="rect">
            <a:avLst/>
          </a:prstGeom>
          <a:noFill/>
          <a:ln/>
        </p:spPr>
        <p:txBody>
          <a:bodyPr wrap="square" lIns="0" tIns="0" rIns="0" bIns="0" rtlCol="0" anchor="t"/>
          <a:lstStyle/>
          <a:p>
            <a:pPr marL="0" indent="0">
              <a:lnSpc>
                <a:spcPct val="100000"/>
              </a:lnSpc>
              <a:buNone/>
            </a:pP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.arange(</a:t>
            </a:r>
            <a:r>
              <a:rPr lang="en-US" dirty="0">
                <a:solidFill>
                  <a:srgbClr val="F08A7C"/>
                </a:solidFill>
                <a:latin typeface="Consolas" pitchFamily="34" charset="0"/>
                <a:ea typeface="Consolas" pitchFamily="34" charset="-122"/>
                <a:cs typeface="Consolas" pitchFamily="34" charset="-120"/>
              </a:rPr>
              <a:t>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10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.arange(</a:t>
            </a:r>
            <a:r>
              <a:rPr lang="en-US" dirty="0">
                <a:solidFill>
                  <a:srgbClr val="F08A7C"/>
                </a:solidFill>
                <a:latin typeface="Consolas" pitchFamily="34" charset="0"/>
                <a:ea typeface="Consolas" pitchFamily="34" charset="-122"/>
                <a:cs typeface="Consolas" pitchFamily="34" charset="-120"/>
              </a:rPr>
              <a:t>4</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D6E6EF"/>
                </a:solidFill>
                <a:latin typeface="Consolas" pitchFamily="34" charset="0"/>
                <a:ea typeface="Consolas" pitchFamily="34" charset="-122"/>
                <a:cs typeface="Consolas" pitchFamily="34" charset="-120"/>
              </a:rPr>
              <a:t> </a:t>
            </a:r>
            <a:endParaRPr lang="en-US" dirty="0"/>
          </a:p>
          <a:p>
            <a:pPr marL="0" indent="0">
              <a:lnSpc>
                <a:spcPct val="100000"/>
              </a:lnSpc>
              <a:buNone/>
            </a:pP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.linspace(</a:t>
            </a:r>
            <a:r>
              <a:rPr lang="en-US" dirty="0">
                <a:solidFill>
                  <a:srgbClr val="F08A7C"/>
                </a:solidFill>
                <a:latin typeface="Consolas" pitchFamily="34" charset="0"/>
                <a:ea typeface="Consolas" pitchFamily="34" charset="-122"/>
                <a:cs typeface="Consolas" pitchFamily="34" charset="-120"/>
              </a:rPr>
              <a:t>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1</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5</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D6E6EF"/>
                </a:solidFill>
                <a:latin typeface="Consolas" pitchFamily="34" charset="0"/>
                <a:ea typeface="Consolas" pitchFamily="34" charset="-122"/>
                <a:cs typeface="Consolas" pitchFamily="34" charset="-120"/>
              </a:rPr>
              <a:t> </a:t>
            </a:r>
            <a:endParaRPr lang="en-US" dirty="0"/>
          </a:p>
          <a:p>
            <a:pPr marL="0" indent="0">
              <a:lnSpc>
                <a:spcPct val="100000"/>
              </a:lnSpc>
              <a:buNone/>
            </a:pP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.eye(</a:t>
            </a:r>
            <a:r>
              <a:rPr lang="en-US" dirty="0">
                <a:solidFill>
                  <a:srgbClr val="F08A7C"/>
                </a:solidFill>
                <a:latin typeface="Consolas" pitchFamily="34" charset="0"/>
                <a:ea typeface="Consolas" pitchFamily="34" charset="-122"/>
                <a:cs typeface="Consolas" pitchFamily="34" charset="-120"/>
              </a:rPr>
              <a:t>3</a:t>
            </a:r>
            <a:r>
              <a:rPr lang="en-US" dirty="0">
                <a:solidFill>
                  <a:srgbClr val="D6E6EF"/>
                </a:solidFill>
                <a:latin typeface="Consolas" pitchFamily="34" charset="0"/>
                <a:ea typeface="Consolas" pitchFamily="34" charset="-122"/>
                <a:cs typeface="Consolas" pitchFamily="34" charset="-120"/>
              </a:rPr>
              <a:t>)</a:t>
            </a:r>
            <a:endParaRPr lang="en-US" dirty="0"/>
          </a:p>
        </p:txBody>
      </p:sp>
      <p:sp>
        <p:nvSpPr>
          <p:cNvPr id="12" name="Shape 10"/>
          <p:cNvSpPr/>
          <p:nvPr/>
        </p:nvSpPr>
        <p:spPr>
          <a:xfrm>
            <a:off x="548640" y="3749040"/>
            <a:ext cx="5669280" cy="2057400"/>
          </a:xfrm>
          <a:prstGeom prst="roundRect">
            <a:avLst>
              <a:gd name="adj" fmla="val 2439"/>
            </a:avLst>
          </a:prstGeom>
          <a:solidFill>
            <a:srgbClr val="FFFFFF"/>
          </a:solidFill>
          <a:ln w="9525">
            <a:solidFill>
              <a:srgbClr val="CFE5EE"/>
            </a:solidFill>
            <a:prstDash val="solid"/>
          </a:ln>
        </p:spPr>
      </p:sp>
      <p:sp>
        <p:nvSpPr>
          <p:cNvPr id="13" name="Text 11"/>
          <p:cNvSpPr/>
          <p:nvPr/>
        </p:nvSpPr>
        <p:spPr>
          <a:xfrm>
            <a:off x="694944" y="3840480"/>
            <a:ext cx="5394960"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4" name="Text 12"/>
          <p:cNvSpPr/>
          <p:nvPr/>
        </p:nvSpPr>
        <p:spPr>
          <a:xfrm>
            <a:off x="694944" y="4096512"/>
            <a:ext cx="5394960" cy="1709928"/>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[0 2 4 6 8]</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[0 1 2 3]</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[0.   0.25 0.5  0.75 1.  ]</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 0. 0.]</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 [0. 1. 0.]</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 [0. 0. 1.]]</a:t>
            </a:r>
            <a:endParaRPr lang="en-US"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46520" y="1463040"/>
          <a:ext cx="5193792" cy="1947672"/>
        </p:xfrm>
        <a:graphic>
          <a:graphicData uri="http://schemas.openxmlformats.org/drawingml/2006/table">
            <a:tbl>
              <a:tblPr/>
              <a:tblGrid>
                <a:gridCol w="1508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901952">
                  <a:extLst>
                    <a:ext uri="{9D8B030D-6E8A-4147-A177-3AD203B41FA5}">
                      <a16:colId xmlns:a16="http://schemas.microsoft.com/office/drawing/2014/main" val="20002"/>
                    </a:ext>
                  </a:extLst>
                </a:gridCol>
              </a:tblGrid>
              <a:tr h="438912">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Hàm</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Dùng khi</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Điểm cần nhớ</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extLst>
                  <a:ext uri="{0D108BD9-81ED-4DB2-BD59-A6C34878D82A}">
                    <a16:rowId xmlns:a16="http://schemas.microsoft.com/office/drawing/2014/main" val="10000"/>
                  </a:ext>
                </a:extLst>
              </a:tr>
              <a:tr h="502920">
                <a:tc>
                  <a:txBody>
                    <a:bodyPr/>
                    <a:lstStyle/>
                    <a:p>
                      <a:pPr marL="0" indent="0">
                        <a:buNone/>
                      </a:pPr>
                      <a:r>
                        <a:rPr lang="en-US" sz="1550" b="1" dirty="0">
                          <a:solidFill>
                            <a:srgbClr val="062A3A"/>
                          </a:solidFill>
                          <a:latin typeface="Consolas" pitchFamily="34" charset="0"/>
                          <a:ea typeface="Consolas" pitchFamily="34" charset="-122"/>
                          <a:cs typeface="Consolas" pitchFamily="34" charset="-120"/>
                        </a:rPr>
                        <a:t>np.arange</a:t>
                      </a:r>
                      <a:endParaRPr lang="en-US" sz="155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550" dirty="0">
                          <a:solidFill>
                            <a:srgbClr val="415A6B"/>
                          </a:solidFill>
                          <a:latin typeface="Segoe UI" pitchFamily="34" charset="0"/>
                          <a:ea typeface="Segoe UI" pitchFamily="34" charset="-122"/>
                          <a:cs typeface="Segoe UI" pitchFamily="34" charset="-120"/>
                        </a:rPr>
                        <a:t>Dãy theo bước</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550" dirty="0">
                          <a:solidFill>
                            <a:srgbClr val="415A6B"/>
                          </a:solidFill>
                          <a:latin typeface="Segoe UI" pitchFamily="34" charset="0"/>
                          <a:ea typeface="Segoe UI" pitchFamily="34" charset="-122"/>
                          <a:cs typeface="Segoe UI" pitchFamily="34" charset="-120"/>
                        </a:rPr>
                        <a:t>Không gồm stop</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550" b="1" dirty="0">
                          <a:solidFill>
                            <a:srgbClr val="062A3A"/>
                          </a:solidFill>
                          <a:latin typeface="Consolas" pitchFamily="34" charset="0"/>
                          <a:ea typeface="Consolas" pitchFamily="34" charset="-122"/>
                          <a:cs typeface="Consolas" pitchFamily="34" charset="-120"/>
                        </a:rPr>
                        <a:t>np.linspace</a:t>
                      </a:r>
                      <a:endParaRPr lang="en-US" sz="155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550" dirty="0">
                          <a:solidFill>
                            <a:srgbClr val="415A6B"/>
                          </a:solidFill>
                          <a:latin typeface="Segoe UI" pitchFamily="34" charset="0"/>
                          <a:ea typeface="Segoe UI" pitchFamily="34" charset="-122"/>
                          <a:cs typeface="Segoe UI" pitchFamily="34" charset="-120"/>
                        </a:rPr>
                        <a:t>num điểm chia đều</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550" dirty="0">
                          <a:solidFill>
                            <a:srgbClr val="415A6B"/>
                          </a:solidFill>
                          <a:latin typeface="Segoe UI" pitchFamily="34" charset="0"/>
                          <a:ea typeface="Segoe UI" pitchFamily="34" charset="-122"/>
                          <a:cs typeface="Segoe UI" pitchFamily="34" charset="-120"/>
                        </a:rPr>
                        <a:t>Mặc định gồm stop</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2"/>
                  </a:ext>
                </a:extLst>
              </a:tr>
              <a:tr h="502920">
                <a:tc>
                  <a:txBody>
                    <a:bodyPr/>
                    <a:lstStyle/>
                    <a:p>
                      <a:pPr marL="0" indent="0">
                        <a:buNone/>
                      </a:pPr>
                      <a:r>
                        <a:rPr lang="en-US" sz="1550" b="1" dirty="0">
                          <a:solidFill>
                            <a:srgbClr val="062A3A"/>
                          </a:solidFill>
                          <a:latin typeface="Consolas" pitchFamily="34" charset="0"/>
                          <a:ea typeface="Consolas" pitchFamily="34" charset="-122"/>
                          <a:cs typeface="Consolas" pitchFamily="34" charset="-120"/>
                        </a:rPr>
                        <a:t>np.eye</a:t>
                      </a:r>
                      <a:endParaRPr lang="en-US" sz="155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550" dirty="0">
                          <a:solidFill>
                            <a:srgbClr val="415A6B"/>
                          </a:solidFill>
                          <a:latin typeface="Segoe UI" pitchFamily="34" charset="0"/>
                          <a:ea typeface="Segoe UI" pitchFamily="34" charset="-122"/>
                          <a:cs typeface="Segoe UI" pitchFamily="34" charset="-120"/>
                        </a:rPr>
                        <a:t>Ma trận đơn vị</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550" dirty="0">
                          <a:solidFill>
                            <a:srgbClr val="415A6B"/>
                          </a:solidFill>
                          <a:latin typeface="Segoe UI" pitchFamily="34" charset="0"/>
                          <a:ea typeface="Segoe UI" pitchFamily="34" charset="-122"/>
                          <a:cs typeface="Segoe UI" pitchFamily="34" charset="-120"/>
                        </a:rPr>
                        <a:t>Đường chéo bằng 1</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Shape 13"/>
          <p:cNvSpPr/>
          <p:nvPr/>
        </p:nvSpPr>
        <p:spPr>
          <a:xfrm>
            <a:off x="6446520" y="3611880"/>
            <a:ext cx="5193792" cy="2011680"/>
          </a:xfrm>
          <a:prstGeom prst="roundRect">
            <a:avLst>
              <a:gd name="adj" fmla="val 3182"/>
            </a:avLst>
          </a:prstGeom>
          <a:solidFill>
            <a:srgbClr val="EAF4F8"/>
          </a:solidFill>
          <a:ln w="9525">
            <a:solidFill>
              <a:srgbClr val="CFE5EE"/>
            </a:solidFill>
            <a:prstDash val="solid"/>
          </a:ln>
        </p:spPr>
      </p:sp>
      <p:sp>
        <p:nvSpPr>
          <p:cNvPr id="17" name="Text 14"/>
          <p:cNvSpPr/>
          <p:nvPr/>
        </p:nvSpPr>
        <p:spPr>
          <a:xfrm>
            <a:off x="6656832" y="3730752"/>
            <a:ext cx="4754880" cy="36576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Phân biệt nhanh</a:t>
            </a:r>
            <a:endParaRPr lang="en-US" sz="2500" dirty="0"/>
          </a:p>
        </p:txBody>
      </p:sp>
      <p:sp>
        <p:nvSpPr>
          <p:cNvPr id="18" name="Text 15"/>
          <p:cNvSpPr/>
          <p:nvPr/>
        </p:nvSpPr>
        <p:spPr>
          <a:xfrm>
            <a:off x="6656832" y="4160520"/>
            <a:ext cx="4754880" cy="1280160"/>
          </a:xfrm>
          <a:prstGeom prst="rect">
            <a:avLst/>
          </a:prstGeom>
          <a:noFill/>
          <a:ln/>
        </p:spPr>
        <p:txBody>
          <a:bodyPr wrap="square" lIns="0" tIns="0" rIns="0" bIns="0" rtlCol="0" anchor="t"/>
          <a:lstStyle/>
          <a:p>
            <a:pPr marL="0" indent="0">
              <a:lnSpc>
                <a:spcPct val="108000"/>
              </a:lnSpc>
              <a:buNone/>
            </a:pPr>
            <a:r>
              <a:rPr lang="en-US" sz="2000" dirty="0">
                <a:solidFill>
                  <a:srgbClr val="415A6B"/>
                </a:solidFill>
                <a:latin typeface="Segoe UI" pitchFamily="34" charset="0"/>
                <a:ea typeface="Segoe UI" pitchFamily="34" charset="-122"/>
                <a:cs typeface="Segoe UI" pitchFamily="34" charset="-120"/>
              </a:rPr>
              <a:t>•  arange: theo bước, không lấy stop.</a:t>
            </a:r>
            <a:endParaRPr lang="en-US" sz="2000" dirty="0"/>
          </a:p>
          <a:p>
            <a:pPr marL="0" indent="0">
              <a:lnSpc>
                <a:spcPct val="108000"/>
              </a:lnSpc>
              <a:buNone/>
            </a:pPr>
            <a:r>
              <a:rPr lang="en-US" sz="2000" dirty="0">
                <a:solidFill>
                  <a:srgbClr val="415A6B"/>
                </a:solidFill>
                <a:latin typeface="Segoe UI" pitchFamily="34" charset="0"/>
                <a:ea typeface="Segoe UI" pitchFamily="34" charset="-122"/>
                <a:cs typeface="Segoe UI" pitchFamily="34" charset="-120"/>
              </a:rPr>
              <a:t>•  linspace: số điểm, mặc định lấy stop.</a:t>
            </a:r>
            <a:endParaRPr lang="en-US" sz="2000" dirty="0"/>
          </a:p>
          <a:p>
            <a:pPr marL="0" indent="0">
              <a:lnSpc>
                <a:spcPct val="108000"/>
              </a:lnSpc>
              <a:buNone/>
            </a:pPr>
            <a:r>
              <a:rPr lang="en-US" sz="2000" dirty="0">
                <a:solidFill>
                  <a:srgbClr val="415A6B"/>
                </a:solidFill>
                <a:latin typeface="Segoe UI" pitchFamily="34" charset="0"/>
                <a:ea typeface="Segoe UI" pitchFamily="34" charset="-122"/>
                <a:cs typeface="Segoe UI" pitchFamily="34" charset="-120"/>
              </a:rPr>
              <a:t>•  eye(n): ma trận đơn vị n × n.</a:t>
            </a:r>
            <a:endParaRPr lang="en-US" sz="2000" dirty="0"/>
          </a:p>
        </p:txBody>
      </p:sp>
      <p:sp>
        <p:nvSpPr>
          <p:cNvPr id="19" name="Text 16"/>
          <p:cNvSpPr/>
          <p:nvPr/>
        </p:nvSpPr>
        <p:spPr>
          <a:xfrm>
            <a:off x="548640" y="5910570"/>
            <a:ext cx="5029200" cy="219456"/>
          </a:xfrm>
          <a:prstGeom prst="rect">
            <a:avLst/>
          </a:prstGeom>
          <a:noFill/>
          <a:ln/>
        </p:spPr>
        <p:txBody>
          <a:bodyPr wrap="square" lIns="0" tIns="0" rIns="0" bIns="0" rtlCol="0" anchor="t"/>
          <a:lstStyle/>
          <a:p>
            <a:pPr marL="0" indent="0">
              <a:buNone/>
            </a:pPr>
            <a:r>
              <a:rPr lang="en-US" sz="1250" dirty="0">
                <a:solidFill>
                  <a:srgbClr val="728694"/>
                </a:solidFill>
                <a:latin typeface="Segoe UI" pitchFamily="34" charset="0"/>
                <a:ea typeface="Segoe UI" pitchFamily="34" charset="-122"/>
                <a:cs typeface="Segoe UI" pitchFamily="34" charset="-120"/>
              </a:rPr>
              <a:t>Nguồn: NumPy Documentation [2], [5]</a:t>
            </a:r>
            <a:endParaRPr lang="en-US" sz="1250" dirty="0"/>
          </a:p>
        </p:txBody>
      </p:sp>
      <p:sp>
        <p:nvSpPr>
          <p:cNvPr id="20" name="Shape 17"/>
          <p:cNvSpPr/>
          <p:nvPr/>
        </p:nvSpPr>
        <p:spPr>
          <a:xfrm>
            <a:off x="548640" y="6437376"/>
            <a:ext cx="11091672" cy="9144"/>
          </a:xfrm>
          <a:prstGeom prst="rect">
            <a:avLst/>
          </a:prstGeom>
          <a:solidFill>
            <a:srgbClr val="D7E5EC"/>
          </a:solidFill>
          <a:ln w="12700">
            <a:solidFill>
              <a:srgbClr val="D7E5EC"/>
            </a:solidFill>
            <a:prstDash val="solid"/>
          </a:ln>
        </p:spPr>
      </p:sp>
      <p:sp>
        <p:nvSpPr>
          <p:cNvPr id="21" name="Text 18"/>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22" name="Text 19"/>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12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04 · TRUY CẬP DỮ LIỆU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Indexing và slicing mảng 1-D</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731520" y="2331720"/>
            <a:ext cx="777240" cy="777240"/>
          </a:xfrm>
          <a:prstGeom prst="rect">
            <a:avLst/>
          </a:prstGeom>
          <a:solidFill>
            <a:srgbClr val="EAF4F8"/>
          </a:solidFill>
          <a:ln w="9525">
            <a:solidFill>
              <a:srgbClr val="A9CDDB"/>
            </a:solidFill>
            <a:prstDash val="solid"/>
          </a:ln>
        </p:spPr>
      </p:sp>
      <p:sp>
        <p:nvSpPr>
          <p:cNvPr id="6" name="Text 4"/>
          <p:cNvSpPr/>
          <p:nvPr/>
        </p:nvSpPr>
        <p:spPr>
          <a:xfrm>
            <a:off x="731520" y="2331720"/>
            <a:ext cx="777240" cy="77724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0</a:t>
            </a:r>
            <a:endParaRPr lang="en-US" sz="2000" dirty="0"/>
          </a:p>
        </p:txBody>
      </p:sp>
      <p:sp>
        <p:nvSpPr>
          <p:cNvPr id="7" name="Text 5"/>
          <p:cNvSpPr/>
          <p:nvPr/>
        </p:nvSpPr>
        <p:spPr>
          <a:xfrm>
            <a:off x="731520" y="2002536"/>
            <a:ext cx="777240" cy="237744"/>
          </a:xfrm>
          <a:prstGeom prst="rect">
            <a:avLst/>
          </a:prstGeom>
          <a:noFill/>
          <a:ln/>
        </p:spPr>
        <p:txBody>
          <a:bodyPr wrap="square" lIns="0" tIns="0" rIns="0" bIns="0" rtlCol="0" anchor="t"/>
          <a:lstStyle/>
          <a:p>
            <a:pPr marL="0" indent="0" algn="ctr">
              <a:buNone/>
            </a:pPr>
            <a:r>
              <a:rPr lang="en-US" sz="1500" dirty="0">
                <a:solidFill>
                  <a:srgbClr val="1B8EA8"/>
                </a:solidFill>
                <a:latin typeface="Consolas" pitchFamily="34" charset="0"/>
                <a:ea typeface="Consolas" pitchFamily="34" charset="-122"/>
                <a:cs typeface="Consolas" pitchFamily="34" charset="-120"/>
              </a:rPr>
              <a:t>0</a:t>
            </a:r>
            <a:endParaRPr lang="en-US" sz="1500" dirty="0"/>
          </a:p>
        </p:txBody>
      </p:sp>
      <p:sp>
        <p:nvSpPr>
          <p:cNvPr id="8" name="Text 6"/>
          <p:cNvSpPr/>
          <p:nvPr/>
        </p:nvSpPr>
        <p:spPr>
          <a:xfrm>
            <a:off x="731520" y="3200400"/>
            <a:ext cx="777240" cy="237744"/>
          </a:xfrm>
          <a:prstGeom prst="rect">
            <a:avLst/>
          </a:prstGeom>
          <a:noFill/>
          <a:ln/>
        </p:spPr>
        <p:txBody>
          <a:bodyPr wrap="square" lIns="0" tIns="0" rIns="0" bIns="0" rtlCol="0" anchor="t"/>
          <a:lstStyle/>
          <a:p>
            <a:pPr marL="0" indent="0" algn="ctr">
              <a:buNone/>
            </a:pPr>
            <a:r>
              <a:rPr lang="en-US" sz="1500" dirty="0">
                <a:solidFill>
                  <a:srgbClr val="D96C5F"/>
                </a:solidFill>
                <a:latin typeface="Consolas" pitchFamily="34" charset="0"/>
                <a:ea typeface="Consolas" pitchFamily="34" charset="-122"/>
                <a:cs typeface="Consolas" pitchFamily="34" charset="-120"/>
              </a:rPr>
              <a:t>-6</a:t>
            </a:r>
            <a:endParaRPr lang="en-US" sz="1500" dirty="0"/>
          </a:p>
        </p:txBody>
      </p:sp>
      <p:sp>
        <p:nvSpPr>
          <p:cNvPr id="9" name="Shape 7"/>
          <p:cNvSpPr/>
          <p:nvPr/>
        </p:nvSpPr>
        <p:spPr>
          <a:xfrm>
            <a:off x="1508760" y="2331720"/>
            <a:ext cx="777240" cy="777240"/>
          </a:xfrm>
          <a:prstGeom prst="rect">
            <a:avLst/>
          </a:prstGeom>
          <a:solidFill>
            <a:srgbClr val="4DB8D4"/>
          </a:solidFill>
          <a:ln w="9525">
            <a:solidFill>
              <a:srgbClr val="A9CDDB"/>
            </a:solidFill>
            <a:prstDash val="solid"/>
          </a:ln>
        </p:spPr>
      </p:sp>
      <p:sp>
        <p:nvSpPr>
          <p:cNvPr id="10" name="Text 8"/>
          <p:cNvSpPr/>
          <p:nvPr/>
        </p:nvSpPr>
        <p:spPr>
          <a:xfrm>
            <a:off x="1508760" y="2331720"/>
            <a:ext cx="777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10</a:t>
            </a:r>
            <a:endParaRPr lang="en-US" sz="2000" dirty="0"/>
          </a:p>
        </p:txBody>
      </p:sp>
      <p:sp>
        <p:nvSpPr>
          <p:cNvPr id="11" name="Text 9"/>
          <p:cNvSpPr/>
          <p:nvPr/>
        </p:nvSpPr>
        <p:spPr>
          <a:xfrm>
            <a:off x="1508760" y="2002536"/>
            <a:ext cx="777240" cy="237744"/>
          </a:xfrm>
          <a:prstGeom prst="rect">
            <a:avLst/>
          </a:prstGeom>
          <a:noFill/>
          <a:ln/>
        </p:spPr>
        <p:txBody>
          <a:bodyPr wrap="square" lIns="0" tIns="0" rIns="0" bIns="0" rtlCol="0" anchor="t"/>
          <a:lstStyle/>
          <a:p>
            <a:pPr marL="0" indent="0" algn="ctr">
              <a:buNone/>
            </a:pPr>
            <a:r>
              <a:rPr lang="en-US" sz="1500" dirty="0">
                <a:solidFill>
                  <a:srgbClr val="1B8EA8"/>
                </a:solidFill>
                <a:latin typeface="Consolas" pitchFamily="34" charset="0"/>
                <a:ea typeface="Consolas" pitchFamily="34" charset="-122"/>
                <a:cs typeface="Consolas" pitchFamily="34" charset="-120"/>
              </a:rPr>
              <a:t>1</a:t>
            </a:r>
            <a:endParaRPr lang="en-US" sz="1500" dirty="0"/>
          </a:p>
        </p:txBody>
      </p:sp>
      <p:sp>
        <p:nvSpPr>
          <p:cNvPr id="12" name="Text 10"/>
          <p:cNvSpPr/>
          <p:nvPr/>
        </p:nvSpPr>
        <p:spPr>
          <a:xfrm>
            <a:off x="1508760" y="3200400"/>
            <a:ext cx="777240" cy="237744"/>
          </a:xfrm>
          <a:prstGeom prst="rect">
            <a:avLst/>
          </a:prstGeom>
          <a:noFill/>
          <a:ln/>
        </p:spPr>
        <p:txBody>
          <a:bodyPr wrap="square" lIns="0" tIns="0" rIns="0" bIns="0" rtlCol="0" anchor="t"/>
          <a:lstStyle/>
          <a:p>
            <a:pPr marL="0" indent="0" algn="ctr">
              <a:buNone/>
            </a:pPr>
            <a:r>
              <a:rPr lang="en-US" sz="1500" dirty="0">
                <a:solidFill>
                  <a:srgbClr val="D96C5F"/>
                </a:solidFill>
                <a:latin typeface="Consolas" pitchFamily="34" charset="0"/>
                <a:ea typeface="Consolas" pitchFamily="34" charset="-122"/>
                <a:cs typeface="Consolas" pitchFamily="34" charset="-120"/>
              </a:rPr>
              <a:t>-5</a:t>
            </a:r>
            <a:endParaRPr lang="en-US" sz="1500" dirty="0"/>
          </a:p>
        </p:txBody>
      </p:sp>
      <p:sp>
        <p:nvSpPr>
          <p:cNvPr id="13" name="Shape 11"/>
          <p:cNvSpPr/>
          <p:nvPr/>
        </p:nvSpPr>
        <p:spPr>
          <a:xfrm>
            <a:off x="2286000" y="2331720"/>
            <a:ext cx="777240" cy="777240"/>
          </a:xfrm>
          <a:prstGeom prst="rect">
            <a:avLst/>
          </a:prstGeom>
          <a:solidFill>
            <a:srgbClr val="EAF4F8"/>
          </a:solidFill>
          <a:ln w="9525">
            <a:solidFill>
              <a:srgbClr val="A9CDDB"/>
            </a:solidFill>
            <a:prstDash val="solid"/>
          </a:ln>
        </p:spPr>
      </p:sp>
      <p:sp>
        <p:nvSpPr>
          <p:cNvPr id="14" name="Text 12"/>
          <p:cNvSpPr/>
          <p:nvPr/>
        </p:nvSpPr>
        <p:spPr>
          <a:xfrm>
            <a:off x="2286000" y="2331720"/>
            <a:ext cx="777240" cy="77724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20</a:t>
            </a:r>
            <a:endParaRPr lang="en-US" sz="2000" dirty="0"/>
          </a:p>
        </p:txBody>
      </p:sp>
      <p:sp>
        <p:nvSpPr>
          <p:cNvPr id="15" name="Text 13"/>
          <p:cNvSpPr/>
          <p:nvPr/>
        </p:nvSpPr>
        <p:spPr>
          <a:xfrm>
            <a:off x="2286000" y="2002536"/>
            <a:ext cx="777240" cy="237744"/>
          </a:xfrm>
          <a:prstGeom prst="rect">
            <a:avLst/>
          </a:prstGeom>
          <a:noFill/>
          <a:ln/>
        </p:spPr>
        <p:txBody>
          <a:bodyPr wrap="square" lIns="0" tIns="0" rIns="0" bIns="0" rtlCol="0" anchor="t"/>
          <a:lstStyle/>
          <a:p>
            <a:pPr marL="0" indent="0" algn="ctr">
              <a:buNone/>
            </a:pPr>
            <a:r>
              <a:rPr lang="en-US" sz="1500" dirty="0">
                <a:solidFill>
                  <a:srgbClr val="1B8EA8"/>
                </a:solidFill>
                <a:latin typeface="Consolas" pitchFamily="34" charset="0"/>
                <a:ea typeface="Consolas" pitchFamily="34" charset="-122"/>
                <a:cs typeface="Consolas" pitchFamily="34" charset="-120"/>
              </a:rPr>
              <a:t>2</a:t>
            </a:r>
            <a:endParaRPr lang="en-US" sz="1500" dirty="0"/>
          </a:p>
        </p:txBody>
      </p:sp>
      <p:sp>
        <p:nvSpPr>
          <p:cNvPr id="16" name="Text 14"/>
          <p:cNvSpPr/>
          <p:nvPr/>
        </p:nvSpPr>
        <p:spPr>
          <a:xfrm>
            <a:off x="2286000" y="3200400"/>
            <a:ext cx="777240" cy="237744"/>
          </a:xfrm>
          <a:prstGeom prst="rect">
            <a:avLst/>
          </a:prstGeom>
          <a:noFill/>
          <a:ln/>
        </p:spPr>
        <p:txBody>
          <a:bodyPr wrap="square" lIns="0" tIns="0" rIns="0" bIns="0" rtlCol="0" anchor="t"/>
          <a:lstStyle/>
          <a:p>
            <a:pPr marL="0" indent="0" algn="ctr">
              <a:buNone/>
            </a:pPr>
            <a:r>
              <a:rPr lang="en-US" sz="1500" dirty="0">
                <a:solidFill>
                  <a:srgbClr val="D96C5F"/>
                </a:solidFill>
                <a:latin typeface="Consolas" pitchFamily="34" charset="0"/>
                <a:ea typeface="Consolas" pitchFamily="34" charset="-122"/>
                <a:cs typeface="Consolas" pitchFamily="34" charset="-120"/>
              </a:rPr>
              <a:t>-4</a:t>
            </a:r>
            <a:endParaRPr lang="en-US" sz="1500" dirty="0"/>
          </a:p>
        </p:txBody>
      </p:sp>
      <p:sp>
        <p:nvSpPr>
          <p:cNvPr id="17" name="Shape 15"/>
          <p:cNvSpPr/>
          <p:nvPr/>
        </p:nvSpPr>
        <p:spPr>
          <a:xfrm>
            <a:off x="3063240" y="2331720"/>
            <a:ext cx="777240" cy="777240"/>
          </a:xfrm>
          <a:prstGeom prst="rect">
            <a:avLst/>
          </a:prstGeom>
          <a:solidFill>
            <a:srgbClr val="EAF4F8"/>
          </a:solidFill>
          <a:ln w="9525">
            <a:solidFill>
              <a:srgbClr val="A9CDDB"/>
            </a:solidFill>
            <a:prstDash val="solid"/>
          </a:ln>
        </p:spPr>
      </p:sp>
      <p:sp>
        <p:nvSpPr>
          <p:cNvPr id="18" name="Text 16"/>
          <p:cNvSpPr/>
          <p:nvPr/>
        </p:nvSpPr>
        <p:spPr>
          <a:xfrm>
            <a:off x="3063240" y="2331720"/>
            <a:ext cx="777240" cy="77724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30</a:t>
            </a:r>
            <a:endParaRPr lang="en-US" sz="2000" dirty="0"/>
          </a:p>
        </p:txBody>
      </p:sp>
      <p:sp>
        <p:nvSpPr>
          <p:cNvPr id="19" name="Text 17"/>
          <p:cNvSpPr/>
          <p:nvPr/>
        </p:nvSpPr>
        <p:spPr>
          <a:xfrm>
            <a:off x="3063240" y="2002536"/>
            <a:ext cx="777240" cy="237744"/>
          </a:xfrm>
          <a:prstGeom prst="rect">
            <a:avLst/>
          </a:prstGeom>
          <a:noFill/>
          <a:ln/>
        </p:spPr>
        <p:txBody>
          <a:bodyPr wrap="square" lIns="0" tIns="0" rIns="0" bIns="0" rtlCol="0" anchor="t"/>
          <a:lstStyle/>
          <a:p>
            <a:pPr marL="0" indent="0" algn="ctr">
              <a:buNone/>
            </a:pPr>
            <a:r>
              <a:rPr lang="en-US" sz="1500" dirty="0">
                <a:solidFill>
                  <a:srgbClr val="1B8EA8"/>
                </a:solidFill>
                <a:latin typeface="Consolas" pitchFamily="34" charset="0"/>
                <a:ea typeface="Consolas" pitchFamily="34" charset="-122"/>
                <a:cs typeface="Consolas" pitchFamily="34" charset="-120"/>
              </a:rPr>
              <a:t>3</a:t>
            </a:r>
            <a:endParaRPr lang="en-US" sz="1500" dirty="0"/>
          </a:p>
        </p:txBody>
      </p:sp>
      <p:sp>
        <p:nvSpPr>
          <p:cNvPr id="20" name="Text 18"/>
          <p:cNvSpPr/>
          <p:nvPr/>
        </p:nvSpPr>
        <p:spPr>
          <a:xfrm>
            <a:off x="3063240" y="3200400"/>
            <a:ext cx="777240" cy="237744"/>
          </a:xfrm>
          <a:prstGeom prst="rect">
            <a:avLst/>
          </a:prstGeom>
          <a:noFill/>
          <a:ln/>
        </p:spPr>
        <p:txBody>
          <a:bodyPr wrap="square" lIns="0" tIns="0" rIns="0" bIns="0" rtlCol="0" anchor="t"/>
          <a:lstStyle/>
          <a:p>
            <a:pPr marL="0" indent="0" algn="ctr">
              <a:buNone/>
            </a:pPr>
            <a:r>
              <a:rPr lang="en-US" sz="1500" dirty="0">
                <a:solidFill>
                  <a:srgbClr val="D96C5F"/>
                </a:solidFill>
                <a:latin typeface="Consolas" pitchFamily="34" charset="0"/>
                <a:ea typeface="Consolas" pitchFamily="34" charset="-122"/>
                <a:cs typeface="Consolas" pitchFamily="34" charset="-120"/>
              </a:rPr>
              <a:t>-3</a:t>
            </a:r>
            <a:endParaRPr lang="en-US" sz="1500" dirty="0"/>
          </a:p>
        </p:txBody>
      </p:sp>
      <p:sp>
        <p:nvSpPr>
          <p:cNvPr id="21" name="Shape 19"/>
          <p:cNvSpPr/>
          <p:nvPr/>
        </p:nvSpPr>
        <p:spPr>
          <a:xfrm>
            <a:off x="3840480" y="2331720"/>
            <a:ext cx="777240" cy="777240"/>
          </a:xfrm>
          <a:prstGeom prst="rect">
            <a:avLst/>
          </a:prstGeom>
          <a:solidFill>
            <a:srgbClr val="EAF4F8"/>
          </a:solidFill>
          <a:ln w="9525">
            <a:solidFill>
              <a:srgbClr val="A9CDDB"/>
            </a:solidFill>
            <a:prstDash val="solid"/>
          </a:ln>
        </p:spPr>
      </p:sp>
      <p:sp>
        <p:nvSpPr>
          <p:cNvPr id="22" name="Text 20"/>
          <p:cNvSpPr/>
          <p:nvPr/>
        </p:nvSpPr>
        <p:spPr>
          <a:xfrm>
            <a:off x="3840480" y="2331720"/>
            <a:ext cx="777240" cy="777240"/>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40</a:t>
            </a:r>
            <a:endParaRPr lang="en-US" sz="2000" dirty="0"/>
          </a:p>
        </p:txBody>
      </p:sp>
      <p:sp>
        <p:nvSpPr>
          <p:cNvPr id="23" name="Text 21"/>
          <p:cNvSpPr/>
          <p:nvPr/>
        </p:nvSpPr>
        <p:spPr>
          <a:xfrm>
            <a:off x="3840480" y="2002536"/>
            <a:ext cx="777240" cy="237744"/>
          </a:xfrm>
          <a:prstGeom prst="rect">
            <a:avLst/>
          </a:prstGeom>
          <a:noFill/>
          <a:ln/>
        </p:spPr>
        <p:txBody>
          <a:bodyPr wrap="square" lIns="0" tIns="0" rIns="0" bIns="0" rtlCol="0" anchor="t"/>
          <a:lstStyle/>
          <a:p>
            <a:pPr marL="0" indent="0" algn="ctr">
              <a:buNone/>
            </a:pPr>
            <a:r>
              <a:rPr lang="en-US" sz="1500" dirty="0">
                <a:solidFill>
                  <a:srgbClr val="1B8EA8"/>
                </a:solidFill>
                <a:latin typeface="Consolas" pitchFamily="34" charset="0"/>
                <a:ea typeface="Consolas" pitchFamily="34" charset="-122"/>
                <a:cs typeface="Consolas" pitchFamily="34" charset="-120"/>
              </a:rPr>
              <a:t>4</a:t>
            </a:r>
            <a:endParaRPr lang="en-US" sz="1500" dirty="0"/>
          </a:p>
        </p:txBody>
      </p:sp>
      <p:sp>
        <p:nvSpPr>
          <p:cNvPr id="24" name="Text 22"/>
          <p:cNvSpPr/>
          <p:nvPr/>
        </p:nvSpPr>
        <p:spPr>
          <a:xfrm>
            <a:off x="3840480" y="3200400"/>
            <a:ext cx="777240" cy="237744"/>
          </a:xfrm>
          <a:prstGeom prst="rect">
            <a:avLst/>
          </a:prstGeom>
          <a:noFill/>
          <a:ln/>
        </p:spPr>
        <p:txBody>
          <a:bodyPr wrap="square" lIns="0" tIns="0" rIns="0" bIns="0" rtlCol="0" anchor="t"/>
          <a:lstStyle/>
          <a:p>
            <a:pPr marL="0" indent="0" algn="ctr">
              <a:buNone/>
            </a:pPr>
            <a:r>
              <a:rPr lang="en-US" sz="1500" dirty="0">
                <a:solidFill>
                  <a:srgbClr val="D96C5F"/>
                </a:solidFill>
                <a:latin typeface="Consolas" pitchFamily="34" charset="0"/>
                <a:ea typeface="Consolas" pitchFamily="34" charset="-122"/>
                <a:cs typeface="Consolas" pitchFamily="34" charset="-120"/>
              </a:rPr>
              <a:t>-2</a:t>
            </a:r>
            <a:endParaRPr lang="en-US" sz="1500" dirty="0"/>
          </a:p>
        </p:txBody>
      </p:sp>
      <p:sp>
        <p:nvSpPr>
          <p:cNvPr id="25" name="Shape 23"/>
          <p:cNvSpPr/>
          <p:nvPr/>
        </p:nvSpPr>
        <p:spPr>
          <a:xfrm>
            <a:off x="4617720" y="2331720"/>
            <a:ext cx="777240" cy="777240"/>
          </a:xfrm>
          <a:prstGeom prst="rect">
            <a:avLst/>
          </a:prstGeom>
          <a:solidFill>
            <a:srgbClr val="4DB8D4"/>
          </a:solidFill>
          <a:ln w="9525">
            <a:solidFill>
              <a:srgbClr val="A9CDDB"/>
            </a:solidFill>
            <a:prstDash val="solid"/>
          </a:ln>
        </p:spPr>
      </p:sp>
      <p:sp>
        <p:nvSpPr>
          <p:cNvPr id="26" name="Text 24"/>
          <p:cNvSpPr/>
          <p:nvPr/>
        </p:nvSpPr>
        <p:spPr>
          <a:xfrm>
            <a:off x="4617720" y="2331720"/>
            <a:ext cx="777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50</a:t>
            </a:r>
            <a:endParaRPr lang="en-US" sz="2000" dirty="0"/>
          </a:p>
        </p:txBody>
      </p:sp>
      <p:sp>
        <p:nvSpPr>
          <p:cNvPr id="27" name="Text 25"/>
          <p:cNvSpPr/>
          <p:nvPr/>
        </p:nvSpPr>
        <p:spPr>
          <a:xfrm>
            <a:off x="4617720" y="2002536"/>
            <a:ext cx="777240" cy="237744"/>
          </a:xfrm>
          <a:prstGeom prst="rect">
            <a:avLst/>
          </a:prstGeom>
          <a:noFill/>
          <a:ln/>
        </p:spPr>
        <p:txBody>
          <a:bodyPr wrap="square" lIns="0" tIns="0" rIns="0" bIns="0" rtlCol="0" anchor="t"/>
          <a:lstStyle/>
          <a:p>
            <a:pPr marL="0" indent="0" algn="ctr">
              <a:buNone/>
            </a:pPr>
            <a:r>
              <a:rPr lang="en-US" sz="1500" dirty="0">
                <a:solidFill>
                  <a:srgbClr val="1B8EA8"/>
                </a:solidFill>
                <a:latin typeface="Consolas" pitchFamily="34" charset="0"/>
                <a:ea typeface="Consolas" pitchFamily="34" charset="-122"/>
                <a:cs typeface="Consolas" pitchFamily="34" charset="-120"/>
              </a:rPr>
              <a:t>5</a:t>
            </a:r>
            <a:endParaRPr lang="en-US" sz="1500" dirty="0"/>
          </a:p>
        </p:txBody>
      </p:sp>
      <p:sp>
        <p:nvSpPr>
          <p:cNvPr id="28" name="Text 26"/>
          <p:cNvSpPr/>
          <p:nvPr/>
        </p:nvSpPr>
        <p:spPr>
          <a:xfrm>
            <a:off x="4617720" y="3200400"/>
            <a:ext cx="777240" cy="237744"/>
          </a:xfrm>
          <a:prstGeom prst="rect">
            <a:avLst/>
          </a:prstGeom>
          <a:noFill/>
          <a:ln/>
        </p:spPr>
        <p:txBody>
          <a:bodyPr wrap="square" lIns="0" tIns="0" rIns="0" bIns="0" rtlCol="0" anchor="t"/>
          <a:lstStyle/>
          <a:p>
            <a:pPr marL="0" indent="0" algn="ctr">
              <a:buNone/>
            </a:pPr>
            <a:r>
              <a:rPr lang="en-US" sz="1500" dirty="0">
                <a:solidFill>
                  <a:srgbClr val="D96C5F"/>
                </a:solidFill>
                <a:latin typeface="Consolas" pitchFamily="34" charset="0"/>
                <a:ea typeface="Consolas" pitchFamily="34" charset="-122"/>
                <a:cs typeface="Consolas" pitchFamily="34" charset="-120"/>
              </a:rPr>
              <a:t>-1</a:t>
            </a:r>
            <a:endParaRPr lang="en-US" sz="1500" dirty="0"/>
          </a:p>
        </p:txBody>
      </p:sp>
      <p:sp>
        <p:nvSpPr>
          <p:cNvPr id="29" name="Text 27"/>
          <p:cNvSpPr/>
          <p:nvPr/>
        </p:nvSpPr>
        <p:spPr>
          <a:xfrm>
            <a:off x="731520" y="1828800"/>
            <a:ext cx="3383280" cy="228600"/>
          </a:xfrm>
          <a:prstGeom prst="rect">
            <a:avLst/>
          </a:prstGeom>
          <a:noFill/>
          <a:ln/>
        </p:spPr>
        <p:txBody>
          <a:bodyPr wrap="square" lIns="0" tIns="0" rIns="0" bIns="0" rtlCol="0" anchor="t"/>
          <a:lstStyle/>
          <a:p>
            <a:pPr marL="0" indent="0" algn="l">
              <a:buNone/>
            </a:pPr>
            <a:r>
              <a:rPr lang="en-US" sz="1400" dirty="0">
                <a:solidFill>
                  <a:srgbClr val="728694"/>
                </a:solidFill>
                <a:latin typeface="Segoe UI" pitchFamily="34" charset="0"/>
                <a:ea typeface="Segoe UI" pitchFamily="34" charset="-122"/>
                <a:cs typeface="Segoe UI" pitchFamily="34" charset="-120"/>
              </a:rPr>
              <a:t>chỉ số dương</a:t>
            </a:r>
            <a:endParaRPr lang="en-US" sz="1400" dirty="0"/>
          </a:p>
        </p:txBody>
      </p:sp>
      <p:sp>
        <p:nvSpPr>
          <p:cNvPr id="30" name="Text 28"/>
          <p:cNvSpPr/>
          <p:nvPr/>
        </p:nvSpPr>
        <p:spPr>
          <a:xfrm>
            <a:off x="731520" y="3398022"/>
            <a:ext cx="3383280" cy="228600"/>
          </a:xfrm>
          <a:prstGeom prst="rect">
            <a:avLst/>
          </a:prstGeom>
          <a:noFill/>
          <a:ln/>
        </p:spPr>
        <p:txBody>
          <a:bodyPr wrap="square" lIns="0" tIns="0" rIns="0" bIns="0" rtlCol="0" anchor="t"/>
          <a:lstStyle/>
          <a:p>
            <a:pPr marL="0" indent="0" algn="l">
              <a:buNone/>
            </a:pPr>
            <a:r>
              <a:rPr lang="en-US" sz="1400" dirty="0">
                <a:solidFill>
                  <a:srgbClr val="728694"/>
                </a:solidFill>
                <a:latin typeface="Segoe UI" pitchFamily="34" charset="0"/>
                <a:ea typeface="Segoe UI" pitchFamily="34" charset="-122"/>
                <a:cs typeface="Segoe UI" pitchFamily="34" charset="-120"/>
              </a:rPr>
              <a:t>chỉ số âm</a:t>
            </a:r>
            <a:endParaRPr lang="en-US" sz="1400" dirty="0"/>
          </a:p>
        </p:txBody>
      </p:sp>
      <p:sp>
        <p:nvSpPr>
          <p:cNvPr id="31" name="Text 29"/>
          <p:cNvSpPr/>
          <p:nvPr/>
        </p:nvSpPr>
        <p:spPr>
          <a:xfrm>
            <a:off x="731520" y="3794760"/>
            <a:ext cx="4937760" cy="365760"/>
          </a:xfrm>
          <a:prstGeom prst="rect">
            <a:avLst/>
          </a:prstGeom>
          <a:noFill/>
          <a:ln/>
        </p:spPr>
        <p:txBody>
          <a:bodyPr wrap="square" lIns="0" tIns="0" rIns="0" bIns="0" rtlCol="0" anchor="t"/>
          <a:lstStyle/>
          <a:p>
            <a:pPr marL="0" indent="0">
              <a:buNone/>
            </a:pPr>
            <a:r>
              <a:rPr lang="en-US" sz="2000" b="1" dirty="0">
                <a:solidFill>
                  <a:srgbClr val="062A3A"/>
                </a:solidFill>
                <a:latin typeface="Segoe UI" pitchFamily="34" charset="0"/>
                <a:ea typeface="Segoe UI" pitchFamily="34" charset="-122"/>
                <a:cs typeface="Segoe UI" pitchFamily="34" charset="-120"/>
              </a:rPr>
              <a:t>start:stop:step — không lấy stop</a:t>
            </a:r>
            <a:endParaRPr lang="en-US" sz="2000" dirty="0"/>
          </a:p>
        </p:txBody>
      </p:sp>
      <p:sp>
        <p:nvSpPr>
          <p:cNvPr id="32" name="Text 30"/>
          <p:cNvSpPr/>
          <p:nvPr/>
        </p:nvSpPr>
        <p:spPr>
          <a:xfrm>
            <a:off x="731520" y="4370832"/>
            <a:ext cx="4937760" cy="1234440"/>
          </a:xfrm>
          <a:prstGeom prst="rect">
            <a:avLst/>
          </a:prstGeom>
          <a:noFill/>
          <a:ln/>
        </p:spPr>
        <p:txBody>
          <a:bodyPr wrap="square" lIns="0" tIns="0" rIns="0" bIns="0" rtlCol="0" anchor="t"/>
          <a:lstStyle/>
          <a:p>
            <a:pPr marL="0" indent="0">
              <a:lnSpc>
                <a:spcPct val="110000"/>
              </a:lnSpc>
              <a:buNone/>
            </a:pPr>
            <a:r>
              <a:rPr lang="en-US" sz="2000" dirty="0">
                <a:solidFill>
                  <a:srgbClr val="415A6B"/>
                </a:solidFill>
                <a:latin typeface="Segoe UI" pitchFamily="34" charset="0"/>
                <a:ea typeface="Segoe UI" pitchFamily="34" charset="-122"/>
                <a:cs typeface="Segoe UI" pitchFamily="34" charset="-120"/>
              </a:rPr>
              <a:t>Slicing trả về view, không phải bản sao. Dùng .copy() nếu cần dữ liệu độc lập.</a:t>
            </a:r>
            <a:endParaRPr lang="en-US" sz="2000" dirty="0"/>
          </a:p>
        </p:txBody>
      </p:sp>
      <p:sp>
        <p:nvSpPr>
          <p:cNvPr id="33" name="Shape 31"/>
          <p:cNvSpPr/>
          <p:nvPr/>
        </p:nvSpPr>
        <p:spPr>
          <a:xfrm>
            <a:off x="5760720" y="1463040"/>
            <a:ext cx="5879592" cy="2651760"/>
          </a:xfrm>
          <a:prstGeom prst="roundRect">
            <a:avLst>
              <a:gd name="adj" fmla="val 1724"/>
            </a:avLst>
          </a:prstGeom>
          <a:solidFill>
            <a:srgbClr val="0B2230"/>
          </a:solidFill>
          <a:ln w="9525">
            <a:solidFill>
              <a:srgbClr val="163B4C"/>
            </a:solidFill>
            <a:prstDash val="solid"/>
          </a:ln>
        </p:spPr>
      </p:sp>
      <p:sp>
        <p:nvSpPr>
          <p:cNvPr id="34" name="Shape 32"/>
          <p:cNvSpPr/>
          <p:nvPr/>
        </p:nvSpPr>
        <p:spPr>
          <a:xfrm>
            <a:off x="5760720" y="1463040"/>
            <a:ext cx="5879592" cy="310896"/>
          </a:xfrm>
          <a:prstGeom prst="rect">
            <a:avLst/>
          </a:prstGeom>
          <a:solidFill>
            <a:srgbClr val="103445"/>
          </a:solidFill>
          <a:ln w="12700">
            <a:solidFill>
              <a:srgbClr val="103445"/>
            </a:solidFill>
            <a:prstDash val="solid"/>
          </a:ln>
        </p:spPr>
      </p:sp>
      <p:sp>
        <p:nvSpPr>
          <p:cNvPr id="35" name="Text 33"/>
          <p:cNvSpPr/>
          <p:nvPr/>
        </p:nvSpPr>
        <p:spPr>
          <a:xfrm>
            <a:off x="5907024" y="1527048"/>
            <a:ext cx="496519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36" name="Shape 34"/>
          <p:cNvSpPr/>
          <p:nvPr/>
        </p:nvSpPr>
        <p:spPr>
          <a:xfrm>
            <a:off x="11073384" y="1581912"/>
            <a:ext cx="82296" cy="82296"/>
          </a:xfrm>
          <a:prstGeom prst="ellipse">
            <a:avLst/>
          </a:prstGeom>
          <a:solidFill>
            <a:srgbClr val="D96C5F"/>
          </a:solidFill>
          <a:ln w="12700">
            <a:solidFill>
              <a:srgbClr val="D96C5F"/>
            </a:solidFill>
            <a:prstDash val="solid"/>
          </a:ln>
        </p:spPr>
      </p:sp>
      <p:sp>
        <p:nvSpPr>
          <p:cNvPr id="37" name="Shape 35"/>
          <p:cNvSpPr/>
          <p:nvPr/>
        </p:nvSpPr>
        <p:spPr>
          <a:xfrm>
            <a:off x="11228832" y="1581912"/>
            <a:ext cx="82296" cy="82296"/>
          </a:xfrm>
          <a:prstGeom prst="ellipse">
            <a:avLst/>
          </a:prstGeom>
          <a:solidFill>
            <a:srgbClr val="E8A33D"/>
          </a:solidFill>
          <a:ln w="12700">
            <a:solidFill>
              <a:srgbClr val="E8A33D"/>
            </a:solidFill>
            <a:prstDash val="solid"/>
          </a:ln>
        </p:spPr>
      </p:sp>
      <p:sp>
        <p:nvSpPr>
          <p:cNvPr id="38" name="Shape 36"/>
          <p:cNvSpPr/>
          <p:nvPr/>
        </p:nvSpPr>
        <p:spPr>
          <a:xfrm>
            <a:off x="11384280" y="1581912"/>
            <a:ext cx="82296" cy="82296"/>
          </a:xfrm>
          <a:prstGeom prst="ellipse">
            <a:avLst/>
          </a:prstGeom>
          <a:solidFill>
            <a:srgbClr val="2D8C6F"/>
          </a:solidFill>
          <a:ln w="12700">
            <a:solidFill>
              <a:srgbClr val="2D8C6F"/>
            </a:solidFill>
            <a:prstDash val="solid"/>
          </a:ln>
        </p:spPr>
      </p:sp>
      <p:sp>
        <p:nvSpPr>
          <p:cNvPr id="39" name="Text 37"/>
          <p:cNvSpPr/>
          <p:nvPr/>
        </p:nvSpPr>
        <p:spPr>
          <a:xfrm>
            <a:off x="5925312" y="1874520"/>
            <a:ext cx="5586984" cy="2176272"/>
          </a:xfrm>
          <a:prstGeom prst="rect">
            <a:avLst/>
          </a:prstGeom>
          <a:noFill/>
          <a:ln/>
        </p:spPr>
        <p:txBody>
          <a:bodyPr wrap="square" lIns="0" tIns="0" rIns="0" bIns="0" rtlCol="0" anchor="t"/>
          <a:lstStyle/>
          <a:p>
            <a:pPr marL="0" indent="0">
              <a:lnSpc>
                <a:spcPct val="100000"/>
              </a:lnSpc>
              <a:buNone/>
            </a:pPr>
            <a:r>
              <a:rPr lang="en-US" sz="2000" dirty="0">
                <a:solidFill>
                  <a:srgbClr val="D6E6EF"/>
                </a:solidFill>
                <a:latin typeface="Consolas" pitchFamily="34" charset="0"/>
                <a:ea typeface="Consolas" pitchFamily="34" charset="-122"/>
                <a:cs typeface="Consolas" pitchFamily="34" charset="-120"/>
              </a:rPr>
              <a:t>c = </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.array([</a:t>
            </a:r>
            <a:r>
              <a:rPr lang="en-US" sz="2000" dirty="0">
                <a:solidFill>
                  <a:srgbClr val="F08A7C"/>
                </a:solidFill>
                <a:latin typeface="Consolas" pitchFamily="34" charset="0"/>
                <a:ea typeface="Consolas" pitchFamily="34" charset="-122"/>
                <a:cs typeface="Consolas" pitchFamily="34" charset="-120"/>
              </a:rPr>
              <a:t>0</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10</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20</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30</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40</a:t>
            </a:r>
            <a:r>
              <a:rPr lang="en-US" sz="2000" dirty="0">
                <a:solidFill>
                  <a:srgbClr val="D6E6EF"/>
                </a:solidFill>
                <a:latin typeface="Consolas" pitchFamily="34" charset="0"/>
                <a:ea typeface="Consolas" pitchFamily="34" charset="-122"/>
                <a:cs typeface="Consolas" pitchFamily="34" charset="-120"/>
              </a:rPr>
              <a:t>, </a:t>
            </a:r>
            <a:r>
              <a:rPr lang="en-US" sz="2000" dirty="0">
                <a:solidFill>
                  <a:srgbClr val="F08A7C"/>
                </a:solidFill>
                <a:latin typeface="Consolas" pitchFamily="34" charset="0"/>
                <a:ea typeface="Consolas" pitchFamily="34" charset="-122"/>
                <a:cs typeface="Consolas" pitchFamily="34" charset="-120"/>
              </a:rPr>
              <a:t>50</a:t>
            </a:r>
            <a:r>
              <a:rPr lang="en-US" sz="2000" dirty="0">
                <a:solidFill>
                  <a:srgbClr val="D6E6EF"/>
                </a:solidFill>
                <a:latin typeface="Consolas" pitchFamily="34" charset="0"/>
                <a:ea typeface="Consolas" pitchFamily="34" charset="-122"/>
                <a:cs typeface="Consolas" pitchFamily="34" charset="-120"/>
              </a:rPr>
              <a:t>])</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(c[</a:t>
            </a:r>
            <a:r>
              <a:rPr lang="en-US" sz="2000" dirty="0">
                <a:solidFill>
                  <a:srgbClr val="F08A7C"/>
                </a:solidFill>
                <a:latin typeface="Consolas" pitchFamily="34" charset="0"/>
                <a:ea typeface="Consolas" pitchFamily="34" charset="-122"/>
                <a:cs typeface="Consolas" pitchFamily="34" charset="-120"/>
              </a:rPr>
              <a:t>1</a:t>
            </a:r>
            <a:r>
              <a:rPr lang="en-US" sz="2000" dirty="0">
                <a:solidFill>
                  <a:srgbClr val="D6E6EF"/>
                </a:solidFill>
                <a:latin typeface="Consolas" pitchFamily="34" charset="0"/>
                <a:ea typeface="Consolas" pitchFamily="34" charset="-122"/>
                <a:cs typeface="Consolas" pitchFamily="34" charset="-120"/>
              </a:rPr>
              <a:t>])      </a:t>
            </a:r>
            <a:r>
              <a:rPr lang="en-US" sz="2000" i="1" dirty="0">
                <a:solidFill>
                  <a:srgbClr val="6F93A3"/>
                </a:solidFill>
                <a:latin typeface="Consolas" pitchFamily="34" charset="0"/>
                <a:ea typeface="Consolas" pitchFamily="34" charset="-122"/>
                <a:cs typeface="Consolas" pitchFamily="34" charset="-120"/>
              </a:rPr>
              <a:t># 10</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(c[-</a:t>
            </a:r>
            <a:r>
              <a:rPr lang="en-US" sz="2000" dirty="0">
                <a:solidFill>
                  <a:srgbClr val="F08A7C"/>
                </a:solidFill>
                <a:latin typeface="Consolas" pitchFamily="34" charset="0"/>
                <a:ea typeface="Consolas" pitchFamily="34" charset="-122"/>
                <a:cs typeface="Consolas" pitchFamily="34" charset="-120"/>
              </a:rPr>
              <a:t>1</a:t>
            </a:r>
            <a:r>
              <a:rPr lang="en-US" sz="2000" dirty="0">
                <a:solidFill>
                  <a:srgbClr val="D6E6EF"/>
                </a:solidFill>
                <a:latin typeface="Consolas" pitchFamily="34" charset="0"/>
                <a:ea typeface="Consolas" pitchFamily="34" charset="-122"/>
                <a:cs typeface="Consolas" pitchFamily="34" charset="-120"/>
              </a:rPr>
              <a:t>])     </a:t>
            </a:r>
            <a:r>
              <a:rPr lang="en-US" sz="2000" i="1" dirty="0">
                <a:solidFill>
                  <a:srgbClr val="6F93A3"/>
                </a:solidFill>
                <a:latin typeface="Consolas" pitchFamily="34" charset="0"/>
                <a:ea typeface="Consolas" pitchFamily="34" charset="-122"/>
                <a:cs typeface="Consolas" pitchFamily="34" charset="-120"/>
              </a:rPr>
              <a:t># 50</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(c[</a:t>
            </a:r>
            <a:r>
              <a:rPr lang="en-US" sz="2000" dirty="0">
                <a:solidFill>
                  <a:srgbClr val="F08A7C"/>
                </a:solidFill>
                <a:latin typeface="Consolas" pitchFamily="34" charset="0"/>
                <a:ea typeface="Consolas" pitchFamily="34" charset="-122"/>
                <a:cs typeface="Consolas" pitchFamily="34" charset="-120"/>
              </a:rPr>
              <a:t>1</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F08A7C"/>
                </a:solidFill>
                <a:latin typeface="Consolas" pitchFamily="34" charset="0"/>
                <a:ea typeface="Consolas" pitchFamily="34" charset="-122"/>
                <a:cs typeface="Consolas" pitchFamily="34" charset="-120"/>
              </a:rPr>
              <a:t>4</a:t>
            </a:r>
            <a:r>
              <a:rPr lang="en-US" sz="2000" dirty="0">
                <a:solidFill>
                  <a:srgbClr val="D6E6EF"/>
                </a:solidFill>
                <a:latin typeface="Consolas" pitchFamily="34" charset="0"/>
                <a:ea typeface="Consolas" pitchFamily="34" charset="-122"/>
                <a:cs typeface="Consolas" pitchFamily="34" charset="-120"/>
              </a:rPr>
              <a:t>])    </a:t>
            </a:r>
            <a:r>
              <a:rPr lang="en-US" sz="2000" i="1" dirty="0">
                <a:solidFill>
                  <a:srgbClr val="6F93A3"/>
                </a:solidFill>
                <a:latin typeface="Consolas" pitchFamily="34" charset="0"/>
                <a:ea typeface="Consolas" pitchFamily="34" charset="-122"/>
                <a:cs typeface="Consolas" pitchFamily="34" charset="-120"/>
              </a:rPr>
              <a:t># [10 20 30]</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(c[::</a:t>
            </a:r>
            <a:r>
              <a:rPr lang="en-US" sz="2000" dirty="0">
                <a:solidFill>
                  <a:srgbClr val="F08A7C"/>
                </a:solidFill>
                <a:latin typeface="Consolas" pitchFamily="34" charset="0"/>
                <a:ea typeface="Consolas" pitchFamily="34" charset="-122"/>
                <a:cs typeface="Consolas" pitchFamily="34" charset="-120"/>
              </a:rPr>
              <a:t>2</a:t>
            </a:r>
            <a:r>
              <a:rPr lang="en-US" sz="2000" dirty="0">
                <a:solidFill>
                  <a:srgbClr val="D6E6EF"/>
                </a:solidFill>
                <a:latin typeface="Consolas" pitchFamily="34" charset="0"/>
                <a:ea typeface="Consolas" pitchFamily="34" charset="-122"/>
                <a:cs typeface="Consolas" pitchFamily="34" charset="-120"/>
              </a:rPr>
              <a:t>])    </a:t>
            </a:r>
            <a:r>
              <a:rPr lang="en-US" sz="2000" i="1" dirty="0">
                <a:solidFill>
                  <a:srgbClr val="6F93A3"/>
                </a:solidFill>
                <a:latin typeface="Consolas" pitchFamily="34" charset="0"/>
                <a:ea typeface="Consolas" pitchFamily="34" charset="-122"/>
                <a:cs typeface="Consolas" pitchFamily="34" charset="-120"/>
              </a:rPr>
              <a:t># [ 0 20 40]</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(c[::-</a:t>
            </a:r>
            <a:r>
              <a:rPr lang="en-US" sz="2000" dirty="0">
                <a:solidFill>
                  <a:srgbClr val="F08A7C"/>
                </a:solidFill>
                <a:latin typeface="Consolas" pitchFamily="34" charset="0"/>
                <a:ea typeface="Consolas" pitchFamily="34" charset="-122"/>
                <a:cs typeface="Consolas" pitchFamily="34" charset="-120"/>
              </a:rPr>
              <a:t>1</a:t>
            </a:r>
            <a:r>
              <a:rPr lang="en-US" sz="2000" dirty="0">
                <a:solidFill>
                  <a:srgbClr val="D6E6EF"/>
                </a:solidFill>
                <a:latin typeface="Consolas" pitchFamily="34" charset="0"/>
                <a:ea typeface="Consolas" pitchFamily="34" charset="-122"/>
                <a:cs typeface="Consolas" pitchFamily="34" charset="-120"/>
              </a:rPr>
              <a:t>])   </a:t>
            </a:r>
            <a:r>
              <a:rPr lang="en-US" sz="2000" i="1" dirty="0">
                <a:solidFill>
                  <a:srgbClr val="6F93A3"/>
                </a:solidFill>
                <a:latin typeface="Consolas" pitchFamily="34" charset="0"/>
                <a:ea typeface="Consolas" pitchFamily="34" charset="-122"/>
                <a:cs typeface="Consolas" pitchFamily="34" charset="-120"/>
              </a:rPr>
              <a:t># [50 40 30 20 10  0]</a:t>
            </a:r>
            <a:endParaRPr lang="en-US" sz="2000" dirty="0"/>
          </a:p>
        </p:txBody>
      </p:sp>
      <p:sp>
        <p:nvSpPr>
          <p:cNvPr id="40" name="Shape 38"/>
          <p:cNvSpPr/>
          <p:nvPr/>
        </p:nvSpPr>
        <p:spPr>
          <a:xfrm>
            <a:off x="5760720" y="4251960"/>
            <a:ext cx="5879592" cy="2071116"/>
          </a:xfrm>
          <a:prstGeom prst="roundRect">
            <a:avLst>
              <a:gd name="adj" fmla="val 2632"/>
            </a:avLst>
          </a:prstGeom>
          <a:solidFill>
            <a:srgbClr val="FFFFFF"/>
          </a:solidFill>
          <a:ln w="9525">
            <a:solidFill>
              <a:srgbClr val="CFE5EE"/>
            </a:solidFill>
            <a:prstDash val="solid"/>
          </a:ln>
        </p:spPr>
      </p:sp>
      <p:sp>
        <p:nvSpPr>
          <p:cNvPr id="41" name="Text 39"/>
          <p:cNvSpPr/>
          <p:nvPr/>
        </p:nvSpPr>
        <p:spPr>
          <a:xfrm>
            <a:off x="5907024" y="4343400"/>
            <a:ext cx="560527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42" name="Text 40"/>
          <p:cNvSpPr/>
          <p:nvPr/>
        </p:nvSpPr>
        <p:spPr>
          <a:xfrm>
            <a:off x="5907024" y="4599431"/>
            <a:ext cx="5605272" cy="1633417"/>
          </a:xfrm>
          <a:prstGeom prst="rect">
            <a:avLst/>
          </a:prstGeom>
          <a:noFill/>
          <a:ln/>
        </p:spPr>
        <p:txBody>
          <a:bodyPr wrap="square" lIns="0" tIns="0" rIns="0" bIns="0" rtlCol="0" anchor="t"/>
          <a:lstStyle/>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10</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50</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[10 20 30]</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[ 0 20 40]</a:t>
            </a:r>
            <a:endParaRPr lang="en-US" sz="2000" dirty="0"/>
          </a:p>
          <a:p>
            <a:pPr marL="0" indent="0">
              <a:lnSpc>
                <a:spcPct val="100000"/>
              </a:lnSpc>
              <a:buNone/>
            </a:pPr>
            <a:r>
              <a:rPr lang="en-US" sz="2000" dirty="0">
                <a:solidFill>
                  <a:srgbClr val="062A3A"/>
                </a:solidFill>
                <a:latin typeface="Consolas" pitchFamily="34" charset="0"/>
                <a:ea typeface="Consolas" pitchFamily="34" charset="-122"/>
                <a:cs typeface="Consolas" pitchFamily="34" charset="-120"/>
              </a:rPr>
              <a:t>[50 40 30 20 10  0]</a:t>
            </a:r>
            <a:endParaRPr lang="en-US" sz="2000" dirty="0"/>
          </a:p>
        </p:txBody>
      </p:sp>
      <p:sp>
        <p:nvSpPr>
          <p:cNvPr id="43" name="Shape 41"/>
          <p:cNvSpPr/>
          <p:nvPr/>
        </p:nvSpPr>
        <p:spPr>
          <a:xfrm>
            <a:off x="548640" y="6437376"/>
            <a:ext cx="11091672" cy="9144"/>
          </a:xfrm>
          <a:prstGeom prst="rect">
            <a:avLst/>
          </a:prstGeom>
          <a:solidFill>
            <a:srgbClr val="D7E5EC"/>
          </a:solidFill>
          <a:ln w="12700">
            <a:solidFill>
              <a:srgbClr val="D7E5EC"/>
            </a:solidFill>
            <a:prstDash val="solid"/>
          </a:ln>
        </p:spPr>
      </p:sp>
      <p:sp>
        <p:nvSpPr>
          <p:cNvPr id="44" name="Text 42"/>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5" name="Text 43"/>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13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04 · TRUY CẬP DỮ LIỆU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Indexing mảng 2-D: hàng, cột, khối con</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484632" y="1417320"/>
            <a:ext cx="1783080" cy="256032"/>
          </a:xfrm>
          <a:prstGeom prst="rect">
            <a:avLst/>
          </a:prstGeom>
          <a:noFill/>
          <a:ln/>
        </p:spPr>
        <p:txBody>
          <a:bodyPr wrap="square" lIns="0" tIns="0" rIns="0" bIns="0" rtlCol="0" anchor="t"/>
          <a:lstStyle/>
          <a:p>
            <a:pPr marL="0" indent="0" algn="ctr">
              <a:buNone/>
            </a:pPr>
            <a:r>
              <a:rPr lang="en-US" sz="1600" b="1" dirty="0">
                <a:solidFill>
                  <a:srgbClr val="415A6B"/>
                </a:solidFill>
                <a:latin typeface="Consolas" pitchFamily="34" charset="0"/>
                <a:ea typeface="Consolas" pitchFamily="34" charset="-122"/>
                <a:cs typeface="Consolas" pitchFamily="34" charset="-120"/>
              </a:rPr>
              <a:t>a[1]</a:t>
            </a:r>
            <a:endParaRPr lang="en-US" sz="1600" dirty="0"/>
          </a:p>
        </p:txBody>
      </p:sp>
      <p:sp>
        <p:nvSpPr>
          <p:cNvPr id="6" name="Shape 4"/>
          <p:cNvSpPr/>
          <p:nvPr/>
        </p:nvSpPr>
        <p:spPr>
          <a:xfrm>
            <a:off x="594360" y="1755648"/>
            <a:ext cx="402336" cy="384048"/>
          </a:xfrm>
          <a:prstGeom prst="rect">
            <a:avLst/>
          </a:prstGeom>
          <a:solidFill>
            <a:srgbClr val="EAF4F8"/>
          </a:solidFill>
          <a:ln w="9525">
            <a:solidFill>
              <a:srgbClr val="A9CDDB"/>
            </a:solidFill>
            <a:prstDash val="solid"/>
          </a:ln>
        </p:spPr>
      </p:sp>
      <p:sp>
        <p:nvSpPr>
          <p:cNvPr id="7" name="Text 5"/>
          <p:cNvSpPr/>
          <p:nvPr/>
        </p:nvSpPr>
        <p:spPr>
          <a:xfrm>
            <a:off x="594360"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10</a:t>
            </a:r>
            <a:endParaRPr lang="en-US" sz="1350" dirty="0"/>
          </a:p>
        </p:txBody>
      </p:sp>
      <p:sp>
        <p:nvSpPr>
          <p:cNvPr id="8" name="Shape 6"/>
          <p:cNvSpPr/>
          <p:nvPr/>
        </p:nvSpPr>
        <p:spPr>
          <a:xfrm>
            <a:off x="996696" y="1755648"/>
            <a:ext cx="402336" cy="384048"/>
          </a:xfrm>
          <a:prstGeom prst="rect">
            <a:avLst/>
          </a:prstGeom>
          <a:solidFill>
            <a:srgbClr val="EAF4F8"/>
          </a:solidFill>
          <a:ln w="9525">
            <a:solidFill>
              <a:srgbClr val="A9CDDB"/>
            </a:solidFill>
            <a:prstDash val="solid"/>
          </a:ln>
        </p:spPr>
      </p:sp>
      <p:sp>
        <p:nvSpPr>
          <p:cNvPr id="9" name="Text 7"/>
          <p:cNvSpPr/>
          <p:nvPr/>
        </p:nvSpPr>
        <p:spPr>
          <a:xfrm>
            <a:off x="996696"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11</a:t>
            </a:r>
            <a:endParaRPr lang="en-US" sz="1350" dirty="0"/>
          </a:p>
        </p:txBody>
      </p:sp>
      <p:sp>
        <p:nvSpPr>
          <p:cNvPr id="10" name="Shape 8"/>
          <p:cNvSpPr/>
          <p:nvPr/>
        </p:nvSpPr>
        <p:spPr>
          <a:xfrm>
            <a:off x="1399032" y="1755648"/>
            <a:ext cx="402336" cy="384048"/>
          </a:xfrm>
          <a:prstGeom prst="rect">
            <a:avLst/>
          </a:prstGeom>
          <a:solidFill>
            <a:srgbClr val="EAF4F8"/>
          </a:solidFill>
          <a:ln w="9525">
            <a:solidFill>
              <a:srgbClr val="A9CDDB"/>
            </a:solidFill>
            <a:prstDash val="solid"/>
          </a:ln>
        </p:spPr>
      </p:sp>
      <p:sp>
        <p:nvSpPr>
          <p:cNvPr id="11" name="Text 9"/>
          <p:cNvSpPr/>
          <p:nvPr/>
        </p:nvSpPr>
        <p:spPr>
          <a:xfrm>
            <a:off x="1399032"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12</a:t>
            </a:r>
            <a:endParaRPr lang="en-US" sz="1350" dirty="0"/>
          </a:p>
        </p:txBody>
      </p:sp>
      <p:sp>
        <p:nvSpPr>
          <p:cNvPr id="12" name="Shape 10"/>
          <p:cNvSpPr/>
          <p:nvPr/>
        </p:nvSpPr>
        <p:spPr>
          <a:xfrm>
            <a:off x="1801368" y="1755648"/>
            <a:ext cx="402336" cy="384048"/>
          </a:xfrm>
          <a:prstGeom prst="rect">
            <a:avLst/>
          </a:prstGeom>
          <a:solidFill>
            <a:srgbClr val="EAF4F8"/>
          </a:solidFill>
          <a:ln w="9525">
            <a:solidFill>
              <a:srgbClr val="A9CDDB"/>
            </a:solidFill>
            <a:prstDash val="solid"/>
          </a:ln>
        </p:spPr>
      </p:sp>
      <p:sp>
        <p:nvSpPr>
          <p:cNvPr id="13" name="Text 11"/>
          <p:cNvSpPr/>
          <p:nvPr/>
        </p:nvSpPr>
        <p:spPr>
          <a:xfrm>
            <a:off x="1801368"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13</a:t>
            </a:r>
            <a:endParaRPr lang="en-US" sz="1350" dirty="0"/>
          </a:p>
        </p:txBody>
      </p:sp>
      <p:sp>
        <p:nvSpPr>
          <p:cNvPr id="14" name="Shape 12"/>
          <p:cNvSpPr/>
          <p:nvPr/>
        </p:nvSpPr>
        <p:spPr>
          <a:xfrm>
            <a:off x="594360" y="2139696"/>
            <a:ext cx="402336" cy="384048"/>
          </a:xfrm>
          <a:prstGeom prst="rect">
            <a:avLst/>
          </a:prstGeom>
          <a:solidFill>
            <a:srgbClr val="4DB8D4"/>
          </a:solidFill>
          <a:ln w="9525">
            <a:solidFill>
              <a:srgbClr val="A9CDDB"/>
            </a:solidFill>
            <a:prstDash val="solid"/>
          </a:ln>
        </p:spPr>
      </p:sp>
      <p:sp>
        <p:nvSpPr>
          <p:cNvPr id="15" name="Text 13"/>
          <p:cNvSpPr/>
          <p:nvPr/>
        </p:nvSpPr>
        <p:spPr>
          <a:xfrm>
            <a:off x="594360" y="2139696"/>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20</a:t>
            </a:r>
            <a:endParaRPr lang="en-US" sz="1350" dirty="0"/>
          </a:p>
        </p:txBody>
      </p:sp>
      <p:sp>
        <p:nvSpPr>
          <p:cNvPr id="16" name="Shape 14"/>
          <p:cNvSpPr/>
          <p:nvPr/>
        </p:nvSpPr>
        <p:spPr>
          <a:xfrm>
            <a:off x="996696" y="2139696"/>
            <a:ext cx="402336" cy="384048"/>
          </a:xfrm>
          <a:prstGeom prst="rect">
            <a:avLst/>
          </a:prstGeom>
          <a:solidFill>
            <a:srgbClr val="4DB8D4"/>
          </a:solidFill>
          <a:ln w="9525">
            <a:solidFill>
              <a:srgbClr val="A9CDDB"/>
            </a:solidFill>
            <a:prstDash val="solid"/>
          </a:ln>
        </p:spPr>
      </p:sp>
      <p:sp>
        <p:nvSpPr>
          <p:cNvPr id="17" name="Text 15"/>
          <p:cNvSpPr/>
          <p:nvPr/>
        </p:nvSpPr>
        <p:spPr>
          <a:xfrm>
            <a:off x="996696" y="2139696"/>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21</a:t>
            </a:r>
            <a:endParaRPr lang="en-US" sz="1350" dirty="0"/>
          </a:p>
        </p:txBody>
      </p:sp>
      <p:sp>
        <p:nvSpPr>
          <p:cNvPr id="18" name="Shape 16"/>
          <p:cNvSpPr/>
          <p:nvPr/>
        </p:nvSpPr>
        <p:spPr>
          <a:xfrm>
            <a:off x="1399032" y="2139696"/>
            <a:ext cx="402336" cy="384048"/>
          </a:xfrm>
          <a:prstGeom prst="rect">
            <a:avLst/>
          </a:prstGeom>
          <a:solidFill>
            <a:srgbClr val="4DB8D4"/>
          </a:solidFill>
          <a:ln w="9525">
            <a:solidFill>
              <a:srgbClr val="A9CDDB"/>
            </a:solidFill>
            <a:prstDash val="solid"/>
          </a:ln>
        </p:spPr>
      </p:sp>
      <p:sp>
        <p:nvSpPr>
          <p:cNvPr id="19" name="Text 17"/>
          <p:cNvSpPr/>
          <p:nvPr/>
        </p:nvSpPr>
        <p:spPr>
          <a:xfrm>
            <a:off x="1399032" y="2139696"/>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22</a:t>
            </a:r>
            <a:endParaRPr lang="en-US" sz="1350" dirty="0"/>
          </a:p>
        </p:txBody>
      </p:sp>
      <p:sp>
        <p:nvSpPr>
          <p:cNvPr id="20" name="Shape 18"/>
          <p:cNvSpPr/>
          <p:nvPr/>
        </p:nvSpPr>
        <p:spPr>
          <a:xfrm>
            <a:off x="1801368" y="2139696"/>
            <a:ext cx="402336" cy="384048"/>
          </a:xfrm>
          <a:prstGeom prst="rect">
            <a:avLst/>
          </a:prstGeom>
          <a:solidFill>
            <a:srgbClr val="4DB8D4"/>
          </a:solidFill>
          <a:ln w="9525">
            <a:solidFill>
              <a:srgbClr val="A9CDDB"/>
            </a:solidFill>
            <a:prstDash val="solid"/>
          </a:ln>
        </p:spPr>
      </p:sp>
      <p:sp>
        <p:nvSpPr>
          <p:cNvPr id="21" name="Text 19"/>
          <p:cNvSpPr/>
          <p:nvPr/>
        </p:nvSpPr>
        <p:spPr>
          <a:xfrm>
            <a:off x="1801368" y="2139696"/>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23</a:t>
            </a:r>
            <a:endParaRPr lang="en-US" sz="1350" dirty="0"/>
          </a:p>
        </p:txBody>
      </p:sp>
      <p:sp>
        <p:nvSpPr>
          <p:cNvPr id="22" name="Shape 20"/>
          <p:cNvSpPr/>
          <p:nvPr/>
        </p:nvSpPr>
        <p:spPr>
          <a:xfrm>
            <a:off x="594360" y="2523744"/>
            <a:ext cx="402336" cy="384048"/>
          </a:xfrm>
          <a:prstGeom prst="rect">
            <a:avLst/>
          </a:prstGeom>
          <a:solidFill>
            <a:srgbClr val="EAF4F8"/>
          </a:solidFill>
          <a:ln w="9525">
            <a:solidFill>
              <a:srgbClr val="A9CDDB"/>
            </a:solidFill>
            <a:prstDash val="solid"/>
          </a:ln>
        </p:spPr>
      </p:sp>
      <p:sp>
        <p:nvSpPr>
          <p:cNvPr id="23" name="Text 21"/>
          <p:cNvSpPr/>
          <p:nvPr/>
        </p:nvSpPr>
        <p:spPr>
          <a:xfrm>
            <a:off x="594360"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30</a:t>
            </a:r>
            <a:endParaRPr lang="en-US" sz="1350" dirty="0"/>
          </a:p>
        </p:txBody>
      </p:sp>
      <p:sp>
        <p:nvSpPr>
          <p:cNvPr id="24" name="Shape 22"/>
          <p:cNvSpPr/>
          <p:nvPr/>
        </p:nvSpPr>
        <p:spPr>
          <a:xfrm>
            <a:off x="996696" y="2523744"/>
            <a:ext cx="402336" cy="384048"/>
          </a:xfrm>
          <a:prstGeom prst="rect">
            <a:avLst/>
          </a:prstGeom>
          <a:solidFill>
            <a:srgbClr val="EAF4F8"/>
          </a:solidFill>
          <a:ln w="9525">
            <a:solidFill>
              <a:srgbClr val="A9CDDB"/>
            </a:solidFill>
            <a:prstDash val="solid"/>
          </a:ln>
        </p:spPr>
      </p:sp>
      <p:sp>
        <p:nvSpPr>
          <p:cNvPr id="25" name="Text 23"/>
          <p:cNvSpPr/>
          <p:nvPr/>
        </p:nvSpPr>
        <p:spPr>
          <a:xfrm>
            <a:off x="996696"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31</a:t>
            </a:r>
            <a:endParaRPr lang="en-US" sz="1350" dirty="0"/>
          </a:p>
        </p:txBody>
      </p:sp>
      <p:sp>
        <p:nvSpPr>
          <p:cNvPr id="26" name="Shape 24"/>
          <p:cNvSpPr/>
          <p:nvPr/>
        </p:nvSpPr>
        <p:spPr>
          <a:xfrm>
            <a:off x="1399032" y="2523744"/>
            <a:ext cx="402336" cy="384048"/>
          </a:xfrm>
          <a:prstGeom prst="rect">
            <a:avLst/>
          </a:prstGeom>
          <a:solidFill>
            <a:srgbClr val="EAF4F8"/>
          </a:solidFill>
          <a:ln w="9525">
            <a:solidFill>
              <a:srgbClr val="A9CDDB"/>
            </a:solidFill>
            <a:prstDash val="solid"/>
          </a:ln>
        </p:spPr>
      </p:sp>
      <p:sp>
        <p:nvSpPr>
          <p:cNvPr id="27" name="Text 25"/>
          <p:cNvSpPr/>
          <p:nvPr/>
        </p:nvSpPr>
        <p:spPr>
          <a:xfrm>
            <a:off x="1399032"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32</a:t>
            </a:r>
            <a:endParaRPr lang="en-US" sz="1350" dirty="0"/>
          </a:p>
        </p:txBody>
      </p:sp>
      <p:sp>
        <p:nvSpPr>
          <p:cNvPr id="28" name="Shape 26"/>
          <p:cNvSpPr/>
          <p:nvPr/>
        </p:nvSpPr>
        <p:spPr>
          <a:xfrm>
            <a:off x="1801368" y="2523744"/>
            <a:ext cx="402336" cy="384048"/>
          </a:xfrm>
          <a:prstGeom prst="rect">
            <a:avLst/>
          </a:prstGeom>
          <a:solidFill>
            <a:srgbClr val="EAF4F8"/>
          </a:solidFill>
          <a:ln w="9525">
            <a:solidFill>
              <a:srgbClr val="A9CDDB"/>
            </a:solidFill>
            <a:prstDash val="solid"/>
          </a:ln>
        </p:spPr>
      </p:sp>
      <p:sp>
        <p:nvSpPr>
          <p:cNvPr id="29" name="Text 27"/>
          <p:cNvSpPr/>
          <p:nvPr/>
        </p:nvSpPr>
        <p:spPr>
          <a:xfrm>
            <a:off x="1801368"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33</a:t>
            </a:r>
            <a:endParaRPr lang="en-US" sz="1350" dirty="0"/>
          </a:p>
        </p:txBody>
      </p:sp>
      <p:sp>
        <p:nvSpPr>
          <p:cNvPr id="30" name="Text 28"/>
          <p:cNvSpPr/>
          <p:nvPr/>
        </p:nvSpPr>
        <p:spPr>
          <a:xfrm>
            <a:off x="576072" y="2999232"/>
            <a:ext cx="1600200" cy="219456"/>
          </a:xfrm>
          <a:prstGeom prst="rect">
            <a:avLst/>
          </a:prstGeom>
          <a:noFill/>
          <a:ln/>
        </p:spPr>
        <p:txBody>
          <a:bodyPr wrap="square" lIns="0" tIns="0" rIns="0" bIns="0" rtlCol="0" anchor="t"/>
          <a:lstStyle/>
          <a:p>
            <a:pPr marL="0" indent="0" algn="ctr">
              <a:buNone/>
            </a:pPr>
            <a:r>
              <a:rPr lang="en-US" sz="1350" dirty="0">
                <a:solidFill>
                  <a:srgbClr val="728694"/>
                </a:solidFill>
                <a:latin typeface="Segoe UI" pitchFamily="34" charset="0"/>
                <a:ea typeface="Segoe UI" pitchFamily="34" charset="-122"/>
                <a:cs typeface="Segoe UI" pitchFamily="34" charset="-120"/>
              </a:rPr>
              <a:t>cả hàng</a:t>
            </a:r>
            <a:endParaRPr lang="en-US" sz="1350" dirty="0"/>
          </a:p>
        </p:txBody>
      </p:sp>
      <p:sp>
        <p:nvSpPr>
          <p:cNvPr id="31" name="Text 29"/>
          <p:cNvSpPr/>
          <p:nvPr/>
        </p:nvSpPr>
        <p:spPr>
          <a:xfrm>
            <a:off x="2313432" y="1417320"/>
            <a:ext cx="1783080" cy="256032"/>
          </a:xfrm>
          <a:prstGeom prst="rect">
            <a:avLst/>
          </a:prstGeom>
          <a:noFill/>
          <a:ln/>
        </p:spPr>
        <p:txBody>
          <a:bodyPr wrap="square" lIns="0" tIns="0" rIns="0" bIns="0" rtlCol="0" anchor="t"/>
          <a:lstStyle/>
          <a:p>
            <a:pPr marL="0" indent="0" algn="ctr">
              <a:buNone/>
            </a:pPr>
            <a:r>
              <a:rPr lang="en-US" sz="1600" b="1" dirty="0">
                <a:solidFill>
                  <a:srgbClr val="415A6B"/>
                </a:solidFill>
                <a:latin typeface="Consolas" pitchFamily="34" charset="0"/>
                <a:ea typeface="Consolas" pitchFamily="34" charset="-122"/>
                <a:cs typeface="Consolas" pitchFamily="34" charset="-120"/>
              </a:rPr>
              <a:t>a[:, 2]</a:t>
            </a:r>
            <a:endParaRPr lang="en-US" sz="1600" dirty="0"/>
          </a:p>
        </p:txBody>
      </p:sp>
      <p:sp>
        <p:nvSpPr>
          <p:cNvPr id="32" name="Shape 30"/>
          <p:cNvSpPr/>
          <p:nvPr/>
        </p:nvSpPr>
        <p:spPr>
          <a:xfrm>
            <a:off x="2423160" y="1755648"/>
            <a:ext cx="402336" cy="384048"/>
          </a:xfrm>
          <a:prstGeom prst="rect">
            <a:avLst/>
          </a:prstGeom>
          <a:solidFill>
            <a:srgbClr val="EAF4F8"/>
          </a:solidFill>
          <a:ln w="9525">
            <a:solidFill>
              <a:srgbClr val="A9CDDB"/>
            </a:solidFill>
            <a:prstDash val="solid"/>
          </a:ln>
        </p:spPr>
      </p:sp>
      <p:sp>
        <p:nvSpPr>
          <p:cNvPr id="33" name="Text 31"/>
          <p:cNvSpPr/>
          <p:nvPr/>
        </p:nvSpPr>
        <p:spPr>
          <a:xfrm>
            <a:off x="2423160"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10</a:t>
            </a:r>
            <a:endParaRPr lang="en-US" sz="1350" dirty="0"/>
          </a:p>
        </p:txBody>
      </p:sp>
      <p:sp>
        <p:nvSpPr>
          <p:cNvPr id="34" name="Shape 32"/>
          <p:cNvSpPr/>
          <p:nvPr/>
        </p:nvSpPr>
        <p:spPr>
          <a:xfrm>
            <a:off x="2825496" y="1755648"/>
            <a:ext cx="402336" cy="384048"/>
          </a:xfrm>
          <a:prstGeom prst="rect">
            <a:avLst/>
          </a:prstGeom>
          <a:solidFill>
            <a:srgbClr val="EAF4F8"/>
          </a:solidFill>
          <a:ln w="9525">
            <a:solidFill>
              <a:srgbClr val="A9CDDB"/>
            </a:solidFill>
            <a:prstDash val="solid"/>
          </a:ln>
        </p:spPr>
      </p:sp>
      <p:sp>
        <p:nvSpPr>
          <p:cNvPr id="35" name="Text 33"/>
          <p:cNvSpPr/>
          <p:nvPr/>
        </p:nvSpPr>
        <p:spPr>
          <a:xfrm>
            <a:off x="2825496"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11</a:t>
            </a:r>
            <a:endParaRPr lang="en-US" sz="1350" dirty="0"/>
          </a:p>
        </p:txBody>
      </p:sp>
      <p:sp>
        <p:nvSpPr>
          <p:cNvPr id="36" name="Shape 34"/>
          <p:cNvSpPr/>
          <p:nvPr/>
        </p:nvSpPr>
        <p:spPr>
          <a:xfrm>
            <a:off x="3227832" y="1755648"/>
            <a:ext cx="402336" cy="384048"/>
          </a:xfrm>
          <a:prstGeom prst="rect">
            <a:avLst/>
          </a:prstGeom>
          <a:solidFill>
            <a:srgbClr val="1B8EA8"/>
          </a:solidFill>
          <a:ln w="9525">
            <a:solidFill>
              <a:srgbClr val="A9CDDB"/>
            </a:solidFill>
            <a:prstDash val="solid"/>
          </a:ln>
        </p:spPr>
      </p:sp>
      <p:sp>
        <p:nvSpPr>
          <p:cNvPr id="37" name="Text 35"/>
          <p:cNvSpPr/>
          <p:nvPr/>
        </p:nvSpPr>
        <p:spPr>
          <a:xfrm>
            <a:off x="3227832" y="1755648"/>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12</a:t>
            </a:r>
            <a:endParaRPr lang="en-US" sz="1350" dirty="0"/>
          </a:p>
        </p:txBody>
      </p:sp>
      <p:sp>
        <p:nvSpPr>
          <p:cNvPr id="38" name="Shape 36"/>
          <p:cNvSpPr/>
          <p:nvPr/>
        </p:nvSpPr>
        <p:spPr>
          <a:xfrm>
            <a:off x="3630168" y="1755648"/>
            <a:ext cx="402336" cy="384048"/>
          </a:xfrm>
          <a:prstGeom prst="rect">
            <a:avLst/>
          </a:prstGeom>
          <a:solidFill>
            <a:srgbClr val="EAF4F8"/>
          </a:solidFill>
          <a:ln w="9525">
            <a:solidFill>
              <a:srgbClr val="A9CDDB"/>
            </a:solidFill>
            <a:prstDash val="solid"/>
          </a:ln>
        </p:spPr>
      </p:sp>
      <p:sp>
        <p:nvSpPr>
          <p:cNvPr id="39" name="Text 37"/>
          <p:cNvSpPr/>
          <p:nvPr/>
        </p:nvSpPr>
        <p:spPr>
          <a:xfrm>
            <a:off x="3630168"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13</a:t>
            </a:r>
            <a:endParaRPr lang="en-US" sz="1350" dirty="0"/>
          </a:p>
        </p:txBody>
      </p:sp>
      <p:sp>
        <p:nvSpPr>
          <p:cNvPr id="40" name="Shape 38"/>
          <p:cNvSpPr/>
          <p:nvPr/>
        </p:nvSpPr>
        <p:spPr>
          <a:xfrm>
            <a:off x="2423160" y="2139696"/>
            <a:ext cx="402336" cy="384048"/>
          </a:xfrm>
          <a:prstGeom prst="rect">
            <a:avLst/>
          </a:prstGeom>
          <a:solidFill>
            <a:srgbClr val="EAF4F8"/>
          </a:solidFill>
          <a:ln w="9525">
            <a:solidFill>
              <a:srgbClr val="A9CDDB"/>
            </a:solidFill>
            <a:prstDash val="solid"/>
          </a:ln>
        </p:spPr>
      </p:sp>
      <p:sp>
        <p:nvSpPr>
          <p:cNvPr id="41" name="Text 39"/>
          <p:cNvSpPr/>
          <p:nvPr/>
        </p:nvSpPr>
        <p:spPr>
          <a:xfrm>
            <a:off x="2423160" y="2139696"/>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20</a:t>
            </a:r>
            <a:endParaRPr lang="en-US" sz="1350" dirty="0"/>
          </a:p>
        </p:txBody>
      </p:sp>
      <p:sp>
        <p:nvSpPr>
          <p:cNvPr id="42" name="Shape 40"/>
          <p:cNvSpPr/>
          <p:nvPr/>
        </p:nvSpPr>
        <p:spPr>
          <a:xfrm>
            <a:off x="2825496" y="2139696"/>
            <a:ext cx="402336" cy="384048"/>
          </a:xfrm>
          <a:prstGeom prst="rect">
            <a:avLst/>
          </a:prstGeom>
          <a:solidFill>
            <a:srgbClr val="EAF4F8"/>
          </a:solidFill>
          <a:ln w="9525">
            <a:solidFill>
              <a:srgbClr val="A9CDDB"/>
            </a:solidFill>
            <a:prstDash val="solid"/>
          </a:ln>
        </p:spPr>
      </p:sp>
      <p:sp>
        <p:nvSpPr>
          <p:cNvPr id="43" name="Text 41"/>
          <p:cNvSpPr/>
          <p:nvPr/>
        </p:nvSpPr>
        <p:spPr>
          <a:xfrm>
            <a:off x="2825496" y="2139696"/>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21</a:t>
            </a:r>
            <a:endParaRPr lang="en-US" sz="1350" dirty="0"/>
          </a:p>
        </p:txBody>
      </p:sp>
      <p:sp>
        <p:nvSpPr>
          <p:cNvPr id="44" name="Shape 42"/>
          <p:cNvSpPr/>
          <p:nvPr/>
        </p:nvSpPr>
        <p:spPr>
          <a:xfrm>
            <a:off x="3227832" y="2139696"/>
            <a:ext cx="402336" cy="384048"/>
          </a:xfrm>
          <a:prstGeom prst="rect">
            <a:avLst/>
          </a:prstGeom>
          <a:solidFill>
            <a:srgbClr val="1B8EA8"/>
          </a:solidFill>
          <a:ln w="9525">
            <a:solidFill>
              <a:srgbClr val="A9CDDB"/>
            </a:solidFill>
            <a:prstDash val="solid"/>
          </a:ln>
        </p:spPr>
      </p:sp>
      <p:sp>
        <p:nvSpPr>
          <p:cNvPr id="45" name="Text 43"/>
          <p:cNvSpPr/>
          <p:nvPr/>
        </p:nvSpPr>
        <p:spPr>
          <a:xfrm>
            <a:off x="3227832" y="2139696"/>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22</a:t>
            </a:r>
            <a:endParaRPr lang="en-US" sz="1350" dirty="0"/>
          </a:p>
        </p:txBody>
      </p:sp>
      <p:sp>
        <p:nvSpPr>
          <p:cNvPr id="46" name="Shape 44"/>
          <p:cNvSpPr/>
          <p:nvPr/>
        </p:nvSpPr>
        <p:spPr>
          <a:xfrm>
            <a:off x="3630168" y="2139696"/>
            <a:ext cx="402336" cy="384048"/>
          </a:xfrm>
          <a:prstGeom prst="rect">
            <a:avLst/>
          </a:prstGeom>
          <a:solidFill>
            <a:srgbClr val="EAF4F8"/>
          </a:solidFill>
          <a:ln w="9525">
            <a:solidFill>
              <a:srgbClr val="A9CDDB"/>
            </a:solidFill>
            <a:prstDash val="solid"/>
          </a:ln>
        </p:spPr>
      </p:sp>
      <p:sp>
        <p:nvSpPr>
          <p:cNvPr id="47" name="Text 45"/>
          <p:cNvSpPr/>
          <p:nvPr/>
        </p:nvSpPr>
        <p:spPr>
          <a:xfrm>
            <a:off x="3630168" y="2139696"/>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23</a:t>
            </a:r>
            <a:endParaRPr lang="en-US" sz="1350" dirty="0"/>
          </a:p>
        </p:txBody>
      </p:sp>
      <p:sp>
        <p:nvSpPr>
          <p:cNvPr id="48" name="Shape 46"/>
          <p:cNvSpPr/>
          <p:nvPr/>
        </p:nvSpPr>
        <p:spPr>
          <a:xfrm>
            <a:off x="2423160" y="2523744"/>
            <a:ext cx="402336" cy="384048"/>
          </a:xfrm>
          <a:prstGeom prst="rect">
            <a:avLst/>
          </a:prstGeom>
          <a:solidFill>
            <a:srgbClr val="EAF4F8"/>
          </a:solidFill>
          <a:ln w="9525">
            <a:solidFill>
              <a:srgbClr val="A9CDDB"/>
            </a:solidFill>
            <a:prstDash val="solid"/>
          </a:ln>
        </p:spPr>
      </p:sp>
      <p:sp>
        <p:nvSpPr>
          <p:cNvPr id="49" name="Text 47"/>
          <p:cNvSpPr/>
          <p:nvPr/>
        </p:nvSpPr>
        <p:spPr>
          <a:xfrm>
            <a:off x="2423160"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30</a:t>
            </a:r>
            <a:endParaRPr lang="en-US" sz="1350" dirty="0"/>
          </a:p>
        </p:txBody>
      </p:sp>
      <p:sp>
        <p:nvSpPr>
          <p:cNvPr id="50" name="Shape 48"/>
          <p:cNvSpPr/>
          <p:nvPr/>
        </p:nvSpPr>
        <p:spPr>
          <a:xfrm>
            <a:off x="2825496" y="2523744"/>
            <a:ext cx="402336" cy="384048"/>
          </a:xfrm>
          <a:prstGeom prst="rect">
            <a:avLst/>
          </a:prstGeom>
          <a:solidFill>
            <a:srgbClr val="EAF4F8"/>
          </a:solidFill>
          <a:ln w="9525">
            <a:solidFill>
              <a:srgbClr val="A9CDDB"/>
            </a:solidFill>
            <a:prstDash val="solid"/>
          </a:ln>
        </p:spPr>
      </p:sp>
      <p:sp>
        <p:nvSpPr>
          <p:cNvPr id="51" name="Text 49"/>
          <p:cNvSpPr/>
          <p:nvPr/>
        </p:nvSpPr>
        <p:spPr>
          <a:xfrm>
            <a:off x="2825496"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31</a:t>
            </a:r>
            <a:endParaRPr lang="en-US" sz="1350" dirty="0"/>
          </a:p>
        </p:txBody>
      </p:sp>
      <p:sp>
        <p:nvSpPr>
          <p:cNvPr id="52" name="Shape 50"/>
          <p:cNvSpPr/>
          <p:nvPr/>
        </p:nvSpPr>
        <p:spPr>
          <a:xfrm>
            <a:off x="3227832" y="2523744"/>
            <a:ext cx="402336" cy="384048"/>
          </a:xfrm>
          <a:prstGeom prst="rect">
            <a:avLst/>
          </a:prstGeom>
          <a:solidFill>
            <a:srgbClr val="1B8EA8"/>
          </a:solidFill>
          <a:ln w="9525">
            <a:solidFill>
              <a:srgbClr val="A9CDDB"/>
            </a:solidFill>
            <a:prstDash val="solid"/>
          </a:ln>
        </p:spPr>
      </p:sp>
      <p:sp>
        <p:nvSpPr>
          <p:cNvPr id="53" name="Text 51"/>
          <p:cNvSpPr/>
          <p:nvPr/>
        </p:nvSpPr>
        <p:spPr>
          <a:xfrm>
            <a:off x="3227832" y="2523744"/>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32</a:t>
            </a:r>
            <a:endParaRPr lang="en-US" sz="1350" dirty="0"/>
          </a:p>
        </p:txBody>
      </p:sp>
      <p:sp>
        <p:nvSpPr>
          <p:cNvPr id="54" name="Shape 52"/>
          <p:cNvSpPr/>
          <p:nvPr/>
        </p:nvSpPr>
        <p:spPr>
          <a:xfrm>
            <a:off x="3630168" y="2523744"/>
            <a:ext cx="402336" cy="384048"/>
          </a:xfrm>
          <a:prstGeom prst="rect">
            <a:avLst/>
          </a:prstGeom>
          <a:solidFill>
            <a:srgbClr val="EAF4F8"/>
          </a:solidFill>
          <a:ln w="9525">
            <a:solidFill>
              <a:srgbClr val="A9CDDB"/>
            </a:solidFill>
            <a:prstDash val="solid"/>
          </a:ln>
        </p:spPr>
      </p:sp>
      <p:sp>
        <p:nvSpPr>
          <p:cNvPr id="55" name="Text 53"/>
          <p:cNvSpPr/>
          <p:nvPr/>
        </p:nvSpPr>
        <p:spPr>
          <a:xfrm>
            <a:off x="3630168"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33</a:t>
            </a:r>
            <a:endParaRPr lang="en-US" sz="1350" dirty="0"/>
          </a:p>
        </p:txBody>
      </p:sp>
      <p:sp>
        <p:nvSpPr>
          <p:cNvPr id="56" name="Text 54"/>
          <p:cNvSpPr/>
          <p:nvPr/>
        </p:nvSpPr>
        <p:spPr>
          <a:xfrm>
            <a:off x="2404872" y="2999232"/>
            <a:ext cx="1600200" cy="219456"/>
          </a:xfrm>
          <a:prstGeom prst="rect">
            <a:avLst/>
          </a:prstGeom>
          <a:noFill/>
          <a:ln/>
        </p:spPr>
        <p:txBody>
          <a:bodyPr wrap="square" lIns="0" tIns="0" rIns="0" bIns="0" rtlCol="0" anchor="t"/>
          <a:lstStyle/>
          <a:p>
            <a:pPr marL="0" indent="0" algn="ctr">
              <a:buNone/>
            </a:pPr>
            <a:r>
              <a:rPr lang="en-US" sz="1350" dirty="0">
                <a:solidFill>
                  <a:srgbClr val="728694"/>
                </a:solidFill>
                <a:latin typeface="Segoe UI" pitchFamily="34" charset="0"/>
                <a:ea typeface="Segoe UI" pitchFamily="34" charset="-122"/>
                <a:cs typeface="Segoe UI" pitchFamily="34" charset="-120"/>
              </a:rPr>
              <a:t>cả cột</a:t>
            </a:r>
            <a:endParaRPr lang="en-US" sz="1350" dirty="0"/>
          </a:p>
        </p:txBody>
      </p:sp>
      <p:sp>
        <p:nvSpPr>
          <p:cNvPr id="57" name="Text 55"/>
          <p:cNvSpPr/>
          <p:nvPr/>
        </p:nvSpPr>
        <p:spPr>
          <a:xfrm>
            <a:off x="4142232" y="1417320"/>
            <a:ext cx="1783080" cy="256032"/>
          </a:xfrm>
          <a:prstGeom prst="rect">
            <a:avLst/>
          </a:prstGeom>
          <a:noFill/>
          <a:ln/>
        </p:spPr>
        <p:txBody>
          <a:bodyPr wrap="square" lIns="0" tIns="0" rIns="0" bIns="0" rtlCol="0" anchor="t"/>
          <a:lstStyle/>
          <a:p>
            <a:pPr marL="0" indent="0" algn="ctr">
              <a:buNone/>
            </a:pPr>
            <a:r>
              <a:rPr lang="en-US" sz="1600" b="1" dirty="0">
                <a:solidFill>
                  <a:srgbClr val="415A6B"/>
                </a:solidFill>
                <a:latin typeface="Consolas" pitchFamily="34" charset="0"/>
                <a:ea typeface="Consolas" pitchFamily="34" charset="-122"/>
                <a:cs typeface="Consolas" pitchFamily="34" charset="-120"/>
              </a:rPr>
              <a:t>a[0:2, 1:3]</a:t>
            </a:r>
            <a:endParaRPr lang="en-US" sz="1600" dirty="0"/>
          </a:p>
        </p:txBody>
      </p:sp>
      <p:sp>
        <p:nvSpPr>
          <p:cNvPr id="58" name="Shape 56"/>
          <p:cNvSpPr/>
          <p:nvPr/>
        </p:nvSpPr>
        <p:spPr>
          <a:xfrm>
            <a:off x="4251960" y="1755648"/>
            <a:ext cx="402336" cy="384048"/>
          </a:xfrm>
          <a:prstGeom prst="rect">
            <a:avLst/>
          </a:prstGeom>
          <a:solidFill>
            <a:srgbClr val="EAF4F8"/>
          </a:solidFill>
          <a:ln w="9525">
            <a:solidFill>
              <a:srgbClr val="A9CDDB"/>
            </a:solidFill>
            <a:prstDash val="solid"/>
          </a:ln>
        </p:spPr>
      </p:sp>
      <p:sp>
        <p:nvSpPr>
          <p:cNvPr id="59" name="Text 57"/>
          <p:cNvSpPr/>
          <p:nvPr/>
        </p:nvSpPr>
        <p:spPr>
          <a:xfrm>
            <a:off x="4251960"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10</a:t>
            </a:r>
            <a:endParaRPr lang="en-US" sz="1350" dirty="0"/>
          </a:p>
        </p:txBody>
      </p:sp>
      <p:sp>
        <p:nvSpPr>
          <p:cNvPr id="60" name="Shape 58"/>
          <p:cNvSpPr/>
          <p:nvPr/>
        </p:nvSpPr>
        <p:spPr>
          <a:xfrm>
            <a:off x="4654296" y="1755648"/>
            <a:ext cx="402336" cy="384048"/>
          </a:xfrm>
          <a:prstGeom prst="rect">
            <a:avLst/>
          </a:prstGeom>
          <a:solidFill>
            <a:srgbClr val="D96C5F"/>
          </a:solidFill>
          <a:ln w="9525">
            <a:solidFill>
              <a:srgbClr val="A9CDDB"/>
            </a:solidFill>
            <a:prstDash val="solid"/>
          </a:ln>
        </p:spPr>
      </p:sp>
      <p:sp>
        <p:nvSpPr>
          <p:cNvPr id="61" name="Text 59"/>
          <p:cNvSpPr/>
          <p:nvPr/>
        </p:nvSpPr>
        <p:spPr>
          <a:xfrm>
            <a:off x="4654296" y="1755648"/>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11</a:t>
            </a:r>
            <a:endParaRPr lang="en-US" sz="1350" dirty="0"/>
          </a:p>
        </p:txBody>
      </p:sp>
      <p:sp>
        <p:nvSpPr>
          <p:cNvPr id="62" name="Shape 60"/>
          <p:cNvSpPr/>
          <p:nvPr/>
        </p:nvSpPr>
        <p:spPr>
          <a:xfrm>
            <a:off x="5056632" y="1755648"/>
            <a:ext cx="402336" cy="384048"/>
          </a:xfrm>
          <a:prstGeom prst="rect">
            <a:avLst/>
          </a:prstGeom>
          <a:solidFill>
            <a:srgbClr val="D96C5F"/>
          </a:solidFill>
          <a:ln w="9525">
            <a:solidFill>
              <a:srgbClr val="A9CDDB"/>
            </a:solidFill>
            <a:prstDash val="solid"/>
          </a:ln>
        </p:spPr>
      </p:sp>
      <p:sp>
        <p:nvSpPr>
          <p:cNvPr id="63" name="Text 61"/>
          <p:cNvSpPr/>
          <p:nvPr/>
        </p:nvSpPr>
        <p:spPr>
          <a:xfrm>
            <a:off x="5056632" y="1755648"/>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12</a:t>
            </a:r>
            <a:endParaRPr lang="en-US" sz="1350" dirty="0"/>
          </a:p>
        </p:txBody>
      </p:sp>
      <p:sp>
        <p:nvSpPr>
          <p:cNvPr id="64" name="Shape 62"/>
          <p:cNvSpPr/>
          <p:nvPr/>
        </p:nvSpPr>
        <p:spPr>
          <a:xfrm>
            <a:off x="5458968" y="1755648"/>
            <a:ext cx="402336" cy="384048"/>
          </a:xfrm>
          <a:prstGeom prst="rect">
            <a:avLst/>
          </a:prstGeom>
          <a:solidFill>
            <a:srgbClr val="EAF4F8"/>
          </a:solidFill>
          <a:ln w="9525">
            <a:solidFill>
              <a:srgbClr val="A9CDDB"/>
            </a:solidFill>
            <a:prstDash val="solid"/>
          </a:ln>
        </p:spPr>
      </p:sp>
      <p:sp>
        <p:nvSpPr>
          <p:cNvPr id="65" name="Text 63"/>
          <p:cNvSpPr/>
          <p:nvPr/>
        </p:nvSpPr>
        <p:spPr>
          <a:xfrm>
            <a:off x="5458968" y="1755648"/>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13</a:t>
            </a:r>
            <a:endParaRPr lang="en-US" sz="1350" dirty="0"/>
          </a:p>
        </p:txBody>
      </p:sp>
      <p:sp>
        <p:nvSpPr>
          <p:cNvPr id="66" name="Shape 64"/>
          <p:cNvSpPr/>
          <p:nvPr/>
        </p:nvSpPr>
        <p:spPr>
          <a:xfrm>
            <a:off x="4251960" y="2139696"/>
            <a:ext cx="402336" cy="384048"/>
          </a:xfrm>
          <a:prstGeom prst="rect">
            <a:avLst/>
          </a:prstGeom>
          <a:solidFill>
            <a:srgbClr val="EAF4F8"/>
          </a:solidFill>
          <a:ln w="9525">
            <a:solidFill>
              <a:srgbClr val="A9CDDB"/>
            </a:solidFill>
            <a:prstDash val="solid"/>
          </a:ln>
        </p:spPr>
      </p:sp>
      <p:sp>
        <p:nvSpPr>
          <p:cNvPr id="67" name="Text 65"/>
          <p:cNvSpPr/>
          <p:nvPr/>
        </p:nvSpPr>
        <p:spPr>
          <a:xfrm>
            <a:off x="4251960" y="2139696"/>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20</a:t>
            </a:r>
            <a:endParaRPr lang="en-US" sz="1350" dirty="0"/>
          </a:p>
        </p:txBody>
      </p:sp>
      <p:sp>
        <p:nvSpPr>
          <p:cNvPr id="68" name="Shape 66"/>
          <p:cNvSpPr/>
          <p:nvPr/>
        </p:nvSpPr>
        <p:spPr>
          <a:xfrm>
            <a:off x="4654296" y="2139696"/>
            <a:ext cx="402336" cy="384048"/>
          </a:xfrm>
          <a:prstGeom prst="rect">
            <a:avLst/>
          </a:prstGeom>
          <a:solidFill>
            <a:srgbClr val="D96C5F"/>
          </a:solidFill>
          <a:ln w="9525">
            <a:solidFill>
              <a:srgbClr val="A9CDDB"/>
            </a:solidFill>
            <a:prstDash val="solid"/>
          </a:ln>
        </p:spPr>
      </p:sp>
      <p:sp>
        <p:nvSpPr>
          <p:cNvPr id="69" name="Text 67"/>
          <p:cNvSpPr/>
          <p:nvPr/>
        </p:nvSpPr>
        <p:spPr>
          <a:xfrm>
            <a:off x="4654296" y="2139696"/>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21</a:t>
            </a:r>
            <a:endParaRPr lang="en-US" sz="1350" dirty="0"/>
          </a:p>
        </p:txBody>
      </p:sp>
      <p:sp>
        <p:nvSpPr>
          <p:cNvPr id="70" name="Shape 68"/>
          <p:cNvSpPr/>
          <p:nvPr/>
        </p:nvSpPr>
        <p:spPr>
          <a:xfrm>
            <a:off x="5056632" y="2139696"/>
            <a:ext cx="402336" cy="384048"/>
          </a:xfrm>
          <a:prstGeom prst="rect">
            <a:avLst/>
          </a:prstGeom>
          <a:solidFill>
            <a:srgbClr val="D96C5F"/>
          </a:solidFill>
          <a:ln w="9525">
            <a:solidFill>
              <a:srgbClr val="A9CDDB"/>
            </a:solidFill>
            <a:prstDash val="solid"/>
          </a:ln>
        </p:spPr>
      </p:sp>
      <p:sp>
        <p:nvSpPr>
          <p:cNvPr id="71" name="Text 69"/>
          <p:cNvSpPr/>
          <p:nvPr/>
        </p:nvSpPr>
        <p:spPr>
          <a:xfrm>
            <a:off x="5056632" y="2139696"/>
            <a:ext cx="402336" cy="384048"/>
          </a:xfrm>
          <a:prstGeom prst="rect">
            <a:avLst/>
          </a:prstGeom>
          <a:noFill/>
          <a:ln/>
        </p:spPr>
        <p:txBody>
          <a:bodyPr wrap="square" lIns="0" tIns="0" rIns="0" bIns="0" rtlCol="0" anchor="ctr"/>
          <a:lstStyle/>
          <a:p>
            <a:pPr marL="0" indent="0" algn="ctr">
              <a:buNone/>
            </a:pPr>
            <a:r>
              <a:rPr lang="en-US" sz="1350" dirty="0">
                <a:solidFill>
                  <a:srgbClr val="FFFFFF"/>
                </a:solidFill>
                <a:latin typeface="Consolas" pitchFamily="34" charset="0"/>
                <a:ea typeface="Consolas" pitchFamily="34" charset="-122"/>
                <a:cs typeface="Consolas" pitchFamily="34" charset="-120"/>
              </a:rPr>
              <a:t>22</a:t>
            </a:r>
            <a:endParaRPr lang="en-US" sz="1350" dirty="0"/>
          </a:p>
        </p:txBody>
      </p:sp>
      <p:sp>
        <p:nvSpPr>
          <p:cNvPr id="72" name="Shape 70"/>
          <p:cNvSpPr/>
          <p:nvPr/>
        </p:nvSpPr>
        <p:spPr>
          <a:xfrm>
            <a:off x="5458968" y="2139696"/>
            <a:ext cx="402336" cy="384048"/>
          </a:xfrm>
          <a:prstGeom prst="rect">
            <a:avLst/>
          </a:prstGeom>
          <a:solidFill>
            <a:srgbClr val="EAF4F8"/>
          </a:solidFill>
          <a:ln w="9525">
            <a:solidFill>
              <a:srgbClr val="A9CDDB"/>
            </a:solidFill>
            <a:prstDash val="solid"/>
          </a:ln>
        </p:spPr>
      </p:sp>
      <p:sp>
        <p:nvSpPr>
          <p:cNvPr id="73" name="Text 71"/>
          <p:cNvSpPr/>
          <p:nvPr/>
        </p:nvSpPr>
        <p:spPr>
          <a:xfrm>
            <a:off x="5458968" y="2139696"/>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23</a:t>
            </a:r>
            <a:endParaRPr lang="en-US" sz="1350" dirty="0"/>
          </a:p>
        </p:txBody>
      </p:sp>
      <p:sp>
        <p:nvSpPr>
          <p:cNvPr id="74" name="Shape 72"/>
          <p:cNvSpPr/>
          <p:nvPr/>
        </p:nvSpPr>
        <p:spPr>
          <a:xfrm>
            <a:off x="4251960" y="2523744"/>
            <a:ext cx="402336" cy="384048"/>
          </a:xfrm>
          <a:prstGeom prst="rect">
            <a:avLst/>
          </a:prstGeom>
          <a:solidFill>
            <a:srgbClr val="EAF4F8"/>
          </a:solidFill>
          <a:ln w="9525">
            <a:solidFill>
              <a:srgbClr val="A9CDDB"/>
            </a:solidFill>
            <a:prstDash val="solid"/>
          </a:ln>
        </p:spPr>
      </p:sp>
      <p:sp>
        <p:nvSpPr>
          <p:cNvPr id="75" name="Text 73"/>
          <p:cNvSpPr/>
          <p:nvPr/>
        </p:nvSpPr>
        <p:spPr>
          <a:xfrm>
            <a:off x="4251960"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30</a:t>
            </a:r>
            <a:endParaRPr lang="en-US" sz="1350" dirty="0"/>
          </a:p>
        </p:txBody>
      </p:sp>
      <p:sp>
        <p:nvSpPr>
          <p:cNvPr id="76" name="Shape 74"/>
          <p:cNvSpPr/>
          <p:nvPr/>
        </p:nvSpPr>
        <p:spPr>
          <a:xfrm>
            <a:off x="4654296" y="2523744"/>
            <a:ext cx="402336" cy="384048"/>
          </a:xfrm>
          <a:prstGeom prst="rect">
            <a:avLst/>
          </a:prstGeom>
          <a:solidFill>
            <a:srgbClr val="EAF4F8"/>
          </a:solidFill>
          <a:ln w="9525">
            <a:solidFill>
              <a:srgbClr val="A9CDDB"/>
            </a:solidFill>
            <a:prstDash val="solid"/>
          </a:ln>
        </p:spPr>
      </p:sp>
      <p:sp>
        <p:nvSpPr>
          <p:cNvPr id="77" name="Text 75"/>
          <p:cNvSpPr/>
          <p:nvPr/>
        </p:nvSpPr>
        <p:spPr>
          <a:xfrm>
            <a:off x="4654296"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31</a:t>
            </a:r>
            <a:endParaRPr lang="en-US" sz="1350" dirty="0"/>
          </a:p>
        </p:txBody>
      </p:sp>
      <p:sp>
        <p:nvSpPr>
          <p:cNvPr id="78" name="Shape 76"/>
          <p:cNvSpPr/>
          <p:nvPr/>
        </p:nvSpPr>
        <p:spPr>
          <a:xfrm>
            <a:off x="5056632" y="2523744"/>
            <a:ext cx="402336" cy="384048"/>
          </a:xfrm>
          <a:prstGeom prst="rect">
            <a:avLst/>
          </a:prstGeom>
          <a:solidFill>
            <a:srgbClr val="EAF4F8"/>
          </a:solidFill>
          <a:ln w="9525">
            <a:solidFill>
              <a:srgbClr val="A9CDDB"/>
            </a:solidFill>
            <a:prstDash val="solid"/>
          </a:ln>
        </p:spPr>
      </p:sp>
      <p:sp>
        <p:nvSpPr>
          <p:cNvPr id="79" name="Text 77"/>
          <p:cNvSpPr/>
          <p:nvPr/>
        </p:nvSpPr>
        <p:spPr>
          <a:xfrm>
            <a:off x="5056632"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32</a:t>
            </a:r>
            <a:endParaRPr lang="en-US" sz="1350" dirty="0"/>
          </a:p>
        </p:txBody>
      </p:sp>
      <p:sp>
        <p:nvSpPr>
          <p:cNvPr id="80" name="Shape 78"/>
          <p:cNvSpPr/>
          <p:nvPr/>
        </p:nvSpPr>
        <p:spPr>
          <a:xfrm>
            <a:off x="5458968" y="2523744"/>
            <a:ext cx="402336" cy="384048"/>
          </a:xfrm>
          <a:prstGeom prst="rect">
            <a:avLst/>
          </a:prstGeom>
          <a:solidFill>
            <a:srgbClr val="EAF4F8"/>
          </a:solidFill>
          <a:ln w="9525">
            <a:solidFill>
              <a:srgbClr val="A9CDDB"/>
            </a:solidFill>
            <a:prstDash val="solid"/>
          </a:ln>
        </p:spPr>
      </p:sp>
      <p:sp>
        <p:nvSpPr>
          <p:cNvPr id="81" name="Text 79"/>
          <p:cNvSpPr/>
          <p:nvPr/>
        </p:nvSpPr>
        <p:spPr>
          <a:xfrm>
            <a:off x="5458968" y="2523744"/>
            <a:ext cx="402336" cy="384048"/>
          </a:xfrm>
          <a:prstGeom prst="rect">
            <a:avLst/>
          </a:prstGeom>
          <a:noFill/>
          <a:ln/>
        </p:spPr>
        <p:txBody>
          <a:bodyPr wrap="square" lIns="0" tIns="0" rIns="0" bIns="0" rtlCol="0" anchor="ctr"/>
          <a:lstStyle/>
          <a:p>
            <a:pPr marL="0" indent="0" algn="ctr">
              <a:buNone/>
            </a:pPr>
            <a:r>
              <a:rPr lang="en-US" sz="1350" dirty="0">
                <a:solidFill>
                  <a:srgbClr val="062A3A"/>
                </a:solidFill>
                <a:latin typeface="Consolas" pitchFamily="34" charset="0"/>
                <a:ea typeface="Consolas" pitchFamily="34" charset="-122"/>
                <a:cs typeface="Consolas" pitchFamily="34" charset="-120"/>
              </a:rPr>
              <a:t>33</a:t>
            </a:r>
            <a:endParaRPr lang="en-US" sz="1350" dirty="0"/>
          </a:p>
        </p:txBody>
      </p:sp>
      <p:sp>
        <p:nvSpPr>
          <p:cNvPr id="82" name="Text 80"/>
          <p:cNvSpPr/>
          <p:nvPr/>
        </p:nvSpPr>
        <p:spPr>
          <a:xfrm>
            <a:off x="4233672" y="2999232"/>
            <a:ext cx="1600200" cy="219456"/>
          </a:xfrm>
          <a:prstGeom prst="rect">
            <a:avLst/>
          </a:prstGeom>
          <a:noFill/>
          <a:ln/>
        </p:spPr>
        <p:txBody>
          <a:bodyPr wrap="square" lIns="0" tIns="0" rIns="0" bIns="0" rtlCol="0" anchor="t"/>
          <a:lstStyle/>
          <a:p>
            <a:pPr marL="0" indent="0" algn="ctr">
              <a:buNone/>
            </a:pPr>
            <a:r>
              <a:rPr lang="en-US" sz="1350" dirty="0">
                <a:solidFill>
                  <a:srgbClr val="728694"/>
                </a:solidFill>
                <a:latin typeface="Segoe UI" pitchFamily="34" charset="0"/>
                <a:ea typeface="Segoe UI" pitchFamily="34" charset="-122"/>
                <a:cs typeface="Segoe UI" pitchFamily="34" charset="-120"/>
              </a:rPr>
              <a:t>khối con</a:t>
            </a:r>
            <a:endParaRPr lang="en-US" sz="1350" dirty="0"/>
          </a:p>
        </p:txBody>
      </p:sp>
      <p:sp>
        <p:nvSpPr>
          <p:cNvPr id="83" name="Shape 81"/>
          <p:cNvSpPr/>
          <p:nvPr/>
        </p:nvSpPr>
        <p:spPr>
          <a:xfrm>
            <a:off x="548640" y="3364992"/>
            <a:ext cx="5120640" cy="2514600"/>
          </a:xfrm>
          <a:prstGeom prst="roundRect">
            <a:avLst>
              <a:gd name="adj" fmla="val 2545"/>
            </a:avLst>
          </a:prstGeom>
          <a:solidFill>
            <a:srgbClr val="FFFFFF"/>
          </a:solidFill>
          <a:ln w="9525">
            <a:solidFill>
              <a:srgbClr val="D7E5EC"/>
            </a:solidFill>
            <a:prstDash val="solid"/>
          </a:ln>
        </p:spPr>
      </p:sp>
      <p:sp>
        <p:nvSpPr>
          <p:cNvPr id="84" name="Text 82"/>
          <p:cNvSpPr/>
          <p:nvPr/>
        </p:nvSpPr>
        <p:spPr>
          <a:xfrm>
            <a:off x="777240" y="3493008"/>
            <a:ext cx="4572000" cy="36576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Cách đọc kết quả</a:t>
            </a:r>
            <a:endParaRPr lang="en-US" sz="2500" dirty="0"/>
          </a:p>
        </p:txBody>
      </p:sp>
      <p:sp>
        <p:nvSpPr>
          <p:cNvPr id="85" name="Shape 83"/>
          <p:cNvSpPr/>
          <p:nvPr/>
        </p:nvSpPr>
        <p:spPr>
          <a:xfrm>
            <a:off x="777240" y="4078224"/>
            <a:ext cx="73152" cy="237744"/>
          </a:xfrm>
          <a:prstGeom prst="rect">
            <a:avLst/>
          </a:prstGeom>
          <a:solidFill>
            <a:srgbClr val="4DB8D4"/>
          </a:solidFill>
          <a:ln w="12700">
            <a:solidFill>
              <a:srgbClr val="4DB8D4"/>
            </a:solidFill>
            <a:prstDash val="solid"/>
          </a:ln>
        </p:spPr>
      </p:sp>
      <p:sp>
        <p:nvSpPr>
          <p:cNvPr id="86" name="Text 84"/>
          <p:cNvSpPr/>
          <p:nvPr/>
        </p:nvSpPr>
        <p:spPr>
          <a:xfrm>
            <a:off x="960120" y="4005072"/>
            <a:ext cx="1325880" cy="274320"/>
          </a:xfrm>
          <a:prstGeom prst="rect">
            <a:avLst/>
          </a:prstGeom>
          <a:noFill/>
          <a:ln/>
        </p:spPr>
        <p:txBody>
          <a:bodyPr wrap="square" lIns="0" tIns="0" rIns="0" bIns="0" rtlCol="0" anchor="t"/>
          <a:lstStyle/>
          <a:p>
            <a:pPr marL="0" indent="0">
              <a:buNone/>
            </a:pPr>
            <a:r>
              <a:rPr lang="en-US" sz="1600" b="1" dirty="0">
                <a:solidFill>
                  <a:srgbClr val="415A6B"/>
                </a:solidFill>
                <a:latin typeface="Consolas" pitchFamily="34" charset="0"/>
                <a:ea typeface="Consolas" pitchFamily="34" charset="-122"/>
                <a:cs typeface="Consolas" pitchFamily="34" charset="-120"/>
              </a:rPr>
              <a:t>b[1]</a:t>
            </a:r>
            <a:endParaRPr lang="en-US" sz="1600" dirty="0"/>
          </a:p>
        </p:txBody>
      </p:sp>
      <p:sp>
        <p:nvSpPr>
          <p:cNvPr id="87" name="Text 85"/>
          <p:cNvSpPr/>
          <p:nvPr/>
        </p:nvSpPr>
        <p:spPr>
          <a:xfrm>
            <a:off x="2331720" y="4005072"/>
            <a:ext cx="3063240" cy="274320"/>
          </a:xfrm>
          <a:prstGeom prst="rect">
            <a:avLst/>
          </a:prstGeom>
          <a:noFill/>
          <a:ln/>
        </p:spPr>
        <p:txBody>
          <a:bodyPr wrap="square" lIns="0" tIns="0" rIns="0" bIns="0" rtlCol="0" anchor="t"/>
          <a:lstStyle/>
          <a:p>
            <a:pPr marL="0" indent="0">
              <a:buNone/>
            </a:pPr>
            <a:r>
              <a:rPr lang="en-US" sz="2000" dirty="0">
                <a:solidFill>
                  <a:srgbClr val="415A6B"/>
                </a:solidFill>
                <a:latin typeface="Segoe UI" pitchFamily="34" charset="0"/>
                <a:ea typeface="Segoe UI" pitchFamily="34" charset="-122"/>
                <a:cs typeface="Segoe UI" pitchFamily="34" charset="-120"/>
              </a:rPr>
              <a:t>hàng → 1-D, (4,)</a:t>
            </a:r>
            <a:endParaRPr lang="en-US" sz="2000" dirty="0"/>
          </a:p>
        </p:txBody>
      </p:sp>
      <p:sp>
        <p:nvSpPr>
          <p:cNvPr id="88" name="Shape 86"/>
          <p:cNvSpPr/>
          <p:nvPr/>
        </p:nvSpPr>
        <p:spPr>
          <a:xfrm>
            <a:off x="777240" y="4626864"/>
            <a:ext cx="73152" cy="237744"/>
          </a:xfrm>
          <a:prstGeom prst="rect">
            <a:avLst/>
          </a:prstGeom>
          <a:solidFill>
            <a:srgbClr val="1B8EA8"/>
          </a:solidFill>
          <a:ln w="12700">
            <a:solidFill>
              <a:srgbClr val="1B8EA8"/>
            </a:solidFill>
            <a:prstDash val="solid"/>
          </a:ln>
        </p:spPr>
      </p:sp>
      <p:sp>
        <p:nvSpPr>
          <p:cNvPr id="89" name="Text 87"/>
          <p:cNvSpPr/>
          <p:nvPr/>
        </p:nvSpPr>
        <p:spPr>
          <a:xfrm>
            <a:off x="960120" y="4553712"/>
            <a:ext cx="1325880" cy="274320"/>
          </a:xfrm>
          <a:prstGeom prst="rect">
            <a:avLst/>
          </a:prstGeom>
          <a:noFill/>
          <a:ln/>
        </p:spPr>
        <p:txBody>
          <a:bodyPr wrap="square" lIns="0" tIns="0" rIns="0" bIns="0" rtlCol="0" anchor="t"/>
          <a:lstStyle/>
          <a:p>
            <a:pPr marL="0" indent="0">
              <a:buNone/>
            </a:pPr>
            <a:r>
              <a:rPr lang="en-US" sz="1600" b="1" dirty="0">
                <a:solidFill>
                  <a:srgbClr val="415A6B"/>
                </a:solidFill>
                <a:latin typeface="Consolas" pitchFamily="34" charset="0"/>
                <a:ea typeface="Consolas" pitchFamily="34" charset="-122"/>
                <a:cs typeface="Consolas" pitchFamily="34" charset="-120"/>
              </a:rPr>
              <a:t>b[:, 2]</a:t>
            </a:r>
            <a:endParaRPr lang="en-US" sz="1600" dirty="0"/>
          </a:p>
        </p:txBody>
      </p:sp>
      <p:sp>
        <p:nvSpPr>
          <p:cNvPr id="90" name="Text 88"/>
          <p:cNvSpPr/>
          <p:nvPr/>
        </p:nvSpPr>
        <p:spPr>
          <a:xfrm>
            <a:off x="2331720" y="4553712"/>
            <a:ext cx="3063240" cy="274320"/>
          </a:xfrm>
          <a:prstGeom prst="rect">
            <a:avLst/>
          </a:prstGeom>
          <a:noFill/>
          <a:ln/>
        </p:spPr>
        <p:txBody>
          <a:bodyPr wrap="square" lIns="0" tIns="0" rIns="0" bIns="0" rtlCol="0" anchor="t"/>
          <a:lstStyle/>
          <a:p>
            <a:pPr marL="0" indent="0">
              <a:buNone/>
            </a:pPr>
            <a:r>
              <a:rPr lang="en-US" sz="2000" dirty="0">
                <a:solidFill>
                  <a:srgbClr val="415A6B"/>
                </a:solidFill>
                <a:latin typeface="Segoe UI" pitchFamily="34" charset="0"/>
                <a:ea typeface="Segoe UI" pitchFamily="34" charset="-122"/>
                <a:cs typeface="Segoe UI" pitchFamily="34" charset="-120"/>
              </a:rPr>
              <a:t>cột → 1-D, (3,)</a:t>
            </a:r>
            <a:endParaRPr lang="en-US" sz="2000" dirty="0"/>
          </a:p>
        </p:txBody>
      </p:sp>
      <p:sp>
        <p:nvSpPr>
          <p:cNvPr id="91" name="Shape 89"/>
          <p:cNvSpPr/>
          <p:nvPr/>
        </p:nvSpPr>
        <p:spPr>
          <a:xfrm>
            <a:off x="777240" y="5175504"/>
            <a:ext cx="73152" cy="237744"/>
          </a:xfrm>
          <a:prstGeom prst="rect">
            <a:avLst/>
          </a:prstGeom>
          <a:solidFill>
            <a:srgbClr val="D96C5F"/>
          </a:solidFill>
          <a:ln w="12700">
            <a:solidFill>
              <a:srgbClr val="D96C5F"/>
            </a:solidFill>
            <a:prstDash val="solid"/>
          </a:ln>
        </p:spPr>
      </p:sp>
      <p:sp>
        <p:nvSpPr>
          <p:cNvPr id="92" name="Text 90"/>
          <p:cNvSpPr/>
          <p:nvPr/>
        </p:nvSpPr>
        <p:spPr>
          <a:xfrm>
            <a:off x="960120" y="5102352"/>
            <a:ext cx="1325880" cy="274320"/>
          </a:xfrm>
          <a:prstGeom prst="rect">
            <a:avLst/>
          </a:prstGeom>
          <a:noFill/>
          <a:ln/>
        </p:spPr>
        <p:txBody>
          <a:bodyPr wrap="square" lIns="0" tIns="0" rIns="0" bIns="0" rtlCol="0" anchor="t"/>
          <a:lstStyle/>
          <a:p>
            <a:pPr marL="0" indent="0">
              <a:buNone/>
            </a:pPr>
            <a:r>
              <a:rPr lang="en-US" sz="1600" b="1" dirty="0">
                <a:solidFill>
                  <a:srgbClr val="415A6B"/>
                </a:solidFill>
                <a:latin typeface="Consolas" pitchFamily="34" charset="0"/>
                <a:ea typeface="Consolas" pitchFamily="34" charset="-122"/>
                <a:cs typeface="Consolas" pitchFamily="34" charset="-120"/>
              </a:rPr>
              <a:t>b[0:2, 1:3]</a:t>
            </a:r>
            <a:endParaRPr lang="en-US" sz="1600" dirty="0"/>
          </a:p>
        </p:txBody>
      </p:sp>
      <p:sp>
        <p:nvSpPr>
          <p:cNvPr id="93" name="Text 91"/>
          <p:cNvSpPr/>
          <p:nvPr/>
        </p:nvSpPr>
        <p:spPr>
          <a:xfrm>
            <a:off x="2331720" y="5102352"/>
            <a:ext cx="3063240" cy="274320"/>
          </a:xfrm>
          <a:prstGeom prst="rect">
            <a:avLst/>
          </a:prstGeom>
          <a:noFill/>
          <a:ln/>
        </p:spPr>
        <p:txBody>
          <a:bodyPr wrap="square" lIns="0" tIns="0" rIns="0" bIns="0" rtlCol="0" anchor="t"/>
          <a:lstStyle/>
          <a:p>
            <a:pPr marL="0" indent="0">
              <a:buNone/>
            </a:pPr>
            <a:r>
              <a:rPr lang="en-US" sz="2000" dirty="0">
                <a:solidFill>
                  <a:srgbClr val="415A6B"/>
                </a:solidFill>
                <a:latin typeface="Segoe UI" pitchFamily="34" charset="0"/>
                <a:ea typeface="Segoe UI" pitchFamily="34" charset="-122"/>
                <a:cs typeface="Segoe UI" pitchFamily="34" charset="-120"/>
              </a:rPr>
              <a:t>khối → 2-D, (2, 2)</a:t>
            </a:r>
            <a:endParaRPr lang="en-US" sz="2000" dirty="0"/>
          </a:p>
        </p:txBody>
      </p:sp>
      <p:sp>
        <p:nvSpPr>
          <p:cNvPr id="94" name="Shape 92"/>
          <p:cNvSpPr/>
          <p:nvPr/>
        </p:nvSpPr>
        <p:spPr>
          <a:xfrm>
            <a:off x="5943600" y="1463040"/>
            <a:ext cx="5696712" cy="2468880"/>
          </a:xfrm>
          <a:prstGeom prst="roundRect">
            <a:avLst>
              <a:gd name="adj" fmla="val 1852"/>
            </a:avLst>
          </a:prstGeom>
          <a:solidFill>
            <a:srgbClr val="0B2230"/>
          </a:solidFill>
          <a:ln w="9525">
            <a:solidFill>
              <a:srgbClr val="163B4C"/>
            </a:solidFill>
            <a:prstDash val="solid"/>
          </a:ln>
        </p:spPr>
      </p:sp>
      <p:sp>
        <p:nvSpPr>
          <p:cNvPr id="95" name="Shape 93"/>
          <p:cNvSpPr/>
          <p:nvPr/>
        </p:nvSpPr>
        <p:spPr>
          <a:xfrm>
            <a:off x="5943600" y="1463040"/>
            <a:ext cx="5696712" cy="310896"/>
          </a:xfrm>
          <a:prstGeom prst="rect">
            <a:avLst/>
          </a:prstGeom>
          <a:solidFill>
            <a:srgbClr val="103445"/>
          </a:solidFill>
          <a:ln w="12700">
            <a:solidFill>
              <a:srgbClr val="103445"/>
            </a:solidFill>
            <a:prstDash val="solid"/>
          </a:ln>
        </p:spPr>
      </p:sp>
      <p:sp>
        <p:nvSpPr>
          <p:cNvPr id="96" name="Text 94"/>
          <p:cNvSpPr/>
          <p:nvPr/>
        </p:nvSpPr>
        <p:spPr>
          <a:xfrm>
            <a:off x="6089904" y="1527048"/>
            <a:ext cx="478231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97" name="Shape 95"/>
          <p:cNvSpPr/>
          <p:nvPr/>
        </p:nvSpPr>
        <p:spPr>
          <a:xfrm>
            <a:off x="11073384" y="1581912"/>
            <a:ext cx="82296" cy="82296"/>
          </a:xfrm>
          <a:prstGeom prst="ellipse">
            <a:avLst/>
          </a:prstGeom>
          <a:solidFill>
            <a:srgbClr val="D96C5F"/>
          </a:solidFill>
          <a:ln w="12700">
            <a:solidFill>
              <a:srgbClr val="D96C5F"/>
            </a:solidFill>
            <a:prstDash val="solid"/>
          </a:ln>
        </p:spPr>
      </p:sp>
      <p:sp>
        <p:nvSpPr>
          <p:cNvPr id="98" name="Shape 96"/>
          <p:cNvSpPr/>
          <p:nvPr/>
        </p:nvSpPr>
        <p:spPr>
          <a:xfrm>
            <a:off x="11228832" y="1581912"/>
            <a:ext cx="82296" cy="82296"/>
          </a:xfrm>
          <a:prstGeom prst="ellipse">
            <a:avLst/>
          </a:prstGeom>
          <a:solidFill>
            <a:srgbClr val="E8A33D"/>
          </a:solidFill>
          <a:ln w="12700">
            <a:solidFill>
              <a:srgbClr val="E8A33D"/>
            </a:solidFill>
            <a:prstDash val="solid"/>
          </a:ln>
        </p:spPr>
      </p:sp>
      <p:sp>
        <p:nvSpPr>
          <p:cNvPr id="99" name="Shape 97"/>
          <p:cNvSpPr/>
          <p:nvPr/>
        </p:nvSpPr>
        <p:spPr>
          <a:xfrm>
            <a:off x="11384280" y="1581912"/>
            <a:ext cx="82296" cy="82296"/>
          </a:xfrm>
          <a:prstGeom prst="ellipse">
            <a:avLst/>
          </a:prstGeom>
          <a:solidFill>
            <a:srgbClr val="2D8C6F"/>
          </a:solidFill>
          <a:ln w="12700">
            <a:solidFill>
              <a:srgbClr val="2D8C6F"/>
            </a:solidFill>
            <a:prstDash val="solid"/>
          </a:ln>
        </p:spPr>
      </p:sp>
      <p:sp>
        <p:nvSpPr>
          <p:cNvPr id="100" name="Text 98"/>
          <p:cNvSpPr/>
          <p:nvPr/>
        </p:nvSpPr>
        <p:spPr>
          <a:xfrm>
            <a:off x="6108192" y="1874520"/>
            <a:ext cx="5404104" cy="1993392"/>
          </a:xfrm>
          <a:prstGeom prst="rect">
            <a:avLst/>
          </a:prstGeom>
          <a:noFill/>
          <a:ln/>
        </p:spPr>
        <p:txBody>
          <a:bodyPr wrap="square" lIns="0" tIns="0" rIns="0" bIns="0" rtlCol="0" anchor="t"/>
          <a:lstStyle/>
          <a:p>
            <a:pPr marL="0" indent="0">
              <a:lnSpc>
                <a:spcPct val="100000"/>
              </a:lnSpc>
              <a:buNone/>
            </a:pPr>
            <a:r>
              <a:rPr lang="en-US" sz="1550" dirty="0">
                <a:solidFill>
                  <a:srgbClr val="D6E6EF"/>
                </a:solidFill>
                <a:latin typeface="Consolas" pitchFamily="34" charset="0"/>
                <a:ea typeface="Consolas" pitchFamily="34" charset="-122"/>
                <a:cs typeface="Consolas" pitchFamily="34" charset="-120"/>
              </a:rPr>
              <a:t>b = </a:t>
            </a:r>
            <a:r>
              <a:rPr lang="en-US" sz="1550" dirty="0">
                <a:solidFill>
                  <a:srgbClr val="8AD9C0"/>
                </a:solidFill>
                <a:latin typeface="Consolas" pitchFamily="34" charset="0"/>
                <a:ea typeface="Consolas" pitchFamily="34" charset="-122"/>
                <a:cs typeface="Consolas" pitchFamily="34" charset="-120"/>
              </a:rPr>
              <a:t>np</a:t>
            </a:r>
            <a:r>
              <a:rPr lang="en-US" sz="1550" dirty="0">
                <a:solidFill>
                  <a:srgbClr val="D6E6EF"/>
                </a:solidFill>
                <a:latin typeface="Consolas" pitchFamily="34" charset="0"/>
                <a:ea typeface="Consolas" pitchFamily="34" charset="-122"/>
                <a:cs typeface="Consolas" pitchFamily="34" charset="-120"/>
              </a:rPr>
              <a:t>.array([[</a:t>
            </a:r>
            <a:r>
              <a:rPr lang="en-US" sz="1550" dirty="0">
                <a:solidFill>
                  <a:srgbClr val="F08A7C"/>
                </a:solidFill>
                <a:latin typeface="Consolas" pitchFamily="34" charset="0"/>
                <a:ea typeface="Consolas" pitchFamily="34" charset="-122"/>
                <a:cs typeface="Consolas" pitchFamily="34" charset="-120"/>
              </a:rPr>
              <a:t>10</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11</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12</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13</a:t>
            </a:r>
            <a:r>
              <a:rPr lang="en-US" sz="1550" dirty="0">
                <a:solidFill>
                  <a:srgbClr val="D6E6EF"/>
                </a:solidFill>
                <a:latin typeface="Consolas" pitchFamily="34" charset="0"/>
                <a:ea typeface="Consolas" pitchFamily="34" charset="-122"/>
                <a:cs typeface="Consolas" pitchFamily="34" charset="-120"/>
              </a:rPr>
              <a:t>],</a:t>
            </a:r>
            <a:endParaRPr lang="en-US" sz="1550" dirty="0"/>
          </a:p>
          <a:p>
            <a:pPr marL="0" indent="0">
              <a:lnSpc>
                <a:spcPct val="100000"/>
              </a:lnSpc>
              <a:buNone/>
            </a:pP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20</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21</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22</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23</a:t>
            </a:r>
            <a:r>
              <a:rPr lang="en-US" sz="1550" dirty="0">
                <a:solidFill>
                  <a:srgbClr val="D6E6EF"/>
                </a:solidFill>
                <a:latin typeface="Consolas" pitchFamily="34" charset="0"/>
                <a:ea typeface="Consolas" pitchFamily="34" charset="-122"/>
                <a:cs typeface="Consolas" pitchFamily="34" charset="-120"/>
              </a:rPr>
              <a:t>],</a:t>
            </a:r>
            <a:endParaRPr lang="en-US" sz="1550" dirty="0"/>
          </a:p>
          <a:p>
            <a:pPr marL="0" indent="0">
              <a:lnSpc>
                <a:spcPct val="100000"/>
              </a:lnSpc>
              <a:buNone/>
            </a:pP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30</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31</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32</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33</a:t>
            </a:r>
            <a:r>
              <a:rPr lang="en-US" sz="1550" dirty="0">
                <a:solidFill>
                  <a:srgbClr val="D6E6EF"/>
                </a:solidFill>
                <a:latin typeface="Consolas" pitchFamily="34" charset="0"/>
                <a:ea typeface="Consolas" pitchFamily="34" charset="-122"/>
                <a:cs typeface="Consolas" pitchFamily="34" charset="-120"/>
              </a:rPr>
              <a:t>]])</a:t>
            </a:r>
            <a:endParaRPr lang="en-US" sz="1550" dirty="0"/>
          </a:p>
          <a:p>
            <a:pPr marL="0" indent="0">
              <a:lnSpc>
                <a:spcPct val="100000"/>
              </a:lnSpc>
              <a:buNone/>
            </a:pPr>
            <a:r>
              <a:rPr lang="en-US" sz="1550" dirty="0">
                <a:solidFill>
                  <a:srgbClr val="6FD0E4"/>
                </a:solidFill>
                <a:latin typeface="Consolas" pitchFamily="34" charset="0"/>
                <a:ea typeface="Consolas" pitchFamily="34" charset="-122"/>
                <a:cs typeface="Consolas" pitchFamily="34" charset="-120"/>
              </a:rPr>
              <a:t>print</a:t>
            </a:r>
            <a:r>
              <a:rPr lang="en-US" sz="1550" dirty="0">
                <a:solidFill>
                  <a:srgbClr val="D6E6EF"/>
                </a:solidFill>
                <a:latin typeface="Consolas" pitchFamily="34" charset="0"/>
                <a:ea typeface="Consolas" pitchFamily="34" charset="-122"/>
                <a:cs typeface="Consolas" pitchFamily="34" charset="-120"/>
              </a:rPr>
              <a:t>(b[</a:t>
            </a:r>
            <a:r>
              <a:rPr lang="en-US" sz="1550" dirty="0">
                <a:solidFill>
                  <a:srgbClr val="F08A7C"/>
                </a:solidFill>
                <a:latin typeface="Consolas" pitchFamily="34" charset="0"/>
                <a:ea typeface="Consolas" pitchFamily="34" charset="-122"/>
                <a:cs typeface="Consolas" pitchFamily="34" charset="-120"/>
              </a:rPr>
              <a:t>1</a:t>
            </a:r>
            <a:r>
              <a:rPr lang="en-US" sz="1550" dirty="0">
                <a:solidFill>
                  <a:srgbClr val="D6E6EF"/>
                </a:solidFill>
                <a:latin typeface="Consolas" pitchFamily="34" charset="0"/>
                <a:ea typeface="Consolas" pitchFamily="34" charset="-122"/>
                <a:cs typeface="Consolas" pitchFamily="34" charset="-120"/>
              </a:rPr>
              <a:t>])        </a:t>
            </a:r>
            <a:r>
              <a:rPr lang="en-US" sz="1550" i="1" dirty="0">
                <a:solidFill>
                  <a:srgbClr val="6F93A3"/>
                </a:solidFill>
                <a:latin typeface="Consolas" pitchFamily="34" charset="0"/>
                <a:ea typeface="Consolas" pitchFamily="34" charset="-122"/>
                <a:cs typeface="Consolas" pitchFamily="34" charset="-120"/>
              </a:rPr>
              <a:t># [20 21 22 23]</a:t>
            </a:r>
            <a:endParaRPr lang="en-US" sz="1550" dirty="0"/>
          </a:p>
          <a:p>
            <a:pPr marL="0" indent="0">
              <a:lnSpc>
                <a:spcPct val="100000"/>
              </a:lnSpc>
              <a:buNone/>
            </a:pPr>
            <a:r>
              <a:rPr lang="en-US" sz="1550" dirty="0">
                <a:solidFill>
                  <a:srgbClr val="6FD0E4"/>
                </a:solidFill>
                <a:latin typeface="Consolas" pitchFamily="34" charset="0"/>
                <a:ea typeface="Consolas" pitchFamily="34" charset="-122"/>
                <a:cs typeface="Consolas" pitchFamily="34" charset="-120"/>
              </a:rPr>
              <a:t>print</a:t>
            </a:r>
            <a:r>
              <a:rPr lang="en-US" sz="1550" dirty="0">
                <a:solidFill>
                  <a:srgbClr val="D6E6EF"/>
                </a:solidFill>
                <a:latin typeface="Consolas" pitchFamily="34" charset="0"/>
                <a:ea typeface="Consolas" pitchFamily="34" charset="-122"/>
                <a:cs typeface="Consolas" pitchFamily="34" charset="-120"/>
              </a:rPr>
              <a:t>(b[:, </a:t>
            </a:r>
            <a:r>
              <a:rPr lang="en-US" sz="1550" dirty="0">
                <a:solidFill>
                  <a:srgbClr val="F08A7C"/>
                </a:solidFill>
                <a:latin typeface="Consolas" pitchFamily="34" charset="0"/>
                <a:ea typeface="Consolas" pitchFamily="34" charset="-122"/>
                <a:cs typeface="Consolas" pitchFamily="34" charset="-120"/>
              </a:rPr>
              <a:t>2</a:t>
            </a:r>
            <a:r>
              <a:rPr lang="en-US" sz="1550" dirty="0">
                <a:solidFill>
                  <a:srgbClr val="D6E6EF"/>
                </a:solidFill>
                <a:latin typeface="Consolas" pitchFamily="34" charset="0"/>
                <a:ea typeface="Consolas" pitchFamily="34" charset="-122"/>
                <a:cs typeface="Consolas" pitchFamily="34" charset="-120"/>
              </a:rPr>
              <a:t>])     </a:t>
            </a:r>
            <a:r>
              <a:rPr lang="en-US" sz="1550" i="1" dirty="0">
                <a:solidFill>
                  <a:srgbClr val="6F93A3"/>
                </a:solidFill>
                <a:latin typeface="Consolas" pitchFamily="34" charset="0"/>
                <a:ea typeface="Consolas" pitchFamily="34" charset="-122"/>
                <a:cs typeface="Consolas" pitchFamily="34" charset="-120"/>
              </a:rPr>
              <a:t># [12 22 32]</a:t>
            </a:r>
            <a:endParaRPr lang="en-US" sz="1550" dirty="0"/>
          </a:p>
          <a:p>
            <a:pPr marL="0" indent="0">
              <a:lnSpc>
                <a:spcPct val="100000"/>
              </a:lnSpc>
              <a:buNone/>
            </a:pPr>
            <a:r>
              <a:rPr lang="en-US" sz="1550" dirty="0">
                <a:solidFill>
                  <a:srgbClr val="6FD0E4"/>
                </a:solidFill>
                <a:latin typeface="Consolas" pitchFamily="34" charset="0"/>
                <a:ea typeface="Consolas" pitchFamily="34" charset="-122"/>
                <a:cs typeface="Consolas" pitchFamily="34" charset="-120"/>
              </a:rPr>
              <a:t>print</a:t>
            </a:r>
            <a:r>
              <a:rPr lang="en-US" sz="1550" dirty="0">
                <a:solidFill>
                  <a:srgbClr val="D6E6EF"/>
                </a:solidFill>
                <a:latin typeface="Consolas" pitchFamily="34" charset="0"/>
                <a:ea typeface="Consolas" pitchFamily="34" charset="-122"/>
                <a:cs typeface="Consolas" pitchFamily="34" charset="-120"/>
              </a:rPr>
              <a:t>(b[</a:t>
            </a:r>
            <a:r>
              <a:rPr lang="en-US" sz="1550" dirty="0">
                <a:solidFill>
                  <a:srgbClr val="F08A7C"/>
                </a:solidFill>
                <a:latin typeface="Consolas" pitchFamily="34" charset="0"/>
                <a:ea typeface="Consolas" pitchFamily="34" charset="-122"/>
                <a:cs typeface="Consolas" pitchFamily="34" charset="-120"/>
              </a:rPr>
              <a:t>0</a:t>
            </a:r>
            <a:r>
              <a:rPr lang="en-US" sz="1550" dirty="0">
                <a:solidFill>
                  <a:srgbClr val="D6E6EF"/>
                </a:solidFill>
                <a:latin typeface="Consolas" pitchFamily="34" charset="0"/>
                <a:ea typeface="Consolas" pitchFamily="34" charset="-122"/>
                <a:cs typeface="Consolas" pitchFamily="34" charset="-120"/>
              </a:rPr>
              <a:t>:</a:t>
            </a:r>
            <a:r>
              <a:rPr lang="en-US" sz="1550" dirty="0">
                <a:solidFill>
                  <a:srgbClr val="F08A7C"/>
                </a:solidFill>
                <a:latin typeface="Consolas" pitchFamily="34" charset="0"/>
                <a:ea typeface="Consolas" pitchFamily="34" charset="-122"/>
                <a:cs typeface="Consolas" pitchFamily="34" charset="-120"/>
              </a:rPr>
              <a:t>2</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1</a:t>
            </a:r>
            <a:r>
              <a:rPr lang="en-US" sz="1550" dirty="0">
                <a:solidFill>
                  <a:srgbClr val="D6E6EF"/>
                </a:solidFill>
                <a:latin typeface="Consolas" pitchFamily="34" charset="0"/>
                <a:ea typeface="Consolas" pitchFamily="34" charset="-122"/>
                <a:cs typeface="Consolas" pitchFamily="34" charset="-120"/>
              </a:rPr>
              <a:t>:</a:t>
            </a:r>
            <a:r>
              <a:rPr lang="en-US" sz="1550" dirty="0">
                <a:solidFill>
                  <a:srgbClr val="F08A7C"/>
                </a:solidFill>
                <a:latin typeface="Consolas" pitchFamily="34" charset="0"/>
                <a:ea typeface="Consolas" pitchFamily="34" charset="-122"/>
                <a:cs typeface="Consolas" pitchFamily="34" charset="-120"/>
              </a:rPr>
              <a:t>3</a:t>
            </a:r>
            <a:r>
              <a:rPr lang="en-US" sz="1550" dirty="0">
                <a:solidFill>
                  <a:srgbClr val="D6E6EF"/>
                </a:solidFill>
                <a:latin typeface="Consolas" pitchFamily="34" charset="0"/>
                <a:ea typeface="Consolas" pitchFamily="34" charset="-122"/>
                <a:cs typeface="Consolas" pitchFamily="34" charset="-120"/>
              </a:rPr>
              <a:t>]) </a:t>
            </a:r>
            <a:r>
              <a:rPr lang="en-US" sz="1550" i="1" dirty="0">
                <a:solidFill>
                  <a:srgbClr val="6F93A3"/>
                </a:solidFill>
                <a:latin typeface="Consolas" pitchFamily="34" charset="0"/>
                <a:ea typeface="Consolas" pitchFamily="34" charset="-122"/>
                <a:cs typeface="Consolas" pitchFamily="34" charset="-120"/>
              </a:rPr>
              <a:t># [[11 12] [21 22]]</a:t>
            </a:r>
            <a:endParaRPr lang="en-US" sz="1550" dirty="0"/>
          </a:p>
        </p:txBody>
      </p:sp>
      <p:sp>
        <p:nvSpPr>
          <p:cNvPr id="101" name="Shape 99"/>
          <p:cNvSpPr/>
          <p:nvPr/>
        </p:nvSpPr>
        <p:spPr>
          <a:xfrm>
            <a:off x="5943600" y="4069080"/>
            <a:ext cx="5696712" cy="1417320"/>
          </a:xfrm>
          <a:prstGeom prst="roundRect">
            <a:avLst>
              <a:gd name="adj" fmla="val 3226"/>
            </a:avLst>
          </a:prstGeom>
          <a:solidFill>
            <a:srgbClr val="FFFFFF"/>
          </a:solidFill>
          <a:ln w="9525">
            <a:solidFill>
              <a:srgbClr val="CFE5EE"/>
            </a:solidFill>
            <a:prstDash val="solid"/>
          </a:ln>
        </p:spPr>
      </p:sp>
      <p:sp>
        <p:nvSpPr>
          <p:cNvPr id="102" name="Text 100"/>
          <p:cNvSpPr/>
          <p:nvPr/>
        </p:nvSpPr>
        <p:spPr>
          <a:xfrm>
            <a:off x="6089904" y="4160520"/>
            <a:ext cx="542239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03" name="Text 101"/>
          <p:cNvSpPr/>
          <p:nvPr/>
        </p:nvSpPr>
        <p:spPr>
          <a:xfrm>
            <a:off x="6089904" y="4416552"/>
            <a:ext cx="5422392" cy="996696"/>
          </a:xfrm>
          <a:prstGeom prst="rect">
            <a:avLst/>
          </a:prstGeom>
          <a:noFill/>
          <a:ln/>
        </p:spPr>
        <p:txBody>
          <a:bodyPr wrap="square" lIns="0" tIns="0" rIns="0" bIns="0" rtlCol="0" anchor="t"/>
          <a:lstStyle/>
          <a:p>
            <a:pPr marL="0" indent="0">
              <a:lnSpc>
                <a:spcPct val="100000"/>
              </a:lnSpc>
              <a:buNone/>
            </a:pPr>
            <a:r>
              <a:rPr lang="en-US" sz="1550" dirty="0">
                <a:solidFill>
                  <a:srgbClr val="062A3A"/>
                </a:solidFill>
                <a:latin typeface="Consolas" pitchFamily="34" charset="0"/>
                <a:ea typeface="Consolas" pitchFamily="34" charset="-122"/>
                <a:cs typeface="Consolas" pitchFamily="34" charset="-120"/>
              </a:rPr>
              <a:t>[20 21 22 23]</a:t>
            </a:r>
            <a:endParaRPr lang="en-US" sz="1550" dirty="0"/>
          </a:p>
          <a:p>
            <a:pPr marL="0" indent="0">
              <a:lnSpc>
                <a:spcPct val="100000"/>
              </a:lnSpc>
              <a:buNone/>
            </a:pPr>
            <a:r>
              <a:rPr lang="en-US" sz="1550" dirty="0">
                <a:solidFill>
                  <a:srgbClr val="062A3A"/>
                </a:solidFill>
                <a:latin typeface="Consolas" pitchFamily="34" charset="0"/>
                <a:ea typeface="Consolas" pitchFamily="34" charset="-122"/>
                <a:cs typeface="Consolas" pitchFamily="34" charset="-120"/>
              </a:rPr>
              <a:t>[12 22 32]</a:t>
            </a:r>
            <a:endParaRPr lang="en-US" sz="1550" dirty="0"/>
          </a:p>
          <a:p>
            <a:pPr marL="0" indent="0">
              <a:lnSpc>
                <a:spcPct val="100000"/>
              </a:lnSpc>
              <a:buNone/>
            </a:pPr>
            <a:r>
              <a:rPr lang="en-US" sz="1550" dirty="0">
                <a:solidFill>
                  <a:srgbClr val="062A3A"/>
                </a:solidFill>
                <a:latin typeface="Consolas" pitchFamily="34" charset="0"/>
                <a:ea typeface="Consolas" pitchFamily="34" charset="-122"/>
                <a:cs typeface="Consolas" pitchFamily="34" charset="-120"/>
              </a:rPr>
              <a:t>[[11 12]</a:t>
            </a:r>
            <a:endParaRPr lang="en-US" sz="1550" dirty="0"/>
          </a:p>
          <a:p>
            <a:pPr marL="0" indent="0">
              <a:lnSpc>
                <a:spcPct val="100000"/>
              </a:lnSpc>
              <a:buNone/>
            </a:pPr>
            <a:r>
              <a:rPr lang="en-US" sz="1550" dirty="0">
                <a:solidFill>
                  <a:srgbClr val="062A3A"/>
                </a:solidFill>
                <a:latin typeface="Consolas" pitchFamily="34" charset="0"/>
                <a:ea typeface="Consolas" pitchFamily="34" charset="-122"/>
                <a:cs typeface="Consolas" pitchFamily="34" charset="-120"/>
              </a:rPr>
              <a:t> [21 22]]</a:t>
            </a:r>
            <a:endParaRPr lang="en-US" sz="1550" dirty="0"/>
          </a:p>
        </p:txBody>
      </p:sp>
      <p:sp>
        <p:nvSpPr>
          <p:cNvPr id="104" name="Text 102"/>
          <p:cNvSpPr/>
          <p:nvPr/>
        </p:nvSpPr>
        <p:spPr>
          <a:xfrm>
            <a:off x="548640" y="6016752"/>
            <a:ext cx="11064240" cy="320040"/>
          </a:xfrm>
          <a:prstGeom prst="rect">
            <a:avLst/>
          </a:prstGeom>
          <a:noFill/>
          <a:ln/>
        </p:spPr>
        <p:txBody>
          <a:bodyPr wrap="square" lIns="0" tIns="0" rIns="0" bIns="0" rtlCol="0" anchor="t"/>
          <a:lstStyle/>
          <a:p>
            <a:pPr marL="0" indent="0">
              <a:buNone/>
            </a:pPr>
            <a:r>
              <a:rPr lang="en-US" sz="2000" i="1" dirty="0">
                <a:solidFill>
                  <a:srgbClr val="728694"/>
                </a:solidFill>
                <a:latin typeface="Segoe UI" pitchFamily="34" charset="0"/>
                <a:ea typeface="Segoe UI" pitchFamily="34" charset="-122"/>
                <a:cs typeface="Segoe UI" pitchFamily="34" charset="-120"/>
              </a:rPr>
              <a:t>a[hàng, cột]; dấu : lấy cả trục.</a:t>
            </a:r>
            <a:endParaRPr lang="en-US" sz="2000" dirty="0"/>
          </a:p>
        </p:txBody>
      </p:sp>
      <p:sp>
        <p:nvSpPr>
          <p:cNvPr id="105" name="Shape 103"/>
          <p:cNvSpPr/>
          <p:nvPr/>
        </p:nvSpPr>
        <p:spPr>
          <a:xfrm>
            <a:off x="548640" y="6437376"/>
            <a:ext cx="11091672" cy="9144"/>
          </a:xfrm>
          <a:prstGeom prst="rect">
            <a:avLst/>
          </a:prstGeom>
          <a:solidFill>
            <a:srgbClr val="D7E5EC"/>
          </a:solidFill>
          <a:ln w="12700">
            <a:solidFill>
              <a:srgbClr val="D7E5EC"/>
            </a:solidFill>
            <a:prstDash val="solid"/>
          </a:ln>
        </p:spPr>
      </p:sp>
      <p:sp>
        <p:nvSpPr>
          <p:cNvPr id="106" name="Text 104"/>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107" name="Text 105"/>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14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04 · TRUY CẬP DỮ LIỆU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Boolean indexing: lọc theo điều kiện</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640080" y="1426464"/>
            <a:ext cx="1828800" cy="274320"/>
          </a:xfrm>
          <a:prstGeom prst="rect">
            <a:avLst/>
          </a:prstGeom>
          <a:noFill/>
          <a:ln/>
        </p:spPr>
        <p:txBody>
          <a:bodyPr wrap="square" lIns="0" tIns="0" rIns="0" bIns="0" rtlCol="0" anchor="t"/>
          <a:lstStyle/>
          <a:p>
            <a:pPr marL="0" indent="0">
              <a:buNone/>
            </a:pPr>
            <a:r>
              <a:rPr lang="en-US" sz="2000" b="1" dirty="0">
                <a:solidFill>
                  <a:srgbClr val="415A6B"/>
                </a:solidFill>
                <a:latin typeface="Consolas" pitchFamily="34" charset="0"/>
                <a:ea typeface="Consolas" pitchFamily="34" charset="-122"/>
                <a:cs typeface="Consolas" pitchFamily="34" charset="-120"/>
              </a:rPr>
              <a:t>b</a:t>
            </a:r>
            <a:endParaRPr lang="en-US" sz="2000" dirty="0"/>
          </a:p>
        </p:txBody>
      </p:sp>
      <p:sp>
        <p:nvSpPr>
          <p:cNvPr id="6" name="Text 4"/>
          <p:cNvSpPr/>
          <p:nvPr/>
        </p:nvSpPr>
        <p:spPr>
          <a:xfrm>
            <a:off x="2788920" y="1426464"/>
            <a:ext cx="1828800" cy="274320"/>
          </a:xfrm>
          <a:prstGeom prst="rect">
            <a:avLst/>
          </a:prstGeom>
          <a:noFill/>
          <a:ln/>
        </p:spPr>
        <p:txBody>
          <a:bodyPr wrap="square" lIns="0" tIns="0" rIns="0" bIns="0" rtlCol="0" anchor="t"/>
          <a:lstStyle/>
          <a:p>
            <a:pPr marL="0" indent="0">
              <a:buNone/>
            </a:pPr>
            <a:r>
              <a:rPr lang="en-US" sz="2000" b="1" dirty="0">
                <a:solidFill>
                  <a:srgbClr val="415A6B"/>
                </a:solidFill>
                <a:latin typeface="Consolas" pitchFamily="34" charset="0"/>
                <a:ea typeface="Consolas" pitchFamily="34" charset="-122"/>
                <a:cs typeface="Consolas" pitchFamily="34" charset="-120"/>
              </a:rPr>
              <a:t>b &gt; 21</a:t>
            </a:r>
            <a:endParaRPr lang="en-US" sz="2000" dirty="0"/>
          </a:p>
        </p:txBody>
      </p:sp>
      <p:sp>
        <p:nvSpPr>
          <p:cNvPr id="7" name="Text 5"/>
          <p:cNvSpPr/>
          <p:nvPr/>
        </p:nvSpPr>
        <p:spPr>
          <a:xfrm>
            <a:off x="4983480" y="1426464"/>
            <a:ext cx="1737360" cy="274320"/>
          </a:xfrm>
          <a:prstGeom prst="rect">
            <a:avLst/>
          </a:prstGeom>
          <a:noFill/>
          <a:ln/>
        </p:spPr>
        <p:txBody>
          <a:bodyPr wrap="square" lIns="0" tIns="0" rIns="0" bIns="0" rtlCol="0" anchor="t"/>
          <a:lstStyle/>
          <a:p>
            <a:pPr marL="0" indent="0">
              <a:buNone/>
            </a:pPr>
            <a:r>
              <a:rPr lang="en-US" sz="2000" b="1" dirty="0">
                <a:solidFill>
                  <a:srgbClr val="415A6B"/>
                </a:solidFill>
                <a:latin typeface="Consolas" pitchFamily="34" charset="0"/>
                <a:ea typeface="Consolas" pitchFamily="34" charset="-122"/>
                <a:cs typeface="Consolas" pitchFamily="34" charset="-120"/>
              </a:rPr>
              <a:t>b[b &gt; 21]</a:t>
            </a:r>
            <a:endParaRPr lang="en-US" sz="2000" dirty="0"/>
          </a:p>
        </p:txBody>
      </p:sp>
      <p:sp>
        <p:nvSpPr>
          <p:cNvPr id="8" name="Shape 6"/>
          <p:cNvSpPr/>
          <p:nvPr/>
        </p:nvSpPr>
        <p:spPr>
          <a:xfrm>
            <a:off x="640080" y="1783080"/>
            <a:ext cx="475488" cy="347472"/>
          </a:xfrm>
          <a:prstGeom prst="rect">
            <a:avLst/>
          </a:prstGeom>
          <a:solidFill>
            <a:srgbClr val="EAF4F8"/>
          </a:solidFill>
          <a:ln w="9525">
            <a:solidFill>
              <a:srgbClr val="A9CDDB"/>
            </a:solidFill>
            <a:prstDash val="solid"/>
          </a:ln>
        </p:spPr>
      </p:sp>
      <p:sp>
        <p:nvSpPr>
          <p:cNvPr id="9" name="Text 7"/>
          <p:cNvSpPr/>
          <p:nvPr/>
        </p:nvSpPr>
        <p:spPr>
          <a:xfrm>
            <a:off x="640080" y="1783080"/>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10</a:t>
            </a:r>
            <a:endParaRPr lang="en-US" sz="1400" dirty="0"/>
          </a:p>
        </p:txBody>
      </p:sp>
      <p:sp>
        <p:nvSpPr>
          <p:cNvPr id="10" name="Shape 8"/>
          <p:cNvSpPr/>
          <p:nvPr/>
        </p:nvSpPr>
        <p:spPr>
          <a:xfrm>
            <a:off x="1115568" y="1783080"/>
            <a:ext cx="475488" cy="347472"/>
          </a:xfrm>
          <a:prstGeom prst="rect">
            <a:avLst/>
          </a:prstGeom>
          <a:solidFill>
            <a:srgbClr val="EAF4F8"/>
          </a:solidFill>
          <a:ln w="9525">
            <a:solidFill>
              <a:srgbClr val="A9CDDB"/>
            </a:solidFill>
            <a:prstDash val="solid"/>
          </a:ln>
        </p:spPr>
      </p:sp>
      <p:sp>
        <p:nvSpPr>
          <p:cNvPr id="11" name="Text 9"/>
          <p:cNvSpPr/>
          <p:nvPr/>
        </p:nvSpPr>
        <p:spPr>
          <a:xfrm>
            <a:off x="1115568" y="1783080"/>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11</a:t>
            </a:r>
            <a:endParaRPr lang="en-US" sz="1400" dirty="0"/>
          </a:p>
        </p:txBody>
      </p:sp>
      <p:sp>
        <p:nvSpPr>
          <p:cNvPr id="12" name="Shape 10"/>
          <p:cNvSpPr/>
          <p:nvPr/>
        </p:nvSpPr>
        <p:spPr>
          <a:xfrm>
            <a:off x="1591056" y="1783080"/>
            <a:ext cx="475488" cy="347472"/>
          </a:xfrm>
          <a:prstGeom prst="rect">
            <a:avLst/>
          </a:prstGeom>
          <a:solidFill>
            <a:srgbClr val="EAF4F8"/>
          </a:solidFill>
          <a:ln w="9525">
            <a:solidFill>
              <a:srgbClr val="A9CDDB"/>
            </a:solidFill>
            <a:prstDash val="solid"/>
          </a:ln>
        </p:spPr>
      </p:sp>
      <p:sp>
        <p:nvSpPr>
          <p:cNvPr id="13" name="Text 11"/>
          <p:cNvSpPr/>
          <p:nvPr/>
        </p:nvSpPr>
        <p:spPr>
          <a:xfrm>
            <a:off x="1591056" y="1783080"/>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12</a:t>
            </a:r>
            <a:endParaRPr lang="en-US" sz="1400" dirty="0"/>
          </a:p>
        </p:txBody>
      </p:sp>
      <p:sp>
        <p:nvSpPr>
          <p:cNvPr id="14" name="Shape 12"/>
          <p:cNvSpPr/>
          <p:nvPr/>
        </p:nvSpPr>
        <p:spPr>
          <a:xfrm>
            <a:off x="2066544" y="1783080"/>
            <a:ext cx="475488" cy="347472"/>
          </a:xfrm>
          <a:prstGeom prst="rect">
            <a:avLst/>
          </a:prstGeom>
          <a:solidFill>
            <a:srgbClr val="EAF4F8"/>
          </a:solidFill>
          <a:ln w="9525">
            <a:solidFill>
              <a:srgbClr val="A9CDDB"/>
            </a:solidFill>
            <a:prstDash val="solid"/>
          </a:ln>
        </p:spPr>
      </p:sp>
      <p:sp>
        <p:nvSpPr>
          <p:cNvPr id="15" name="Text 13"/>
          <p:cNvSpPr/>
          <p:nvPr/>
        </p:nvSpPr>
        <p:spPr>
          <a:xfrm>
            <a:off x="2066544" y="1783080"/>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13</a:t>
            </a:r>
            <a:endParaRPr lang="en-US" sz="1400" dirty="0"/>
          </a:p>
        </p:txBody>
      </p:sp>
      <p:sp>
        <p:nvSpPr>
          <p:cNvPr id="16" name="Shape 14"/>
          <p:cNvSpPr/>
          <p:nvPr/>
        </p:nvSpPr>
        <p:spPr>
          <a:xfrm>
            <a:off x="640080" y="2130552"/>
            <a:ext cx="475488" cy="347472"/>
          </a:xfrm>
          <a:prstGeom prst="rect">
            <a:avLst/>
          </a:prstGeom>
          <a:solidFill>
            <a:srgbClr val="EAF4F8"/>
          </a:solidFill>
          <a:ln w="9525">
            <a:solidFill>
              <a:srgbClr val="A9CDDB"/>
            </a:solidFill>
            <a:prstDash val="solid"/>
          </a:ln>
        </p:spPr>
      </p:sp>
      <p:sp>
        <p:nvSpPr>
          <p:cNvPr id="17" name="Text 15"/>
          <p:cNvSpPr/>
          <p:nvPr/>
        </p:nvSpPr>
        <p:spPr>
          <a:xfrm>
            <a:off x="640080" y="2130552"/>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20</a:t>
            </a:r>
            <a:endParaRPr lang="en-US" sz="1400" dirty="0"/>
          </a:p>
        </p:txBody>
      </p:sp>
      <p:sp>
        <p:nvSpPr>
          <p:cNvPr id="18" name="Shape 16"/>
          <p:cNvSpPr/>
          <p:nvPr/>
        </p:nvSpPr>
        <p:spPr>
          <a:xfrm>
            <a:off x="1115568" y="2130552"/>
            <a:ext cx="475488" cy="347472"/>
          </a:xfrm>
          <a:prstGeom prst="rect">
            <a:avLst/>
          </a:prstGeom>
          <a:solidFill>
            <a:srgbClr val="EAF4F8"/>
          </a:solidFill>
          <a:ln w="9525">
            <a:solidFill>
              <a:srgbClr val="A9CDDB"/>
            </a:solidFill>
            <a:prstDash val="solid"/>
          </a:ln>
        </p:spPr>
      </p:sp>
      <p:sp>
        <p:nvSpPr>
          <p:cNvPr id="19" name="Text 17"/>
          <p:cNvSpPr/>
          <p:nvPr/>
        </p:nvSpPr>
        <p:spPr>
          <a:xfrm>
            <a:off x="1115568" y="2130552"/>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21</a:t>
            </a:r>
            <a:endParaRPr lang="en-US" sz="1400" dirty="0"/>
          </a:p>
        </p:txBody>
      </p:sp>
      <p:sp>
        <p:nvSpPr>
          <p:cNvPr id="20" name="Shape 18"/>
          <p:cNvSpPr/>
          <p:nvPr/>
        </p:nvSpPr>
        <p:spPr>
          <a:xfrm>
            <a:off x="1591056" y="2130552"/>
            <a:ext cx="475488" cy="347472"/>
          </a:xfrm>
          <a:prstGeom prst="rect">
            <a:avLst/>
          </a:prstGeom>
          <a:solidFill>
            <a:srgbClr val="EAF4F8"/>
          </a:solidFill>
          <a:ln w="9525">
            <a:solidFill>
              <a:srgbClr val="A9CDDB"/>
            </a:solidFill>
            <a:prstDash val="solid"/>
          </a:ln>
        </p:spPr>
      </p:sp>
      <p:sp>
        <p:nvSpPr>
          <p:cNvPr id="21" name="Text 19"/>
          <p:cNvSpPr/>
          <p:nvPr/>
        </p:nvSpPr>
        <p:spPr>
          <a:xfrm>
            <a:off x="1591056" y="2130552"/>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22</a:t>
            </a:r>
            <a:endParaRPr lang="en-US" sz="1400" dirty="0"/>
          </a:p>
        </p:txBody>
      </p:sp>
      <p:sp>
        <p:nvSpPr>
          <p:cNvPr id="22" name="Shape 20"/>
          <p:cNvSpPr/>
          <p:nvPr/>
        </p:nvSpPr>
        <p:spPr>
          <a:xfrm>
            <a:off x="2066544" y="2130552"/>
            <a:ext cx="475488" cy="347472"/>
          </a:xfrm>
          <a:prstGeom prst="rect">
            <a:avLst/>
          </a:prstGeom>
          <a:solidFill>
            <a:srgbClr val="EAF4F8"/>
          </a:solidFill>
          <a:ln w="9525">
            <a:solidFill>
              <a:srgbClr val="A9CDDB"/>
            </a:solidFill>
            <a:prstDash val="solid"/>
          </a:ln>
        </p:spPr>
      </p:sp>
      <p:sp>
        <p:nvSpPr>
          <p:cNvPr id="23" name="Text 21"/>
          <p:cNvSpPr/>
          <p:nvPr/>
        </p:nvSpPr>
        <p:spPr>
          <a:xfrm>
            <a:off x="2066544" y="2130552"/>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23</a:t>
            </a:r>
            <a:endParaRPr lang="en-US" sz="1400" dirty="0"/>
          </a:p>
        </p:txBody>
      </p:sp>
      <p:sp>
        <p:nvSpPr>
          <p:cNvPr id="24" name="Shape 22"/>
          <p:cNvSpPr/>
          <p:nvPr/>
        </p:nvSpPr>
        <p:spPr>
          <a:xfrm>
            <a:off x="640080" y="2478024"/>
            <a:ext cx="475488" cy="347472"/>
          </a:xfrm>
          <a:prstGeom prst="rect">
            <a:avLst/>
          </a:prstGeom>
          <a:solidFill>
            <a:srgbClr val="EAF4F8"/>
          </a:solidFill>
          <a:ln w="9525">
            <a:solidFill>
              <a:srgbClr val="A9CDDB"/>
            </a:solidFill>
            <a:prstDash val="solid"/>
          </a:ln>
        </p:spPr>
      </p:sp>
      <p:sp>
        <p:nvSpPr>
          <p:cNvPr id="25" name="Text 23"/>
          <p:cNvSpPr/>
          <p:nvPr/>
        </p:nvSpPr>
        <p:spPr>
          <a:xfrm>
            <a:off x="640080" y="2478024"/>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30</a:t>
            </a:r>
            <a:endParaRPr lang="en-US" sz="1400" dirty="0"/>
          </a:p>
        </p:txBody>
      </p:sp>
      <p:sp>
        <p:nvSpPr>
          <p:cNvPr id="26" name="Shape 24"/>
          <p:cNvSpPr/>
          <p:nvPr/>
        </p:nvSpPr>
        <p:spPr>
          <a:xfrm>
            <a:off x="1115568" y="2478024"/>
            <a:ext cx="475488" cy="347472"/>
          </a:xfrm>
          <a:prstGeom prst="rect">
            <a:avLst/>
          </a:prstGeom>
          <a:solidFill>
            <a:srgbClr val="EAF4F8"/>
          </a:solidFill>
          <a:ln w="9525">
            <a:solidFill>
              <a:srgbClr val="A9CDDB"/>
            </a:solidFill>
            <a:prstDash val="solid"/>
          </a:ln>
        </p:spPr>
      </p:sp>
      <p:sp>
        <p:nvSpPr>
          <p:cNvPr id="27" name="Text 25"/>
          <p:cNvSpPr/>
          <p:nvPr/>
        </p:nvSpPr>
        <p:spPr>
          <a:xfrm>
            <a:off x="1115568" y="2478024"/>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31</a:t>
            </a:r>
            <a:endParaRPr lang="en-US" sz="1400" dirty="0"/>
          </a:p>
        </p:txBody>
      </p:sp>
      <p:sp>
        <p:nvSpPr>
          <p:cNvPr id="28" name="Shape 26"/>
          <p:cNvSpPr/>
          <p:nvPr/>
        </p:nvSpPr>
        <p:spPr>
          <a:xfrm>
            <a:off x="1591056" y="2478024"/>
            <a:ext cx="475488" cy="347472"/>
          </a:xfrm>
          <a:prstGeom prst="rect">
            <a:avLst/>
          </a:prstGeom>
          <a:solidFill>
            <a:srgbClr val="EAF4F8"/>
          </a:solidFill>
          <a:ln w="9525">
            <a:solidFill>
              <a:srgbClr val="A9CDDB"/>
            </a:solidFill>
            <a:prstDash val="solid"/>
          </a:ln>
        </p:spPr>
      </p:sp>
      <p:sp>
        <p:nvSpPr>
          <p:cNvPr id="29" name="Text 27"/>
          <p:cNvSpPr/>
          <p:nvPr/>
        </p:nvSpPr>
        <p:spPr>
          <a:xfrm>
            <a:off x="1591056" y="2478024"/>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32</a:t>
            </a:r>
            <a:endParaRPr lang="en-US" sz="1400" dirty="0"/>
          </a:p>
        </p:txBody>
      </p:sp>
      <p:sp>
        <p:nvSpPr>
          <p:cNvPr id="30" name="Shape 28"/>
          <p:cNvSpPr/>
          <p:nvPr/>
        </p:nvSpPr>
        <p:spPr>
          <a:xfrm>
            <a:off x="2066544" y="2478024"/>
            <a:ext cx="475488" cy="347472"/>
          </a:xfrm>
          <a:prstGeom prst="rect">
            <a:avLst/>
          </a:prstGeom>
          <a:solidFill>
            <a:srgbClr val="EAF4F8"/>
          </a:solidFill>
          <a:ln w="9525">
            <a:solidFill>
              <a:srgbClr val="A9CDDB"/>
            </a:solidFill>
            <a:prstDash val="solid"/>
          </a:ln>
        </p:spPr>
      </p:sp>
      <p:sp>
        <p:nvSpPr>
          <p:cNvPr id="31" name="Text 29"/>
          <p:cNvSpPr/>
          <p:nvPr/>
        </p:nvSpPr>
        <p:spPr>
          <a:xfrm>
            <a:off x="2066544" y="2478024"/>
            <a:ext cx="475488" cy="347472"/>
          </a:xfrm>
          <a:prstGeom prst="rect">
            <a:avLst/>
          </a:prstGeom>
          <a:noFill/>
          <a:ln/>
        </p:spPr>
        <p:txBody>
          <a:bodyPr wrap="square" lIns="0" tIns="0" rIns="0" bIns="0" rtlCol="0" anchor="ctr"/>
          <a:lstStyle/>
          <a:p>
            <a:pPr marL="0" indent="0" algn="ctr">
              <a:buNone/>
            </a:pPr>
            <a:r>
              <a:rPr lang="en-US" sz="1400" dirty="0">
                <a:solidFill>
                  <a:srgbClr val="062A3A"/>
                </a:solidFill>
                <a:latin typeface="Consolas" pitchFamily="34" charset="0"/>
                <a:ea typeface="Consolas" pitchFamily="34" charset="-122"/>
                <a:cs typeface="Consolas" pitchFamily="34" charset="-120"/>
              </a:rPr>
              <a:t>33</a:t>
            </a:r>
            <a:endParaRPr lang="en-US" sz="1400" dirty="0"/>
          </a:p>
        </p:txBody>
      </p:sp>
      <p:sp>
        <p:nvSpPr>
          <p:cNvPr id="32" name="Shape 30"/>
          <p:cNvSpPr/>
          <p:nvPr/>
        </p:nvSpPr>
        <p:spPr>
          <a:xfrm>
            <a:off x="2788920" y="1783080"/>
            <a:ext cx="475488" cy="347472"/>
          </a:xfrm>
          <a:prstGeom prst="rect">
            <a:avLst/>
          </a:prstGeom>
          <a:solidFill>
            <a:srgbClr val="F1F7F9"/>
          </a:solidFill>
          <a:ln w="9525">
            <a:solidFill>
              <a:srgbClr val="B9D7E4"/>
            </a:solidFill>
            <a:prstDash val="solid"/>
          </a:ln>
        </p:spPr>
      </p:sp>
      <p:sp>
        <p:nvSpPr>
          <p:cNvPr id="33" name="Text 31"/>
          <p:cNvSpPr/>
          <p:nvPr/>
        </p:nvSpPr>
        <p:spPr>
          <a:xfrm>
            <a:off x="2788920" y="1783080"/>
            <a:ext cx="475488" cy="34747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F</a:t>
            </a:r>
            <a:endParaRPr lang="en-US" sz="2000" dirty="0"/>
          </a:p>
        </p:txBody>
      </p:sp>
      <p:sp>
        <p:nvSpPr>
          <p:cNvPr id="34" name="Shape 32"/>
          <p:cNvSpPr/>
          <p:nvPr/>
        </p:nvSpPr>
        <p:spPr>
          <a:xfrm>
            <a:off x="3264408" y="1783080"/>
            <a:ext cx="475488" cy="347472"/>
          </a:xfrm>
          <a:prstGeom prst="rect">
            <a:avLst/>
          </a:prstGeom>
          <a:solidFill>
            <a:srgbClr val="F1F7F9"/>
          </a:solidFill>
          <a:ln w="9525">
            <a:solidFill>
              <a:srgbClr val="B9D7E4"/>
            </a:solidFill>
            <a:prstDash val="solid"/>
          </a:ln>
        </p:spPr>
      </p:sp>
      <p:sp>
        <p:nvSpPr>
          <p:cNvPr id="35" name="Text 33"/>
          <p:cNvSpPr/>
          <p:nvPr/>
        </p:nvSpPr>
        <p:spPr>
          <a:xfrm>
            <a:off x="3264408" y="1783080"/>
            <a:ext cx="475488" cy="34747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F</a:t>
            </a:r>
            <a:endParaRPr lang="en-US" sz="2000" dirty="0"/>
          </a:p>
        </p:txBody>
      </p:sp>
      <p:sp>
        <p:nvSpPr>
          <p:cNvPr id="36" name="Shape 34"/>
          <p:cNvSpPr/>
          <p:nvPr/>
        </p:nvSpPr>
        <p:spPr>
          <a:xfrm>
            <a:off x="3739896" y="1783080"/>
            <a:ext cx="475488" cy="347472"/>
          </a:xfrm>
          <a:prstGeom prst="rect">
            <a:avLst/>
          </a:prstGeom>
          <a:solidFill>
            <a:srgbClr val="F1F7F9"/>
          </a:solidFill>
          <a:ln w="9525">
            <a:solidFill>
              <a:srgbClr val="B9D7E4"/>
            </a:solidFill>
            <a:prstDash val="solid"/>
          </a:ln>
        </p:spPr>
        <p:txBody>
          <a:bodyPr/>
          <a:lstStyle/>
          <a:p>
            <a:endParaRPr lang="vi-VN" dirty="0"/>
          </a:p>
        </p:txBody>
      </p:sp>
      <p:sp>
        <p:nvSpPr>
          <p:cNvPr id="37" name="Text 35"/>
          <p:cNvSpPr/>
          <p:nvPr/>
        </p:nvSpPr>
        <p:spPr>
          <a:xfrm>
            <a:off x="3739896" y="1783080"/>
            <a:ext cx="475488" cy="34747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F</a:t>
            </a:r>
            <a:endParaRPr lang="en-US" sz="2000" dirty="0"/>
          </a:p>
        </p:txBody>
      </p:sp>
      <p:sp>
        <p:nvSpPr>
          <p:cNvPr id="38" name="Shape 36"/>
          <p:cNvSpPr/>
          <p:nvPr/>
        </p:nvSpPr>
        <p:spPr>
          <a:xfrm>
            <a:off x="4215384" y="1783080"/>
            <a:ext cx="475488" cy="347472"/>
          </a:xfrm>
          <a:prstGeom prst="rect">
            <a:avLst/>
          </a:prstGeom>
          <a:solidFill>
            <a:srgbClr val="F1F7F9"/>
          </a:solidFill>
          <a:ln w="9525">
            <a:solidFill>
              <a:srgbClr val="B9D7E4"/>
            </a:solidFill>
            <a:prstDash val="solid"/>
          </a:ln>
        </p:spPr>
      </p:sp>
      <p:sp>
        <p:nvSpPr>
          <p:cNvPr id="39" name="Text 37"/>
          <p:cNvSpPr/>
          <p:nvPr/>
        </p:nvSpPr>
        <p:spPr>
          <a:xfrm>
            <a:off x="4215384" y="1783080"/>
            <a:ext cx="475488" cy="347472"/>
          </a:xfrm>
          <a:prstGeom prst="rect">
            <a:avLst/>
          </a:prstGeom>
          <a:noFill/>
          <a:ln/>
        </p:spPr>
        <p:txBody>
          <a:bodyPr wrap="square" lIns="0" tIns="0" rIns="0" bIns="0" rtlCol="0" anchor="ctr"/>
          <a:lstStyle/>
          <a:p>
            <a:pPr marL="0" indent="0" algn="ctr">
              <a:buNone/>
            </a:pPr>
            <a:r>
              <a:rPr lang="en-US" sz="2000" dirty="0"/>
              <a:t>F</a:t>
            </a:r>
          </a:p>
        </p:txBody>
      </p:sp>
      <p:sp>
        <p:nvSpPr>
          <p:cNvPr id="40" name="Shape 38"/>
          <p:cNvSpPr/>
          <p:nvPr/>
        </p:nvSpPr>
        <p:spPr>
          <a:xfrm>
            <a:off x="2788920" y="2130552"/>
            <a:ext cx="475488" cy="347472"/>
          </a:xfrm>
          <a:prstGeom prst="rect">
            <a:avLst/>
          </a:prstGeom>
          <a:solidFill>
            <a:srgbClr val="F1F7F9"/>
          </a:solidFill>
          <a:ln w="9525">
            <a:solidFill>
              <a:srgbClr val="B9D7E4"/>
            </a:solidFill>
            <a:prstDash val="solid"/>
          </a:ln>
        </p:spPr>
      </p:sp>
      <p:sp>
        <p:nvSpPr>
          <p:cNvPr id="41" name="Text 39"/>
          <p:cNvSpPr/>
          <p:nvPr/>
        </p:nvSpPr>
        <p:spPr>
          <a:xfrm>
            <a:off x="2788920" y="2130552"/>
            <a:ext cx="475488" cy="34747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F</a:t>
            </a:r>
            <a:endParaRPr lang="en-US" sz="2000" dirty="0"/>
          </a:p>
        </p:txBody>
      </p:sp>
      <p:sp>
        <p:nvSpPr>
          <p:cNvPr id="42" name="Shape 40"/>
          <p:cNvSpPr/>
          <p:nvPr/>
        </p:nvSpPr>
        <p:spPr>
          <a:xfrm>
            <a:off x="3264408" y="2130552"/>
            <a:ext cx="475488" cy="347472"/>
          </a:xfrm>
          <a:prstGeom prst="rect">
            <a:avLst/>
          </a:prstGeom>
          <a:solidFill>
            <a:srgbClr val="F1F7F9"/>
          </a:solidFill>
          <a:ln w="9525">
            <a:solidFill>
              <a:srgbClr val="B9D7E4"/>
            </a:solidFill>
            <a:prstDash val="solid"/>
          </a:ln>
        </p:spPr>
      </p:sp>
      <p:sp>
        <p:nvSpPr>
          <p:cNvPr id="43" name="Text 41"/>
          <p:cNvSpPr/>
          <p:nvPr/>
        </p:nvSpPr>
        <p:spPr>
          <a:xfrm>
            <a:off x="3264408" y="2130552"/>
            <a:ext cx="475488" cy="34747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F</a:t>
            </a:r>
            <a:endParaRPr lang="en-US" sz="2000" dirty="0"/>
          </a:p>
        </p:txBody>
      </p:sp>
      <p:sp>
        <p:nvSpPr>
          <p:cNvPr id="44" name="Shape 42"/>
          <p:cNvSpPr/>
          <p:nvPr/>
        </p:nvSpPr>
        <p:spPr>
          <a:xfrm>
            <a:off x="3739896" y="2130552"/>
            <a:ext cx="475488" cy="347472"/>
          </a:xfrm>
          <a:prstGeom prst="rect">
            <a:avLst/>
          </a:prstGeom>
          <a:solidFill>
            <a:srgbClr val="2D8C6F"/>
          </a:solidFill>
          <a:ln w="9525">
            <a:solidFill>
              <a:srgbClr val="B9D7E4"/>
            </a:solidFill>
            <a:prstDash val="solid"/>
          </a:ln>
        </p:spPr>
      </p:sp>
      <p:sp>
        <p:nvSpPr>
          <p:cNvPr id="45" name="Text 43"/>
          <p:cNvSpPr/>
          <p:nvPr/>
        </p:nvSpPr>
        <p:spPr>
          <a:xfrm>
            <a:off x="3739896" y="2130552"/>
            <a:ext cx="475488" cy="347472"/>
          </a:xfrm>
          <a:prstGeom prst="rect">
            <a:avLst/>
          </a:prstGeom>
          <a:noFill/>
          <a:ln/>
        </p:spPr>
        <p:txBody>
          <a:bodyPr wrap="square" lIns="0" tIns="0" rIns="0" bIns="0" rtlCol="0" anchor="ctr"/>
          <a:lstStyle/>
          <a:p>
            <a:pPr marL="0" indent="0" algn="ctr">
              <a:buNone/>
            </a:pPr>
            <a:r>
              <a:rPr lang="en-US" sz="2000" dirty="0">
                <a:solidFill>
                  <a:srgbClr val="FFFFFF"/>
                </a:solidFill>
                <a:latin typeface="Consolas" pitchFamily="34" charset="0"/>
                <a:ea typeface="Consolas" pitchFamily="34" charset="-122"/>
                <a:cs typeface="Consolas" pitchFamily="34" charset="-120"/>
              </a:rPr>
              <a:t>T</a:t>
            </a:r>
            <a:endParaRPr lang="en-US" sz="2000" dirty="0"/>
          </a:p>
        </p:txBody>
      </p:sp>
      <p:sp>
        <p:nvSpPr>
          <p:cNvPr id="46" name="Shape 44"/>
          <p:cNvSpPr/>
          <p:nvPr/>
        </p:nvSpPr>
        <p:spPr>
          <a:xfrm>
            <a:off x="4215384" y="2130552"/>
            <a:ext cx="475488" cy="347472"/>
          </a:xfrm>
          <a:prstGeom prst="rect">
            <a:avLst/>
          </a:prstGeom>
          <a:solidFill>
            <a:srgbClr val="2D8C6F"/>
          </a:solidFill>
          <a:ln w="9525">
            <a:solidFill>
              <a:srgbClr val="B9D7E4"/>
            </a:solidFill>
            <a:prstDash val="solid"/>
          </a:ln>
        </p:spPr>
      </p:sp>
      <p:sp>
        <p:nvSpPr>
          <p:cNvPr id="47" name="Text 45"/>
          <p:cNvSpPr/>
          <p:nvPr/>
        </p:nvSpPr>
        <p:spPr>
          <a:xfrm>
            <a:off x="4215384" y="2130552"/>
            <a:ext cx="475488" cy="347472"/>
          </a:xfrm>
          <a:prstGeom prst="rect">
            <a:avLst/>
          </a:prstGeom>
          <a:noFill/>
          <a:ln/>
        </p:spPr>
        <p:txBody>
          <a:bodyPr wrap="square" lIns="0" tIns="0" rIns="0" bIns="0" rtlCol="0" anchor="ctr"/>
          <a:lstStyle/>
          <a:p>
            <a:pPr marL="0" indent="0" algn="ctr">
              <a:buNone/>
            </a:pPr>
            <a:r>
              <a:rPr lang="en-US" sz="2000" dirty="0">
                <a:solidFill>
                  <a:srgbClr val="FFFFFF"/>
                </a:solidFill>
                <a:latin typeface="Consolas" pitchFamily="34" charset="0"/>
                <a:ea typeface="Consolas" pitchFamily="34" charset="-122"/>
                <a:cs typeface="Consolas" pitchFamily="34" charset="-120"/>
              </a:rPr>
              <a:t>T</a:t>
            </a:r>
            <a:endParaRPr lang="en-US" sz="2000" dirty="0"/>
          </a:p>
        </p:txBody>
      </p:sp>
      <p:sp>
        <p:nvSpPr>
          <p:cNvPr id="48" name="Shape 46"/>
          <p:cNvSpPr/>
          <p:nvPr/>
        </p:nvSpPr>
        <p:spPr>
          <a:xfrm>
            <a:off x="2788920" y="2478024"/>
            <a:ext cx="475488" cy="347472"/>
          </a:xfrm>
          <a:prstGeom prst="rect">
            <a:avLst/>
          </a:prstGeom>
          <a:solidFill>
            <a:srgbClr val="2D8C6F"/>
          </a:solidFill>
          <a:ln w="9525">
            <a:solidFill>
              <a:srgbClr val="B9D7E4"/>
            </a:solidFill>
            <a:prstDash val="solid"/>
          </a:ln>
        </p:spPr>
      </p:sp>
      <p:sp>
        <p:nvSpPr>
          <p:cNvPr id="49" name="Text 47"/>
          <p:cNvSpPr/>
          <p:nvPr/>
        </p:nvSpPr>
        <p:spPr>
          <a:xfrm>
            <a:off x="2788920" y="2478024"/>
            <a:ext cx="475488" cy="347472"/>
          </a:xfrm>
          <a:prstGeom prst="rect">
            <a:avLst/>
          </a:prstGeom>
          <a:noFill/>
          <a:ln/>
        </p:spPr>
        <p:txBody>
          <a:bodyPr wrap="square" lIns="0" tIns="0" rIns="0" bIns="0" rtlCol="0" anchor="ctr"/>
          <a:lstStyle/>
          <a:p>
            <a:pPr marL="0" indent="0" algn="ctr">
              <a:buNone/>
            </a:pPr>
            <a:r>
              <a:rPr lang="en-US" sz="2000" dirty="0">
                <a:solidFill>
                  <a:srgbClr val="FFFFFF"/>
                </a:solidFill>
                <a:latin typeface="Consolas" pitchFamily="34" charset="0"/>
                <a:ea typeface="Consolas" pitchFamily="34" charset="-122"/>
                <a:cs typeface="Consolas" pitchFamily="34" charset="-120"/>
              </a:rPr>
              <a:t>T</a:t>
            </a:r>
            <a:endParaRPr lang="en-US" sz="2000" dirty="0"/>
          </a:p>
        </p:txBody>
      </p:sp>
      <p:sp>
        <p:nvSpPr>
          <p:cNvPr id="50" name="Shape 48"/>
          <p:cNvSpPr/>
          <p:nvPr/>
        </p:nvSpPr>
        <p:spPr>
          <a:xfrm>
            <a:off x="3264408" y="2478024"/>
            <a:ext cx="475488" cy="347472"/>
          </a:xfrm>
          <a:prstGeom prst="rect">
            <a:avLst/>
          </a:prstGeom>
          <a:solidFill>
            <a:srgbClr val="2D8C6F"/>
          </a:solidFill>
          <a:ln w="9525">
            <a:solidFill>
              <a:srgbClr val="B9D7E4"/>
            </a:solidFill>
            <a:prstDash val="solid"/>
          </a:ln>
        </p:spPr>
      </p:sp>
      <p:sp>
        <p:nvSpPr>
          <p:cNvPr id="51" name="Text 49"/>
          <p:cNvSpPr/>
          <p:nvPr/>
        </p:nvSpPr>
        <p:spPr>
          <a:xfrm>
            <a:off x="3264408" y="2478024"/>
            <a:ext cx="475488" cy="347472"/>
          </a:xfrm>
          <a:prstGeom prst="rect">
            <a:avLst/>
          </a:prstGeom>
          <a:noFill/>
          <a:ln/>
        </p:spPr>
        <p:txBody>
          <a:bodyPr wrap="square" lIns="0" tIns="0" rIns="0" bIns="0" rtlCol="0" anchor="ctr"/>
          <a:lstStyle/>
          <a:p>
            <a:pPr marL="0" indent="0" algn="ctr">
              <a:buNone/>
            </a:pPr>
            <a:r>
              <a:rPr lang="en-US" sz="2000" dirty="0">
                <a:solidFill>
                  <a:srgbClr val="FFFFFF"/>
                </a:solidFill>
                <a:latin typeface="Consolas" pitchFamily="34" charset="0"/>
                <a:ea typeface="Consolas" pitchFamily="34" charset="-122"/>
                <a:cs typeface="Consolas" pitchFamily="34" charset="-120"/>
              </a:rPr>
              <a:t>T</a:t>
            </a:r>
            <a:endParaRPr lang="en-US" sz="2000" dirty="0"/>
          </a:p>
        </p:txBody>
      </p:sp>
      <p:sp>
        <p:nvSpPr>
          <p:cNvPr id="52" name="Shape 50"/>
          <p:cNvSpPr/>
          <p:nvPr/>
        </p:nvSpPr>
        <p:spPr>
          <a:xfrm>
            <a:off x="3739896" y="2478024"/>
            <a:ext cx="475488" cy="347472"/>
          </a:xfrm>
          <a:prstGeom prst="rect">
            <a:avLst/>
          </a:prstGeom>
          <a:solidFill>
            <a:srgbClr val="2D8C6F"/>
          </a:solidFill>
          <a:ln w="9525">
            <a:solidFill>
              <a:srgbClr val="B9D7E4"/>
            </a:solidFill>
            <a:prstDash val="solid"/>
          </a:ln>
        </p:spPr>
      </p:sp>
      <p:sp>
        <p:nvSpPr>
          <p:cNvPr id="53" name="Text 51"/>
          <p:cNvSpPr/>
          <p:nvPr/>
        </p:nvSpPr>
        <p:spPr>
          <a:xfrm>
            <a:off x="3739896" y="2478024"/>
            <a:ext cx="475488" cy="347472"/>
          </a:xfrm>
          <a:prstGeom prst="rect">
            <a:avLst/>
          </a:prstGeom>
          <a:noFill/>
          <a:ln/>
        </p:spPr>
        <p:txBody>
          <a:bodyPr wrap="square" lIns="0" tIns="0" rIns="0" bIns="0" rtlCol="0" anchor="ctr"/>
          <a:lstStyle/>
          <a:p>
            <a:pPr marL="0" indent="0" algn="ctr">
              <a:buNone/>
            </a:pPr>
            <a:r>
              <a:rPr lang="en-US" sz="2000" dirty="0">
                <a:solidFill>
                  <a:srgbClr val="FFFFFF"/>
                </a:solidFill>
                <a:latin typeface="Consolas" pitchFamily="34" charset="0"/>
                <a:ea typeface="Consolas" pitchFamily="34" charset="-122"/>
                <a:cs typeface="Consolas" pitchFamily="34" charset="-120"/>
              </a:rPr>
              <a:t>T</a:t>
            </a:r>
            <a:endParaRPr lang="en-US" sz="2000" dirty="0"/>
          </a:p>
        </p:txBody>
      </p:sp>
      <p:sp>
        <p:nvSpPr>
          <p:cNvPr id="54" name="Shape 52"/>
          <p:cNvSpPr/>
          <p:nvPr/>
        </p:nvSpPr>
        <p:spPr>
          <a:xfrm>
            <a:off x="4215384" y="2478024"/>
            <a:ext cx="475488" cy="347472"/>
          </a:xfrm>
          <a:prstGeom prst="rect">
            <a:avLst/>
          </a:prstGeom>
          <a:solidFill>
            <a:srgbClr val="2D8C6F"/>
          </a:solidFill>
          <a:ln w="9525">
            <a:solidFill>
              <a:srgbClr val="B9D7E4"/>
            </a:solidFill>
            <a:prstDash val="solid"/>
          </a:ln>
        </p:spPr>
      </p:sp>
      <p:sp>
        <p:nvSpPr>
          <p:cNvPr id="55" name="Text 53"/>
          <p:cNvSpPr/>
          <p:nvPr/>
        </p:nvSpPr>
        <p:spPr>
          <a:xfrm>
            <a:off x="4215384" y="2478024"/>
            <a:ext cx="475488" cy="347472"/>
          </a:xfrm>
          <a:prstGeom prst="rect">
            <a:avLst/>
          </a:prstGeom>
          <a:noFill/>
          <a:ln/>
        </p:spPr>
        <p:txBody>
          <a:bodyPr wrap="square" lIns="0" tIns="0" rIns="0" bIns="0" rtlCol="0" anchor="ctr"/>
          <a:lstStyle/>
          <a:p>
            <a:pPr marL="0" indent="0" algn="ctr">
              <a:buNone/>
            </a:pPr>
            <a:r>
              <a:rPr lang="en-US" sz="2000" dirty="0">
                <a:solidFill>
                  <a:srgbClr val="FFFFFF"/>
                </a:solidFill>
                <a:latin typeface="Consolas" pitchFamily="34" charset="0"/>
                <a:ea typeface="Consolas" pitchFamily="34" charset="-122"/>
                <a:cs typeface="Consolas" pitchFamily="34" charset="-120"/>
              </a:rPr>
              <a:t>T</a:t>
            </a:r>
            <a:endParaRPr lang="en-US" sz="2000" dirty="0"/>
          </a:p>
        </p:txBody>
      </p:sp>
      <p:sp>
        <p:nvSpPr>
          <p:cNvPr id="56" name="Shape 54"/>
          <p:cNvSpPr/>
          <p:nvPr/>
        </p:nvSpPr>
        <p:spPr>
          <a:xfrm>
            <a:off x="4983480" y="1783080"/>
            <a:ext cx="1417320" cy="347472"/>
          </a:xfrm>
          <a:prstGeom prst="rect">
            <a:avLst/>
          </a:prstGeom>
          <a:solidFill>
            <a:srgbClr val="EAF4F8"/>
          </a:solidFill>
          <a:ln w="9525">
            <a:solidFill>
              <a:srgbClr val="A9CDDB"/>
            </a:solidFill>
            <a:prstDash val="solid"/>
          </a:ln>
        </p:spPr>
      </p:sp>
      <p:sp>
        <p:nvSpPr>
          <p:cNvPr id="57" name="Text 55"/>
          <p:cNvSpPr/>
          <p:nvPr/>
        </p:nvSpPr>
        <p:spPr>
          <a:xfrm>
            <a:off x="4983480" y="1783080"/>
            <a:ext cx="1417320" cy="347472"/>
          </a:xfrm>
          <a:prstGeom prst="rect">
            <a:avLst/>
          </a:prstGeom>
          <a:noFill/>
          <a:ln/>
        </p:spPr>
        <p:txBody>
          <a:bodyPr wrap="square" lIns="0" tIns="0" rIns="0" bIns="0" rtlCol="0" anchor="ctr"/>
          <a:lstStyle/>
          <a:p>
            <a:pPr marL="0" indent="0" algn="ctr">
              <a:buNone/>
            </a:pPr>
            <a:r>
              <a:rPr lang="en-US" sz="1500" b="1" dirty="0">
                <a:solidFill>
                  <a:srgbClr val="2D8C6F"/>
                </a:solidFill>
                <a:latin typeface="Consolas" pitchFamily="34" charset="0"/>
                <a:ea typeface="Consolas" pitchFamily="34" charset="-122"/>
                <a:cs typeface="Consolas" pitchFamily="34" charset="-120"/>
              </a:rPr>
              <a:t>22</a:t>
            </a:r>
            <a:endParaRPr lang="en-US" sz="1500" dirty="0"/>
          </a:p>
        </p:txBody>
      </p:sp>
      <p:sp>
        <p:nvSpPr>
          <p:cNvPr id="58" name="Shape 56"/>
          <p:cNvSpPr/>
          <p:nvPr/>
        </p:nvSpPr>
        <p:spPr>
          <a:xfrm>
            <a:off x="4983480" y="2130552"/>
            <a:ext cx="1417320" cy="347472"/>
          </a:xfrm>
          <a:prstGeom prst="rect">
            <a:avLst/>
          </a:prstGeom>
          <a:solidFill>
            <a:srgbClr val="EAF4F8"/>
          </a:solidFill>
          <a:ln w="9525">
            <a:solidFill>
              <a:srgbClr val="A9CDDB"/>
            </a:solidFill>
            <a:prstDash val="solid"/>
          </a:ln>
        </p:spPr>
      </p:sp>
      <p:sp>
        <p:nvSpPr>
          <p:cNvPr id="59" name="Text 57"/>
          <p:cNvSpPr/>
          <p:nvPr/>
        </p:nvSpPr>
        <p:spPr>
          <a:xfrm>
            <a:off x="4983480" y="2130552"/>
            <a:ext cx="1417320" cy="347472"/>
          </a:xfrm>
          <a:prstGeom prst="rect">
            <a:avLst/>
          </a:prstGeom>
          <a:noFill/>
          <a:ln/>
        </p:spPr>
        <p:txBody>
          <a:bodyPr wrap="square" lIns="0" tIns="0" rIns="0" bIns="0" rtlCol="0" anchor="ctr"/>
          <a:lstStyle/>
          <a:p>
            <a:pPr marL="0" indent="0" algn="ctr">
              <a:buNone/>
            </a:pPr>
            <a:r>
              <a:rPr lang="en-US" sz="1500" b="1" dirty="0">
                <a:solidFill>
                  <a:srgbClr val="2D8C6F"/>
                </a:solidFill>
                <a:latin typeface="Consolas" pitchFamily="34" charset="0"/>
                <a:ea typeface="Consolas" pitchFamily="34" charset="-122"/>
                <a:cs typeface="Consolas" pitchFamily="34" charset="-120"/>
              </a:rPr>
              <a:t>23</a:t>
            </a:r>
            <a:endParaRPr lang="en-US" sz="1500" dirty="0"/>
          </a:p>
        </p:txBody>
      </p:sp>
      <p:sp>
        <p:nvSpPr>
          <p:cNvPr id="60" name="Shape 58"/>
          <p:cNvSpPr/>
          <p:nvPr/>
        </p:nvSpPr>
        <p:spPr>
          <a:xfrm>
            <a:off x="4983480" y="2478024"/>
            <a:ext cx="1417320" cy="347472"/>
          </a:xfrm>
          <a:prstGeom prst="rect">
            <a:avLst/>
          </a:prstGeom>
          <a:solidFill>
            <a:srgbClr val="EAF4F8"/>
          </a:solidFill>
          <a:ln w="9525">
            <a:solidFill>
              <a:srgbClr val="A9CDDB"/>
            </a:solidFill>
            <a:prstDash val="solid"/>
          </a:ln>
        </p:spPr>
      </p:sp>
      <p:sp>
        <p:nvSpPr>
          <p:cNvPr id="61" name="Text 59"/>
          <p:cNvSpPr/>
          <p:nvPr/>
        </p:nvSpPr>
        <p:spPr>
          <a:xfrm>
            <a:off x="4983480" y="2478024"/>
            <a:ext cx="1417320" cy="347472"/>
          </a:xfrm>
          <a:prstGeom prst="rect">
            <a:avLst/>
          </a:prstGeom>
          <a:noFill/>
          <a:ln/>
        </p:spPr>
        <p:txBody>
          <a:bodyPr wrap="square" lIns="0" tIns="0" rIns="0" bIns="0" rtlCol="0" anchor="ctr"/>
          <a:lstStyle/>
          <a:p>
            <a:pPr marL="0" indent="0" algn="ctr">
              <a:buNone/>
            </a:pPr>
            <a:r>
              <a:rPr lang="en-US" sz="1500" b="1" dirty="0">
                <a:solidFill>
                  <a:srgbClr val="2D8C6F"/>
                </a:solidFill>
                <a:latin typeface="Consolas" pitchFamily="34" charset="0"/>
                <a:ea typeface="Consolas" pitchFamily="34" charset="-122"/>
                <a:cs typeface="Consolas" pitchFamily="34" charset="-120"/>
              </a:rPr>
              <a:t>30</a:t>
            </a:r>
            <a:endParaRPr lang="en-US" sz="1500" dirty="0"/>
          </a:p>
        </p:txBody>
      </p:sp>
      <p:sp>
        <p:nvSpPr>
          <p:cNvPr id="62" name="Shape 60"/>
          <p:cNvSpPr/>
          <p:nvPr/>
        </p:nvSpPr>
        <p:spPr>
          <a:xfrm>
            <a:off x="4983480" y="2825496"/>
            <a:ext cx="1417320" cy="347472"/>
          </a:xfrm>
          <a:prstGeom prst="rect">
            <a:avLst/>
          </a:prstGeom>
          <a:solidFill>
            <a:srgbClr val="EAF4F8"/>
          </a:solidFill>
          <a:ln w="9525">
            <a:solidFill>
              <a:srgbClr val="A9CDDB"/>
            </a:solidFill>
            <a:prstDash val="solid"/>
          </a:ln>
        </p:spPr>
      </p:sp>
      <p:sp>
        <p:nvSpPr>
          <p:cNvPr id="63" name="Text 61"/>
          <p:cNvSpPr/>
          <p:nvPr/>
        </p:nvSpPr>
        <p:spPr>
          <a:xfrm>
            <a:off x="4983480" y="2825496"/>
            <a:ext cx="1417320" cy="347472"/>
          </a:xfrm>
          <a:prstGeom prst="rect">
            <a:avLst/>
          </a:prstGeom>
          <a:noFill/>
          <a:ln/>
        </p:spPr>
        <p:txBody>
          <a:bodyPr wrap="square" lIns="0" tIns="0" rIns="0" bIns="0" rtlCol="0" anchor="ctr"/>
          <a:lstStyle/>
          <a:p>
            <a:pPr marL="0" indent="0" algn="ctr">
              <a:buNone/>
            </a:pPr>
            <a:r>
              <a:rPr lang="en-US" sz="1500" b="1" dirty="0">
                <a:solidFill>
                  <a:srgbClr val="2D8C6F"/>
                </a:solidFill>
                <a:latin typeface="Consolas" pitchFamily="34" charset="0"/>
                <a:ea typeface="Consolas" pitchFamily="34" charset="-122"/>
                <a:cs typeface="Consolas" pitchFamily="34" charset="-120"/>
              </a:rPr>
              <a:t>31</a:t>
            </a:r>
            <a:endParaRPr lang="en-US" sz="1500" dirty="0"/>
          </a:p>
        </p:txBody>
      </p:sp>
      <p:sp>
        <p:nvSpPr>
          <p:cNvPr id="64" name="Shape 62"/>
          <p:cNvSpPr/>
          <p:nvPr/>
        </p:nvSpPr>
        <p:spPr>
          <a:xfrm>
            <a:off x="4983480" y="3172968"/>
            <a:ext cx="1417320" cy="347472"/>
          </a:xfrm>
          <a:prstGeom prst="rect">
            <a:avLst/>
          </a:prstGeom>
          <a:solidFill>
            <a:srgbClr val="EAF4F8"/>
          </a:solidFill>
          <a:ln w="9525">
            <a:solidFill>
              <a:srgbClr val="A9CDDB"/>
            </a:solidFill>
            <a:prstDash val="solid"/>
          </a:ln>
        </p:spPr>
      </p:sp>
      <p:sp>
        <p:nvSpPr>
          <p:cNvPr id="65" name="Text 63"/>
          <p:cNvSpPr/>
          <p:nvPr/>
        </p:nvSpPr>
        <p:spPr>
          <a:xfrm>
            <a:off x="4983480" y="3172968"/>
            <a:ext cx="1417320" cy="347472"/>
          </a:xfrm>
          <a:prstGeom prst="rect">
            <a:avLst/>
          </a:prstGeom>
          <a:noFill/>
          <a:ln/>
        </p:spPr>
        <p:txBody>
          <a:bodyPr wrap="square" lIns="0" tIns="0" rIns="0" bIns="0" rtlCol="0" anchor="ctr"/>
          <a:lstStyle/>
          <a:p>
            <a:pPr marL="0" indent="0" algn="ctr">
              <a:buNone/>
            </a:pPr>
            <a:r>
              <a:rPr lang="en-US" sz="1500" b="1" dirty="0">
                <a:solidFill>
                  <a:srgbClr val="2D8C6F"/>
                </a:solidFill>
                <a:latin typeface="Consolas" pitchFamily="34" charset="0"/>
                <a:ea typeface="Consolas" pitchFamily="34" charset="-122"/>
                <a:cs typeface="Consolas" pitchFamily="34" charset="-120"/>
              </a:rPr>
              <a:t>32</a:t>
            </a:r>
            <a:endParaRPr lang="en-US" sz="1500" dirty="0"/>
          </a:p>
        </p:txBody>
      </p:sp>
      <p:sp>
        <p:nvSpPr>
          <p:cNvPr id="66" name="Shape 64"/>
          <p:cNvSpPr/>
          <p:nvPr/>
        </p:nvSpPr>
        <p:spPr>
          <a:xfrm>
            <a:off x="4983480" y="3520440"/>
            <a:ext cx="1417320" cy="347472"/>
          </a:xfrm>
          <a:prstGeom prst="rect">
            <a:avLst/>
          </a:prstGeom>
          <a:solidFill>
            <a:srgbClr val="EAF4F8"/>
          </a:solidFill>
          <a:ln w="9525">
            <a:solidFill>
              <a:srgbClr val="A9CDDB"/>
            </a:solidFill>
            <a:prstDash val="solid"/>
          </a:ln>
        </p:spPr>
      </p:sp>
      <p:sp>
        <p:nvSpPr>
          <p:cNvPr id="67" name="Text 65"/>
          <p:cNvSpPr/>
          <p:nvPr/>
        </p:nvSpPr>
        <p:spPr>
          <a:xfrm>
            <a:off x="4983480" y="3520440"/>
            <a:ext cx="1417320" cy="347472"/>
          </a:xfrm>
          <a:prstGeom prst="rect">
            <a:avLst/>
          </a:prstGeom>
          <a:noFill/>
          <a:ln/>
        </p:spPr>
        <p:txBody>
          <a:bodyPr wrap="square" lIns="0" tIns="0" rIns="0" bIns="0" rtlCol="0" anchor="ctr"/>
          <a:lstStyle/>
          <a:p>
            <a:pPr marL="0" indent="0" algn="ctr">
              <a:buNone/>
            </a:pPr>
            <a:r>
              <a:rPr lang="en-US" sz="1500" b="1" dirty="0">
                <a:solidFill>
                  <a:srgbClr val="2D8C6F"/>
                </a:solidFill>
                <a:latin typeface="Consolas" pitchFamily="34" charset="0"/>
                <a:ea typeface="Consolas" pitchFamily="34" charset="-122"/>
                <a:cs typeface="Consolas" pitchFamily="34" charset="-120"/>
              </a:rPr>
              <a:t>33</a:t>
            </a:r>
            <a:endParaRPr lang="en-US" sz="1500" dirty="0"/>
          </a:p>
        </p:txBody>
      </p:sp>
      <p:sp>
        <p:nvSpPr>
          <p:cNvPr id="68" name="Text 66"/>
          <p:cNvSpPr/>
          <p:nvPr/>
        </p:nvSpPr>
        <p:spPr>
          <a:xfrm>
            <a:off x="2788920" y="2988035"/>
            <a:ext cx="2011680" cy="219456"/>
          </a:xfrm>
          <a:prstGeom prst="rect">
            <a:avLst/>
          </a:prstGeom>
          <a:noFill/>
          <a:ln/>
        </p:spPr>
        <p:txBody>
          <a:bodyPr wrap="square" lIns="0" tIns="0" rIns="0" bIns="0" rtlCol="0" anchor="t"/>
          <a:lstStyle/>
          <a:p>
            <a:pPr marL="0" indent="0">
              <a:buNone/>
            </a:pPr>
            <a:r>
              <a:rPr lang="en-US" sz="1500" dirty="0">
                <a:solidFill>
                  <a:srgbClr val="728694"/>
                </a:solidFill>
                <a:latin typeface="Segoe UI" pitchFamily="34" charset="0"/>
                <a:ea typeface="Segoe UI" pitchFamily="34" charset="-122"/>
                <a:cs typeface="Segoe UI" pitchFamily="34" charset="-120"/>
              </a:rPr>
              <a:t>T = True · F = False</a:t>
            </a:r>
            <a:endParaRPr lang="en-US" sz="1500" dirty="0"/>
          </a:p>
        </p:txBody>
      </p:sp>
      <p:sp>
        <p:nvSpPr>
          <p:cNvPr id="69" name="Shape 67"/>
          <p:cNvSpPr/>
          <p:nvPr/>
        </p:nvSpPr>
        <p:spPr>
          <a:xfrm>
            <a:off x="6720840" y="1783080"/>
            <a:ext cx="5212080" cy="1645920"/>
          </a:xfrm>
          <a:prstGeom prst="roundRect">
            <a:avLst>
              <a:gd name="adj" fmla="val 3889"/>
            </a:avLst>
          </a:prstGeom>
          <a:solidFill>
            <a:srgbClr val="EAF4F8"/>
          </a:solidFill>
          <a:ln w="9525">
            <a:solidFill>
              <a:srgbClr val="CFE5EE"/>
            </a:solidFill>
            <a:prstDash val="solid"/>
          </a:ln>
        </p:spPr>
      </p:sp>
      <p:sp>
        <p:nvSpPr>
          <p:cNvPr id="70" name="Text 68"/>
          <p:cNvSpPr/>
          <p:nvPr/>
        </p:nvSpPr>
        <p:spPr>
          <a:xfrm>
            <a:off x="6922008" y="1901952"/>
            <a:ext cx="4754880" cy="36576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Cách hoạt động</a:t>
            </a:r>
            <a:endParaRPr lang="en-US" sz="2500" dirty="0"/>
          </a:p>
        </p:txBody>
      </p:sp>
      <p:sp>
        <p:nvSpPr>
          <p:cNvPr id="71" name="Text 69"/>
          <p:cNvSpPr/>
          <p:nvPr/>
        </p:nvSpPr>
        <p:spPr>
          <a:xfrm>
            <a:off x="6922008" y="2359152"/>
            <a:ext cx="4800600" cy="868680"/>
          </a:xfrm>
          <a:prstGeom prst="rect">
            <a:avLst/>
          </a:prstGeom>
          <a:noFill/>
          <a:ln/>
        </p:spPr>
        <p:txBody>
          <a:bodyPr wrap="square" lIns="0" tIns="0" rIns="0" bIns="0" rtlCol="0" anchor="t"/>
          <a:lstStyle/>
          <a:p>
            <a:pPr marL="0" indent="0">
              <a:lnSpc>
                <a:spcPct val="108000"/>
              </a:lnSpc>
              <a:buNone/>
            </a:pPr>
            <a:r>
              <a:rPr lang="en-US" sz="2000" dirty="0">
                <a:solidFill>
                  <a:srgbClr val="415A6B"/>
                </a:solidFill>
                <a:latin typeface="Segoe UI" pitchFamily="34" charset="0"/>
                <a:ea typeface="Segoe UI" pitchFamily="34" charset="-122"/>
                <a:cs typeface="Segoe UI" pitchFamily="34" charset="-120"/>
              </a:rPr>
              <a:t>So sánh tạo mask cùng shape; chỉ các ô True được giữ lại.</a:t>
            </a:r>
            <a:endParaRPr lang="en-US" sz="2000" dirty="0"/>
          </a:p>
        </p:txBody>
      </p:sp>
      <p:sp>
        <p:nvSpPr>
          <p:cNvPr id="72" name="Shape 70"/>
          <p:cNvSpPr/>
          <p:nvPr/>
        </p:nvSpPr>
        <p:spPr>
          <a:xfrm>
            <a:off x="548640" y="3977640"/>
            <a:ext cx="5669280" cy="1371600"/>
          </a:xfrm>
          <a:prstGeom prst="roundRect">
            <a:avLst>
              <a:gd name="adj" fmla="val 3333"/>
            </a:avLst>
          </a:prstGeom>
          <a:solidFill>
            <a:srgbClr val="0B2230"/>
          </a:solidFill>
          <a:ln w="9525">
            <a:solidFill>
              <a:srgbClr val="163B4C"/>
            </a:solidFill>
            <a:prstDash val="solid"/>
          </a:ln>
        </p:spPr>
      </p:sp>
      <p:sp>
        <p:nvSpPr>
          <p:cNvPr id="73" name="Shape 71"/>
          <p:cNvSpPr/>
          <p:nvPr/>
        </p:nvSpPr>
        <p:spPr>
          <a:xfrm>
            <a:off x="548640" y="3977640"/>
            <a:ext cx="5669280" cy="310896"/>
          </a:xfrm>
          <a:prstGeom prst="rect">
            <a:avLst/>
          </a:prstGeom>
          <a:solidFill>
            <a:srgbClr val="103445"/>
          </a:solidFill>
          <a:ln w="12700">
            <a:solidFill>
              <a:srgbClr val="103445"/>
            </a:solidFill>
            <a:prstDash val="solid"/>
          </a:ln>
        </p:spPr>
      </p:sp>
      <p:sp>
        <p:nvSpPr>
          <p:cNvPr id="74" name="Text 72"/>
          <p:cNvSpPr/>
          <p:nvPr/>
        </p:nvSpPr>
        <p:spPr>
          <a:xfrm>
            <a:off x="694944" y="4041648"/>
            <a:ext cx="4754880"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75" name="Shape 73"/>
          <p:cNvSpPr/>
          <p:nvPr/>
        </p:nvSpPr>
        <p:spPr>
          <a:xfrm>
            <a:off x="5650992" y="4096512"/>
            <a:ext cx="82296" cy="82296"/>
          </a:xfrm>
          <a:prstGeom prst="ellipse">
            <a:avLst/>
          </a:prstGeom>
          <a:solidFill>
            <a:srgbClr val="D96C5F"/>
          </a:solidFill>
          <a:ln w="12700">
            <a:solidFill>
              <a:srgbClr val="D96C5F"/>
            </a:solidFill>
            <a:prstDash val="solid"/>
          </a:ln>
        </p:spPr>
      </p:sp>
      <p:sp>
        <p:nvSpPr>
          <p:cNvPr id="76" name="Shape 74"/>
          <p:cNvSpPr/>
          <p:nvPr/>
        </p:nvSpPr>
        <p:spPr>
          <a:xfrm>
            <a:off x="5806440" y="4096512"/>
            <a:ext cx="82296" cy="82296"/>
          </a:xfrm>
          <a:prstGeom prst="ellipse">
            <a:avLst/>
          </a:prstGeom>
          <a:solidFill>
            <a:srgbClr val="E8A33D"/>
          </a:solidFill>
          <a:ln w="12700">
            <a:solidFill>
              <a:srgbClr val="E8A33D"/>
            </a:solidFill>
            <a:prstDash val="solid"/>
          </a:ln>
        </p:spPr>
      </p:sp>
      <p:sp>
        <p:nvSpPr>
          <p:cNvPr id="77" name="Shape 75"/>
          <p:cNvSpPr/>
          <p:nvPr/>
        </p:nvSpPr>
        <p:spPr>
          <a:xfrm>
            <a:off x="5961888" y="4096512"/>
            <a:ext cx="82296" cy="82296"/>
          </a:xfrm>
          <a:prstGeom prst="ellipse">
            <a:avLst/>
          </a:prstGeom>
          <a:solidFill>
            <a:srgbClr val="2D8C6F"/>
          </a:solidFill>
          <a:ln w="12700">
            <a:solidFill>
              <a:srgbClr val="2D8C6F"/>
            </a:solidFill>
            <a:prstDash val="solid"/>
          </a:ln>
        </p:spPr>
      </p:sp>
      <p:sp>
        <p:nvSpPr>
          <p:cNvPr id="78" name="Text 76"/>
          <p:cNvSpPr/>
          <p:nvPr/>
        </p:nvSpPr>
        <p:spPr>
          <a:xfrm>
            <a:off x="713232" y="4389120"/>
            <a:ext cx="5376672" cy="896112"/>
          </a:xfrm>
          <a:prstGeom prst="rect">
            <a:avLst/>
          </a:prstGeom>
          <a:noFill/>
          <a:ln/>
        </p:spPr>
        <p:txBody>
          <a:bodyPr wrap="square" lIns="0" tIns="0" rIns="0" bIns="0" rtlCol="0" anchor="t"/>
          <a:lstStyle/>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(b[b &gt; </a:t>
            </a:r>
            <a:r>
              <a:rPr lang="en-US" sz="2000" dirty="0">
                <a:solidFill>
                  <a:srgbClr val="F08A7C"/>
                </a:solidFill>
                <a:latin typeface="Consolas" pitchFamily="34" charset="0"/>
                <a:ea typeface="Consolas" pitchFamily="34" charset="-122"/>
                <a:cs typeface="Consolas" pitchFamily="34" charset="-120"/>
              </a:rPr>
              <a:t>21</a:t>
            </a:r>
            <a:r>
              <a:rPr lang="en-US" sz="2000" dirty="0">
                <a:solidFill>
                  <a:srgbClr val="D6E6EF"/>
                </a:solidFill>
                <a:latin typeface="Consolas" pitchFamily="34" charset="0"/>
                <a:ea typeface="Consolas" pitchFamily="34" charset="-122"/>
                <a:cs typeface="Consolas" pitchFamily="34" charset="-120"/>
              </a:rPr>
              <a:t>])</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(b &gt; </a:t>
            </a:r>
            <a:r>
              <a:rPr lang="en-US" sz="2000" dirty="0">
                <a:solidFill>
                  <a:srgbClr val="F08A7C"/>
                </a:solidFill>
                <a:latin typeface="Consolas" pitchFamily="34" charset="0"/>
                <a:ea typeface="Consolas" pitchFamily="34" charset="-122"/>
                <a:cs typeface="Consolas" pitchFamily="34" charset="-120"/>
              </a:rPr>
              <a:t>21</a:t>
            </a:r>
            <a:r>
              <a:rPr lang="en-US" sz="2000" dirty="0">
                <a:solidFill>
                  <a:srgbClr val="D6E6EF"/>
                </a:solidFill>
                <a:latin typeface="Consolas" pitchFamily="34" charset="0"/>
                <a:ea typeface="Consolas" pitchFamily="34" charset="-122"/>
                <a:cs typeface="Consolas" pitchFamily="34" charset="-120"/>
              </a:rPr>
              <a:t>)</a:t>
            </a:r>
            <a:endParaRPr lang="en-US" sz="2000" dirty="0"/>
          </a:p>
        </p:txBody>
      </p:sp>
      <p:sp>
        <p:nvSpPr>
          <p:cNvPr id="79" name="Shape 77"/>
          <p:cNvSpPr/>
          <p:nvPr/>
        </p:nvSpPr>
        <p:spPr>
          <a:xfrm>
            <a:off x="6355080" y="3977640"/>
            <a:ext cx="5285232" cy="1508760"/>
          </a:xfrm>
          <a:prstGeom prst="roundRect">
            <a:avLst>
              <a:gd name="adj" fmla="val 3030"/>
            </a:avLst>
          </a:prstGeom>
          <a:solidFill>
            <a:srgbClr val="FFFFFF"/>
          </a:solidFill>
          <a:ln w="9525">
            <a:solidFill>
              <a:srgbClr val="CFE5EE"/>
            </a:solidFill>
            <a:prstDash val="solid"/>
          </a:ln>
        </p:spPr>
      </p:sp>
      <p:sp>
        <p:nvSpPr>
          <p:cNvPr id="80" name="Text 78"/>
          <p:cNvSpPr/>
          <p:nvPr/>
        </p:nvSpPr>
        <p:spPr>
          <a:xfrm>
            <a:off x="6501384" y="4069080"/>
            <a:ext cx="501091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81" name="Text 79"/>
          <p:cNvSpPr/>
          <p:nvPr/>
        </p:nvSpPr>
        <p:spPr>
          <a:xfrm>
            <a:off x="6501384" y="4325112"/>
            <a:ext cx="5010912" cy="108813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[22 23 30 31 32 33]</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[[False </a:t>
            </a:r>
            <a:r>
              <a:rPr lang="en-US" dirty="0" err="1">
                <a:solidFill>
                  <a:srgbClr val="062A3A"/>
                </a:solidFill>
                <a:latin typeface="Consolas" pitchFamily="34" charset="0"/>
                <a:ea typeface="Consolas" pitchFamily="34" charset="-122"/>
                <a:cs typeface="Consolas" pitchFamily="34" charset="-120"/>
              </a:rPr>
              <a:t>False</a:t>
            </a:r>
            <a:r>
              <a:rPr lang="en-US" dirty="0">
                <a:solidFill>
                  <a:srgbClr val="062A3A"/>
                </a:solidFill>
                <a:latin typeface="Consolas" pitchFamily="34" charset="0"/>
                <a:ea typeface="Consolas" pitchFamily="34" charset="-122"/>
                <a:cs typeface="Consolas" pitchFamily="34" charset="-120"/>
              </a:rPr>
              <a:t> </a:t>
            </a:r>
            <a:r>
              <a:rPr lang="en-US" dirty="0" err="1">
                <a:solidFill>
                  <a:srgbClr val="062A3A"/>
                </a:solidFill>
                <a:latin typeface="Consolas" pitchFamily="34" charset="0"/>
                <a:ea typeface="Consolas" pitchFamily="34" charset="-122"/>
                <a:cs typeface="Consolas" pitchFamily="34" charset="-120"/>
              </a:rPr>
              <a:t>False</a:t>
            </a:r>
            <a:r>
              <a:rPr lang="en-US" dirty="0">
                <a:solidFill>
                  <a:srgbClr val="062A3A"/>
                </a:solidFill>
                <a:latin typeface="Consolas" pitchFamily="34" charset="0"/>
                <a:ea typeface="Consolas" pitchFamily="34" charset="-122"/>
                <a:cs typeface="Consolas" pitchFamily="34" charset="-120"/>
              </a:rPr>
              <a:t> False]</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 [False </a:t>
            </a:r>
            <a:r>
              <a:rPr lang="en-US" dirty="0" err="1">
                <a:solidFill>
                  <a:srgbClr val="062A3A"/>
                </a:solidFill>
                <a:latin typeface="Consolas" pitchFamily="34" charset="0"/>
                <a:ea typeface="Consolas" pitchFamily="34" charset="-122"/>
                <a:cs typeface="Consolas" pitchFamily="34" charset="-120"/>
              </a:rPr>
              <a:t>False</a:t>
            </a:r>
            <a:r>
              <a:rPr lang="en-US" dirty="0">
                <a:solidFill>
                  <a:srgbClr val="062A3A"/>
                </a:solidFill>
                <a:latin typeface="Consolas" pitchFamily="34" charset="0"/>
                <a:ea typeface="Consolas" pitchFamily="34" charset="-122"/>
                <a:cs typeface="Consolas" pitchFamily="34" charset="-120"/>
              </a:rPr>
              <a:t>  True  True]</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 [ True  </a:t>
            </a:r>
            <a:r>
              <a:rPr lang="en-US" dirty="0" err="1">
                <a:solidFill>
                  <a:srgbClr val="062A3A"/>
                </a:solidFill>
                <a:latin typeface="Consolas" pitchFamily="34" charset="0"/>
                <a:ea typeface="Consolas" pitchFamily="34" charset="-122"/>
                <a:cs typeface="Consolas" pitchFamily="34" charset="-120"/>
              </a:rPr>
              <a:t>True</a:t>
            </a:r>
            <a:r>
              <a:rPr lang="en-US" dirty="0">
                <a:solidFill>
                  <a:srgbClr val="062A3A"/>
                </a:solidFill>
                <a:latin typeface="Consolas" pitchFamily="34" charset="0"/>
                <a:ea typeface="Consolas" pitchFamily="34" charset="-122"/>
                <a:cs typeface="Consolas" pitchFamily="34" charset="-120"/>
              </a:rPr>
              <a:t>  </a:t>
            </a:r>
            <a:r>
              <a:rPr lang="en-US" dirty="0" err="1">
                <a:solidFill>
                  <a:srgbClr val="062A3A"/>
                </a:solidFill>
                <a:latin typeface="Consolas" pitchFamily="34" charset="0"/>
                <a:ea typeface="Consolas" pitchFamily="34" charset="-122"/>
                <a:cs typeface="Consolas" pitchFamily="34" charset="-120"/>
              </a:rPr>
              <a:t>True</a:t>
            </a:r>
            <a:r>
              <a:rPr lang="en-US" dirty="0">
                <a:solidFill>
                  <a:srgbClr val="062A3A"/>
                </a:solidFill>
                <a:latin typeface="Consolas" pitchFamily="34" charset="0"/>
                <a:ea typeface="Consolas" pitchFamily="34" charset="-122"/>
                <a:cs typeface="Consolas" pitchFamily="34" charset="-120"/>
              </a:rPr>
              <a:t>  True]]</a:t>
            </a:r>
            <a:endParaRPr lang="en-US" dirty="0"/>
          </a:p>
        </p:txBody>
      </p:sp>
      <p:sp>
        <p:nvSpPr>
          <p:cNvPr id="82" name="Text 80"/>
          <p:cNvSpPr/>
          <p:nvPr/>
        </p:nvSpPr>
        <p:spPr>
          <a:xfrm>
            <a:off x="548640" y="5669280"/>
            <a:ext cx="11064240" cy="347472"/>
          </a:xfrm>
          <a:prstGeom prst="rect">
            <a:avLst/>
          </a:prstGeom>
          <a:noFill/>
          <a:ln/>
        </p:spPr>
        <p:txBody>
          <a:bodyPr wrap="square" lIns="0" tIns="0" rIns="0" bIns="0" rtlCol="0" anchor="t"/>
          <a:lstStyle/>
          <a:p>
            <a:pPr marL="0" indent="0">
              <a:buNone/>
            </a:pPr>
            <a:r>
              <a:rPr lang="en-US" sz="2000" i="1" dirty="0">
                <a:solidFill>
                  <a:srgbClr val="728694"/>
                </a:solidFill>
                <a:latin typeface="Segoe UI" pitchFamily="34" charset="0"/>
                <a:ea typeface="Segoe UI" pitchFamily="34" charset="-122"/>
                <a:cs typeface="Segoe UI" pitchFamily="34" charset="-120"/>
              </a:rPr>
              <a:t>Kết quả nén thành 1-D; kết hợp điều kiện bằng &amp;, | và ngoặc đơn.</a:t>
            </a:r>
            <a:endParaRPr lang="en-US" sz="2000" dirty="0"/>
          </a:p>
        </p:txBody>
      </p:sp>
      <p:sp>
        <p:nvSpPr>
          <p:cNvPr id="83" name="Shape 81"/>
          <p:cNvSpPr/>
          <p:nvPr/>
        </p:nvSpPr>
        <p:spPr>
          <a:xfrm>
            <a:off x="548640" y="6437376"/>
            <a:ext cx="11091672" cy="9144"/>
          </a:xfrm>
          <a:prstGeom prst="rect">
            <a:avLst/>
          </a:prstGeom>
          <a:solidFill>
            <a:srgbClr val="D7E5EC"/>
          </a:solidFill>
          <a:ln w="12700">
            <a:solidFill>
              <a:srgbClr val="D7E5EC"/>
            </a:solidFill>
            <a:prstDash val="solid"/>
          </a:ln>
        </p:spPr>
      </p:sp>
      <p:sp>
        <p:nvSpPr>
          <p:cNvPr id="84" name="Text 82"/>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85" name="Text 83"/>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15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04 · TRUY CẬP DỮ LIỆU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reshape() và .T: cùng dữ liệu, khác hình dạng</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640080" y="1417320"/>
            <a:ext cx="2926080" cy="274320"/>
          </a:xfrm>
          <a:prstGeom prst="rect">
            <a:avLst/>
          </a:prstGeom>
          <a:noFill/>
          <a:ln/>
        </p:spPr>
        <p:txBody>
          <a:bodyPr wrap="square" lIns="0" tIns="0" rIns="0" bIns="0" rtlCol="0" anchor="t"/>
          <a:lstStyle/>
          <a:p>
            <a:pPr marL="0" indent="0">
              <a:buNone/>
            </a:pPr>
            <a:r>
              <a:rPr lang="en-US" sz="1700" b="1" dirty="0">
                <a:solidFill>
                  <a:srgbClr val="415A6B"/>
                </a:solidFill>
                <a:latin typeface="Segoe UI" pitchFamily="34" charset="0"/>
                <a:ea typeface="Segoe UI" pitchFamily="34" charset="-122"/>
                <a:cs typeface="Segoe UI" pitchFamily="34" charset="-120"/>
              </a:rPr>
              <a:t>1-D  ·  shape (6,)</a:t>
            </a:r>
            <a:endParaRPr lang="en-US" sz="1700" dirty="0"/>
          </a:p>
        </p:txBody>
      </p:sp>
      <p:sp>
        <p:nvSpPr>
          <p:cNvPr id="6" name="Shape 4"/>
          <p:cNvSpPr/>
          <p:nvPr/>
        </p:nvSpPr>
        <p:spPr>
          <a:xfrm>
            <a:off x="640080" y="1783080"/>
            <a:ext cx="502920" cy="502920"/>
          </a:xfrm>
          <a:prstGeom prst="rect">
            <a:avLst/>
          </a:prstGeom>
          <a:solidFill>
            <a:srgbClr val="EAF4F8"/>
          </a:solidFill>
          <a:ln w="9525">
            <a:solidFill>
              <a:srgbClr val="A9CDDB"/>
            </a:solidFill>
            <a:prstDash val="solid"/>
          </a:ln>
        </p:spPr>
      </p:sp>
      <p:sp>
        <p:nvSpPr>
          <p:cNvPr id="7" name="Text 5"/>
          <p:cNvSpPr/>
          <p:nvPr/>
        </p:nvSpPr>
        <p:spPr>
          <a:xfrm>
            <a:off x="64008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0</a:t>
            </a:r>
            <a:endParaRPr lang="en-US" sz="1700" dirty="0"/>
          </a:p>
        </p:txBody>
      </p:sp>
      <p:sp>
        <p:nvSpPr>
          <p:cNvPr id="8" name="Shape 6"/>
          <p:cNvSpPr/>
          <p:nvPr/>
        </p:nvSpPr>
        <p:spPr>
          <a:xfrm>
            <a:off x="1143000" y="1783080"/>
            <a:ext cx="502920" cy="502920"/>
          </a:xfrm>
          <a:prstGeom prst="rect">
            <a:avLst/>
          </a:prstGeom>
          <a:solidFill>
            <a:srgbClr val="EAF4F8"/>
          </a:solidFill>
          <a:ln w="9525">
            <a:solidFill>
              <a:srgbClr val="A9CDDB"/>
            </a:solidFill>
            <a:prstDash val="solid"/>
          </a:ln>
        </p:spPr>
      </p:sp>
      <p:sp>
        <p:nvSpPr>
          <p:cNvPr id="9" name="Text 7"/>
          <p:cNvSpPr/>
          <p:nvPr/>
        </p:nvSpPr>
        <p:spPr>
          <a:xfrm>
            <a:off x="114300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1</a:t>
            </a:r>
            <a:endParaRPr lang="en-US" sz="1700" dirty="0"/>
          </a:p>
        </p:txBody>
      </p:sp>
      <p:sp>
        <p:nvSpPr>
          <p:cNvPr id="10" name="Shape 8"/>
          <p:cNvSpPr/>
          <p:nvPr/>
        </p:nvSpPr>
        <p:spPr>
          <a:xfrm>
            <a:off x="1645920" y="1783080"/>
            <a:ext cx="502920" cy="502920"/>
          </a:xfrm>
          <a:prstGeom prst="rect">
            <a:avLst/>
          </a:prstGeom>
          <a:solidFill>
            <a:srgbClr val="EAF4F8"/>
          </a:solidFill>
          <a:ln w="9525">
            <a:solidFill>
              <a:srgbClr val="A9CDDB"/>
            </a:solidFill>
            <a:prstDash val="solid"/>
          </a:ln>
        </p:spPr>
      </p:sp>
      <p:sp>
        <p:nvSpPr>
          <p:cNvPr id="11" name="Text 9"/>
          <p:cNvSpPr/>
          <p:nvPr/>
        </p:nvSpPr>
        <p:spPr>
          <a:xfrm>
            <a:off x="164592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2</a:t>
            </a:r>
            <a:endParaRPr lang="en-US" sz="1700" dirty="0"/>
          </a:p>
        </p:txBody>
      </p:sp>
      <p:sp>
        <p:nvSpPr>
          <p:cNvPr id="12" name="Shape 10"/>
          <p:cNvSpPr/>
          <p:nvPr/>
        </p:nvSpPr>
        <p:spPr>
          <a:xfrm>
            <a:off x="2148840" y="1783080"/>
            <a:ext cx="502920" cy="502920"/>
          </a:xfrm>
          <a:prstGeom prst="rect">
            <a:avLst/>
          </a:prstGeom>
          <a:solidFill>
            <a:srgbClr val="EAF4F8"/>
          </a:solidFill>
          <a:ln w="9525">
            <a:solidFill>
              <a:srgbClr val="A9CDDB"/>
            </a:solidFill>
            <a:prstDash val="solid"/>
          </a:ln>
        </p:spPr>
      </p:sp>
      <p:sp>
        <p:nvSpPr>
          <p:cNvPr id="13" name="Text 11"/>
          <p:cNvSpPr/>
          <p:nvPr/>
        </p:nvSpPr>
        <p:spPr>
          <a:xfrm>
            <a:off x="214884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14" name="Shape 12"/>
          <p:cNvSpPr/>
          <p:nvPr/>
        </p:nvSpPr>
        <p:spPr>
          <a:xfrm>
            <a:off x="2651760" y="1783080"/>
            <a:ext cx="502920" cy="502920"/>
          </a:xfrm>
          <a:prstGeom prst="rect">
            <a:avLst/>
          </a:prstGeom>
          <a:solidFill>
            <a:srgbClr val="EAF4F8"/>
          </a:solidFill>
          <a:ln w="9525">
            <a:solidFill>
              <a:srgbClr val="A9CDDB"/>
            </a:solidFill>
            <a:prstDash val="solid"/>
          </a:ln>
        </p:spPr>
      </p:sp>
      <p:sp>
        <p:nvSpPr>
          <p:cNvPr id="15" name="Text 13"/>
          <p:cNvSpPr/>
          <p:nvPr/>
        </p:nvSpPr>
        <p:spPr>
          <a:xfrm>
            <a:off x="265176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16" name="Shape 14"/>
          <p:cNvSpPr/>
          <p:nvPr/>
        </p:nvSpPr>
        <p:spPr>
          <a:xfrm>
            <a:off x="3154680" y="1783080"/>
            <a:ext cx="502920" cy="502920"/>
          </a:xfrm>
          <a:prstGeom prst="rect">
            <a:avLst/>
          </a:prstGeom>
          <a:solidFill>
            <a:srgbClr val="EAF4F8"/>
          </a:solidFill>
          <a:ln w="9525">
            <a:solidFill>
              <a:srgbClr val="A9CDDB"/>
            </a:solidFill>
            <a:prstDash val="solid"/>
          </a:ln>
        </p:spPr>
      </p:sp>
      <p:sp>
        <p:nvSpPr>
          <p:cNvPr id="17" name="Text 15"/>
          <p:cNvSpPr/>
          <p:nvPr/>
        </p:nvSpPr>
        <p:spPr>
          <a:xfrm>
            <a:off x="315468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5</a:t>
            </a:r>
            <a:endParaRPr lang="en-US" sz="1700" dirty="0"/>
          </a:p>
        </p:txBody>
      </p:sp>
      <p:sp>
        <p:nvSpPr>
          <p:cNvPr id="18" name="Shape 16"/>
          <p:cNvSpPr/>
          <p:nvPr/>
        </p:nvSpPr>
        <p:spPr>
          <a:xfrm>
            <a:off x="3794760" y="2039112"/>
            <a:ext cx="365760" cy="0"/>
          </a:xfrm>
          <a:prstGeom prst="line">
            <a:avLst/>
          </a:prstGeom>
          <a:noFill/>
          <a:ln w="22225">
            <a:solidFill>
              <a:srgbClr val="1B8EA8"/>
            </a:solidFill>
            <a:prstDash val="solid"/>
            <a:headEnd type="none"/>
            <a:tailEnd type="triangle"/>
          </a:ln>
        </p:spPr>
      </p:sp>
      <p:sp>
        <p:nvSpPr>
          <p:cNvPr id="19" name="Text 17"/>
          <p:cNvSpPr/>
          <p:nvPr/>
        </p:nvSpPr>
        <p:spPr>
          <a:xfrm>
            <a:off x="3566160" y="1417320"/>
            <a:ext cx="1645920" cy="274320"/>
          </a:xfrm>
          <a:prstGeom prst="rect">
            <a:avLst/>
          </a:prstGeom>
          <a:noFill/>
          <a:ln/>
        </p:spPr>
        <p:txBody>
          <a:bodyPr wrap="square" lIns="0" tIns="0" rIns="0" bIns="0" rtlCol="0" anchor="t"/>
          <a:lstStyle/>
          <a:p>
            <a:pPr marL="0" indent="0" algn="ctr">
              <a:buNone/>
            </a:pPr>
            <a:r>
              <a:rPr lang="en-US" sz="1400" dirty="0">
                <a:solidFill>
                  <a:srgbClr val="1B8EA8"/>
                </a:solidFill>
                <a:latin typeface="Consolas" pitchFamily="34" charset="0"/>
                <a:ea typeface="Consolas" pitchFamily="34" charset="-122"/>
                <a:cs typeface="Consolas" pitchFamily="34" charset="-120"/>
              </a:rPr>
              <a:t>reshape(2, 3)</a:t>
            </a:r>
            <a:endParaRPr lang="en-US" sz="1400" dirty="0"/>
          </a:p>
        </p:txBody>
      </p:sp>
      <p:sp>
        <p:nvSpPr>
          <p:cNvPr id="20" name="Shape 18"/>
          <p:cNvSpPr/>
          <p:nvPr/>
        </p:nvSpPr>
        <p:spPr>
          <a:xfrm>
            <a:off x="4206240" y="1783080"/>
            <a:ext cx="502920" cy="502920"/>
          </a:xfrm>
          <a:prstGeom prst="rect">
            <a:avLst/>
          </a:prstGeom>
          <a:solidFill>
            <a:srgbClr val="D6EEF5"/>
          </a:solidFill>
          <a:ln w="9525">
            <a:solidFill>
              <a:srgbClr val="A9CDDB"/>
            </a:solidFill>
            <a:prstDash val="solid"/>
          </a:ln>
        </p:spPr>
      </p:sp>
      <p:sp>
        <p:nvSpPr>
          <p:cNvPr id="21" name="Text 19"/>
          <p:cNvSpPr/>
          <p:nvPr/>
        </p:nvSpPr>
        <p:spPr>
          <a:xfrm>
            <a:off x="420624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0</a:t>
            </a:r>
            <a:endParaRPr lang="en-US" sz="1700" dirty="0"/>
          </a:p>
        </p:txBody>
      </p:sp>
      <p:sp>
        <p:nvSpPr>
          <p:cNvPr id="22" name="Shape 20"/>
          <p:cNvSpPr/>
          <p:nvPr/>
        </p:nvSpPr>
        <p:spPr>
          <a:xfrm>
            <a:off x="4709160" y="1783080"/>
            <a:ext cx="502920" cy="502920"/>
          </a:xfrm>
          <a:prstGeom prst="rect">
            <a:avLst/>
          </a:prstGeom>
          <a:solidFill>
            <a:srgbClr val="D6EEF5"/>
          </a:solidFill>
          <a:ln w="9525">
            <a:solidFill>
              <a:srgbClr val="A9CDDB"/>
            </a:solidFill>
            <a:prstDash val="solid"/>
          </a:ln>
        </p:spPr>
      </p:sp>
      <p:sp>
        <p:nvSpPr>
          <p:cNvPr id="23" name="Text 21"/>
          <p:cNvSpPr/>
          <p:nvPr/>
        </p:nvSpPr>
        <p:spPr>
          <a:xfrm>
            <a:off x="470916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1</a:t>
            </a:r>
            <a:endParaRPr lang="en-US" sz="1700" dirty="0"/>
          </a:p>
        </p:txBody>
      </p:sp>
      <p:sp>
        <p:nvSpPr>
          <p:cNvPr id="24" name="Shape 22"/>
          <p:cNvSpPr/>
          <p:nvPr/>
        </p:nvSpPr>
        <p:spPr>
          <a:xfrm>
            <a:off x="5212080" y="1783080"/>
            <a:ext cx="502920" cy="502920"/>
          </a:xfrm>
          <a:prstGeom prst="rect">
            <a:avLst/>
          </a:prstGeom>
          <a:solidFill>
            <a:srgbClr val="D6EEF5"/>
          </a:solidFill>
          <a:ln w="9525">
            <a:solidFill>
              <a:srgbClr val="A9CDDB"/>
            </a:solidFill>
            <a:prstDash val="solid"/>
          </a:ln>
        </p:spPr>
      </p:sp>
      <p:sp>
        <p:nvSpPr>
          <p:cNvPr id="25" name="Text 23"/>
          <p:cNvSpPr/>
          <p:nvPr/>
        </p:nvSpPr>
        <p:spPr>
          <a:xfrm>
            <a:off x="5212080" y="178308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2</a:t>
            </a:r>
            <a:endParaRPr lang="en-US" sz="1700" dirty="0"/>
          </a:p>
        </p:txBody>
      </p:sp>
      <p:sp>
        <p:nvSpPr>
          <p:cNvPr id="26" name="Shape 24"/>
          <p:cNvSpPr/>
          <p:nvPr/>
        </p:nvSpPr>
        <p:spPr>
          <a:xfrm>
            <a:off x="4206240" y="2286000"/>
            <a:ext cx="502920" cy="502920"/>
          </a:xfrm>
          <a:prstGeom prst="rect">
            <a:avLst/>
          </a:prstGeom>
          <a:solidFill>
            <a:srgbClr val="D6EEF5"/>
          </a:solidFill>
          <a:ln w="9525">
            <a:solidFill>
              <a:srgbClr val="A9CDDB"/>
            </a:solidFill>
            <a:prstDash val="solid"/>
          </a:ln>
        </p:spPr>
      </p:sp>
      <p:sp>
        <p:nvSpPr>
          <p:cNvPr id="27" name="Text 25"/>
          <p:cNvSpPr/>
          <p:nvPr/>
        </p:nvSpPr>
        <p:spPr>
          <a:xfrm>
            <a:off x="4206240" y="228600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28" name="Shape 26"/>
          <p:cNvSpPr/>
          <p:nvPr/>
        </p:nvSpPr>
        <p:spPr>
          <a:xfrm>
            <a:off x="4709160" y="2286000"/>
            <a:ext cx="502920" cy="502920"/>
          </a:xfrm>
          <a:prstGeom prst="rect">
            <a:avLst/>
          </a:prstGeom>
          <a:solidFill>
            <a:srgbClr val="D6EEF5"/>
          </a:solidFill>
          <a:ln w="9525">
            <a:solidFill>
              <a:srgbClr val="A9CDDB"/>
            </a:solidFill>
            <a:prstDash val="solid"/>
          </a:ln>
        </p:spPr>
      </p:sp>
      <p:sp>
        <p:nvSpPr>
          <p:cNvPr id="29" name="Text 27"/>
          <p:cNvSpPr/>
          <p:nvPr/>
        </p:nvSpPr>
        <p:spPr>
          <a:xfrm>
            <a:off x="4709160" y="228600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30" name="Shape 28"/>
          <p:cNvSpPr/>
          <p:nvPr/>
        </p:nvSpPr>
        <p:spPr>
          <a:xfrm>
            <a:off x="5212080" y="2286000"/>
            <a:ext cx="502920" cy="502920"/>
          </a:xfrm>
          <a:prstGeom prst="rect">
            <a:avLst/>
          </a:prstGeom>
          <a:solidFill>
            <a:srgbClr val="D6EEF5"/>
          </a:solidFill>
          <a:ln w="9525">
            <a:solidFill>
              <a:srgbClr val="A9CDDB"/>
            </a:solidFill>
            <a:prstDash val="solid"/>
          </a:ln>
        </p:spPr>
      </p:sp>
      <p:sp>
        <p:nvSpPr>
          <p:cNvPr id="31" name="Text 29"/>
          <p:cNvSpPr/>
          <p:nvPr/>
        </p:nvSpPr>
        <p:spPr>
          <a:xfrm>
            <a:off x="5212080" y="2286000"/>
            <a:ext cx="502920" cy="50292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5</a:t>
            </a:r>
            <a:endParaRPr lang="en-US" sz="1700" dirty="0"/>
          </a:p>
        </p:txBody>
      </p:sp>
      <p:sp>
        <p:nvSpPr>
          <p:cNvPr id="32" name="Text 30"/>
          <p:cNvSpPr/>
          <p:nvPr/>
        </p:nvSpPr>
        <p:spPr>
          <a:xfrm>
            <a:off x="4206240" y="2880360"/>
            <a:ext cx="1645920" cy="256032"/>
          </a:xfrm>
          <a:prstGeom prst="rect">
            <a:avLst/>
          </a:prstGeom>
          <a:noFill/>
          <a:ln/>
        </p:spPr>
        <p:txBody>
          <a:bodyPr wrap="square" lIns="0" tIns="0" rIns="0" bIns="0" rtlCol="0" anchor="t"/>
          <a:lstStyle/>
          <a:p>
            <a:pPr marL="0" indent="0">
              <a:buNone/>
            </a:pPr>
            <a:r>
              <a:rPr lang="en-US" sz="1400" dirty="0">
                <a:solidFill>
                  <a:srgbClr val="728694"/>
                </a:solidFill>
                <a:latin typeface="Consolas" pitchFamily="34" charset="0"/>
                <a:ea typeface="Consolas" pitchFamily="34" charset="-122"/>
                <a:cs typeface="Consolas" pitchFamily="34" charset="-120"/>
              </a:rPr>
              <a:t>shape (2, 3)</a:t>
            </a:r>
            <a:endParaRPr lang="en-US" sz="1400" dirty="0"/>
          </a:p>
        </p:txBody>
      </p:sp>
      <p:sp>
        <p:nvSpPr>
          <p:cNvPr id="33" name="Shape 31"/>
          <p:cNvSpPr/>
          <p:nvPr/>
        </p:nvSpPr>
        <p:spPr>
          <a:xfrm>
            <a:off x="5852160" y="2039112"/>
            <a:ext cx="365760" cy="0"/>
          </a:xfrm>
          <a:prstGeom prst="line">
            <a:avLst/>
          </a:prstGeom>
          <a:noFill/>
          <a:ln w="22225">
            <a:solidFill>
              <a:srgbClr val="E8A33D"/>
            </a:solidFill>
            <a:prstDash val="solid"/>
            <a:headEnd type="none"/>
            <a:tailEnd type="triangle"/>
          </a:ln>
        </p:spPr>
      </p:sp>
      <p:sp>
        <p:nvSpPr>
          <p:cNvPr id="34" name="Text 32"/>
          <p:cNvSpPr/>
          <p:nvPr/>
        </p:nvSpPr>
        <p:spPr>
          <a:xfrm>
            <a:off x="5897880" y="1417320"/>
            <a:ext cx="548640" cy="274320"/>
          </a:xfrm>
          <a:prstGeom prst="rect">
            <a:avLst/>
          </a:prstGeom>
          <a:noFill/>
          <a:ln/>
        </p:spPr>
        <p:txBody>
          <a:bodyPr wrap="square" lIns="0" tIns="0" rIns="0" bIns="0" rtlCol="0" anchor="t"/>
          <a:lstStyle/>
          <a:p>
            <a:pPr marL="0" indent="0" algn="ctr">
              <a:buNone/>
            </a:pPr>
            <a:r>
              <a:rPr lang="en-US" sz="1800" b="1" dirty="0">
                <a:solidFill>
                  <a:srgbClr val="E8A33D"/>
                </a:solidFill>
                <a:latin typeface="Consolas" pitchFamily="34" charset="0"/>
                <a:ea typeface="Consolas" pitchFamily="34" charset="-122"/>
                <a:cs typeface="Consolas" pitchFamily="34" charset="-120"/>
              </a:rPr>
              <a:t>.T</a:t>
            </a:r>
            <a:endParaRPr lang="en-US" sz="1800" dirty="0"/>
          </a:p>
        </p:txBody>
      </p:sp>
      <p:sp>
        <p:nvSpPr>
          <p:cNvPr id="35" name="Shape 33"/>
          <p:cNvSpPr/>
          <p:nvPr/>
        </p:nvSpPr>
        <p:spPr>
          <a:xfrm>
            <a:off x="6355080" y="1783080"/>
            <a:ext cx="502920" cy="457200"/>
          </a:xfrm>
          <a:prstGeom prst="rect">
            <a:avLst/>
          </a:prstGeom>
          <a:solidFill>
            <a:srgbClr val="FBEFD9"/>
          </a:solidFill>
          <a:ln w="9525">
            <a:solidFill>
              <a:srgbClr val="E5C28C"/>
            </a:solidFill>
            <a:prstDash val="solid"/>
          </a:ln>
        </p:spPr>
      </p:sp>
      <p:sp>
        <p:nvSpPr>
          <p:cNvPr id="36" name="Text 34"/>
          <p:cNvSpPr/>
          <p:nvPr/>
        </p:nvSpPr>
        <p:spPr>
          <a:xfrm>
            <a:off x="6355080" y="1783080"/>
            <a:ext cx="502920"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0</a:t>
            </a:r>
            <a:endParaRPr lang="en-US" sz="1700" dirty="0"/>
          </a:p>
        </p:txBody>
      </p:sp>
      <p:sp>
        <p:nvSpPr>
          <p:cNvPr id="37" name="Shape 35"/>
          <p:cNvSpPr/>
          <p:nvPr/>
        </p:nvSpPr>
        <p:spPr>
          <a:xfrm>
            <a:off x="6858000" y="1783080"/>
            <a:ext cx="502920" cy="457200"/>
          </a:xfrm>
          <a:prstGeom prst="rect">
            <a:avLst/>
          </a:prstGeom>
          <a:solidFill>
            <a:srgbClr val="FBEFD9"/>
          </a:solidFill>
          <a:ln w="9525">
            <a:solidFill>
              <a:srgbClr val="E5C28C"/>
            </a:solidFill>
            <a:prstDash val="solid"/>
          </a:ln>
        </p:spPr>
      </p:sp>
      <p:sp>
        <p:nvSpPr>
          <p:cNvPr id="38" name="Text 36"/>
          <p:cNvSpPr/>
          <p:nvPr/>
        </p:nvSpPr>
        <p:spPr>
          <a:xfrm>
            <a:off x="6858000" y="1783080"/>
            <a:ext cx="502920"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39" name="Shape 37"/>
          <p:cNvSpPr/>
          <p:nvPr/>
        </p:nvSpPr>
        <p:spPr>
          <a:xfrm>
            <a:off x="6355080" y="2240280"/>
            <a:ext cx="502920" cy="457200"/>
          </a:xfrm>
          <a:prstGeom prst="rect">
            <a:avLst/>
          </a:prstGeom>
          <a:solidFill>
            <a:srgbClr val="FBEFD9"/>
          </a:solidFill>
          <a:ln w="9525">
            <a:solidFill>
              <a:srgbClr val="E5C28C"/>
            </a:solidFill>
            <a:prstDash val="solid"/>
          </a:ln>
        </p:spPr>
      </p:sp>
      <p:sp>
        <p:nvSpPr>
          <p:cNvPr id="40" name="Text 38"/>
          <p:cNvSpPr/>
          <p:nvPr/>
        </p:nvSpPr>
        <p:spPr>
          <a:xfrm>
            <a:off x="6355080" y="2240280"/>
            <a:ext cx="502920"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1</a:t>
            </a:r>
            <a:endParaRPr lang="en-US" sz="1700" dirty="0"/>
          </a:p>
        </p:txBody>
      </p:sp>
      <p:sp>
        <p:nvSpPr>
          <p:cNvPr id="41" name="Shape 39"/>
          <p:cNvSpPr/>
          <p:nvPr/>
        </p:nvSpPr>
        <p:spPr>
          <a:xfrm>
            <a:off x="6858000" y="2240280"/>
            <a:ext cx="502920" cy="457200"/>
          </a:xfrm>
          <a:prstGeom prst="rect">
            <a:avLst/>
          </a:prstGeom>
          <a:solidFill>
            <a:srgbClr val="FBEFD9"/>
          </a:solidFill>
          <a:ln w="9525">
            <a:solidFill>
              <a:srgbClr val="E5C28C"/>
            </a:solidFill>
            <a:prstDash val="solid"/>
          </a:ln>
        </p:spPr>
      </p:sp>
      <p:sp>
        <p:nvSpPr>
          <p:cNvPr id="42" name="Text 40"/>
          <p:cNvSpPr/>
          <p:nvPr/>
        </p:nvSpPr>
        <p:spPr>
          <a:xfrm>
            <a:off x="6858000" y="2240280"/>
            <a:ext cx="502920"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43" name="Shape 41"/>
          <p:cNvSpPr/>
          <p:nvPr/>
        </p:nvSpPr>
        <p:spPr>
          <a:xfrm>
            <a:off x="6355080" y="2697480"/>
            <a:ext cx="502920" cy="457200"/>
          </a:xfrm>
          <a:prstGeom prst="rect">
            <a:avLst/>
          </a:prstGeom>
          <a:solidFill>
            <a:srgbClr val="FBEFD9"/>
          </a:solidFill>
          <a:ln w="9525">
            <a:solidFill>
              <a:srgbClr val="E5C28C"/>
            </a:solidFill>
            <a:prstDash val="solid"/>
          </a:ln>
        </p:spPr>
      </p:sp>
      <p:sp>
        <p:nvSpPr>
          <p:cNvPr id="44" name="Text 42"/>
          <p:cNvSpPr/>
          <p:nvPr/>
        </p:nvSpPr>
        <p:spPr>
          <a:xfrm>
            <a:off x="6355080" y="2697480"/>
            <a:ext cx="502920"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2</a:t>
            </a:r>
            <a:endParaRPr lang="en-US" sz="1700" dirty="0"/>
          </a:p>
        </p:txBody>
      </p:sp>
      <p:sp>
        <p:nvSpPr>
          <p:cNvPr id="45" name="Shape 43"/>
          <p:cNvSpPr/>
          <p:nvPr/>
        </p:nvSpPr>
        <p:spPr>
          <a:xfrm>
            <a:off x="6858000" y="2697480"/>
            <a:ext cx="502920" cy="457200"/>
          </a:xfrm>
          <a:prstGeom prst="rect">
            <a:avLst/>
          </a:prstGeom>
          <a:solidFill>
            <a:srgbClr val="FBEFD9"/>
          </a:solidFill>
          <a:ln w="9525">
            <a:solidFill>
              <a:srgbClr val="E5C28C"/>
            </a:solidFill>
            <a:prstDash val="solid"/>
          </a:ln>
        </p:spPr>
      </p:sp>
      <p:sp>
        <p:nvSpPr>
          <p:cNvPr id="46" name="Text 44"/>
          <p:cNvSpPr/>
          <p:nvPr/>
        </p:nvSpPr>
        <p:spPr>
          <a:xfrm>
            <a:off x="6858000" y="2697480"/>
            <a:ext cx="502920"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5</a:t>
            </a:r>
            <a:endParaRPr lang="en-US" sz="1700" dirty="0"/>
          </a:p>
        </p:txBody>
      </p:sp>
      <p:sp>
        <p:nvSpPr>
          <p:cNvPr id="47" name="Text 45"/>
          <p:cNvSpPr/>
          <p:nvPr/>
        </p:nvSpPr>
        <p:spPr>
          <a:xfrm>
            <a:off x="6355080" y="3273552"/>
            <a:ext cx="1463040" cy="256032"/>
          </a:xfrm>
          <a:prstGeom prst="rect">
            <a:avLst/>
          </a:prstGeom>
          <a:noFill/>
          <a:ln/>
        </p:spPr>
        <p:txBody>
          <a:bodyPr wrap="square" lIns="0" tIns="0" rIns="0" bIns="0" rtlCol="0" anchor="t"/>
          <a:lstStyle/>
          <a:p>
            <a:pPr marL="0" indent="0">
              <a:buNone/>
            </a:pPr>
            <a:r>
              <a:rPr lang="en-US" sz="1400" dirty="0">
                <a:solidFill>
                  <a:srgbClr val="728694"/>
                </a:solidFill>
                <a:latin typeface="Consolas" pitchFamily="34" charset="0"/>
                <a:ea typeface="Consolas" pitchFamily="34" charset="-122"/>
                <a:cs typeface="Consolas" pitchFamily="34" charset="-120"/>
              </a:rPr>
              <a:t>shape (3, 2)</a:t>
            </a:r>
            <a:endParaRPr lang="en-US" sz="1400" dirty="0"/>
          </a:p>
        </p:txBody>
      </p:sp>
      <p:sp>
        <p:nvSpPr>
          <p:cNvPr id="48" name="Shape 46"/>
          <p:cNvSpPr/>
          <p:nvPr/>
        </p:nvSpPr>
        <p:spPr>
          <a:xfrm>
            <a:off x="8732520" y="1554480"/>
            <a:ext cx="2907792" cy="2057400"/>
          </a:xfrm>
          <a:prstGeom prst="roundRect">
            <a:avLst>
              <a:gd name="adj" fmla="val 3111"/>
            </a:avLst>
          </a:prstGeom>
          <a:solidFill>
            <a:srgbClr val="EAF4F8"/>
          </a:solidFill>
          <a:ln w="9525">
            <a:solidFill>
              <a:srgbClr val="CFE5EE"/>
            </a:solidFill>
            <a:prstDash val="solid"/>
          </a:ln>
        </p:spPr>
      </p:sp>
      <p:sp>
        <p:nvSpPr>
          <p:cNvPr id="49" name="Text 47"/>
          <p:cNvSpPr/>
          <p:nvPr/>
        </p:nvSpPr>
        <p:spPr>
          <a:xfrm>
            <a:off x="8942832" y="1691640"/>
            <a:ext cx="2514600" cy="365760"/>
          </a:xfrm>
          <a:prstGeom prst="rect">
            <a:avLst/>
          </a:prstGeom>
          <a:noFill/>
          <a:ln/>
        </p:spPr>
        <p:txBody>
          <a:bodyPr wrap="square" lIns="0" tIns="0" rIns="0" bIns="0" rtlCol="0" anchor="t"/>
          <a:lstStyle/>
          <a:p>
            <a:pPr marL="0" indent="0">
              <a:buNone/>
            </a:pPr>
            <a:r>
              <a:rPr lang="en-US" sz="2500" b="1" dirty="0">
                <a:solidFill>
                  <a:srgbClr val="1B8EA8"/>
                </a:solidFill>
                <a:latin typeface="Segoe UI" pitchFamily="34" charset="0"/>
                <a:ea typeface="Segoe UI" pitchFamily="34" charset="-122"/>
                <a:cs typeface="Segoe UI" pitchFamily="34" charset="-120"/>
              </a:rPr>
              <a:t>Mẹo -1</a:t>
            </a:r>
            <a:endParaRPr lang="en-US" sz="2500" dirty="0"/>
          </a:p>
        </p:txBody>
      </p:sp>
      <p:sp>
        <p:nvSpPr>
          <p:cNvPr id="50" name="Text 48"/>
          <p:cNvSpPr/>
          <p:nvPr/>
        </p:nvSpPr>
        <p:spPr>
          <a:xfrm>
            <a:off x="8942832" y="2121408"/>
            <a:ext cx="2487168" cy="1188720"/>
          </a:xfrm>
          <a:prstGeom prst="rect">
            <a:avLst/>
          </a:prstGeom>
          <a:noFill/>
          <a:ln/>
        </p:spPr>
        <p:txBody>
          <a:bodyPr wrap="square" lIns="0" tIns="0" rIns="0" bIns="0" rtlCol="0" anchor="t"/>
          <a:lstStyle/>
          <a:p>
            <a:pPr marL="0" indent="0">
              <a:lnSpc>
                <a:spcPct val="108000"/>
              </a:lnSpc>
              <a:buNone/>
            </a:pPr>
            <a:r>
              <a:rPr lang="en-US" sz="2000" dirty="0">
                <a:solidFill>
                  <a:srgbClr val="415A6B"/>
                </a:solidFill>
                <a:latin typeface="Segoe UI" pitchFamily="34" charset="0"/>
                <a:ea typeface="Segoe UI" pitchFamily="34" charset="-122"/>
                <a:cs typeface="Segoe UI" pitchFamily="34" charset="-120"/>
              </a:rPr>
              <a:t>reshape(3, -1) tự suy ra chiều còn lại: (3, 4).</a:t>
            </a:r>
            <a:endParaRPr lang="en-US" sz="2000" dirty="0"/>
          </a:p>
        </p:txBody>
      </p:sp>
      <p:sp>
        <p:nvSpPr>
          <p:cNvPr id="51" name="Shape 49"/>
          <p:cNvSpPr/>
          <p:nvPr/>
        </p:nvSpPr>
        <p:spPr>
          <a:xfrm>
            <a:off x="548640" y="3611880"/>
            <a:ext cx="5852160" cy="2176272"/>
          </a:xfrm>
          <a:prstGeom prst="roundRect">
            <a:avLst>
              <a:gd name="adj" fmla="val 2101"/>
            </a:avLst>
          </a:prstGeom>
          <a:solidFill>
            <a:srgbClr val="0B2230"/>
          </a:solidFill>
          <a:ln w="9525">
            <a:solidFill>
              <a:srgbClr val="163B4C"/>
            </a:solidFill>
            <a:prstDash val="solid"/>
          </a:ln>
        </p:spPr>
      </p:sp>
      <p:sp>
        <p:nvSpPr>
          <p:cNvPr id="52" name="Shape 50"/>
          <p:cNvSpPr/>
          <p:nvPr/>
        </p:nvSpPr>
        <p:spPr>
          <a:xfrm>
            <a:off x="548640" y="3611880"/>
            <a:ext cx="5852160" cy="310896"/>
          </a:xfrm>
          <a:prstGeom prst="rect">
            <a:avLst/>
          </a:prstGeom>
          <a:solidFill>
            <a:srgbClr val="103445"/>
          </a:solidFill>
          <a:ln w="12700">
            <a:solidFill>
              <a:srgbClr val="103445"/>
            </a:solidFill>
            <a:prstDash val="solid"/>
          </a:ln>
        </p:spPr>
      </p:sp>
      <p:sp>
        <p:nvSpPr>
          <p:cNvPr id="53" name="Text 51"/>
          <p:cNvSpPr/>
          <p:nvPr/>
        </p:nvSpPr>
        <p:spPr>
          <a:xfrm>
            <a:off x="694944" y="3675888"/>
            <a:ext cx="4937760"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54" name="Shape 52"/>
          <p:cNvSpPr/>
          <p:nvPr/>
        </p:nvSpPr>
        <p:spPr>
          <a:xfrm>
            <a:off x="5833872" y="3730752"/>
            <a:ext cx="82296" cy="82296"/>
          </a:xfrm>
          <a:prstGeom prst="ellipse">
            <a:avLst/>
          </a:prstGeom>
          <a:solidFill>
            <a:srgbClr val="D96C5F"/>
          </a:solidFill>
          <a:ln w="12700">
            <a:solidFill>
              <a:srgbClr val="D96C5F"/>
            </a:solidFill>
            <a:prstDash val="solid"/>
          </a:ln>
        </p:spPr>
      </p:sp>
      <p:sp>
        <p:nvSpPr>
          <p:cNvPr id="55" name="Shape 53"/>
          <p:cNvSpPr/>
          <p:nvPr/>
        </p:nvSpPr>
        <p:spPr>
          <a:xfrm>
            <a:off x="5989320" y="3730752"/>
            <a:ext cx="82296" cy="82296"/>
          </a:xfrm>
          <a:prstGeom prst="ellipse">
            <a:avLst/>
          </a:prstGeom>
          <a:solidFill>
            <a:srgbClr val="E8A33D"/>
          </a:solidFill>
          <a:ln w="12700">
            <a:solidFill>
              <a:srgbClr val="E8A33D"/>
            </a:solidFill>
            <a:prstDash val="solid"/>
          </a:ln>
        </p:spPr>
      </p:sp>
      <p:sp>
        <p:nvSpPr>
          <p:cNvPr id="56" name="Shape 54"/>
          <p:cNvSpPr/>
          <p:nvPr/>
        </p:nvSpPr>
        <p:spPr>
          <a:xfrm>
            <a:off x="6144768" y="3730752"/>
            <a:ext cx="82296" cy="82296"/>
          </a:xfrm>
          <a:prstGeom prst="ellipse">
            <a:avLst/>
          </a:prstGeom>
          <a:solidFill>
            <a:srgbClr val="2D8C6F"/>
          </a:solidFill>
          <a:ln w="12700">
            <a:solidFill>
              <a:srgbClr val="2D8C6F"/>
            </a:solidFill>
            <a:prstDash val="solid"/>
          </a:ln>
        </p:spPr>
      </p:sp>
      <p:sp>
        <p:nvSpPr>
          <p:cNvPr id="57" name="Text 55"/>
          <p:cNvSpPr/>
          <p:nvPr/>
        </p:nvSpPr>
        <p:spPr>
          <a:xfrm>
            <a:off x="713232" y="4023360"/>
            <a:ext cx="5559552" cy="1700784"/>
          </a:xfrm>
          <a:prstGeom prst="rect">
            <a:avLst/>
          </a:prstGeom>
          <a:noFill/>
          <a:ln/>
        </p:spPr>
        <p:txBody>
          <a:bodyPr wrap="square" lIns="0" tIns="0" rIns="0" bIns="0" rtlCol="0" anchor="t"/>
          <a:lstStyle/>
          <a:p>
            <a:pPr marL="0" indent="0">
              <a:lnSpc>
                <a:spcPct val="100000"/>
              </a:lnSpc>
              <a:buNone/>
            </a:pPr>
            <a:r>
              <a:rPr lang="en-US" dirty="0">
                <a:solidFill>
                  <a:srgbClr val="D6E6EF"/>
                </a:solidFill>
                <a:latin typeface="Consolas" pitchFamily="34" charset="0"/>
                <a:ea typeface="Consolas" pitchFamily="34" charset="-122"/>
                <a:cs typeface="Consolas" pitchFamily="34" charset="-120"/>
              </a:rPr>
              <a:t>r =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.arange(</a:t>
            </a:r>
            <a:r>
              <a:rPr lang="en-US" dirty="0">
                <a:solidFill>
                  <a:srgbClr val="F08A7C"/>
                </a:solidFill>
                <a:latin typeface="Consolas" pitchFamily="34" charset="0"/>
                <a:ea typeface="Consolas" pitchFamily="34" charset="-122"/>
                <a:cs typeface="Consolas" pitchFamily="34" charset="-120"/>
              </a:rPr>
              <a:t>6</a:t>
            </a:r>
            <a:r>
              <a:rPr lang="en-US" dirty="0">
                <a:solidFill>
                  <a:srgbClr val="D6E6EF"/>
                </a:solidFill>
                <a:latin typeface="Consolas" pitchFamily="34" charset="0"/>
                <a:ea typeface="Consolas" pitchFamily="34" charset="-122"/>
                <a:cs typeface="Consolas" pitchFamily="34" charset="-120"/>
              </a:rPr>
              <a:t>).reshape(</a:t>
            </a:r>
            <a:r>
              <a:rPr lang="en-US" dirty="0">
                <a:solidFill>
                  <a:srgbClr val="F08A7C"/>
                </a:solidFill>
                <a:latin typeface="Consolas" pitchFamily="34" charset="0"/>
                <a:ea typeface="Consolas" pitchFamily="34" charset="-122"/>
                <a:cs typeface="Consolas" pitchFamily="34" charset="-120"/>
              </a:rPr>
              <a:t>2</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3</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(r)</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(r.T)</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.arange(</a:t>
            </a:r>
            <a:r>
              <a:rPr lang="en-US" dirty="0">
                <a:solidFill>
                  <a:srgbClr val="F08A7C"/>
                </a:solidFill>
                <a:latin typeface="Consolas" pitchFamily="34" charset="0"/>
                <a:ea typeface="Consolas" pitchFamily="34" charset="-122"/>
                <a:cs typeface="Consolas" pitchFamily="34" charset="-120"/>
              </a:rPr>
              <a:t>12</a:t>
            </a:r>
            <a:r>
              <a:rPr lang="en-US" dirty="0">
                <a:solidFill>
                  <a:srgbClr val="D6E6EF"/>
                </a:solidFill>
                <a:latin typeface="Consolas" pitchFamily="34" charset="0"/>
                <a:ea typeface="Consolas" pitchFamily="34" charset="-122"/>
                <a:cs typeface="Consolas" pitchFamily="34" charset="-120"/>
              </a:rPr>
              <a:t>).reshape(</a:t>
            </a:r>
            <a:r>
              <a:rPr lang="en-US" dirty="0">
                <a:solidFill>
                  <a:srgbClr val="F08A7C"/>
                </a:solidFill>
                <a:latin typeface="Consolas" pitchFamily="34" charset="0"/>
                <a:ea typeface="Consolas" pitchFamily="34" charset="-122"/>
                <a:cs typeface="Consolas" pitchFamily="34" charset="-120"/>
              </a:rPr>
              <a:t>3</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1</a:t>
            </a:r>
            <a:r>
              <a:rPr lang="en-US" dirty="0">
                <a:solidFill>
                  <a:srgbClr val="D6E6EF"/>
                </a:solidFill>
                <a:latin typeface="Consolas" pitchFamily="34" charset="0"/>
                <a:ea typeface="Consolas" pitchFamily="34" charset="-122"/>
                <a:cs typeface="Consolas" pitchFamily="34" charset="-120"/>
              </a:rPr>
              <a:t>).shape)</a:t>
            </a:r>
            <a:endParaRPr lang="en-US" dirty="0"/>
          </a:p>
        </p:txBody>
      </p:sp>
      <p:sp>
        <p:nvSpPr>
          <p:cNvPr id="58" name="Shape 56"/>
          <p:cNvSpPr/>
          <p:nvPr/>
        </p:nvSpPr>
        <p:spPr>
          <a:xfrm>
            <a:off x="6556248" y="3675888"/>
            <a:ext cx="5056632" cy="2176272"/>
          </a:xfrm>
          <a:prstGeom prst="roundRect">
            <a:avLst>
              <a:gd name="adj" fmla="val 2101"/>
            </a:avLst>
          </a:prstGeom>
          <a:solidFill>
            <a:srgbClr val="FFFFFF"/>
          </a:solidFill>
          <a:ln w="9525">
            <a:solidFill>
              <a:srgbClr val="CFE5EE"/>
            </a:solidFill>
            <a:prstDash val="solid"/>
          </a:ln>
        </p:spPr>
      </p:sp>
      <p:sp>
        <p:nvSpPr>
          <p:cNvPr id="59" name="Text 57"/>
          <p:cNvSpPr/>
          <p:nvPr/>
        </p:nvSpPr>
        <p:spPr>
          <a:xfrm>
            <a:off x="6729984" y="3703320"/>
            <a:ext cx="478231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60" name="Text 58"/>
          <p:cNvSpPr/>
          <p:nvPr/>
        </p:nvSpPr>
        <p:spPr>
          <a:xfrm>
            <a:off x="6729984" y="3959352"/>
            <a:ext cx="4782312" cy="1755648"/>
          </a:xfrm>
          <a:prstGeom prst="rect">
            <a:avLst/>
          </a:prstGeom>
          <a:noFill/>
          <a:ln/>
        </p:spPr>
        <p:txBody>
          <a:bodyPr wrap="square" lIns="0" tIns="0" rIns="0" bIns="0" rtlCol="0" anchor="t"/>
          <a:lstStyle/>
          <a:p>
            <a:pPr marL="0" indent="0">
              <a:lnSpc>
                <a:spcPct val="100000"/>
              </a:lnSpc>
              <a:buNone/>
            </a:pPr>
            <a:r>
              <a:rPr lang="en-US" sz="1500" dirty="0">
                <a:solidFill>
                  <a:srgbClr val="062A3A"/>
                </a:solidFill>
                <a:latin typeface="Consolas" pitchFamily="34" charset="0"/>
                <a:ea typeface="Consolas" pitchFamily="34" charset="-122"/>
                <a:cs typeface="Consolas" pitchFamily="34" charset="-120"/>
              </a:rPr>
              <a:t>[[0 1 2]</a:t>
            </a:r>
            <a:endParaRPr lang="en-US" sz="1500" dirty="0"/>
          </a:p>
          <a:p>
            <a:pPr marL="0" indent="0">
              <a:lnSpc>
                <a:spcPct val="100000"/>
              </a:lnSpc>
              <a:buNone/>
            </a:pPr>
            <a:r>
              <a:rPr lang="en-US" sz="1500" dirty="0">
                <a:solidFill>
                  <a:srgbClr val="062A3A"/>
                </a:solidFill>
                <a:latin typeface="Consolas" pitchFamily="34" charset="0"/>
                <a:ea typeface="Consolas" pitchFamily="34" charset="-122"/>
                <a:cs typeface="Consolas" pitchFamily="34" charset="-120"/>
              </a:rPr>
              <a:t> [3 4 5]]</a:t>
            </a:r>
            <a:endParaRPr lang="en-US" sz="1500" dirty="0"/>
          </a:p>
          <a:p>
            <a:pPr marL="0" indent="0">
              <a:lnSpc>
                <a:spcPct val="100000"/>
              </a:lnSpc>
              <a:buNone/>
            </a:pPr>
            <a:endParaRPr lang="en-US" sz="1500" dirty="0"/>
          </a:p>
          <a:p>
            <a:pPr marL="0" indent="0">
              <a:lnSpc>
                <a:spcPct val="100000"/>
              </a:lnSpc>
              <a:buNone/>
            </a:pPr>
            <a:r>
              <a:rPr lang="en-US" sz="1500" dirty="0">
                <a:solidFill>
                  <a:srgbClr val="062A3A"/>
                </a:solidFill>
                <a:latin typeface="Consolas" pitchFamily="34" charset="0"/>
                <a:ea typeface="Consolas" pitchFamily="34" charset="-122"/>
                <a:cs typeface="Consolas" pitchFamily="34" charset="-120"/>
              </a:rPr>
              <a:t>[[0 3]</a:t>
            </a:r>
            <a:endParaRPr lang="en-US" sz="1500" dirty="0"/>
          </a:p>
          <a:p>
            <a:pPr marL="0" indent="0">
              <a:lnSpc>
                <a:spcPct val="100000"/>
              </a:lnSpc>
              <a:buNone/>
            </a:pPr>
            <a:r>
              <a:rPr lang="en-US" sz="1500" dirty="0">
                <a:solidFill>
                  <a:srgbClr val="062A3A"/>
                </a:solidFill>
                <a:latin typeface="Consolas" pitchFamily="34" charset="0"/>
                <a:ea typeface="Consolas" pitchFamily="34" charset="-122"/>
                <a:cs typeface="Consolas" pitchFamily="34" charset="-120"/>
              </a:rPr>
              <a:t> [1 4]</a:t>
            </a:r>
            <a:endParaRPr lang="en-US" sz="1500" dirty="0"/>
          </a:p>
          <a:p>
            <a:pPr marL="0" indent="0">
              <a:lnSpc>
                <a:spcPct val="100000"/>
              </a:lnSpc>
              <a:buNone/>
            </a:pPr>
            <a:r>
              <a:rPr lang="en-US" sz="1500" dirty="0">
                <a:solidFill>
                  <a:srgbClr val="062A3A"/>
                </a:solidFill>
                <a:latin typeface="Consolas" pitchFamily="34" charset="0"/>
                <a:ea typeface="Consolas" pitchFamily="34" charset="-122"/>
                <a:cs typeface="Consolas" pitchFamily="34" charset="-120"/>
              </a:rPr>
              <a:t> [2 5]]</a:t>
            </a:r>
            <a:endParaRPr lang="en-US" sz="1500" dirty="0"/>
          </a:p>
          <a:p>
            <a:pPr marL="0" indent="0">
              <a:lnSpc>
                <a:spcPct val="100000"/>
              </a:lnSpc>
              <a:buNone/>
            </a:pPr>
            <a:endParaRPr lang="en-US" sz="1500" dirty="0"/>
          </a:p>
          <a:p>
            <a:pPr marL="0" indent="0">
              <a:lnSpc>
                <a:spcPct val="100000"/>
              </a:lnSpc>
              <a:buNone/>
            </a:pPr>
            <a:r>
              <a:rPr lang="en-US" sz="1500" dirty="0">
                <a:solidFill>
                  <a:srgbClr val="062A3A"/>
                </a:solidFill>
                <a:latin typeface="Consolas" pitchFamily="34" charset="0"/>
                <a:ea typeface="Consolas" pitchFamily="34" charset="-122"/>
                <a:cs typeface="Consolas" pitchFamily="34" charset="-120"/>
              </a:rPr>
              <a:t>(3, 4)</a:t>
            </a:r>
            <a:endParaRPr lang="en-US" sz="1500" dirty="0"/>
          </a:p>
        </p:txBody>
      </p:sp>
      <p:sp>
        <p:nvSpPr>
          <p:cNvPr id="61" name="Text 59"/>
          <p:cNvSpPr/>
          <p:nvPr/>
        </p:nvSpPr>
        <p:spPr>
          <a:xfrm>
            <a:off x="548640" y="5888736"/>
            <a:ext cx="11064240" cy="320040"/>
          </a:xfrm>
          <a:prstGeom prst="rect">
            <a:avLst/>
          </a:prstGeom>
          <a:noFill/>
          <a:ln/>
        </p:spPr>
        <p:txBody>
          <a:bodyPr wrap="square" lIns="0" tIns="0" rIns="0" bIns="0" rtlCol="0" anchor="t"/>
          <a:lstStyle/>
          <a:p>
            <a:pPr marL="0" indent="0">
              <a:buNone/>
            </a:pPr>
            <a:r>
              <a:rPr lang="en-US" sz="2000" i="1" dirty="0">
                <a:solidFill>
                  <a:srgbClr val="728694"/>
                </a:solidFill>
                <a:latin typeface="Segoe UI" pitchFamily="34" charset="0"/>
                <a:ea typeface="Segoe UI" pitchFamily="34" charset="-122"/>
                <a:cs typeface="Segoe UI" pitchFamily="34" charset="-120"/>
              </a:rPr>
              <a:t>Tổng phần tử giữ nguyên: 6 = 2 × 3 = 3 × 2. .T hoán vị hàng/cột.</a:t>
            </a:r>
            <a:endParaRPr lang="en-US" sz="2000" dirty="0"/>
          </a:p>
        </p:txBody>
      </p:sp>
      <p:sp>
        <p:nvSpPr>
          <p:cNvPr id="62" name="Shape 60"/>
          <p:cNvSpPr/>
          <p:nvPr/>
        </p:nvSpPr>
        <p:spPr>
          <a:xfrm>
            <a:off x="548640" y="6437376"/>
            <a:ext cx="11091672" cy="9144"/>
          </a:xfrm>
          <a:prstGeom prst="rect">
            <a:avLst/>
          </a:prstGeom>
          <a:solidFill>
            <a:srgbClr val="D7E5EC"/>
          </a:solidFill>
          <a:ln w="12700">
            <a:solidFill>
              <a:srgbClr val="D7E5EC"/>
            </a:solidFill>
            <a:prstDash val="solid"/>
          </a:ln>
        </p:spPr>
      </p:sp>
      <p:sp>
        <p:nvSpPr>
          <p:cNvPr id="63" name="Text 61"/>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64" name="Text 62"/>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16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Phép toán theo từng phần tử</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685800" y="1847088"/>
            <a:ext cx="274320" cy="320040"/>
          </a:xfrm>
          <a:prstGeom prst="rect">
            <a:avLst/>
          </a:prstGeom>
          <a:noFill/>
          <a:ln/>
        </p:spPr>
        <p:txBody>
          <a:bodyPr wrap="square" lIns="0" tIns="0" rIns="0" bIns="0" rtlCol="0" anchor="t"/>
          <a:lstStyle/>
          <a:p>
            <a:pPr marL="0" indent="0">
              <a:buNone/>
            </a:pPr>
            <a:r>
              <a:rPr lang="en-US" sz="2000" b="1" dirty="0">
                <a:solidFill>
                  <a:srgbClr val="728694"/>
                </a:solidFill>
                <a:latin typeface="Consolas" pitchFamily="34" charset="0"/>
                <a:ea typeface="Consolas" pitchFamily="34" charset="-122"/>
                <a:cs typeface="Consolas" pitchFamily="34" charset="-120"/>
              </a:rPr>
              <a:t>x</a:t>
            </a:r>
            <a:endParaRPr lang="en-US" sz="2000" dirty="0"/>
          </a:p>
        </p:txBody>
      </p:sp>
      <p:sp>
        <p:nvSpPr>
          <p:cNvPr id="6" name="Text 4"/>
          <p:cNvSpPr/>
          <p:nvPr/>
        </p:nvSpPr>
        <p:spPr>
          <a:xfrm>
            <a:off x="685800" y="2816352"/>
            <a:ext cx="274320" cy="320040"/>
          </a:xfrm>
          <a:prstGeom prst="rect">
            <a:avLst/>
          </a:prstGeom>
          <a:noFill/>
          <a:ln/>
        </p:spPr>
        <p:txBody>
          <a:bodyPr wrap="square" lIns="0" tIns="0" rIns="0" bIns="0" rtlCol="0" anchor="t"/>
          <a:lstStyle/>
          <a:p>
            <a:pPr marL="0" indent="0">
              <a:buNone/>
            </a:pPr>
            <a:r>
              <a:rPr lang="en-US" sz="2000" b="1" dirty="0">
                <a:solidFill>
                  <a:srgbClr val="728694"/>
                </a:solidFill>
                <a:latin typeface="Consolas" pitchFamily="34" charset="0"/>
                <a:ea typeface="Consolas" pitchFamily="34" charset="-122"/>
                <a:cs typeface="Consolas" pitchFamily="34" charset="-120"/>
              </a:rPr>
              <a:t>y</a:t>
            </a:r>
            <a:endParaRPr lang="en-US" sz="2000" dirty="0"/>
          </a:p>
        </p:txBody>
      </p:sp>
      <p:sp>
        <p:nvSpPr>
          <p:cNvPr id="7" name="Text 5"/>
          <p:cNvSpPr/>
          <p:nvPr/>
        </p:nvSpPr>
        <p:spPr>
          <a:xfrm>
            <a:off x="137160" y="4160520"/>
            <a:ext cx="914400" cy="365760"/>
          </a:xfrm>
          <a:prstGeom prst="rect">
            <a:avLst/>
          </a:prstGeom>
          <a:noFill/>
          <a:ln/>
        </p:spPr>
        <p:txBody>
          <a:bodyPr wrap="square" lIns="0" tIns="0" rIns="0" bIns="0" rtlCol="0" anchor="t"/>
          <a:lstStyle/>
          <a:p>
            <a:pPr marL="0" indent="0" algn="r">
              <a:buNone/>
            </a:pPr>
            <a:r>
              <a:rPr lang="en-US" sz="1700" b="1" dirty="0">
                <a:solidFill>
                  <a:srgbClr val="1B8EA8"/>
                </a:solidFill>
                <a:latin typeface="Consolas" pitchFamily="34" charset="0"/>
                <a:ea typeface="Consolas" pitchFamily="34" charset="-122"/>
                <a:cs typeface="Consolas" pitchFamily="34" charset="-120"/>
              </a:rPr>
              <a:t>x + y</a:t>
            </a:r>
            <a:endParaRPr lang="en-US" sz="1700" dirty="0"/>
          </a:p>
        </p:txBody>
      </p:sp>
      <p:sp>
        <p:nvSpPr>
          <p:cNvPr id="8" name="Shape 6"/>
          <p:cNvSpPr/>
          <p:nvPr/>
        </p:nvSpPr>
        <p:spPr>
          <a:xfrm>
            <a:off x="1097280" y="1783080"/>
            <a:ext cx="566928" cy="548640"/>
          </a:xfrm>
          <a:prstGeom prst="rect">
            <a:avLst/>
          </a:prstGeom>
          <a:solidFill>
            <a:srgbClr val="EAF4F8"/>
          </a:solidFill>
          <a:ln w="9525">
            <a:solidFill>
              <a:srgbClr val="A9CDDB"/>
            </a:solidFill>
            <a:prstDash val="solid"/>
          </a:ln>
        </p:spPr>
      </p:sp>
      <p:sp>
        <p:nvSpPr>
          <p:cNvPr id="9" name="Text 7"/>
          <p:cNvSpPr/>
          <p:nvPr/>
        </p:nvSpPr>
        <p:spPr>
          <a:xfrm>
            <a:off x="1097280" y="1783080"/>
            <a:ext cx="566928" cy="548640"/>
          </a:xfrm>
          <a:prstGeom prst="rect">
            <a:avLst/>
          </a:prstGeom>
          <a:noFill/>
          <a:ln/>
        </p:spPr>
        <p:txBody>
          <a:bodyPr wrap="square" lIns="0" tIns="0" rIns="0" bIns="0" rtlCol="0" anchor="ctr"/>
          <a:lstStyle/>
          <a:p>
            <a:pPr marL="0" indent="0" algn="ctr">
              <a:buNone/>
            </a:pPr>
            <a:r>
              <a:rPr lang="en-US" sz="1800" dirty="0">
                <a:solidFill>
                  <a:srgbClr val="062A3A"/>
                </a:solidFill>
                <a:latin typeface="Consolas" pitchFamily="34" charset="0"/>
                <a:ea typeface="Consolas" pitchFamily="34" charset="-122"/>
                <a:cs typeface="Consolas" pitchFamily="34" charset="-120"/>
              </a:rPr>
              <a:t>1</a:t>
            </a:r>
            <a:endParaRPr lang="en-US" sz="1800" dirty="0"/>
          </a:p>
        </p:txBody>
      </p:sp>
      <p:sp>
        <p:nvSpPr>
          <p:cNvPr id="10" name="Shape 8"/>
          <p:cNvSpPr/>
          <p:nvPr/>
        </p:nvSpPr>
        <p:spPr>
          <a:xfrm>
            <a:off x="1664208" y="1783080"/>
            <a:ext cx="566928" cy="548640"/>
          </a:xfrm>
          <a:prstGeom prst="rect">
            <a:avLst/>
          </a:prstGeom>
          <a:solidFill>
            <a:srgbClr val="EAF4F8"/>
          </a:solidFill>
          <a:ln w="9525">
            <a:solidFill>
              <a:srgbClr val="A9CDDB"/>
            </a:solidFill>
            <a:prstDash val="solid"/>
          </a:ln>
        </p:spPr>
      </p:sp>
      <p:sp>
        <p:nvSpPr>
          <p:cNvPr id="11" name="Text 9"/>
          <p:cNvSpPr/>
          <p:nvPr/>
        </p:nvSpPr>
        <p:spPr>
          <a:xfrm>
            <a:off x="1664208" y="1783080"/>
            <a:ext cx="566928" cy="548640"/>
          </a:xfrm>
          <a:prstGeom prst="rect">
            <a:avLst/>
          </a:prstGeom>
          <a:noFill/>
          <a:ln/>
        </p:spPr>
        <p:txBody>
          <a:bodyPr wrap="square" lIns="0" tIns="0" rIns="0" bIns="0" rtlCol="0" anchor="ctr"/>
          <a:lstStyle/>
          <a:p>
            <a:pPr marL="0" indent="0" algn="ctr">
              <a:buNone/>
            </a:pPr>
            <a:r>
              <a:rPr lang="en-US" sz="1800" dirty="0">
                <a:solidFill>
                  <a:srgbClr val="062A3A"/>
                </a:solidFill>
                <a:latin typeface="Consolas" pitchFamily="34" charset="0"/>
                <a:ea typeface="Consolas" pitchFamily="34" charset="-122"/>
                <a:cs typeface="Consolas" pitchFamily="34" charset="-120"/>
              </a:rPr>
              <a:t>2</a:t>
            </a:r>
            <a:endParaRPr lang="en-US" sz="1800" dirty="0"/>
          </a:p>
        </p:txBody>
      </p:sp>
      <p:sp>
        <p:nvSpPr>
          <p:cNvPr id="12" name="Shape 10"/>
          <p:cNvSpPr/>
          <p:nvPr/>
        </p:nvSpPr>
        <p:spPr>
          <a:xfrm>
            <a:off x="2231136" y="1783080"/>
            <a:ext cx="566928" cy="548640"/>
          </a:xfrm>
          <a:prstGeom prst="rect">
            <a:avLst/>
          </a:prstGeom>
          <a:solidFill>
            <a:srgbClr val="EAF4F8"/>
          </a:solidFill>
          <a:ln w="9525">
            <a:solidFill>
              <a:srgbClr val="A9CDDB"/>
            </a:solidFill>
            <a:prstDash val="solid"/>
          </a:ln>
        </p:spPr>
      </p:sp>
      <p:sp>
        <p:nvSpPr>
          <p:cNvPr id="13" name="Text 11"/>
          <p:cNvSpPr/>
          <p:nvPr/>
        </p:nvSpPr>
        <p:spPr>
          <a:xfrm>
            <a:off x="2231136" y="1783080"/>
            <a:ext cx="566928" cy="548640"/>
          </a:xfrm>
          <a:prstGeom prst="rect">
            <a:avLst/>
          </a:prstGeom>
          <a:noFill/>
          <a:ln/>
        </p:spPr>
        <p:txBody>
          <a:bodyPr wrap="square" lIns="0" tIns="0" rIns="0" bIns="0" rtlCol="0" anchor="ctr"/>
          <a:lstStyle/>
          <a:p>
            <a:pPr marL="0" indent="0" algn="ctr">
              <a:buNone/>
            </a:pPr>
            <a:r>
              <a:rPr lang="en-US" sz="1800" dirty="0">
                <a:solidFill>
                  <a:srgbClr val="062A3A"/>
                </a:solidFill>
                <a:latin typeface="Consolas" pitchFamily="34" charset="0"/>
                <a:ea typeface="Consolas" pitchFamily="34" charset="-122"/>
                <a:cs typeface="Consolas" pitchFamily="34" charset="-120"/>
              </a:rPr>
              <a:t>3</a:t>
            </a:r>
            <a:endParaRPr lang="en-US" sz="1800" dirty="0"/>
          </a:p>
        </p:txBody>
      </p:sp>
      <p:sp>
        <p:nvSpPr>
          <p:cNvPr id="14" name="Shape 12"/>
          <p:cNvSpPr/>
          <p:nvPr/>
        </p:nvSpPr>
        <p:spPr>
          <a:xfrm>
            <a:off x="1097280" y="2743200"/>
            <a:ext cx="566928" cy="548640"/>
          </a:xfrm>
          <a:prstGeom prst="rect">
            <a:avLst/>
          </a:prstGeom>
          <a:solidFill>
            <a:srgbClr val="EAF4F8"/>
          </a:solidFill>
          <a:ln w="9525">
            <a:solidFill>
              <a:srgbClr val="A9CDDB"/>
            </a:solidFill>
            <a:prstDash val="solid"/>
          </a:ln>
        </p:spPr>
      </p:sp>
      <p:sp>
        <p:nvSpPr>
          <p:cNvPr id="15" name="Text 13"/>
          <p:cNvSpPr/>
          <p:nvPr/>
        </p:nvSpPr>
        <p:spPr>
          <a:xfrm>
            <a:off x="1097280" y="2743200"/>
            <a:ext cx="566928" cy="548640"/>
          </a:xfrm>
          <a:prstGeom prst="rect">
            <a:avLst/>
          </a:prstGeom>
          <a:noFill/>
          <a:ln/>
        </p:spPr>
        <p:txBody>
          <a:bodyPr wrap="square" lIns="0" tIns="0" rIns="0" bIns="0" rtlCol="0" anchor="ctr"/>
          <a:lstStyle/>
          <a:p>
            <a:pPr marL="0" indent="0" algn="ctr">
              <a:buNone/>
            </a:pPr>
            <a:r>
              <a:rPr lang="en-US" sz="1800" dirty="0">
                <a:solidFill>
                  <a:srgbClr val="062A3A"/>
                </a:solidFill>
                <a:latin typeface="Consolas" pitchFamily="34" charset="0"/>
                <a:ea typeface="Consolas" pitchFamily="34" charset="-122"/>
                <a:cs typeface="Consolas" pitchFamily="34" charset="-120"/>
              </a:rPr>
              <a:t>4</a:t>
            </a:r>
            <a:endParaRPr lang="en-US" sz="1800" dirty="0"/>
          </a:p>
        </p:txBody>
      </p:sp>
      <p:sp>
        <p:nvSpPr>
          <p:cNvPr id="16" name="Shape 14"/>
          <p:cNvSpPr/>
          <p:nvPr/>
        </p:nvSpPr>
        <p:spPr>
          <a:xfrm>
            <a:off x="1664208" y="2743200"/>
            <a:ext cx="566928" cy="548640"/>
          </a:xfrm>
          <a:prstGeom prst="rect">
            <a:avLst/>
          </a:prstGeom>
          <a:solidFill>
            <a:srgbClr val="EAF4F8"/>
          </a:solidFill>
          <a:ln w="9525">
            <a:solidFill>
              <a:srgbClr val="A9CDDB"/>
            </a:solidFill>
            <a:prstDash val="solid"/>
          </a:ln>
        </p:spPr>
      </p:sp>
      <p:sp>
        <p:nvSpPr>
          <p:cNvPr id="17" name="Text 15"/>
          <p:cNvSpPr/>
          <p:nvPr/>
        </p:nvSpPr>
        <p:spPr>
          <a:xfrm>
            <a:off x="1664208" y="2743200"/>
            <a:ext cx="566928" cy="548640"/>
          </a:xfrm>
          <a:prstGeom prst="rect">
            <a:avLst/>
          </a:prstGeom>
          <a:noFill/>
          <a:ln/>
        </p:spPr>
        <p:txBody>
          <a:bodyPr wrap="square" lIns="0" tIns="0" rIns="0" bIns="0" rtlCol="0" anchor="ctr"/>
          <a:lstStyle/>
          <a:p>
            <a:pPr marL="0" indent="0" algn="ctr">
              <a:buNone/>
            </a:pPr>
            <a:r>
              <a:rPr lang="en-US" sz="1800" dirty="0">
                <a:solidFill>
                  <a:srgbClr val="062A3A"/>
                </a:solidFill>
                <a:latin typeface="Consolas" pitchFamily="34" charset="0"/>
                <a:ea typeface="Consolas" pitchFamily="34" charset="-122"/>
                <a:cs typeface="Consolas" pitchFamily="34" charset="-120"/>
              </a:rPr>
              <a:t>5</a:t>
            </a:r>
            <a:endParaRPr lang="en-US" sz="1800" dirty="0"/>
          </a:p>
        </p:txBody>
      </p:sp>
      <p:sp>
        <p:nvSpPr>
          <p:cNvPr id="18" name="Shape 16"/>
          <p:cNvSpPr/>
          <p:nvPr/>
        </p:nvSpPr>
        <p:spPr>
          <a:xfrm>
            <a:off x="2231136" y="2743200"/>
            <a:ext cx="566928" cy="548640"/>
          </a:xfrm>
          <a:prstGeom prst="rect">
            <a:avLst/>
          </a:prstGeom>
          <a:solidFill>
            <a:srgbClr val="EAF4F8"/>
          </a:solidFill>
          <a:ln w="9525">
            <a:solidFill>
              <a:srgbClr val="A9CDDB"/>
            </a:solidFill>
            <a:prstDash val="solid"/>
          </a:ln>
        </p:spPr>
      </p:sp>
      <p:sp>
        <p:nvSpPr>
          <p:cNvPr id="19" name="Text 17"/>
          <p:cNvSpPr/>
          <p:nvPr/>
        </p:nvSpPr>
        <p:spPr>
          <a:xfrm>
            <a:off x="2231136" y="2743200"/>
            <a:ext cx="566928" cy="548640"/>
          </a:xfrm>
          <a:prstGeom prst="rect">
            <a:avLst/>
          </a:prstGeom>
          <a:noFill/>
          <a:ln/>
        </p:spPr>
        <p:txBody>
          <a:bodyPr wrap="square" lIns="0" tIns="0" rIns="0" bIns="0" rtlCol="0" anchor="ctr"/>
          <a:lstStyle/>
          <a:p>
            <a:pPr marL="0" indent="0" algn="ctr">
              <a:buNone/>
            </a:pPr>
            <a:r>
              <a:rPr lang="en-US" sz="1800" dirty="0">
                <a:solidFill>
                  <a:srgbClr val="062A3A"/>
                </a:solidFill>
                <a:latin typeface="Consolas" pitchFamily="34" charset="0"/>
                <a:ea typeface="Consolas" pitchFamily="34" charset="-122"/>
                <a:cs typeface="Consolas" pitchFamily="34" charset="-120"/>
              </a:rPr>
              <a:t>6</a:t>
            </a:r>
            <a:endParaRPr lang="en-US" sz="1800" dirty="0"/>
          </a:p>
        </p:txBody>
      </p:sp>
      <p:sp>
        <p:nvSpPr>
          <p:cNvPr id="20" name="Shape 18"/>
          <p:cNvSpPr/>
          <p:nvPr/>
        </p:nvSpPr>
        <p:spPr>
          <a:xfrm>
            <a:off x="1097280" y="4041648"/>
            <a:ext cx="566928" cy="548640"/>
          </a:xfrm>
          <a:prstGeom prst="rect">
            <a:avLst/>
          </a:prstGeom>
          <a:solidFill>
            <a:srgbClr val="1B8EA8"/>
          </a:solidFill>
          <a:ln w="9525">
            <a:solidFill>
              <a:srgbClr val="A9CDDB"/>
            </a:solidFill>
            <a:prstDash val="solid"/>
          </a:ln>
        </p:spPr>
      </p:sp>
      <p:sp>
        <p:nvSpPr>
          <p:cNvPr id="21" name="Text 19"/>
          <p:cNvSpPr/>
          <p:nvPr/>
        </p:nvSpPr>
        <p:spPr>
          <a:xfrm>
            <a:off x="1097280" y="4041648"/>
            <a:ext cx="566928"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onsolas" pitchFamily="34" charset="0"/>
                <a:ea typeface="Consolas" pitchFamily="34" charset="-122"/>
                <a:cs typeface="Consolas" pitchFamily="34" charset="-120"/>
              </a:rPr>
              <a:t>5</a:t>
            </a:r>
            <a:endParaRPr lang="en-US" sz="1800" dirty="0"/>
          </a:p>
        </p:txBody>
      </p:sp>
      <p:sp>
        <p:nvSpPr>
          <p:cNvPr id="22" name="Shape 20"/>
          <p:cNvSpPr/>
          <p:nvPr/>
        </p:nvSpPr>
        <p:spPr>
          <a:xfrm>
            <a:off x="1664208" y="4041648"/>
            <a:ext cx="566928" cy="548640"/>
          </a:xfrm>
          <a:prstGeom prst="rect">
            <a:avLst/>
          </a:prstGeom>
          <a:solidFill>
            <a:srgbClr val="1B8EA8"/>
          </a:solidFill>
          <a:ln w="9525">
            <a:solidFill>
              <a:srgbClr val="A9CDDB"/>
            </a:solidFill>
            <a:prstDash val="solid"/>
          </a:ln>
        </p:spPr>
      </p:sp>
      <p:sp>
        <p:nvSpPr>
          <p:cNvPr id="23" name="Text 21"/>
          <p:cNvSpPr/>
          <p:nvPr/>
        </p:nvSpPr>
        <p:spPr>
          <a:xfrm>
            <a:off x="1664208" y="4041648"/>
            <a:ext cx="566928"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onsolas" pitchFamily="34" charset="0"/>
                <a:ea typeface="Consolas" pitchFamily="34" charset="-122"/>
                <a:cs typeface="Consolas" pitchFamily="34" charset="-120"/>
              </a:rPr>
              <a:t>7</a:t>
            </a:r>
            <a:endParaRPr lang="en-US" sz="1800" dirty="0"/>
          </a:p>
        </p:txBody>
      </p:sp>
      <p:sp>
        <p:nvSpPr>
          <p:cNvPr id="24" name="Shape 22"/>
          <p:cNvSpPr/>
          <p:nvPr/>
        </p:nvSpPr>
        <p:spPr>
          <a:xfrm>
            <a:off x="2231136" y="4041648"/>
            <a:ext cx="566928" cy="548640"/>
          </a:xfrm>
          <a:prstGeom prst="rect">
            <a:avLst/>
          </a:prstGeom>
          <a:solidFill>
            <a:srgbClr val="1B8EA8"/>
          </a:solidFill>
          <a:ln w="9525">
            <a:solidFill>
              <a:srgbClr val="A9CDDB"/>
            </a:solidFill>
            <a:prstDash val="solid"/>
          </a:ln>
        </p:spPr>
      </p:sp>
      <p:sp>
        <p:nvSpPr>
          <p:cNvPr id="25" name="Text 23"/>
          <p:cNvSpPr/>
          <p:nvPr/>
        </p:nvSpPr>
        <p:spPr>
          <a:xfrm>
            <a:off x="2231136" y="4041648"/>
            <a:ext cx="566928"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onsolas" pitchFamily="34" charset="0"/>
                <a:ea typeface="Consolas" pitchFamily="34" charset="-122"/>
                <a:cs typeface="Consolas" pitchFamily="34" charset="-120"/>
              </a:rPr>
              <a:t>9</a:t>
            </a:r>
            <a:endParaRPr lang="en-US" sz="1800" dirty="0"/>
          </a:p>
        </p:txBody>
      </p:sp>
      <p:sp>
        <p:nvSpPr>
          <p:cNvPr id="26" name="Text 24"/>
          <p:cNvSpPr/>
          <p:nvPr/>
        </p:nvSpPr>
        <p:spPr>
          <a:xfrm>
            <a:off x="1097280" y="2395728"/>
            <a:ext cx="365760" cy="292608"/>
          </a:xfrm>
          <a:prstGeom prst="rect">
            <a:avLst/>
          </a:prstGeom>
          <a:noFill/>
          <a:ln/>
        </p:spPr>
        <p:txBody>
          <a:bodyPr wrap="square" lIns="0" tIns="0" rIns="0" bIns="0" rtlCol="0" anchor="t"/>
          <a:lstStyle/>
          <a:p>
            <a:pPr marL="0" indent="0" algn="ctr">
              <a:buNone/>
            </a:pPr>
            <a:r>
              <a:rPr lang="en-US" sz="2400" b="1" dirty="0">
                <a:solidFill>
                  <a:srgbClr val="1B8EA8"/>
                </a:solidFill>
                <a:latin typeface="Segoe UI" pitchFamily="34" charset="0"/>
                <a:ea typeface="Segoe UI" pitchFamily="34" charset="-122"/>
                <a:cs typeface="Segoe UI" pitchFamily="34" charset="-120"/>
              </a:rPr>
              <a:t>+</a:t>
            </a:r>
            <a:endParaRPr lang="en-US" sz="2400" dirty="0"/>
          </a:p>
        </p:txBody>
      </p:sp>
      <p:sp>
        <p:nvSpPr>
          <p:cNvPr id="27" name="Shape 25"/>
          <p:cNvSpPr/>
          <p:nvPr/>
        </p:nvSpPr>
        <p:spPr>
          <a:xfrm>
            <a:off x="2057400" y="3364992"/>
            <a:ext cx="0" cy="548640"/>
          </a:xfrm>
          <a:prstGeom prst="line">
            <a:avLst/>
          </a:prstGeom>
          <a:noFill/>
          <a:ln w="22225">
            <a:solidFill>
              <a:srgbClr val="1B8EA8"/>
            </a:solidFill>
            <a:prstDash val="solid"/>
            <a:headEnd type="none"/>
            <a:tailEnd type="triangle"/>
          </a:ln>
        </p:spPr>
      </p:sp>
      <p:sp>
        <p:nvSpPr>
          <p:cNvPr id="28" name="Text 26"/>
          <p:cNvSpPr/>
          <p:nvPr/>
        </p:nvSpPr>
        <p:spPr>
          <a:xfrm>
            <a:off x="640080" y="4892040"/>
            <a:ext cx="3154680" cy="822960"/>
          </a:xfrm>
          <a:prstGeom prst="rect">
            <a:avLst/>
          </a:prstGeom>
          <a:noFill/>
          <a:ln/>
        </p:spPr>
        <p:txBody>
          <a:bodyPr wrap="square" lIns="0" tIns="0" rIns="0" bIns="0" rtlCol="0" anchor="t"/>
          <a:lstStyle/>
          <a:p>
            <a:pPr marL="0" indent="0">
              <a:lnSpc>
                <a:spcPct val="108000"/>
              </a:lnSpc>
              <a:buNone/>
            </a:pPr>
            <a:r>
              <a:rPr lang="en-US" sz="2000" dirty="0">
                <a:solidFill>
                  <a:srgbClr val="415A6B"/>
                </a:solidFill>
                <a:latin typeface="Segoe UI" pitchFamily="34" charset="0"/>
                <a:ea typeface="Segoe UI" pitchFamily="34" charset="-122"/>
                <a:cs typeface="Segoe UI" pitchFamily="34" charset="-120"/>
              </a:rPr>
              <a:t>Mỗi toán tử áp cho từng cặp phần tử.</a:t>
            </a:r>
            <a:endParaRPr lang="en-US" sz="2000" dirty="0"/>
          </a:p>
        </p:txBody>
      </p:sp>
      <p:sp>
        <p:nvSpPr>
          <p:cNvPr id="29" name="Shape 27"/>
          <p:cNvSpPr/>
          <p:nvPr/>
        </p:nvSpPr>
        <p:spPr>
          <a:xfrm>
            <a:off x="4160520" y="1463040"/>
            <a:ext cx="7479792" cy="2770632"/>
          </a:xfrm>
          <a:prstGeom prst="roundRect">
            <a:avLst>
              <a:gd name="adj" fmla="val 1667"/>
            </a:avLst>
          </a:prstGeom>
          <a:solidFill>
            <a:srgbClr val="0B2230"/>
          </a:solidFill>
          <a:ln w="9525">
            <a:solidFill>
              <a:srgbClr val="163B4C"/>
            </a:solidFill>
            <a:prstDash val="solid"/>
          </a:ln>
        </p:spPr>
      </p:sp>
      <p:sp>
        <p:nvSpPr>
          <p:cNvPr id="30" name="Shape 28"/>
          <p:cNvSpPr/>
          <p:nvPr/>
        </p:nvSpPr>
        <p:spPr>
          <a:xfrm>
            <a:off x="4160520" y="1463040"/>
            <a:ext cx="7479792" cy="310896"/>
          </a:xfrm>
          <a:prstGeom prst="rect">
            <a:avLst/>
          </a:prstGeom>
          <a:solidFill>
            <a:srgbClr val="103445"/>
          </a:solidFill>
          <a:ln w="12700">
            <a:solidFill>
              <a:srgbClr val="103445"/>
            </a:solidFill>
            <a:prstDash val="solid"/>
          </a:ln>
        </p:spPr>
      </p:sp>
      <p:sp>
        <p:nvSpPr>
          <p:cNvPr id="31" name="Text 29"/>
          <p:cNvSpPr/>
          <p:nvPr/>
        </p:nvSpPr>
        <p:spPr>
          <a:xfrm>
            <a:off x="4306824" y="1527048"/>
            <a:ext cx="656539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32" name="Shape 30"/>
          <p:cNvSpPr/>
          <p:nvPr/>
        </p:nvSpPr>
        <p:spPr>
          <a:xfrm>
            <a:off x="11073384" y="1581912"/>
            <a:ext cx="82296" cy="82296"/>
          </a:xfrm>
          <a:prstGeom prst="ellipse">
            <a:avLst/>
          </a:prstGeom>
          <a:solidFill>
            <a:srgbClr val="D96C5F"/>
          </a:solidFill>
          <a:ln w="12700">
            <a:solidFill>
              <a:srgbClr val="D96C5F"/>
            </a:solidFill>
            <a:prstDash val="solid"/>
          </a:ln>
        </p:spPr>
      </p:sp>
      <p:sp>
        <p:nvSpPr>
          <p:cNvPr id="33" name="Shape 31"/>
          <p:cNvSpPr/>
          <p:nvPr/>
        </p:nvSpPr>
        <p:spPr>
          <a:xfrm>
            <a:off x="11228832" y="1581912"/>
            <a:ext cx="82296" cy="82296"/>
          </a:xfrm>
          <a:prstGeom prst="ellipse">
            <a:avLst/>
          </a:prstGeom>
          <a:solidFill>
            <a:srgbClr val="E8A33D"/>
          </a:solidFill>
          <a:ln w="12700">
            <a:solidFill>
              <a:srgbClr val="E8A33D"/>
            </a:solidFill>
            <a:prstDash val="solid"/>
          </a:ln>
        </p:spPr>
      </p:sp>
      <p:sp>
        <p:nvSpPr>
          <p:cNvPr id="34" name="Shape 32"/>
          <p:cNvSpPr/>
          <p:nvPr/>
        </p:nvSpPr>
        <p:spPr>
          <a:xfrm>
            <a:off x="11384280" y="1581912"/>
            <a:ext cx="82296" cy="82296"/>
          </a:xfrm>
          <a:prstGeom prst="ellipse">
            <a:avLst/>
          </a:prstGeom>
          <a:solidFill>
            <a:srgbClr val="2D8C6F"/>
          </a:solidFill>
          <a:ln w="12700">
            <a:solidFill>
              <a:srgbClr val="2D8C6F"/>
            </a:solidFill>
            <a:prstDash val="solid"/>
          </a:ln>
        </p:spPr>
      </p:sp>
      <p:sp>
        <p:nvSpPr>
          <p:cNvPr id="35" name="Text 33"/>
          <p:cNvSpPr/>
          <p:nvPr/>
        </p:nvSpPr>
        <p:spPr>
          <a:xfrm>
            <a:off x="4325112" y="1874520"/>
            <a:ext cx="7187184" cy="2267712"/>
          </a:xfrm>
          <a:prstGeom prst="rect">
            <a:avLst/>
          </a:prstGeom>
          <a:noFill/>
          <a:ln/>
        </p:spPr>
        <p:txBody>
          <a:bodyPr wrap="square" lIns="0" tIns="0" rIns="0" bIns="0" rtlCol="0" anchor="t"/>
          <a:lstStyle/>
          <a:p>
            <a:pPr marL="0" indent="0">
              <a:lnSpc>
                <a:spcPct val="100000"/>
              </a:lnSpc>
              <a:buNone/>
            </a:pPr>
            <a:r>
              <a:rPr lang="en-US" sz="1900" dirty="0">
                <a:solidFill>
                  <a:srgbClr val="D6E6EF"/>
                </a:solidFill>
                <a:latin typeface="Consolas" pitchFamily="34" charset="0"/>
                <a:ea typeface="Consolas" pitchFamily="34" charset="-122"/>
                <a:cs typeface="Consolas" pitchFamily="34" charset="-120"/>
              </a:rPr>
              <a:t>x = </a:t>
            </a:r>
            <a:r>
              <a:rPr lang="en-US" sz="1900" dirty="0">
                <a:solidFill>
                  <a:srgbClr val="8AD9C0"/>
                </a:solidFill>
                <a:latin typeface="Consolas" pitchFamily="34" charset="0"/>
                <a:ea typeface="Consolas" pitchFamily="34" charset="-122"/>
                <a:cs typeface="Consolas" pitchFamily="34" charset="-120"/>
              </a:rPr>
              <a:t>np</a:t>
            </a:r>
            <a:r>
              <a:rPr lang="en-US" sz="1900" dirty="0">
                <a:solidFill>
                  <a:srgbClr val="D6E6EF"/>
                </a:solidFill>
                <a:latin typeface="Consolas" pitchFamily="34" charset="0"/>
                <a:ea typeface="Consolas" pitchFamily="34" charset="-122"/>
                <a:cs typeface="Consolas" pitchFamily="34" charset="-120"/>
              </a:rPr>
              <a:t>.array([</a:t>
            </a:r>
            <a:r>
              <a:rPr lang="en-US" sz="1900" dirty="0">
                <a:solidFill>
                  <a:srgbClr val="F08A7C"/>
                </a:solidFill>
                <a:latin typeface="Consolas" pitchFamily="34" charset="0"/>
                <a:ea typeface="Consolas" pitchFamily="34" charset="-122"/>
                <a:cs typeface="Consolas" pitchFamily="34" charset="-120"/>
              </a:rPr>
              <a:t>1</a:t>
            </a:r>
            <a:r>
              <a:rPr lang="en-US" sz="1900" dirty="0">
                <a:solidFill>
                  <a:srgbClr val="D6E6EF"/>
                </a:solidFill>
                <a:latin typeface="Consolas" pitchFamily="34" charset="0"/>
                <a:ea typeface="Consolas" pitchFamily="34" charset="-122"/>
                <a:cs typeface="Consolas" pitchFamily="34" charset="-120"/>
              </a:rPr>
              <a:t>, </a:t>
            </a:r>
            <a:r>
              <a:rPr lang="en-US" sz="1900" dirty="0">
                <a:solidFill>
                  <a:srgbClr val="F08A7C"/>
                </a:solidFill>
                <a:latin typeface="Consolas" pitchFamily="34" charset="0"/>
                <a:ea typeface="Consolas" pitchFamily="34" charset="-122"/>
                <a:cs typeface="Consolas" pitchFamily="34" charset="-120"/>
              </a:rPr>
              <a:t>2</a:t>
            </a:r>
            <a:r>
              <a:rPr lang="en-US" sz="1900" dirty="0">
                <a:solidFill>
                  <a:srgbClr val="D6E6EF"/>
                </a:solidFill>
                <a:latin typeface="Consolas" pitchFamily="34" charset="0"/>
                <a:ea typeface="Consolas" pitchFamily="34" charset="-122"/>
                <a:cs typeface="Consolas" pitchFamily="34" charset="-120"/>
              </a:rPr>
              <a:t>, </a:t>
            </a:r>
            <a:r>
              <a:rPr lang="en-US" sz="1900" dirty="0">
                <a:solidFill>
                  <a:srgbClr val="F08A7C"/>
                </a:solidFill>
                <a:latin typeface="Consolas" pitchFamily="34" charset="0"/>
                <a:ea typeface="Consolas" pitchFamily="34" charset="-122"/>
                <a:cs typeface="Consolas" pitchFamily="34" charset="-120"/>
              </a:rPr>
              <a:t>3</a:t>
            </a:r>
            <a:r>
              <a:rPr lang="en-US" sz="1900" dirty="0">
                <a:solidFill>
                  <a:srgbClr val="D6E6EF"/>
                </a:solidFill>
                <a:latin typeface="Consolas" pitchFamily="34" charset="0"/>
                <a:ea typeface="Consolas" pitchFamily="34" charset="-122"/>
                <a:cs typeface="Consolas" pitchFamily="34" charset="-120"/>
              </a:rPr>
              <a:t>])</a:t>
            </a:r>
            <a:endParaRPr lang="en-US" sz="1900" dirty="0"/>
          </a:p>
          <a:p>
            <a:pPr marL="0" indent="0">
              <a:lnSpc>
                <a:spcPct val="100000"/>
              </a:lnSpc>
              <a:buNone/>
            </a:pPr>
            <a:r>
              <a:rPr lang="en-US" sz="1900" dirty="0">
                <a:solidFill>
                  <a:srgbClr val="D6E6EF"/>
                </a:solidFill>
                <a:latin typeface="Consolas" pitchFamily="34" charset="0"/>
                <a:ea typeface="Consolas" pitchFamily="34" charset="-122"/>
                <a:cs typeface="Consolas" pitchFamily="34" charset="-120"/>
              </a:rPr>
              <a:t>y = </a:t>
            </a:r>
            <a:r>
              <a:rPr lang="en-US" sz="1900" dirty="0">
                <a:solidFill>
                  <a:srgbClr val="8AD9C0"/>
                </a:solidFill>
                <a:latin typeface="Consolas" pitchFamily="34" charset="0"/>
                <a:ea typeface="Consolas" pitchFamily="34" charset="-122"/>
                <a:cs typeface="Consolas" pitchFamily="34" charset="-120"/>
              </a:rPr>
              <a:t>np</a:t>
            </a:r>
            <a:r>
              <a:rPr lang="en-US" sz="1900" dirty="0">
                <a:solidFill>
                  <a:srgbClr val="D6E6EF"/>
                </a:solidFill>
                <a:latin typeface="Consolas" pitchFamily="34" charset="0"/>
                <a:ea typeface="Consolas" pitchFamily="34" charset="-122"/>
                <a:cs typeface="Consolas" pitchFamily="34" charset="-120"/>
              </a:rPr>
              <a:t>.array([</a:t>
            </a:r>
            <a:r>
              <a:rPr lang="en-US" sz="1900" dirty="0">
                <a:solidFill>
                  <a:srgbClr val="F08A7C"/>
                </a:solidFill>
                <a:latin typeface="Consolas" pitchFamily="34" charset="0"/>
                <a:ea typeface="Consolas" pitchFamily="34" charset="-122"/>
                <a:cs typeface="Consolas" pitchFamily="34" charset="-120"/>
              </a:rPr>
              <a:t>4</a:t>
            </a:r>
            <a:r>
              <a:rPr lang="en-US" sz="1900" dirty="0">
                <a:solidFill>
                  <a:srgbClr val="D6E6EF"/>
                </a:solidFill>
                <a:latin typeface="Consolas" pitchFamily="34" charset="0"/>
                <a:ea typeface="Consolas" pitchFamily="34" charset="-122"/>
                <a:cs typeface="Consolas" pitchFamily="34" charset="-120"/>
              </a:rPr>
              <a:t>, </a:t>
            </a:r>
            <a:r>
              <a:rPr lang="en-US" sz="1900" dirty="0">
                <a:solidFill>
                  <a:srgbClr val="F08A7C"/>
                </a:solidFill>
                <a:latin typeface="Consolas" pitchFamily="34" charset="0"/>
                <a:ea typeface="Consolas" pitchFamily="34" charset="-122"/>
                <a:cs typeface="Consolas" pitchFamily="34" charset="-120"/>
              </a:rPr>
              <a:t>5</a:t>
            </a:r>
            <a:r>
              <a:rPr lang="en-US" sz="1900" dirty="0">
                <a:solidFill>
                  <a:srgbClr val="D6E6EF"/>
                </a:solidFill>
                <a:latin typeface="Consolas" pitchFamily="34" charset="0"/>
                <a:ea typeface="Consolas" pitchFamily="34" charset="-122"/>
                <a:cs typeface="Consolas" pitchFamily="34" charset="-120"/>
              </a:rPr>
              <a:t>, </a:t>
            </a:r>
            <a:r>
              <a:rPr lang="en-US" sz="1900" dirty="0">
                <a:solidFill>
                  <a:srgbClr val="F08A7C"/>
                </a:solidFill>
                <a:latin typeface="Consolas" pitchFamily="34" charset="0"/>
                <a:ea typeface="Consolas" pitchFamily="34" charset="-122"/>
                <a:cs typeface="Consolas" pitchFamily="34" charset="-120"/>
              </a:rPr>
              <a:t>6</a:t>
            </a:r>
            <a:r>
              <a:rPr lang="en-US" sz="1900" dirty="0">
                <a:solidFill>
                  <a:srgbClr val="D6E6EF"/>
                </a:solidFill>
                <a:latin typeface="Consolas" pitchFamily="34" charset="0"/>
                <a:ea typeface="Consolas" pitchFamily="34" charset="-122"/>
                <a:cs typeface="Consolas" pitchFamily="34" charset="-120"/>
              </a:rPr>
              <a:t>])</a:t>
            </a:r>
            <a:endParaRPr lang="en-US" sz="1900" dirty="0"/>
          </a:p>
          <a:p>
            <a:pPr marL="0" indent="0">
              <a:lnSpc>
                <a:spcPct val="100000"/>
              </a:lnSpc>
              <a:buNone/>
            </a:pPr>
            <a:r>
              <a:rPr lang="en-US" sz="1900" dirty="0">
                <a:solidFill>
                  <a:srgbClr val="6FD0E4"/>
                </a:solidFill>
                <a:latin typeface="Consolas" pitchFamily="34" charset="0"/>
                <a:ea typeface="Consolas" pitchFamily="34" charset="-122"/>
                <a:cs typeface="Consolas" pitchFamily="34" charset="-120"/>
              </a:rPr>
              <a:t>print</a:t>
            </a:r>
            <a:r>
              <a:rPr lang="en-US" sz="1900" dirty="0">
                <a:solidFill>
                  <a:srgbClr val="D6E6EF"/>
                </a:solidFill>
                <a:latin typeface="Consolas" pitchFamily="34" charset="0"/>
                <a:ea typeface="Consolas" pitchFamily="34" charset="-122"/>
                <a:cs typeface="Consolas" pitchFamily="34" charset="-120"/>
              </a:rPr>
              <a:t>(x + y)   </a:t>
            </a:r>
            <a:r>
              <a:rPr lang="en-US" sz="1900" i="1" dirty="0">
                <a:solidFill>
                  <a:srgbClr val="6F93A3"/>
                </a:solidFill>
                <a:latin typeface="Consolas" pitchFamily="34" charset="0"/>
                <a:ea typeface="Consolas" pitchFamily="34" charset="-122"/>
                <a:cs typeface="Consolas" pitchFamily="34" charset="-120"/>
              </a:rPr>
              <a:t># [5 7 9]</a:t>
            </a:r>
            <a:endParaRPr lang="en-US" sz="1900" dirty="0"/>
          </a:p>
          <a:p>
            <a:pPr marL="0" indent="0">
              <a:lnSpc>
                <a:spcPct val="100000"/>
              </a:lnSpc>
              <a:buNone/>
            </a:pPr>
            <a:r>
              <a:rPr lang="en-US" sz="1900" dirty="0">
                <a:solidFill>
                  <a:srgbClr val="6FD0E4"/>
                </a:solidFill>
                <a:latin typeface="Consolas" pitchFamily="34" charset="0"/>
                <a:ea typeface="Consolas" pitchFamily="34" charset="-122"/>
                <a:cs typeface="Consolas" pitchFamily="34" charset="-120"/>
              </a:rPr>
              <a:t>print</a:t>
            </a:r>
            <a:r>
              <a:rPr lang="en-US" sz="1900" dirty="0">
                <a:solidFill>
                  <a:srgbClr val="D6E6EF"/>
                </a:solidFill>
                <a:latin typeface="Consolas" pitchFamily="34" charset="0"/>
                <a:ea typeface="Consolas" pitchFamily="34" charset="-122"/>
                <a:cs typeface="Consolas" pitchFamily="34" charset="-120"/>
              </a:rPr>
              <a:t>(x - y)   </a:t>
            </a:r>
            <a:r>
              <a:rPr lang="en-US" sz="1900" i="1" dirty="0">
                <a:solidFill>
                  <a:srgbClr val="6F93A3"/>
                </a:solidFill>
                <a:latin typeface="Consolas" pitchFamily="34" charset="0"/>
                <a:ea typeface="Consolas" pitchFamily="34" charset="-122"/>
                <a:cs typeface="Consolas" pitchFamily="34" charset="-120"/>
              </a:rPr>
              <a:t># [-3 -3 -3]</a:t>
            </a:r>
            <a:endParaRPr lang="en-US" sz="1900" dirty="0"/>
          </a:p>
          <a:p>
            <a:pPr marL="0" indent="0">
              <a:lnSpc>
                <a:spcPct val="100000"/>
              </a:lnSpc>
              <a:buNone/>
            </a:pPr>
            <a:r>
              <a:rPr lang="en-US" sz="1900" dirty="0">
                <a:solidFill>
                  <a:srgbClr val="6FD0E4"/>
                </a:solidFill>
                <a:latin typeface="Consolas" pitchFamily="34" charset="0"/>
                <a:ea typeface="Consolas" pitchFamily="34" charset="-122"/>
                <a:cs typeface="Consolas" pitchFamily="34" charset="-120"/>
              </a:rPr>
              <a:t>print</a:t>
            </a:r>
            <a:r>
              <a:rPr lang="en-US" sz="1900" dirty="0">
                <a:solidFill>
                  <a:srgbClr val="D6E6EF"/>
                </a:solidFill>
                <a:latin typeface="Consolas" pitchFamily="34" charset="0"/>
                <a:ea typeface="Consolas" pitchFamily="34" charset="-122"/>
                <a:cs typeface="Consolas" pitchFamily="34" charset="-120"/>
              </a:rPr>
              <a:t>(x * y)   </a:t>
            </a:r>
            <a:r>
              <a:rPr lang="en-US" sz="1900" i="1" dirty="0">
                <a:solidFill>
                  <a:srgbClr val="6F93A3"/>
                </a:solidFill>
                <a:latin typeface="Consolas" pitchFamily="34" charset="0"/>
                <a:ea typeface="Consolas" pitchFamily="34" charset="-122"/>
                <a:cs typeface="Consolas" pitchFamily="34" charset="-120"/>
              </a:rPr>
              <a:t># [ 4 10 18]</a:t>
            </a:r>
            <a:endParaRPr lang="en-US" sz="1900" dirty="0"/>
          </a:p>
          <a:p>
            <a:pPr marL="0" indent="0">
              <a:lnSpc>
                <a:spcPct val="100000"/>
              </a:lnSpc>
              <a:buNone/>
            </a:pPr>
            <a:r>
              <a:rPr lang="en-US" sz="1900" dirty="0">
                <a:solidFill>
                  <a:srgbClr val="6FD0E4"/>
                </a:solidFill>
                <a:latin typeface="Consolas" pitchFamily="34" charset="0"/>
                <a:ea typeface="Consolas" pitchFamily="34" charset="-122"/>
                <a:cs typeface="Consolas" pitchFamily="34" charset="-120"/>
              </a:rPr>
              <a:t>print</a:t>
            </a:r>
            <a:r>
              <a:rPr lang="en-US" sz="1900" dirty="0">
                <a:solidFill>
                  <a:srgbClr val="D6E6EF"/>
                </a:solidFill>
                <a:latin typeface="Consolas" pitchFamily="34" charset="0"/>
                <a:ea typeface="Consolas" pitchFamily="34" charset="-122"/>
                <a:cs typeface="Consolas" pitchFamily="34" charset="-120"/>
              </a:rPr>
              <a:t>(x / y)   </a:t>
            </a:r>
            <a:r>
              <a:rPr lang="en-US" sz="1900" i="1" dirty="0">
                <a:solidFill>
                  <a:srgbClr val="6F93A3"/>
                </a:solidFill>
                <a:latin typeface="Consolas" pitchFamily="34" charset="0"/>
                <a:ea typeface="Consolas" pitchFamily="34" charset="-122"/>
                <a:cs typeface="Consolas" pitchFamily="34" charset="-120"/>
              </a:rPr>
              <a:t># [0.25 0.4  0.5 ]</a:t>
            </a:r>
            <a:endParaRPr lang="en-US" sz="1900" dirty="0"/>
          </a:p>
          <a:p>
            <a:pPr marL="0" indent="0">
              <a:lnSpc>
                <a:spcPct val="100000"/>
              </a:lnSpc>
              <a:buNone/>
            </a:pPr>
            <a:r>
              <a:rPr lang="en-US" sz="1900" dirty="0">
                <a:solidFill>
                  <a:srgbClr val="6FD0E4"/>
                </a:solidFill>
                <a:latin typeface="Consolas" pitchFamily="34" charset="0"/>
                <a:ea typeface="Consolas" pitchFamily="34" charset="-122"/>
                <a:cs typeface="Consolas" pitchFamily="34" charset="-120"/>
              </a:rPr>
              <a:t>print</a:t>
            </a:r>
            <a:r>
              <a:rPr lang="en-US" sz="1900" dirty="0">
                <a:solidFill>
                  <a:srgbClr val="D6E6EF"/>
                </a:solidFill>
                <a:latin typeface="Consolas" pitchFamily="34" charset="0"/>
                <a:ea typeface="Consolas" pitchFamily="34" charset="-122"/>
                <a:cs typeface="Consolas" pitchFamily="34" charset="-120"/>
              </a:rPr>
              <a:t>(x ** </a:t>
            </a:r>
            <a:r>
              <a:rPr lang="en-US" sz="1900" dirty="0">
                <a:solidFill>
                  <a:srgbClr val="F08A7C"/>
                </a:solidFill>
                <a:latin typeface="Consolas" pitchFamily="34" charset="0"/>
                <a:ea typeface="Consolas" pitchFamily="34" charset="-122"/>
                <a:cs typeface="Consolas" pitchFamily="34" charset="-120"/>
              </a:rPr>
              <a:t>2</a:t>
            </a:r>
            <a:r>
              <a:rPr lang="en-US" sz="1900" dirty="0">
                <a:solidFill>
                  <a:srgbClr val="D6E6EF"/>
                </a:solidFill>
                <a:latin typeface="Consolas" pitchFamily="34" charset="0"/>
                <a:ea typeface="Consolas" pitchFamily="34" charset="-122"/>
                <a:cs typeface="Consolas" pitchFamily="34" charset="-120"/>
              </a:rPr>
              <a:t>)  </a:t>
            </a:r>
            <a:r>
              <a:rPr lang="en-US" sz="1900" i="1" dirty="0">
                <a:solidFill>
                  <a:srgbClr val="6F93A3"/>
                </a:solidFill>
                <a:latin typeface="Consolas" pitchFamily="34" charset="0"/>
                <a:ea typeface="Consolas" pitchFamily="34" charset="-122"/>
                <a:cs typeface="Consolas" pitchFamily="34" charset="-120"/>
              </a:rPr>
              <a:t># [1 4 9]</a:t>
            </a:r>
            <a:endParaRPr lang="en-US" sz="1900" dirty="0"/>
          </a:p>
          <a:p>
            <a:pPr marL="0" indent="0">
              <a:lnSpc>
                <a:spcPct val="100000"/>
              </a:lnSpc>
              <a:buNone/>
            </a:pPr>
            <a:r>
              <a:rPr lang="en-US" sz="1900" dirty="0">
                <a:solidFill>
                  <a:srgbClr val="6FD0E4"/>
                </a:solidFill>
                <a:latin typeface="Consolas" pitchFamily="34" charset="0"/>
                <a:ea typeface="Consolas" pitchFamily="34" charset="-122"/>
                <a:cs typeface="Consolas" pitchFamily="34" charset="-120"/>
              </a:rPr>
              <a:t>print</a:t>
            </a:r>
            <a:r>
              <a:rPr lang="en-US" sz="1900" dirty="0">
                <a:solidFill>
                  <a:srgbClr val="D6E6EF"/>
                </a:solidFill>
                <a:latin typeface="Consolas" pitchFamily="34" charset="0"/>
                <a:ea typeface="Consolas" pitchFamily="34" charset="-122"/>
                <a:cs typeface="Consolas" pitchFamily="34" charset="-120"/>
              </a:rPr>
              <a:t>(x // </a:t>
            </a:r>
            <a:r>
              <a:rPr lang="en-US" sz="1900" dirty="0">
                <a:solidFill>
                  <a:srgbClr val="F08A7C"/>
                </a:solidFill>
                <a:latin typeface="Consolas" pitchFamily="34" charset="0"/>
                <a:ea typeface="Consolas" pitchFamily="34" charset="-122"/>
                <a:cs typeface="Consolas" pitchFamily="34" charset="-120"/>
              </a:rPr>
              <a:t>2</a:t>
            </a:r>
            <a:r>
              <a:rPr lang="en-US" sz="1900" dirty="0">
                <a:solidFill>
                  <a:srgbClr val="D6E6EF"/>
                </a:solidFill>
                <a:latin typeface="Consolas" pitchFamily="34" charset="0"/>
                <a:ea typeface="Consolas" pitchFamily="34" charset="-122"/>
                <a:cs typeface="Consolas" pitchFamily="34" charset="-120"/>
              </a:rPr>
              <a:t>)  </a:t>
            </a:r>
            <a:r>
              <a:rPr lang="en-US" sz="1900" i="1" dirty="0">
                <a:solidFill>
                  <a:srgbClr val="6F93A3"/>
                </a:solidFill>
                <a:latin typeface="Consolas" pitchFamily="34" charset="0"/>
                <a:ea typeface="Consolas" pitchFamily="34" charset="-122"/>
                <a:cs typeface="Consolas" pitchFamily="34" charset="-120"/>
              </a:rPr>
              <a:t># [0 1 1]</a:t>
            </a:r>
            <a:endParaRPr lang="en-US" sz="1900" dirty="0"/>
          </a:p>
        </p:txBody>
      </p:sp>
      <p:sp>
        <p:nvSpPr>
          <p:cNvPr id="36" name="Shape 34"/>
          <p:cNvSpPr/>
          <p:nvPr/>
        </p:nvSpPr>
        <p:spPr>
          <a:xfrm>
            <a:off x="4160520" y="4389120"/>
            <a:ext cx="7479792" cy="1234440"/>
          </a:xfrm>
          <a:prstGeom prst="roundRect">
            <a:avLst>
              <a:gd name="adj" fmla="val 3704"/>
            </a:avLst>
          </a:prstGeom>
          <a:solidFill>
            <a:srgbClr val="FFFFFF"/>
          </a:solidFill>
          <a:ln w="9525">
            <a:solidFill>
              <a:srgbClr val="CFE5EE"/>
            </a:solidFill>
            <a:prstDash val="solid"/>
          </a:ln>
        </p:spPr>
      </p:sp>
      <p:sp>
        <p:nvSpPr>
          <p:cNvPr id="37" name="Text 35"/>
          <p:cNvSpPr/>
          <p:nvPr/>
        </p:nvSpPr>
        <p:spPr>
          <a:xfrm>
            <a:off x="4306824" y="4480560"/>
            <a:ext cx="720547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8" name="Text 36"/>
          <p:cNvSpPr/>
          <p:nvPr/>
        </p:nvSpPr>
        <p:spPr>
          <a:xfrm>
            <a:off x="4306824" y="4736592"/>
            <a:ext cx="7205472" cy="81381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[5 7 9]   [-3 -3 -3]   [ 4 10 18]</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[0.25 0.4 0.5]   [1 4 9]   [0 1 1]</a:t>
            </a:r>
            <a:endParaRPr lang="en-US" dirty="0"/>
          </a:p>
        </p:txBody>
      </p:sp>
      <p:sp>
        <p:nvSpPr>
          <p:cNvPr id="39" name="Text 37"/>
          <p:cNvSpPr/>
          <p:nvPr/>
        </p:nvSpPr>
        <p:spPr>
          <a:xfrm>
            <a:off x="4160520" y="5779008"/>
            <a:ext cx="7498080" cy="320040"/>
          </a:xfrm>
          <a:prstGeom prst="rect">
            <a:avLst/>
          </a:prstGeom>
          <a:noFill/>
          <a:ln/>
        </p:spPr>
        <p:txBody>
          <a:bodyPr wrap="square" lIns="0" tIns="0" rIns="0" bIns="0" rtlCol="0" anchor="t"/>
          <a:lstStyle/>
          <a:p>
            <a:pPr marL="0" indent="0">
              <a:buNone/>
            </a:pPr>
            <a:r>
              <a:rPr lang="en-US" sz="2000" i="1" dirty="0">
                <a:solidFill>
                  <a:srgbClr val="728694"/>
                </a:solidFill>
                <a:latin typeface="Segoe UI" pitchFamily="34" charset="0"/>
                <a:ea typeface="Segoe UI" pitchFamily="34" charset="-122"/>
                <a:cs typeface="Segoe UI" pitchFamily="34" charset="-120"/>
              </a:rPr>
              <a:t>/ luôn trả về số thực; // là chia lấy phần nguyên.</a:t>
            </a:r>
            <a:endParaRPr lang="en-US" sz="2000" dirty="0"/>
          </a:p>
        </p:txBody>
      </p:sp>
      <p:sp>
        <p:nvSpPr>
          <p:cNvPr id="40" name="Shape 38"/>
          <p:cNvSpPr/>
          <p:nvPr/>
        </p:nvSpPr>
        <p:spPr>
          <a:xfrm>
            <a:off x="548640" y="6437376"/>
            <a:ext cx="11091672" cy="9144"/>
          </a:xfrm>
          <a:prstGeom prst="rect">
            <a:avLst/>
          </a:prstGeom>
          <a:solidFill>
            <a:srgbClr val="D7E5EC"/>
          </a:solidFill>
          <a:ln w="12700">
            <a:solidFill>
              <a:srgbClr val="D7E5EC"/>
            </a:solidFill>
            <a:prstDash val="solid"/>
          </a:ln>
        </p:spPr>
      </p:sp>
      <p:sp>
        <p:nvSpPr>
          <p:cNvPr id="41" name="Text 39"/>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2" name="Text 40"/>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17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Toán tử * và @ khác nhau thế nào?</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554480"/>
            <a:ext cx="1024128" cy="219456"/>
          </a:xfrm>
          <a:prstGeom prst="rect">
            <a:avLst/>
          </a:prstGeom>
          <a:noFill/>
          <a:ln/>
        </p:spPr>
        <p:txBody>
          <a:bodyPr wrap="square" lIns="0" tIns="0" rIns="0" bIns="0" rtlCol="0" anchor="t"/>
          <a:lstStyle/>
          <a:p>
            <a:pPr marL="0" indent="0" algn="ctr">
              <a:buNone/>
            </a:pPr>
            <a:r>
              <a:rPr lang="en-US" sz="1500" b="1" dirty="0">
                <a:solidFill>
                  <a:srgbClr val="415A6B"/>
                </a:solidFill>
                <a:latin typeface="Consolas" pitchFamily="34" charset="0"/>
                <a:ea typeface="Consolas" pitchFamily="34" charset="-122"/>
                <a:cs typeface="Consolas" pitchFamily="34" charset="-120"/>
              </a:rPr>
              <a:t>A</a:t>
            </a:r>
            <a:endParaRPr lang="en-US" sz="1500" dirty="0"/>
          </a:p>
        </p:txBody>
      </p:sp>
      <p:sp>
        <p:nvSpPr>
          <p:cNvPr id="6" name="Shape 4"/>
          <p:cNvSpPr/>
          <p:nvPr/>
        </p:nvSpPr>
        <p:spPr>
          <a:xfrm>
            <a:off x="548640" y="1828800"/>
            <a:ext cx="512064" cy="457200"/>
          </a:xfrm>
          <a:prstGeom prst="rect">
            <a:avLst/>
          </a:prstGeom>
          <a:solidFill>
            <a:srgbClr val="E8A33D"/>
          </a:solidFill>
          <a:ln w="9525">
            <a:solidFill>
              <a:srgbClr val="A9CDDB"/>
            </a:solidFill>
            <a:prstDash val="solid"/>
          </a:ln>
        </p:spPr>
      </p:sp>
      <p:sp>
        <p:nvSpPr>
          <p:cNvPr id="7" name="Text 5"/>
          <p:cNvSpPr/>
          <p:nvPr/>
        </p:nvSpPr>
        <p:spPr>
          <a:xfrm>
            <a:off x="548640" y="1828800"/>
            <a:ext cx="512064" cy="457200"/>
          </a:xfrm>
          <a:prstGeom prst="rect">
            <a:avLst/>
          </a:prstGeom>
          <a:noFill/>
          <a:ln/>
        </p:spPr>
        <p:txBody>
          <a:bodyPr wrap="square" lIns="0" tIns="0" rIns="0" bIns="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1</a:t>
            </a:r>
            <a:endParaRPr lang="en-US" sz="1700" dirty="0"/>
          </a:p>
        </p:txBody>
      </p:sp>
      <p:sp>
        <p:nvSpPr>
          <p:cNvPr id="8" name="Shape 6"/>
          <p:cNvSpPr/>
          <p:nvPr/>
        </p:nvSpPr>
        <p:spPr>
          <a:xfrm>
            <a:off x="1060704" y="1828800"/>
            <a:ext cx="512064" cy="457200"/>
          </a:xfrm>
          <a:prstGeom prst="rect">
            <a:avLst/>
          </a:prstGeom>
          <a:solidFill>
            <a:srgbClr val="EAF4F8"/>
          </a:solidFill>
          <a:ln w="9525">
            <a:solidFill>
              <a:srgbClr val="A9CDDB"/>
            </a:solidFill>
            <a:prstDash val="solid"/>
          </a:ln>
        </p:spPr>
      </p:sp>
      <p:sp>
        <p:nvSpPr>
          <p:cNvPr id="9" name="Text 7"/>
          <p:cNvSpPr/>
          <p:nvPr/>
        </p:nvSpPr>
        <p:spPr>
          <a:xfrm>
            <a:off x="1060704" y="18288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2</a:t>
            </a:r>
            <a:endParaRPr lang="en-US" sz="1700" dirty="0"/>
          </a:p>
        </p:txBody>
      </p:sp>
      <p:sp>
        <p:nvSpPr>
          <p:cNvPr id="10" name="Shape 8"/>
          <p:cNvSpPr/>
          <p:nvPr/>
        </p:nvSpPr>
        <p:spPr>
          <a:xfrm>
            <a:off x="548640" y="2286000"/>
            <a:ext cx="512064" cy="457200"/>
          </a:xfrm>
          <a:prstGeom prst="rect">
            <a:avLst/>
          </a:prstGeom>
          <a:solidFill>
            <a:srgbClr val="EAF4F8"/>
          </a:solidFill>
          <a:ln w="9525">
            <a:solidFill>
              <a:srgbClr val="A9CDDB"/>
            </a:solidFill>
            <a:prstDash val="solid"/>
          </a:ln>
        </p:spPr>
      </p:sp>
      <p:sp>
        <p:nvSpPr>
          <p:cNvPr id="11" name="Text 9"/>
          <p:cNvSpPr/>
          <p:nvPr/>
        </p:nvSpPr>
        <p:spPr>
          <a:xfrm>
            <a:off x="548640" y="2286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12" name="Shape 10"/>
          <p:cNvSpPr/>
          <p:nvPr/>
        </p:nvSpPr>
        <p:spPr>
          <a:xfrm>
            <a:off x="1060704" y="2286000"/>
            <a:ext cx="512064" cy="457200"/>
          </a:xfrm>
          <a:prstGeom prst="rect">
            <a:avLst/>
          </a:prstGeom>
          <a:solidFill>
            <a:srgbClr val="EAF4F8"/>
          </a:solidFill>
          <a:ln w="9525">
            <a:solidFill>
              <a:srgbClr val="A9CDDB"/>
            </a:solidFill>
            <a:prstDash val="solid"/>
          </a:ln>
        </p:spPr>
      </p:sp>
      <p:sp>
        <p:nvSpPr>
          <p:cNvPr id="13" name="Text 11"/>
          <p:cNvSpPr/>
          <p:nvPr/>
        </p:nvSpPr>
        <p:spPr>
          <a:xfrm>
            <a:off x="1060704" y="2286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14" name="Text 12"/>
          <p:cNvSpPr/>
          <p:nvPr/>
        </p:nvSpPr>
        <p:spPr>
          <a:xfrm>
            <a:off x="1627632" y="2240280"/>
            <a:ext cx="274320" cy="320040"/>
          </a:xfrm>
          <a:prstGeom prst="rect">
            <a:avLst/>
          </a:prstGeom>
          <a:noFill/>
          <a:ln/>
        </p:spPr>
        <p:txBody>
          <a:bodyPr wrap="square" lIns="0" tIns="0" rIns="0" bIns="0" rtlCol="0" anchor="t"/>
          <a:lstStyle/>
          <a:p>
            <a:pPr marL="0" indent="0" algn="ctr">
              <a:buNone/>
            </a:pPr>
            <a:r>
              <a:rPr lang="en-US" sz="2200" b="1" dirty="0">
                <a:solidFill>
                  <a:srgbClr val="1B8EA8"/>
                </a:solidFill>
                <a:latin typeface="Segoe UI" pitchFamily="34" charset="0"/>
                <a:ea typeface="Segoe UI" pitchFamily="34" charset="-122"/>
                <a:cs typeface="Segoe UI" pitchFamily="34" charset="-120"/>
              </a:rPr>
              <a:t>*</a:t>
            </a:r>
            <a:endParaRPr lang="en-US" sz="2200" dirty="0"/>
          </a:p>
        </p:txBody>
      </p:sp>
      <p:sp>
        <p:nvSpPr>
          <p:cNvPr id="15" name="Text 13"/>
          <p:cNvSpPr/>
          <p:nvPr/>
        </p:nvSpPr>
        <p:spPr>
          <a:xfrm>
            <a:off x="1920240" y="1554480"/>
            <a:ext cx="1024128" cy="219456"/>
          </a:xfrm>
          <a:prstGeom prst="rect">
            <a:avLst/>
          </a:prstGeom>
          <a:noFill/>
          <a:ln/>
        </p:spPr>
        <p:txBody>
          <a:bodyPr wrap="square" lIns="0" tIns="0" rIns="0" bIns="0" rtlCol="0" anchor="t"/>
          <a:lstStyle/>
          <a:p>
            <a:pPr marL="0" indent="0" algn="ctr">
              <a:buNone/>
            </a:pPr>
            <a:r>
              <a:rPr lang="en-US" sz="1500" b="1" dirty="0">
                <a:solidFill>
                  <a:srgbClr val="415A6B"/>
                </a:solidFill>
                <a:latin typeface="Consolas" pitchFamily="34" charset="0"/>
                <a:ea typeface="Consolas" pitchFamily="34" charset="-122"/>
                <a:cs typeface="Consolas" pitchFamily="34" charset="-120"/>
              </a:rPr>
              <a:t>B</a:t>
            </a:r>
            <a:endParaRPr lang="en-US" sz="1500" dirty="0"/>
          </a:p>
        </p:txBody>
      </p:sp>
      <p:sp>
        <p:nvSpPr>
          <p:cNvPr id="16" name="Shape 14"/>
          <p:cNvSpPr/>
          <p:nvPr/>
        </p:nvSpPr>
        <p:spPr>
          <a:xfrm>
            <a:off x="1920240" y="1828800"/>
            <a:ext cx="512064" cy="457200"/>
          </a:xfrm>
          <a:prstGeom prst="rect">
            <a:avLst/>
          </a:prstGeom>
          <a:solidFill>
            <a:srgbClr val="E8A33D"/>
          </a:solidFill>
          <a:ln w="9525">
            <a:solidFill>
              <a:srgbClr val="A9CDDB"/>
            </a:solidFill>
            <a:prstDash val="solid"/>
          </a:ln>
        </p:spPr>
      </p:sp>
      <p:sp>
        <p:nvSpPr>
          <p:cNvPr id="17" name="Text 15"/>
          <p:cNvSpPr/>
          <p:nvPr/>
        </p:nvSpPr>
        <p:spPr>
          <a:xfrm>
            <a:off x="1920240" y="1828800"/>
            <a:ext cx="512064" cy="457200"/>
          </a:xfrm>
          <a:prstGeom prst="rect">
            <a:avLst/>
          </a:prstGeom>
          <a:noFill/>
          <a:ln/>
        </p:spPr>
        <p:txBody>
          <a:bodyPr wrap="square" lIns="0" tIns="0" rIns="0" bIns="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5</a:t>
            </a:r>
            <a:endParaRPr lang="en-US" sz="1700" dirty="0"/>
          </a:p>
        </p:txBody>
      </p:sp>
      <p:sp>
        <p:nvSpPr>
          <p:cNvPr id="18" name="Shape 16"/>
          <p:cNvSpPr/>
          <p:nvPr/>
        </p:nvSpPr>
        <p:spPr>
          <a:xfrm>
            <a:off x="2432304" y="1828800"/>
            <a:ext cx="512064" cy="457200"/>
          </a:xfrm>
          <a:prstGeom prst="rect">
            <a:avLst/>
          </a:prstGeom>
          <a:solidFill>
            <a:srgbClr val="EAF4F8"/>
          </a:solidFill>
          <a:ln w="9525">
            <a:solidFill>
              <a:srgbClr val="A9CDDB"/>
            </a:solidFill>
            <a:prstDash val="solid"/>
          </a:ln>
        </p:spPr>
      </p:sp>
      <p:sp>
        <p:nvSpPr>
          <p:cNvPr id="19" name="Text 17"/>
          <p:cNvSpPr/>
          <p:nvPr/>
        </p:nvSpPr>
        <p:spPr>
          <a:xfrm>
            <a:off x="2432304" y="18288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6</a:t>
            </a:r>
            <a:endParaRPr lang="en-US" sz="1700" dirty="0"/>
          </a:p>
        </p:txBody>
      </p:sp>
      <p:sp>
        <p:nvSpPr>
          <p:cNvPr id="20" name="Shape 18"/>
          <p:cNvSpPr/>
          <p:nvPr/>
        </p:nvSpPr>
        <p:spPr>
          <a:xfrm>
            <a:off x="1920240" y="2286000"/>
            <a:ext cx="512064" cy="457200"/>
          </a:xfrm>
          <a:prstGeom prst="rect">
            <a:avLst/>
          </a:prstGeom>
          <a:solidFill>
            <a:srgbClr val="EAF4F8"/>
          </a:solidFill>
          <a:ln w="9525">
            <a:solidFill>
              <a:srgbClr val="A9CDDB"/>
            </a:solidFill>
            <a:prstDash val="solid"/>
          </a:ln>
        </p:spPr>
      </p:sp>
      <p:sp>
        <p:nvSpPr>
          <p:cNvPr id="21" name="Text 19"/>
          <p:cNvSpPr/>
          <p:nvPr/>
        </p:nvSpPr>
        <p:spPr>
          <a:xfrm>
            <a:off x="1920240" y="2286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7</a:t>
            </a:r>
            <a:endParaRPr lang="en-US" sz="1700" dirty="0"/>
          </a:p>
        </p:txBody>
      </p:sp>
      <p:sp>
        <p:nvSpPr>
          <p:cNvPr id="22" name="Shape 20"/>
          <p:cNvSpPr/>
          <p:nvPr/>
        </p:nvSpPr>
        <p:spPr>
          <a:xfrm>
            <a:off x="2432304" y="2286000"/>
            <a:ext cx="512064" cy="457200"/>
          </a:xfrm>
          <a:prstGeom prst="rect">
            <a:avLst/>
          </a:prstGeom>
          <a:solidFill>
            <a:srgbClr val="EAF4F8"/>
          </a:solidFill>
          <a:ln w="9525">
            <a:solidFill>
              <a:srgbClr val="A9CDDB"/>
            </a:solidFill>
            <a:prstDash val="solid"/>
          </a:ln>
        </p:spPr>
      </p:sp>
      <p:sp>
        <p:nvSpPr>
          <p:cNvPr id="23" name="Text 21"/>
          <p:cNvSpPr/>
          <p:nvPr/>
        </p:nvSpPr>
        <p:spPr>
          <a:xfrm>
            <a:off x="2432304" y="2286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8</a:t>
            </a:r>
            <a:endParaRPr lang="en-US" sz="1700" dirty="0"/>
          </a:p>
        </p:txBody>
      </p:sp>
      <p:sp>
        <p:nvSpPr>
          <p:cNvPr id="24" name="Text 22"/>
          <p:cNvSpPr/>
          <p:nvPr/>
        </p:nvSpPr>
        <p:spPr>
          <a:xfrm>
            <a:off x="2944368" y="2240280"/>
            <a:ext cx="274320" cy="320040"/>
          </a:xfrm>
          <a:prstGeom prst="rect">
            <a:avLst/>
          </a:prstGeom>
          <a:noFill/>
          <a:ln/>
        </p:spPr>
        <p:txBody>
          <a:bodyPr wrap="square" lIns="0" tIns="0" rIns="0" bIns="0" rtlCol="0" anchor="t"/>
          <a:lstStyle/>
          <a:p>
            <a:pPr marL="0" indent="0" algn="ctr">
              <a:buNone/>
            </a:pPr>
            <a:r>
              <a:rPr lang="en-US" sz="2200" dirty="0">
                <a:solidFill>
                  <a:srgbClr val="728694"/>
                </a:solidFill>
                <a:latin typeface="Segoe UI" pitchFamily="34" charset="0"/>
                <a:ea typeface="Segoe UI" pitchFamily="34" charset="-122"/>
                <a:cs typeface="Segoe UI" pitchFamily="34" charset="-120"/>
              </a:rPr>
              <a:t>=</a:t>
            </a:r>
            <a:endParaRPr lang="en-US" sz="2200" dirty="0"/>
          </a:p>
        </p:txBody>
      </p:sp>
      <p:sp>
        <p:nvSpPr>
          <p:cNvPr id="25" name="Text 23"/>
          <p:cNvSpPr/>
          <p:nvPr/>
        </p:nvSpPr>
        <p:spPr>
          <a:xfrm>
            <a:off x="3273552" y="1554480"/>
            <a:ext cx="1024128" cy="219456"/>
          </a:xfrm>
          <a:prstGeom prst="rect">
            <a:avLst/>
          </a:prstGeom>
          <a:noFill/>
          <a:ln/>
        </p:spPr>
        <p:txBody>
          <a:bodyPr wrap="square" lIns="0" tIns="0" rIns="0" bIns="0" rtlCol="0" anchor="t"/>
          <a:lstStyle/>
          <a:p>
            <a:pPr marL="0" indent="0" algn="ctr">
              <a:buNone/>
            </a:pPr>
            <a:r>
              <a:rPr lang="en-US" sz="1500" b="1" dirty="0">
                <a:solidFill>
                  <a:srgbClr val="415A6B"/>
                </a:solidFill>
                <a:latin typeface="Consolas" pitchFamily="34" charset="0"/>
                <a:ea typeface="Consolas" pitchFamily="34" charset="-122"/>
                <a:cs typeface="Consolas" pitchFamily="34" charset="-120"/>
              </a:rPr>
              <a:t>A * B</a:t>
            </a:r>
            <a:endParaRPr lang="en-US" sz="1500" dirty="0"/>
          </a:p>
        </p:txBody>
      </p:sp>
      <p:sp>
        <p:nvSpPr>
          <p:cNvPr id="26" name="Shape 24"/>
          <p:cNvSpPr/>
          <p:nvPr/>
        </p:nvSpPr>
        <p:spPr>
          <a:xfrm>
            <a:off x="3273552" y="1828800"/>
            <a:ext cx="512064" cy="457200"/>
          </a:xfrm>
          <a:prstGeom prst="rect">
            <a:avLst/>
          </a:prstGeom>
          <a:solidFill>
            <a:srgbClr val="E8A33D"/>
          </a:solidFill>
          <a:ln w="9525">
            <a:solidFill>
              <a:srgbClr val="A9CDDB"/>
            </a:solidFill>
            <a:prstDash val="solid"/>
          </a:ln>
        </p:spPr>
      </p:sp>
      <p:sp>
        <p:nvSpPr>
          <p:cNvPr id="27" name="Text 25"/>
          <p:cNvSpPr/>
          <p:nvPr/>
        </p:nvSpPr>
        <p:spPr>
          <a:xfrm>
            <a:off x="3273552" y="1828800"/>
            <a:ext cx="512064" cy="457200"/>
          </a:xfrm>
          <a:prstGeom prst="rect">
            <a:avLst/>
          </a:prstGeom>
          <a:noFill/>
          <a:ln/>
        </p:spPr>
        <p:txBody>
          <a:bodyPr wrap="square" lIns="0" tIns="0" rIns="0" bIns="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5</a:t>
            </a:r>
            <a:endParaRPr lang="en-US" sz="1700" dirty="0"/>
          </a:p>
        </p:txBody>
      </p:sp>
      <p:sp>
        <p:nvSpPr>
          <p:cNvPr id="28" name="Shape 26"/>
          <p:cNvSpPr/>
          <p:nvPr/>
        </p:nvSpPr>
        <p:spPr>
          <a:xfrm>
            <a:off x="3785616" y="1828800"/>
            <a:ext cx="512064" cy="457200"/>
          </a:xfrm>
          <a:prstGeom prst="rect">
            <a:avLst/>
          </a:prstGeom>
          <a:solidFill>
            <a:srgbClr val="EAF4F8"/>
          </a:solidFill>
          <a:ln w="9525">
            <a:solidFill>
              <a:srgbClr val="A9CDDB"/>
            </a:solidFill>
            <a:prstDash val="solid"/>
          </a:ln>
        </p:spPr>
      </p:sp>
      <p:sp>
        <p:nvSpPr>
          <p:cNvPr id="29" name="Text 27"/>
          <p:cNvSpPr/>
          <p:nvPr/>
        </p:nvSpPr>
        <p:spPr>
          <a:xfrm>
            <a:off x="3785616" y="18288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12</a:t>
            </a:r>
            <a:endParaRPr lang="en-US" sz="1700" dirty="0"/>
          </a:p>
        </p:txBody>
      </p:sp>
      <p:sp>
        <p:nvSpPr>
          <p:cNvPr id="30" name="Shape 28"/>
          <p:cNvSpPr/>
          <p:nvPr/>
        </p:nvSpPr>
        <p:spPr>
          <a:xfrm>
            <a:off x="3273552" y="2286000"/>
            <a:ext cx="512064" cy="457200"/>
          </a:xfrm>
          <a:prstGeom prst="rect">
            <a:avLst/>
          </a:prstGeom>
          <a:solidFill>
            <a:srgbClr val="EAF4F8"/>
          </a:solidFill>
          <a:ln w="9525">
            <a:solidFill>
              <a:srgbClr val="A9CDDB"/>
            </a:solidFill>
            <a:prstDash val="solid"/>
          </a:ln>
        </p:spPr>
      </p:sp>
      <p:sp>
        <p:nvSpPr>
          <p:cNvPr id="31" name="Text 29"/>
          <p:cNvSpPr/>
          <p:nvPr/>
        </p:nvSpPr>
        <p:spPr>
          <a:xfrm>
            <a:off x="3273552" y="2286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21</a:t>
            </a:r>
            <a:endParaRPr lang="en-US" sz="1700" dirty="0"/>
          </a:p>
        </p:txBody>
      </p:sp>
      <p:sp>
        <p:nvSpPr>
          <p:cNvPr id="32" name="Shape 30"/>
          <p:cNvSpPr/>
          <p:nvPr/>
        </p:nvSpPr>
        <p:spPr>
          <a:xfrm>
            <a:off x="3785616" y="2286000"/>
            <a:ext cx="512064" cy="457200"/>
          </a:xfrm>
          <a:prstGeom prst="rect">
            <a:avLst/>
          </a:prstGeom>
          <a:solidFill>
            <a:srgbClr val="EAF4F8"/>
          </a:solidFill>
          <a:ln w="9525">
            <a:solidFill>
              <a:srgbClr val="A9CDDB"/>
            </a:solidFill>
            <a:prstDash val="solid"/>
          </a:ln>
        </p:spPr>
      </p:sp>
      <p:sp>
        <p:nvSpPr>
          <p:cNvPr id="33" name="Text 31"/>
          <p:cNvSpPr/>
          <p:nvPr/>
        </p:nvSpPr>
        <p:spPr>
          <a:xfrm>
            <a:off x="3785616" y="2286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32</a:t>
            </a:r>
            <a:endParaRPr lang="en-US" sz="1700" dirty="0"/>
          </a:p>
        </p:txBody>
      </p:sp>
      <p:sp>
        <p:nvSpPr>
          <p:cNvPr id="34" name="Text 32"/>
          <p:cNvSpPr/>
          <p:nvPr/>
        </p:nvSpPr>
        <p:spPr>
          <a:xfrm>
            <a:off x="548640" y="2944368"/>
            <a:ext cx="3840480" cy="256032"/>
          </a:xfrm>
          <a:prstGeom prst="rect">
            <a:avLst/>
          </a:prstGeom>
          <a:noFill/>
          <a:ln/>
        </p:spPr>
        <p:txBody>
          <a:bodyPr wrap="square" lIns="0" tIns="0" rIns="0" bIns="0" rtlCol="0" anchor="t"/>
          <a:lstStyle/>
          <a:p>
            <a:pPr marL="0" indent="0">
              <a:buNone/>
            </a:pPr>
            <a:r>
              <a:rPr lang="en-US" sz="1500" i="1" dirty="0">
                <a:solidFill>
                  <a:srgbClr val="728694"/>
                </a:solidFill>
                <a:latin typeface="Segoe UI" pitchFamily="34" charset="0"/>
                <a:ea typeface="Segoe UI" pitchFamily="34" charset="-122"/>
                <a:cs typeface="Segoe UI" pitchFamily="34" charset="-120"/>
              </a:rPr>
              <a:t>từng cặp ô cùng vị trí</a:t>
            </a:r>
            <a:endParaRPr lang="en-US" sz="1500" dirty="0"/>
          </a:p>
        </p:txBody>
      </p:sp>
      <p:sp>
        <p:nvSpPr>
          <p:cNvPr id="35" name="Text 33"/>
          <p:cNvSpPr/>
          <p:nvPr/>
        </p:nvSpPr>
        <p:spPr>
          <a:xfrm>
            <a:off x="548640" y="3840480"/>
            <a:ext cx="1024128" cy="219456"/>
          </a:xfrm>
          <a:prstGeom prst="rect">
            <a:avLst/>
          </a:prstGeom>
          <a:noFill/>
          <a:ln/>
        </p:spPr>
        <p:txBody>
          <a:bodyPr wrap="square" lIns="0" tIns="0" rIns="0" bIns="0" rtlCol="0" anchor="t"/>
          <a:lstStyle/>
          <a:p>
            <a:pPr marL="0" indent="0" algn="ctr">
              <a:buNone/>
            </a:pPr>
            <a:r>
              <a:rPr lang="en-US" sz="1500" b="1" dirty="0">
                <a:solidFill>
                  <a:srgbClr val="415A6B"/>
                </a:solidFill>
                <a:latin typeface="Consolas" pitchFamily="34" charset="0"/>
                <a:ea typeface="Consolas" pitchFamily="34" charset="-122"/>
                <a:cs typeface="Consolas" pitchFamily="34" charset="-120"/>
              </a:rPr>
              <a:t>A</a:t>
            </a:r>
            <a:endParaRPr lang="en-US" sz="1500" dirty="0"/>
          </a:p>
        </p:txBody>
      </p:sp>
      <p:sp>
        <p:nvSpPr>
          <p:cNvPr id="36" name="Shape 34"/>
          <p:cNvSpPr/>
          <p:nvPr/>
        </p:nvSpPr>
        <p:spPr>
          <a:xfrm>
            <a:off x="548640" y="4114800"/>
            <a:ext cx="512064" cy="457200"/>
          </a:xfrm>
          <a:prstGeom prst="rect">
            <a:avLst/>
          </a:prstGeom>
          <a:solidFill>
            <a:srgbClr val="4DB8D4"/>
          </a:solidFill>
          <a:ln w="9525">
            <a:solidFill>
              <a:srgbClr val="A9CDDB"/>
            </a:solidFill>
            <a:prstDash val="solid"/>
          </a:ln>
        </p:spPr>
      </p:sp>
      <p:sp>
        <p:nvSpPr>
          <p:cNvPr id="37" name="Text 35"/>
          <p:cNvSpPr/>
          <p:nvPr/>
        </p:nvSpPr>
        <p:spPr>
          <a:xfrm>
            <a:off x="548640" y="4114800"/>
            <a:ext cx="512064" cy="457200"/>
          </a:xfrm>
          <a:prstGeom prst="rect">
            <a:avLst/>
          </a:prstGeom>
          <a:noFill/>
          <a:ln/>
        </p:spPr>
        <p:txBody>
          <a:bodyPr wrap="square" lIns="0" tIns="0" rIns="0" bIns="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1</a:t>
            </a:r>
            <a:endParaRPr lang="en-US" sz="1700" dirty="0"/>
          </a:p>
        </p:txBody>
      </p:sp>
      <p:sp>
        <p:nvSpPr>
          <p:cNvPr id="38" name="Shape 36"/>
          <p:cNvSpPr/>
          <p:nvPr/>
        </p:nvSpPr>
        <p:spPr>
          <a:xfrm>
            <a:off x="1060704" y="4114800"/>
            <a:ext cx="512064" cy="457200"/>
          </a:xfrm>
          <a:prstGeom prst="rect">
            <a:avLst/>
          </a:prstGeom>
          <a:solidFill>
            <a:srgbClr val="4DB8D4"/>
          </a:solidFill>
          <a:ln w="9525">
            <a:solidFill>
              <a:srgbClr val="A9CDDB"/>
            </a:solidFill>
            <a:prstDash val="solid"/>
          </a:ln>
        </p:spPr>
      </p:sp>
      <p:sp>
        <p:nvSpPr>
          <p:cNvPr id="39" name="Text 37"/>
          <p:cNvSpPr/>
          <p:nvPr/>
        </p:nvSpPr>
        <p:spPr>
          <a:xfrm>
            <a:off x="1060704" y="4114800"/>
            <a:ext cx="512064" cy="457200"/>
          </a:xfrm>
          <a:prstGeom prst="rect">
            <a:avLst/>
          </a:prstGeom>
          <a:noFill/>
          <a:ln/>
        </p:spPr>
        <p:txBody>
          <a:bodyPr wrap="square" lIns="0" tIns="0" rIns="0" bIns="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2</a:t>
            </a:r>
            <a:endParaRPr lang="en-US" sz="1700" dirty="0"/>
          </a:p>
        </p:txBody>
      </p:sp>
      <p:sp>
        <p:nvSpPr>
          <p:cNvPr id="40" name="Shape 38"/>
          <p:cNvSpPr/>
          <p:nvPr/>
        </p:nvSpPr>
        <p:spPr>
          <a:xfrm>
            <a:off x="548640" y="4572000"/>
            <a:ext cx="512064" cy="457200"/>
          </a:xfrm>
          <a:prstGeom prst="rect">
            <a:avLst/>
          </a:prstGeom>
          <a:solidFill>
            <a:srgbClr val="EAF4F8"/>
          </a:solidFill>
          <a:ln w="9525">
            <a:solidFill>
              <a:srgbClr val="A9CDDB"/>
            </a:solidFill>
            <a:prstDash val="solid"/>
          </a:ln>
        </p:spPr>
      </p:sp>
      <p:sp>
        <p:nvSpPr>
          <p:cNvPr id="41" name="Text 39"/>
          <p:cNvSpPr/>
          <p:nvPr/>
        </p:nvSpPr>
        <p:spPr>
          <a:xfrm>
            <a:off x="548640" y="4572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42" name="Shape 40"/>
          <p:cNvSpPr/>
          <p:nvPr/>
        </p:nvSpPr>
        <p:spPr>
          <a:xfrm>
            <a:off x="1060704" y="4572000"/>
            <a:ext cx="512064" cy="457200"/>
          </a:xfrm>
          <a:prstGeom prst="rect">
            <a:avLst/>
          </a:prstGeom>
          <a:solidFill>
            <a:srgbClr val="EAF4F8"/>
          </a:solidFill>
          <a:ln w="9525">
            <a:solidFill>
              <a:srgbClr val="A9CDDB"/>
            </a:solidFill>
            <a:prstDash val="solid"/>
          </a:ln>
        </p:spPr>
      </p:sp>
      <p:sp>
        <p:nvSpPr>
          <p:cNvPr id="43" name="Text 41"/>
          <p:cNvSpPr/>
          <p:nvPr/>
        </p:nvSpPr>
        <p:spPr>
          <a:xfrm>
            <a:off x="1060704" y="4572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44" name="Text 42"/>
          <p:cNvSpPr/>
          <p:nvPr/>
        </p:nvSpPr>
        <p:spPr>
          <a:xfrm>
            <a:off x="1627632" y="4526280"/>
            <a:ext cx="274320" cy="320040"/>
          </a:xfrm>
          <a:prstGeom prst="rect">
            <a:avLst/>
          </a:prstGeom>
          <a:noFill/>
          <a:ln/>
        </p:spPr>
        <p:txBody>
          <a:bodyPr wrap="square" lIns="0" tIns="0" rIns="0" bIns="0" rtlCol="0" anchor="t"/>
          <a:lstStyle/>
          <a:p>
            <a:pPr marL="0" indent="0" algn="ctr">
              <a:buNone/>
            </a:pPr>
            <a:r>
              <a:rPr lang="en-US" sz="2200" b="1" dirty="0">
                <a:solidFill>
                  <a:srgbClr val="E8A33D"/>
                </a:solidFill>
                <a:latin typeface="Segoe UI" pitchFamily="34" charset="0"/>
                <a:ea typeface="Segoe UI" pitchFamily="34" charset="-122"/>
                <a:cs typeface="Segoe UI" pitchFamily="34" charset="-120"/>
              </a:rPr>
              <a:t>@</a:t>
            </a:r>
            <a:endParaRPr lang="en-US" sz="2200" dirty="0"/>
          </a:p>
        </p:txBody>
      </p:sp>
      <p:sp>
        <p:nvSpPr>
          <p:cNvPr id="45" name="Text 43"/>
          <p:cNvSpPr/>
          <p:nvPr/>
        </p:nvSpPr>
        <p:spPr>
          <a:xfrm>
            <a:off x="1920240" y="3840480"/>
            <a:ext cx="1024128" cy="219456"/>
          </a:xfrm>
          <a:prstGeom prst="rect">
            <a:avLst/>
          </a:prstGeom>
          <a:noFill/>
          <a:ln/>
        </p:spPr>
        <p:txBody>
          <a:bodyPr wrap="square" lIns="0" tIns="0" rIns="0" bIns="0" rtlCol="0" anchor="t"/>
          <a:lstStyle/>
          <a:p>
            <a:pPr marL="0" indent="0" algn="ctr">
              <a:buNone/>
            </a:pPr>
            <a:r>
              <a:rPr lang="en-US" sz="1500" b="1" dirty="0">
                <a:solidFill>
                  <a:srgbClr val="415A6B"/>
                </a:solidFill>
                <a:latin typeface="Consolas" pitchFamily="34" charset="0"/>
                <a:ea typeface="Consolas" pitchFamily="34" charset="-122"/>
                <a:cs typeface="Consolas" pitchFamily="34" charset="-120"/>
              </a:rPr>
              <a:t>B</a:t>
            </a:r>
            <a:endParaRPr lang="en-US" sz="1500" dirty="0"/>
          </a:p>
        </p:txBody>
      </p:sp>
      <p:sp>
        <p:nvSpPr>
          <p:cNvPr id="46" name="Shape 44"/>
          <p:cNvSpPr/>
          <p:nvPr/>
        </p:nvSpPr>
        <p:spPr>
          <a:xfrm>
            <a:off x="1920240" y="4114800"/>
            <a:ext cx="512064" cy="457200"/>
          </a:xfrm>
          <a:prstGeom prst="rect">
            <a:avLst/>
          </a:prstGeom>
          <a:solidFill>
            <a:srgbClr val="4DB8D4"/>
          </a:solidFill>
          <a:ln w="9525">
            <a:solidFill>
              <a:srgbClr val="A9CDDB"/>
            </a:solidFill>
            <a:prstDash val="solid"/>
          </a:ln>
        </p:spPr>
      </p:sp>
      <p:sp>
        <p:nvSpPr>
          <p:cNvPr id="47" name="Text 45"/>
          <p:cNvSpPr/>
          <p:nvPr/>
        </p:nvSpPr>
        <p:spPr>
          <a:xfrm>
            <a:off x="1920240" y="4114800"/>
            <a:ext cx="512064" cy="457200"/>
          </a:xfrm>
          <a:prstGeom prst="rect">
            <a:avLst/>
          </a:prstGeom>
          <a:noFill/>
          <a:ln/>
        </p:spPr>
        <p:txBody>
          <a:bodyPr wrap="square" lIns="0" tIns="0" rIns="0" bIns="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5</a:t>
            </a:r>
            <a:endParaRPr lang="en-US" sz="1700" dirty="0"/>
          </a:p>
        </p:txBody>
      </p:sp>
      <p:sp>
        <p:nvSpPr>
          <p:cNvPr id="48" name="Shape 46"/>
          <p:cNvSpPr/>
          <p:nvPr/>
        </p:nvSpPr>
        <p:spPr>
          <a:xfrm>
            <a:off x="2432304" y="4114800"/>
            <a:ext cx="512064" cy="457200"/>
          </a:xfrm>
          <a:prstGeom prst="rect">
            <a:avLst/>
          </a:prstGeom>
          <a:solidFill>
            <a:srgbClr val="EAF4F8"/>
          </a:solidFill>
          <a:ln w="9525">
            <a:solidFill>
              <a:srgbClr val="A9CDDB"/>
            </a:solidFill>
            <a:prstDash val="solid"/>
          </a:ln>
        </p:spPr>
      </p:sp>
      <p:sp>
        <p:nvSpPr>
          <p:cNvPr id="49" name="Text 47"/>
          <p:cNvSpPr/>
          <p:nvPr/>
        </p:nvSpPr>
        <p:spPr>
          <a:xfrm>
            <a:off x="2432304" y="41148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6</a:t>
            </a:r>
            <a:endParaRPr lang="en-US" sz="1700" dirty="0"/>
          </a:p>
        </p:txBody>
      </p:sp>
      <p:sp>
        <p:nvSpPr>
          <p:cNvPr id="50" name="Shape 48"/>
          <p:cNvSpPr/>
          <p:nvPr/>
        </p:nvSpPr>
        <p:spPr>
          <a:xfrm>
            <a:off x="1920240" y="4572000"/>
            <a:ext cx="512064" cy="457200"/>
          </a:xfrm>
          <a:prstGeom prst="rect">
            <a:avLst/>
          </a:prstGeom>
          <a:solidFill>
            <a:srgbClr val="4DB8D4"/>
          </a:solidFill>
          <a:ln w="9525">
            <a:solidFill>
              <a:srgbClr val="A9CDDB"/>
            </a:solidFill>
            <a:prstDash val="solid"/>
          </a:ln>
        </p:spPr>
      </p:sp>
      <p:sp>
        <p:nvSpPr>
          <p:cNvPr id="51" name="Text 49"/>
          <p:cNvSpPr/>
          <p:nvPr/>
        </p:nvSpPr>
        <p:spPr>
          <a:xfrm>
            <a:off x="1920240" y="4572000"/>
            <a:ext cx="512064" cy="457200"/>
          </a:xfrm>
          <a:prstGeom prst="rect">
            <a:avLst/>
          </a:prstGeom>
          <a:noFill/>
          <a:ln/>
        </p:spPr>
        <p:txBody>
          <a:bodyPr wrap="square" lIns="0" tIns="0" rIns="0" bIns="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7</a:t>
            </a:r>
            <a:endParaRPr lang="en-US" sz="1700" dirty="0"/>
          </a:p>
        </p:txBody>
      </p:sp>
      <p:sp>
        <p:nvSpPr>
          <p:cNvPr id="52" name="Shape 50"/>
          <p:cNvSpPr/>
          <p:nvPr/>
        </p:nvSpPr>
        <p:spPr>
          <a:xfrm>
            <a:off x="2432304" y="4572000"/>
            <a:ext cx="512064" cy="457200"/>
          </a:xfrm>
          <a:prstGeom prst="rect">
            <a:avLst/>
          </a:prstGeom>
          <a:solidFill>
            <a:srgbClr val="EAF4F8"/>
          </a:solidFill>
          <a:ln w="9525">
            <a:solidFill>
              <a:srgbClr val="A9CDDB"/>
            </a:solidFill>
            <a:prstDash val="solid"/>
          </a:ln>
        </p:spPr>
      </p:sp>
      <p:sp>
        <p:nvSpPr>
          <p:cNvPr id="53" name="Text 51"/>
          <p:cNvSpPr/>
          <p:nvPr/>
        </p:nvSpPr>
        <p:spPr>
          <a:xfrm>
            <a:off x="2432304" y="4572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8</a:t>
            </a:r>
            <a:endParaRPr lang="en-US" sz="1700" dirty="0"/>
          </a:p>
        </p:txBody>
      </p:sp>
      <p:sp>
        <p:nvSpPr>
          <p:cNvPr id="54" name="Text 52"/>
          <p:cNvSpPr/>
          <p:nvPr/>
        </p:nvSpPr>
        <p:spPr>
          <a:xfrm>
            <a:off x="2944368" y="4526280"/>
            <a:ext cx="274320" cy="320040"/>
          </a:xfrm>
          <a:prstGeom prst="rect">
            <a:avLst/>
          </a:prstGeom>
          <a:noFill/>
          <a:ln/>
        </p:spPr>
        <p:txBody>
          <a:bodyPr wrap="square" lIns="0" tIns="0" rIns="0" bIns="0" rtlCol="0" anchor="t"/>
          <a:lstStyle/>
          <a:p>
            <a:pPr marL="0" indent="0" algn="ctr">
              <a:buNone/>
            </a:pPr>
            <a:r>
              <a:rPr lang="en-US" sz="2200" dirty="0">
                <a:solidFill>
                  <a:srgbClr val="728694"/>
                </a:solidFill>
                <a:latin typeface="Segoe UI" pitchFamily="34" charset="0"/>
                <a:ea typeface="Segoe UI" pitchFamily="34" charset="-122"/>
                <a:cs typeface="Segoe UI" pitchFamily="34" charset="-120"/>
              </a:rPr>
              <a:t>=</a:t>
            </a:r>
            <a:endParaRPr lang="en-US" sz="2200" dirty="0"/>
          </a:p>
        </p:txBody>
      </p:sp>
      <p:sp>
        <p:nvSpPr>
          <p:cNvPr id="55" name="Text 53"/>
          <p:cNvSpPr/>
          <p:nvPr/>
        </p:nvSpPr>
        <p:spPr>
          <a:xfrm>
            <a:off x="3273552" y="3840480"/>
            <a:ext cx="1024128" cy="219456"/>
          </a:xfrm>
          <a:prstGeom prst="rect">
            <a:avLst/>
          </a:prstGeom>
          <a:noFill/>
          <a:ln/>
        </p:spPr>
        <p:txBody>
          <a:bodyPr wrap="square" lIns="0" tIns="0" rIns="0" bIns="0" rtlCol="0" anchor="t"/>
          <a:lstStyle/>
          <a:p>
            <a:pPr marL="0" indent="0" algn="ctr">
              <a:buNone/>
            </a:pPr>
            <a:r>
              <a:rPr lang="en-US" sz="1500" b="1" dirty="0">
                <a:solidFill>
                  <a:srgbClr val="415A6B"/>
                </a:solidFill>
                <a:latin typeface="Consolas" pitchFamily="34" charset="0"/>
                <a:ea typeface="Consolas" pitchFamily="34" charset="-122"/>
                <a:cs typeface="Consolas" pitchFamily="34" charset="-120"/>
              </a:rPr>
              <a:t>A @ B</a:t>
            </a:r>
            <a:endParaRPr lang="en-US" sz="1500" dirty="0"/>
          </a:p>
        </p:txBody>
      </p:sp>
      <p:sp>
        <p:nvSpPr>
          <p:cNvPr id="56" name="Shape 54"/>
          <p:cNvSpPr/>
          <p:nvPr/>
        </p:nvSpPr>
        <p:spPr>
          <a:xfrm>
            <a:off x="3273552" y="4114800"/>
            <a:ext cx="512064" cy="457200"/>
          </a:xfrm>
          <a:prstGeom prst="rect">
            <a:avLst/>
          </a:prstGeom>
          <a:solidFill>
            <a:srgbClr val="E8A33D"/>
          </a:solidFill>
          <a:ln w="9525">
            <a:solidFill>
              <a:srgbClr val="A9CDDB"/>
            </a:solidFill>
            <a:prstDash val="solid"/>
          </a:ln>
        </p:spPr>
      </p:sp>
      <p:sp>
        <p:nvSpPr>
          <p:cNvPr id="57" name="Text 55"/>
          <p:cNvSpPr/>
          <p:nvPr/>
        </p:nvSpPr>
        <p:spPr>
          <a:xfrm>
            <a:off x="3273552" y="4114800"/>
            <a:ext cx="512064" cy="457200"/>
          </a:xfrm>
          <a:prstGeom prst="rect">
            <a:avLst/>
          </a:prstGeom>
          <a:noFill/>
          <a:ln/>
        </p:spPr>
        <p:txBody>
          <a:bodyPr wrap="square" lIns="0" tIns="0" rIns="0" bIns="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19</a:t>
            </a:r>
            <a:endParaRPr lang="en-US" sz="1700" dirty="0"/>
          </a:p>
        </p:txBody>
      </p:sp>
      <p:sp>
        <p:nvSpPr>
          <p:cNvPr id="58" name="Shape 56"/>
          <p:cNvSpPr/>
          <p:nvPr/>
        </p:nvSpPr>
        <p:spPr>
          <a:xfrm>
            <a:off x="3785616" y="4114800"/>
            <a:ext cx="512064" cy="457200"/>
          </a:xfrm>
          <a:prstGeom prst="rect">
            <a:avLst/>
          </a:prstGeom>
          <a:solidFill>
            <a:srgbClr val="EAF4F8"/>
          </a:solidFill>
          <a:ln w="9525">
            <a:solidFill>
              <a:srgbClr val="A9CDDB"/>
            </a:solidFill>
            <a:prstDash val="solid"/>
          </a:ln>
        </p:spPr>
      </p:sp>
      <p:sp>
        <p:nvSpPr>
          <p:cNvPr id="59" name="Text 57"/>
          <p:cNvSpPr/>
          <p:nvPr/>
        </p:nvSpPr>
        <p:spPr>
          <a:xfrm>
            <a:off x="3785616" y="41148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22</a:t>
            </a:r>
            <a:endParaRPr lang="en-US" sz="1700" dirty="0"/>
          </a:p>
        </p:txBody>
      </p:sp>
      <p:sp>
        <p:nvSpPr>
          <p:cNvPr id="60" name="Shape 58"/>
          <p:cNvSpPr/>
          <p:nvPr/>
        </p:nvSpPr>
        <p:spPr>
          <a:xfrm>
            <a:off x="3273552" y="4572000"/>
            <a:ext cx="512064" cy="457200"/>
          </a:xfrm>
          <a:prstGeom prst="rect">
            <a:avLst/>
          </a:prstGeom>
          <a:solidFill>
            <a:srgbClr val="EAF4F8"/>
          </a:solidFill>
          <a:ln w="9525">
            <a:solidFill>
              <a:srgbClr val="A9CDDB"/>
            </a:solidFill>
            <a:prstDash val="solid"/>
          </a:ln>
        </p:spPr>
      </p:sp>
      <p:sp>
        <p:nvSpPr>
          <p:cNvPr id="61" name="Text 59"/>
          <p:cNvSpPr/>
          <p:nvPr/>
        </p:nvSpPr>
        <p:spPr>
          <a:xfrm>
            <a:off x="3273552" y="4572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43</a:t>
            </a:r>
            <a:endParaRPr lang="en-US" sz="1700" dirty="0"/>
          </a:p>
        </p:txBody>
      </p:sp>
      <p:sp>
        <p:nvSpPr>
          <p:cNvPr id="62" name="Shape 60"/>
          <p:cNvSpPr/>
          <p:nvPr/>
        </p:nvSpPr>
        <p:spPr>
          <a:xfrm>
            <a:off x="3785616" y="4572000"/>
            <a:ext cx="512064" cy="457200"/>
          </a:xfrm>
          <a:prstGeom prst="rect">
            <a:avLst/>
          </a:prstGeom>
          <a:solidFill>
            <a:srgbClr val="EAF4F8"/>
          </a:solidFill>
          <a:ln w="9525">
            <a:solidFill>
              <a:srgbClr val="A9CDDB"/>
            </a:solidFill>
            <a:prstDash val="solid"/>
          </a:ln>
        </p:spPr>
      </p:sp>
      <p:sp>
        <p:nvSpPr>
          <p:cNvPr id="63" name="Text 61"/>
          <p:cNvSpPr/>
          <p:nvPr/>
        </p:nvSpPr>
        <p:spPr>
          <a:xfrm>
            <a:off x="3785616" y="4572000"/>
            <a:ext cx="512064" cy="457200"/>
          </a:xfrm>
          <a:prstGeom prst="rect">
            <a:avLst/>
          </a:prstGeom>
          <a:noFill/>
          <a:ln/>
        </p:spPr>
        <p:txBody>
          <a:bodyPr wrap="square" lIns="0" tIns="0" rIns="0" bIns="0" rtlCol="0" anchor="ctr"/>
          <a:lstStyle/>
          <a:p>
            <a:pPr marL="0" indent="0" algn="ctr">
              <a:buNone/>
            </a:pPr>
            <a:r>
              <a:rPr lang="en-US" sz="1700" dirty="0">
                <a:solidFill>
                  <a:srgbClr val="062A3A"/>
                </a:solidFill>
                <a:latin typeface="Consolas" pitchFamily="34" charset="0"/>
                <a:ea typeface="Consolas" pitchFamily="34" charset="-122"/>
                <a:cs typeface="Consolas" pitchFamily="34" charset="-120"/>
              </a:rPr>
              <a:t>50</a:t>
            </a:r>
            <a:endParaRPr lang="en-US" sz="1700" dirty="0"/>
          </a:p>
        </p:txBody>
      </p:sp>
      <p:sp>
        <p:nvSpPr>
          <p:cNvPr id="64" name="Text 62"/>
          <p:cNvSpPr/>
          <p:nvPr/>
        </p:nvSpPr>
        <p:spPr>
          <a:xfrm>
            <a:off x="548640" y="5230368"/>
            <a:ext cx="4023360" cy="256032"/>
          </a:xfrm>
          <a:prstGeom prst="rect">
            <a:avLst/>
          </a:prstGeom>
          <a:noFill/>
          <a:ln/>
        </p:spPr>
        <p:txBody>
          <a:bodyPr wrap="square" lIns="0" tIns="0" rIns="0" bIns="0" rtlCol="0" anchor="t"/>
          <a:lstStyle/>
          <a:p>
            <a:pPr marL="0" indent="0">
              <a:buNone/>
            </a:pPr>
            <a:r>
              <a:rPr lang="en-US" sz="1500" i="1" dirty="0">
                <a:solidFill>
                  <a:srgbClr val="728694"/>
                </a:solidFill>
                <a:latin typeface="Segoe UI" pitchFamily="34" charset="0"/>
                <a:ea typeface="Segoe UI" pitchFamily="34" charset="-122"/>
                <a:cs typeface="Segoe UI" pitchFamily="34" charset="-120"/>
              </a:rPr>
              <a:t>hàng × cột: 1×5 + 2×7 = 19</a:t>
            </a:r>
            <a:endParaRPr lang="en-US" sz="1500" dirty="0"/>
          </a:p>
        </p:txBody>
      </p:sp>
      <p:sp>
        <p:nvSpPr>
          <p:cNvPr id="65" name="Text 63"/>
          <p:cNvSpPr/>
          <p:nvPr/>
        </p:nvSpPr>
        <p:spPr>
          <a:xfrm>
            <a:off x="548640" y="5669280"/>
            <a:ext cx="4023360" cy="640080"/>
          </a:xfrm>
          <a:prstGeom prst="rect">
            <a:avLst/>
          </a:prstGeom>
          <a:noFill/>
          <a:ln/>
        </p:spPr>
        <p:txBody>
          <a:bodyPr wrap="square" lIns="0" tIns="0" rIns="0" bIns="0" rtlCol="0" anchor="t"/>
          <a:lstStyle/>
          <a:p>
            <a:pPr marL="0" indent="0">
              <a:lnSpc>
                <a:spcPct val="105000"/>
              </a:lnSpc>
              <a:buNone/>
            </a:pPr>
            <a:r>
              <a:rPr lang="en-US" sz="2000" b="1" dirty="0">
                <a:solidFill>
                  <a:srgbClr val="062A3A"/>
                </a:solidFill>
                <a:latin typeface="Segoe UI" pitchFamily="34" charset="0"/>
                <a:ea typeface="Segoe UI" pitchFamily="34" charset="-122"/>
                <a:cs typeface="Segoe UI" pitchFamily="34" charset="-120"/>
              </a:rPr>
              <a:t>Dùng đúng toán tử: * từng phần tử, @ hàng × cột.</a:t>
            </a:r>
            <a:endParaRPr lang="en-US" sz="2000" dirty="0"/>
          </a:p>
        </p:txBody>
      </p:sp>
      <p:sp>
        <p:nvSpPr>
          <p:cNvPr id="66" name="Shape 64"/>
          <p:cNvSpPr/>
          <p:nvPr/>
        </p:nvSpPr>
        <p:spPr>
          <a:xfrm>
            <a:off x="4709160" y="1463040"/>
            <a:ext cx="6931152" cy="1920240"/>
          </a:xfrm>
          <a:prstGeom prst="roundRect">
            <a:avLst>
              <a:gd name="adj" fmla="val 2381"/>
            </a:avLst>
          </a:prstGeom>
          <a:solidFill>
            <a:srgbClr val="0B2230"/>
          </a:solidFill>
          <a:ln w="9525">
            <a:solidFill>
              <a:srgbClr val="163B4C"/>
            </a:solidFill>
            <a:prstDash val="solid"/>
          </a:ln>
        </p:spPr>
      </p:sp>
      <p:sp>
        <p:nvSpPr>
          <p:cNvPr id="67" name="Shape 65"/>
          <p:cNvSpPr/>
          <p:nvPr/>
        </p:nvSpPr>
        <p:spPr>
          <a:xfrm>
            <a:off x="4709160" y="1463040"/>
            <a:ext cx="6931152" cy="310896"/>
          </a:xfrm>
          <a:prstGeom prst="rect">
            <a:avLst/>
          </a:prstGeom>
          <a:solidFill>
            <a:srgbClr val="103445"/>
          </a:solidFill>
          <a:ln w="12700">
            <a:solidFill>
              <a:srgbClr val="103445"/>
            </a:solidFill>
            <a:prstDash val="solid"/>
          </a:ln>
        </p:spPr>
      </p:sp>
      <p:sp>
        <p:nvSpPr>
          <p:cNvPr id="68" name="Text 66"/>
          <p:cNvSpPr/>
          <p:nvPr/>
        </p:nvSpPr>
        <p:spPr>
          <a:xfrm>
            <a:off x="4855464" y="1527048"/>
            <a:ext cx="601675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69" name="Shape 67"/>
          <p:cNvSpPr/>
          <p:nvPr/>
        </p:nvSpPr>
        <p:spPr>
          <a:xfrm>
            <a:off x="11073384" y="1581912"/>
            <a:ext cx="82296" cy="82296"/>
          </a:xfrm>
          <a:prstGeom prst="ellipse">
            <a:avLst/>
          </a:prstGeom>
          <a:solidFill>
            <a:srgbClr val="D96C5F"/>
          </a:solidFill>
          <a:ln w="12700">
            <a:solidFill>
              <a:srgbClr val="D96C5F"/>
            </a:solidFill>
            <a:prstDash val="solid"/>
          </a:ln>
        </p:spPr>
      </p:sp>
      <p:sp>
        <p:nvSpPr>
          <p:cNvPr id="70" name="Shape 68"/>
          <p:cNvSpPr/>
          <p:nvPr/>
        </p:nvSpPr>
        <p:spPr>
          <a:xfrm>
            <a:off x="11228832" y="1581912"/>
            <a:ext cx="82296" cy="82296"/>
          </a:xfrm>
          <a:prstGeom prst="ellipse">
            <a:avLst/>
          </a:prstGeom>
          <a:solidFill>
            <a:srgbClr val="E8A33D"/>
          </a:solidFill>
          <a:ln w="12700">
            <a:solidFill>
              <a:srgbClr val="E8A33D"/>
            </a:solidFill>
            <a:prstDash val="solid"/>
          </a:ln>
        </p:spPr>
      </p:sp>
      <p:sp>
        <p:nvSpPr>
          <p:cNvPr id="71" name="Shape 69"/>
          <p:cNvSpPr/>
          <p:nvPr/>
        </p:nvSpPr>
        <p:spPr>
          <a:xfrm>
            <a:off x="11384280" y="1581912"/>
            <a:ext cx="82296" cy="82296"/>
          </a:xfrm>
          <a:prstGeom prst="ellipse">
            <a:avLst/>
          </a:prstGeom>
          <a:solidFill>
            <a:srgbClr val="2D8C6F"/>
          </a:solidFill>
          <a:ln w="12700">
            <a:solidFill>
              <a:srgbClr val="2D8C6F"/>
            </a:solidFill>
            <a:prstDash val="solid"/>
          </a:ln>
        </p:spPr>
      </p:sp>
      <p:sp>
        <p:nvSpPr>
          <p:cNvPr id="72" name="Text 70"/>
          <p:cNvSpPr/>
          <p:nvPr/>
        </p:nvSpPr>
        <p:spPr>
          <a:xfrm>
            <a:off x="4873752" y="1874520"/>
            <a:ext cx="6638544" cy="1444752"/>
          </a:xfrm>
          <a:prstGeom prst="rect">
            <a:avLst/>
          </a:prstGeom>
          <a:noFill/>
          <a:ln/>
        </p:spPr>
        <p:txBody>
          <a:bodyPr wrap="square" lIns="0" tIns="0" rIns="0" bIns="0" rtlCol="0" anchor="t"/>
          <a:lstStyle/>
          <a:p>
            <a:pPr marL="0" indent="0">
              <a:lnSpc>
                <a:spcPct val="100000"/>
              </a:lnSpc>
              <a:buNone/>
            </a:pPr>
            <a:r>
              <a:rPr lang="en-US" sz="1600" dirty="0">
                <a:solidFill>
                  <a:srgbClr val="D6E6EF"/>
                </a:solidFill>
                <a:latin typeface="Consolas" pitchFamily="34" charset="0"/>
                <a:ea typeface="Consolas" pitchFamily="34" charset="-122"/>
                <a:cs typeface="Consolas" pitchFamily="34" charset="-120"/>
              </a:rPr>
              <a:t>A = </a:t>
            </a:r>
            <a:r>
              <a:rPr lang="en-US" sz="1600" dirty="0">
                <a:solidFill>
                  <a:srgbClr val="8AD9C0"/>
                </a:solidFill>
                <a:latin typeface="Consolas" pitchFamily="34" charset="0"/>
                <a:ea typeface="Consolas" pitchFamily="34" charset="-122"/>
                <a:cs typeface="Consolas" pitchFamily="34" charset="-120"/>
              </a:rPr>
              <a:t>np</a:t>
            </a:r>
            <a:r>
              <a:rPr lang="en-US" sz="1600" dirty="0">
                <a:solidFill>
                  <a:srgbClr val="D6E6EF"/>
                </a:solidFill>
                <a:latin typeface="Consolas" pitchFamily="34" charset="0"/>
                <a:ea typeface="Consolas" pitchFamily="34" charset="-122"/>
                <a:cs typeface="Consolas" pitchFamily="34" charset="-120"/>
              </a:rPr>
              <a:t>.array([[</a:t>
            </a:r>
            <a:r>
              <a:rPr lang="en-US" sz="1600" dirty="0">
                <a:solidFill>
                  <a:srgbClr val="F08A7C"/>
                </a:solidFill>
                <a:latin typeface="Consolas" pitchFamily="34" charset="0"/>
                <a:ea typeface="Consolas" pitchFamily="34" charset="-122"/>
                <a:cs typeface="Consolas" pitchFamily="34" charset="-120"/>
              </a:rPr>
              <a:t>1</a:t>
            </a:r>
            <a:r>
              <a:rPr lang="en-US" sz="1600" dirty="0">
                <a:solidFill>
                  <a:srgbClr val="D6E6EF"/>
                </a:solidFill>
                <a:latin typeface="Consolas" pitchFamily="34" charset="0"/>
                <a:ea typeface="Consolas" pitchFamily="34" charset="-122"/>
                <a:cs typeface="Consolas" pitchFamily="34" charset="-120"/>
              </a:rPr>
              <a:t>, </a:t>
            </a:r>
            <a:r>
              <a:rPr lang="en-US" sz="1600" dirty="0">
                <a:solidFill>
                  <a:srgbClr val="F08A7C"/>
                </a:solidFill>
                <a:latin typeface="Consolas" pitchFamily="34" charset="0"/>
                <a:ea typeface="Consolas" pitchFamily="34" charset="-122"/>
                <a:cs typeface="Consolas" pitchFamily="34" charset="-120"/>
              </a:rPr>
              <a:t>2</a:t>
            </a:r>
            <a:r>
              <a:rPr lang="en-US" sz="1600" dirty="0">
                <a:solidFill>
                  <a:srgbClr val="D6E6EF"/>
                </a:solidFill>
                <a:latin typeface="Consolas" pitchFamily="34" charset="0"/>
                <a:ea typeface="Consolas" pitchFamily="34" charset="-122"/>
                <a:cs typeface="Consolas" pitchFamily="34" charset="-120"/>
              </a:rPr>
              <a:t>], [</a:t>
            </a:r>
            <a:r>
              <a:rPr lang="en-US" sz="1600" dirty="0">
                <a:solidFill>
                  <a:srgbClr val="F08A7C"/>
                </a:solidFill>
                <a:latin typeface="Consolas" pitchFamily="34" charset="0"/>
                <a:ea typeface="Consolas" pitchFamily="34" charset="-122"/>
                <a:cs typeface="Consolas" pitchFamily="34" charset="-120"/>
              </a:rPr>
              <a:t>3</a:t>
            </a:r>
            <a:r>
              <a:rPr lang="en-US" sz="1600" dirty="0">
                <a:solidFill>
                  <a:srgbClr val="D6E6EF"/>
                </a:solidFill>
                <a:latin typeface="Consolas" pitchFamily="34" charset="0"/>
                <a:ea typeface="Consolas" pitchFamily="34" charset="-122"/>
                <a:cs typeface="Consolas" pitchFamily="34" charset="-120"/>
              </a:rPr>
              <a:t>, </a:t>
            </a:r>
            <a:r>
              <a:rPr lang="en-US" sz="1600" dirty="0">
                <a:solidFill>
                  <a:srgbClr val="F08A7C"/>
                </a:solidFill>
                <a:latin typeface="Consolas" pitchFamily="34" charset="0"/>
                <a:ea typeface="Consolas" pitchFamily="34" charset="-122"/>
                <a:cs typeface="Consolas" pitchFamily="34" charset="-120"/>
              </a:rPr>
              <a:t>4</a:t>
            </a:r>
            <a:r>
              <a:rPr lang="en-US" sz="1600" dirty="0">
                <a:solidFill>
                  <a:srgbClr val="D6E6EF"/>
                </a:solidFill>
                <a:latin typeface="Consolas" pitchFamily="34" charset="0"/>
                <a:ea typeface="Consolas" pitchFamily="34" charset="-122"/>
                <a:cs typeface="Consolas" pitchFamily="34" charset="-120"/>
              </a:rPr>
              <a:t>]])</a:t>
            </a:r>
            <a:endParaRPr lang="en-US" sz="1600" dirty="0"/>
          </a:p>
          <a:p>
            <a:pPr marL="0" indent="0">
              <a:lnSpc>
                <a:spcPct val="100000"/>
              </a:lnSpc>
              <a:buNone/>
            </a:pPr>
            <a:r>
              <a:rPr lang="en-US" sz="1600" dirty="0">
                <a:solidFill>
                  <a:srgbClr val="D6E6EF"/>
                </a:solidFill>
                <a:latin typeface="Consolas" pitchFamily="34" charset="0"/>
                <a:ea typeface="Consolas" pitchFamily="34" charset="-122"/>
                <a:cs typeface="Consolas" pitchFamily="34" charset="-120"/>
              </a:rPr>
              <a:t>B = </a:t>
            </a:r>
            <a:r>
              <a:rPr lang="en-US" sz="1600" dirty="0">
                <a:solidFill>
                  <a:srgbClr val="8AD9C0"/>
                </a:solidFill>
                <a:latin typeface="Consolas" pitchFamily="34" charset="0"/>
                <a:ea typeface="Consolas" pitchFamily="34" charset="-122"/>
                <a:cs typeface="Consolas" pitchFamily="34" charset="-120"/>
              </a:rPr>
              <a:t>np</a:t>
            </a:r>
            <a:r>
              <a:rPr lang="en-US" sz="1600" dirty="0">
                <a:solidFill>
                  <a:srgbClr val="D6E6EF"/>
                </a:solidFill>
                <a:latin typeface="Consolas" pitchFamily="34" charset="0"/>
                <a:ea typeface="Consolas" pitchFamily="34" charset="-122"/>
                <a:cs typeface="Consolas" pitchFamily="34" charset="-120"/>
              </a:rPr>
              <a:t>.array([[</a:t>
            </a:r>
            <a:r>
              <a:rPr lang="en-US" sz="1600" dirty="0">
                <a:solidFill>
                  <a:srgbClr val="F08A7C"/>
                </a:solidFill>
                <a:latin typeface="Consolas" pitchFamily="34" charset="0"/>
                <a:ea typeface="Consolas" pitchFamily="34" charset="-122"/>
                <a:cs typeface="Consolas" pitchFamily="34" charset="-120"/>
              </a:rPr>
              <a:t>5</a:t>
            </a:r>
            <a:r>
              <a:rPr lang="en-US" sz="1600" dirty="0">
                <a:solidFill>
                  <a:srgbClr val="D6E6EF"/>
                </a:solidFill>
                <a:latin typeface="Consolas" pitchFamily="34" charset="0"/>
                <a:ea typeface="Consolas" pitchFamily="34" charset="-122"/>
                <a:cs typeface="Consolas" pitchFamily="34" charset="-120"/>
              </a:rPr>
              <a:t>, </a:t>
            </a:r>
            <a:r>
              <a:rPr lang="en-US" sz="1600" dirty="0">
                <a:solidFill>
                  <a:srgbClr val="F08A7C"/>
                </a:solidFill>
                <a:latin typeface="Consolas" pitchFamily="34" charset="0"/>
                <a:ea typeface="Consolas" pitchFamily="34" charset="-122"/>
                <a:cs typeface="Consolas" pitchFamily="34" charset="-120"/>
              </a:rPr>
              <a:t>6</a:t>
            </a:r>
            <a:r>
              <a:rPr lang="en-US" sz="1600" dirty="0">
                <a:solidFill>
                  <a:srgbClr val="D6E6EF"/>
                </a:solidFill>
                <a:latin typeface="Consolas" pitchFamily="34" charset="0"/>
                <a:ea typeface="Consolas" pitchFamily="34" charset="-122"/>
                <a:cs typeface="Consolas" pitchFamily="34" charset="-120"/>
              </a:rPr>
              <a:t>], [</a:t>
            </a:r>
            <a:r>
              <a:rPr lang="en-US" sz="1600" dirty="0">
                <a:solidFill>
                  <a:srgbClr val="F08A7C"/>
                </a:solidFill>
                <a:latin typeface="Consolas" pitchFamily="34" charset="0"/>
                <a:ea typeface="Consolas" pitchFamily="34" charset="-122"/>
                <a:cs typeface="Consolas" pitchFamily="34" charset="-120"/>
              </a:rPr>
              <a:t>7</a:t>
            </a:r>
            <a:r>
              <a:rPr lang="en-US" sz="1600" dirty="0">
                <a:solidFill>
                  <a:srgbClr val="D6E6EF"/>
                </a:solidFill>
                <a:latin typeface="Consolas" pitchFamily="34" charset="0"/>
                <a:ea typeface="Consolas" pitchFamily="34" charset="-122"/>
                <a:cs typeface="Consolas" pitchFamily="34" charset="-120"/>
              </a:rPr>
              <a:t>, </a:t>
            </a:r>
            <a:r>
              <a:rPr lang="en-US" sz="1600" dirty="0">
                <a:solidFill>
                  <a:srgbClr val="F08A7C"/>
                </a:solidFill>
                <a:latin typeface="Consolas" pitchFamily="34" charset="0"/>
                <a:ea typeface="Consolas" pitchFamily="34" charset="-122"/>
                <a:cs typeface="Consolas" pitchFamily="34" charset="-120"/>
              </a:rPr>
              <a:t>8</a:t>
            </a:r>
            <a:r>
              <a:rPr lang="en-US" sz="1600" dirty="0">
                <a:solidFill>
                  <a:srgbClr val="D6E6EF"/>
                </a:solidFill>
                <a:latin typeface="Consolas" pitchFamily="34" charset="0"/>
                <a:ea typeface="Consolas" pitchFamily="34" charset="-122"/>
                <a:cs typeface="Consolas" pitchFamily="34" charset="-120"/>
              </a:rPr>
              <a:t>]])</a:t>
            </a:r>
            <a:endParaRPr lang="en-US" sz="1600" dirty="0"/>
          </a:p>
          <a:p>
            <a:pPr marL="0" indent="0">
              <a:lnSpc>
                <a:spcPct val="100000"/>
              </a:lnSpc>
              <a:buNone/>
            </a:pPr>
            <a:r>
              <a:rPr lang="en-US" sz="1600" dirty="0">
                <a:solidFill>
                  <a:srgbClr val="6FD0E4"/>
                </a:solidFill>
                <a:latin typeface="Consolas" pitchFamily="34" charset="0"/>
                <a:ea typeface="Consolas" pitchFamily="34" charset="-122"/>
                <a:cs typeface="Consolas" pitchFamily="34" charset="-120"/>
              </a:rPr>
              <a:t>print</a:t>
            </a:r>
            <a:r>
              <a:rPr lang="en-US" sz="1600" dirty="0">
                <a:solidFill>
                  <a:srgbClr val="D6E6EF"/>
                </a:solidFill>
                <a:latin typeface="Consolas" pitchFamily="34" charset="0"/>
                <a:ea typeface="Consolas" pitchFamily="34" charset="-122"/>
                <a:cs typeface="Consolas" pitchFamily="34" charset="-120"/>
              </a:rPr>
              <a:t>(A * B)   </a:t>
            </a:r>
            <a:r>
              <a:rPr lang="en-US" sz="1600" i="1" dirty="0">
                <a:solidFill>
                  <a:srgbClr val="6F93A3"/>
                </a:solidFill>
                <a:latin typeface="Consolas" pitchFamily="34" charset="0"/>
                <a:ea typeface="Consolas" pitchFamily="34" charset="-122"/>
                <a:cs typeface="Consolas" pitchFamily="34" charset="-120"/>
              </a:rPr>
              <a:t># [[ 5 12] [21 32]]</a:t>
            </a:r>
            <a:endParaRPr lang="en-US" sz="1600" dirty="0"/>
          </a:p>
          <a:p>
            <a:pPr marL="0" indent="0">
              <a:lnSpc>
                <a:spcPct val="100000"/>
              </a:lnSpc>
              <a:buNone/>
            </a:pPr>
            <a:r>
              <a:rPr lang="en-US" sz="1600" dirty="0">
                <a:solidFill>
                  <a:srgbClr val="6FD0E4"/>
                </a:solidFill>
                <a:latin typeface="Consolas" pitchFamily="34" charset="0"/>
                <a:ea typeface="Consolas" pitchFamily="34" charset="-122"/>
                <a:cs typeface="Consolas" pitchFamily="34" charset="-120"/>
              </a:rPr>
              <a:t>print</a:t>
            </a:r>
            <a:r>
              <a:rPr lang="en-US" sz="1600" dirty="0">
                <a:solidFill>
                  <a:srgbClr val="D6E6EF"/>
                </a:solidFill>
                <a:latin typeface="Consolas" pitchFamily="34" charset="0"/>
                <a:ea typeface="Consolas" pitchFamily="34" charset="-122"/>
                <a:cs typeface="Consolas" pitchFamily="34" charset="-120"/>
              </a:rPr>
              <a:t>(A @ B)   </a:t>
            </a:r>
            <a:r>
              <a:rPr lang="en-US" sz="1600" i="1" dirty="0">
                <a:solidFill>
                  <a:srgbClr val="6F93A3"/>
                </a:solidFill>
                <a:latin typeface="Consolas" pitchFamily="34" charset="0"/>
                <a:ea typeface="Consolas" pitchFamily="34" charset="-122"/>
                <a:cs typeface="Consolas" pitchFamily="34" charset="-120"/>
              </a:rPr>
              <a:t># [[19 22] [43 50]]</a:t>
            </a:r>
            <a:endParaRPr lang="en-US" sz="1600" dirty="0"/>
          </a:p>
        </p:txBody>
      </p:sp>
      <p:sp>
        <p:nvSpPr>
          <p:cNvPr id="73" name="Shape 71"/>
          <p:cNvSpPr/>
          <p:nvPr/>
        </p:nvSpPr>
        <p:spPr>
          <a:xfrm>
            <a:off x="4709160" y="3520440"/>
            <a:ext cx="6931152" cy="1143000"/>
          </a:xfrm>
          <a:prstGeom prst="roundRect">
            <a:avLst>
              <a:gd name="adj" fmla="val 4000"/>
            </a:avLst>
          </a:prstGeom>
          <a:solidFill>
            <a:srgbClr val="FFFFFF"/>
          </a:solidFill>
          <a:ln w="9525">
            <a:solidFill>
              <a:srgbClr val="CFE5EE"/>
            </a:solidFill>
            <a:prstDash val="solid"/>
          </a:ln>
        </p:spPr>
      </p:sp>
      <p:sp>
        <p:nvSpPr>
          <p:cNvPr id="74" name="Text 72"/>
          <p:cNvSpPr/>
          <p:nvPr/>
        </p:nvSpPr>
        <p:spPr>
          <a:xfrm>
            <a:off x="4855464" y="3611880"/>
            <a:ext cx="665683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75" name="Text 73"/>
          <p:cNvSpPr/>
          <p:nvPr/>
        </p:nvSpPr>
        <p:spPr>
          <a:xfrm>
            <a:off x="4855464" y="3867912"/>
            <a:ext cx="6656832" cy="722376"/>
          </a:xfrm>
          <a:prstGeom prst="rect">
            <a:avLst/>
          </a:prstGeom>
          <a:noFill/>
          <a:ln/>
        </p:spPr>
        <p:txBody>
          <a:bodyPr wrap="square" lIns="0" tIns="0" rIns="0" bIns="0" rtlCol="0" anchor="t"/>
          <a:lstStyle/>
          <a:p>
            <a:pPr marL="0" indent="0">
              <a:lnSpc>
                <a:spcPct val="100000"/>
              </a:lnSpc>
              <a:buNone/>
            </a:pPr>
            <a:r>
              <a:rPr lang="en-US" sz="1600" dirty="0">
                <a:solidFill>
                  <a:srgbClr val="062A3A"/>
                </a:solidFill>
                <a:latin typeface="Consolas" pitchFamily="34" charset="0"/>
                <a:ea typeface="Consolas" pitchFamily="34" charset="-122"/>
                <a:cs typeface="Consolas" pitchFamily="34" charset="-120"/>
              </a:rPr>
              <a:t>A * B: [[ 5 12] [21 32]]</a:t>
            </a:r>
            <a:endParaRPr lang="en-US" sz="1600" dirty="0"/>
          </a:p>
          <a:p>
            <a:pPr marL="0" indent="0">
              <a:lnSpc>
                <a:spcPct val="100000"/>
              </a:lnSpc>
              <a:buNone/>
            </a:pPr>
            <a:r>
              <a:rPr lang="en-US" sz="1600" dirty="0">
                <a:solidFill>
                  <a:srgbClr val="062A3A"/>
                </a:solidFill>
                <a:latin typeface="Consolas" pitchFamily="34" charset="0"/>
                <a:ea typeface="Consolas" pitchFamily="34" charset="-122"/>
                <a:cs typeface="Consolas" pitchFamily="34" charset="-120"/>
              </a:rPr>
              <a:t>A @ B: [[19 22] [43 50]]</a:t>
            </a:r>
            <a:endParaRPr lang="en-US" sz="16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709160" y="4892040"/>
          <a:ext cx="6931152" cy="1121156"/>
        </p:xfrm>
        <a:graphic>
          <a:graphicData uri="http://schemas.openxmlformats.org/drawingml/2006/table">
            <a:tbl>
              <a:tblPr/>
              <a:tblGrid>
                <a:gridCol w="868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347472">
                <a:tc>
                  <a:txBody>
                    <a:bodyPr/>
                    <a:lstStyle/>
                    <a:p>
                      <a:pPr marL="0" indent="0">
                        <a:buNone/>
                      </a:pPr>
                      <a:r>
                        <a:rPr lang="en-US" sz="1650" b="1" dirty="0">
                          <a:solidFill>
                            <a:srgbClr val="FFFFFF"/>
                          </a:solidFill>
                          <a:latin typeface="Segoe UI" pitchFamily="34" charset="0"/>
                          <a:ea typeface="Segoe UI" pitchFamily="34" charset="-122"/>
                          <a:cs typeface="Segoe UI" pitchFamily="34" charset="-120"/>
                        </a:rPr>
                        <a:t>Toán tử</a:t>
                      </a:r>
                      <a:endParaRPr lang="en-US" sz="16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650" b="1" dirty="0">
                          <a:solidFill>
                            <a:srgbClr val="FFFFFF"/>
                          </a:solidFill>
                          <a:latin typeface="Segoe UI" pitchFamily="34" charset="0"/>
                          <a:ea typeface="Segoe UI" pitchFamily="34" charset="-122"/>
                          <a:cs typeface="Segoe UI" pitchFamily="34" charset="-120"/>
                        </a:rPr>
                        <a:t>Ý nghĩa</a:t>
                      </a:r>
                      <a:endParaRPr lang="en-US" sz="16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650" b="1" dirty="0">
                          <a:solidFill>
                            <a:srgbClr val="FFFFFF"/>
                          </a:solidFill>
                          <a:latin typeface="Segoe UI" pitchFamily="34" charset="0"/>
                          <a:ea typeface="Segoe UI" pitchFamily="34" charset="-122"/>
                          <a:cs typeface="Segoe UI" pitchFamily="34" charset="-120"/>
                        </a:rPr>
                        <a:t>Điều kiện shape</a:t>
                      </a:r>
                      <a:endParaRPr lang="en-US" sz="16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extLst>
                  <a:ext uri="{0D108BD9-81ED-4DB2-BD59-A6C34878D82A}">
                    <a16:rowId xmlns:a16="http://schemas.microsoft.com/office/drawing/2014/main" val="10000"/>
                  </a:ext>
                </a:extLst>
              </a:tr>
              <a:tr h="384048">
                <a:tc>
                  <a:txBody>
                    <a:bodyPr/>
                    <a:lstStyle/>
                    <a:p>
                      <a:pPr marL="0" indent="0">
                        <a:buNone/>
                      </a:pPr>
                      <a:r>
                        <a:rPr lang="en-US" sz="1600" b="1" dirty="0">
                          <a:solidFill>
                            <a:srgbClr val="062A3A"/>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600" dirty="0">
                          <a:solidFill>
                            <a:srgbClr val="415A6B"/>
                          </a:solidFill>
                          <a:latin typeface="Segoe UI" pitchFamily="34" charset="0"/>
                          <a:ea typeface="Segoe UI" pitchFamily="34" charset="-122"/>
                          <a:cs typeface="Segoe UI" pitchFamily="34" charset="-120"/>
                        </a:rPr>
                        <a:t>Nhân từng phần tử</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600" dirty="0">
                          <a:solidFill>
                            <a:srgbClr val="415A6B"/>
                          </a:solidFill>
                          <a:latin typeface="Segoe UI" pitchFamily="34" charset="0"/>
                          <a:ea typeface="Segoe UI" pitchFamily="34" charset="-122"/>
                          <a:cs typeface="Segoe UI" pitchFamily="34" charset="-120"/>
                        </a:rPr>
                        <a:t>Cùng shape hoặc broadcast được</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600" b="1" dirty="0">
                          <a:solidFill>
                            <a:srgbClr val="062A3A"/>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600" dirty="0">
                          <a:solidFill>
                            <a:srgbClr val="415A6B"/>
                          </a:solidFill>
                          <a:latin typeface="Segoe UI" pitchFamily="34" charset="0"/>
                          <a:ea typeface="Segoe UI" pitchFamily="34" charset="-122"/>
                          <a:cs typeface="Segoe UI" pitchFamily="34" charset="-120"/>
                        </a:rPr>
                        <a:t>Nhân ma trận</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600" dirty="0">
                          <a:solidFill>
                            <a:srgbClr val="415A6B"/>
                          </a:solidFill>
                          <a:latin typeface="Segoe UI" pitchFamily="34" charset="0"/>
                          <a:ea typeface="Segoe UI" pitchFamily="34" charset="-122"/>
                          <a:cs typeface="Segoe UI" pitchFamily="34" charset="-120"/>
                        </a:rPr>
                        <a:t>Số cột A = số hàng B</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2"/>
                  </a:ext>
                </a:extLst>
              </a:tr>
            </a:tbl>
          </a:graphicData>
        </a:graphic>
      </p:graphicFrame>
      <p:sp>
        <p:nvSpPr>
          <p:cNvPr id="77" name="Shape 74"/>
          <p:cNvSpPr/>
          <p:nvPr/>
        </p:nvSpPr>
        <p:spPr>
          <a:xfrm>
            <a:off x="548640" y="6437376"/>
            <a:ext cx="11091672" cy="9144"/>
          </a:xfrm>
          <a:prstGeom prst="rect">
            <a:avLst/>
          </a:prstGeom>
          <a:solidFill>
            <a:srgbClr val="D7E5EC"/>
          </a:solidFill>
          <a:ln w="12700">
            <a:solidFill>
              <a:srgbClr val="D7E5EC"/>
            </a:solidFill>
            <a:prstDash val="solid"/>
          </a:ln>
        </p:spPr>
      </p:sp>
      <p:sp>
        <p:nvSpPr>
          <p:cNvPr id="78" name="Text 75"/>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79" name="Text 76"/>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18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Hàm tổng hợp và ý nghĩa của axis</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1325880" y="2084832"/>
            <a:ext cx="777240" cy="621792"/>
          </a:xfrm>
          <a:prstGeom prst="rect">
            <a:avLst/>
          </a:prstGeom>
          <a:solidFill>
            <a:srgbClr val="EAF4F8"/>
          </a:solidFill>
          <a:ln w="9525">
            <a:solidFill>
              <a:srgbClr val="A9CDDB"/>
            </a:solidFill>
            <a:prstDash val="solid"/>
          </a:ln>
        </p:spPr>
      </p:sp>
      <p:sp>
        <p:nvSpPr>
          <p:cNvPr id="6" name="Text 4"/>
          <p:cNvSpPr/>
          <p:nvPr/>
        </p:nvSpPr>
        <p:spPr>
          <a:xfrm>
            <a:off x="1325880" y="2084832"/>
            <a:ext cx="777240" cy="62179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1</a:t>
            </a:r>
            <a:endParaRPr lang="en-US" sz="2000" dirty="0"/>
          </a:p>
        </p:txBody>
      </p:sp>
      <p:sp>
        <p:nvSpPr>
          <p:cNvPr id="7" name="Shape 5"/>
          <p:cNvSpPr/>
          <p:nvPr/>
        </p:nvSpPr>
        <p:spPr>
          <a:xfrm>
            <a:off x="2103120" y="2084832"/>
            <a:ext cx="777240" cy="621792"/>
          </a:xfrm>
          <a:prstGeom prst="rect">
            <a:avLst/>
          </a:prstGeom>
          <a:solidFill>
            <a:srgbClr val="EAF4F8"/>
          </a:solidFill>
          <a:ln w="9525">
            <a:solidFill>
              <a:srgbClr val="A9CDDB"/>
            </a:solidFill>
            <a:prstDash val="solid"/>
          </a:ln>
        </p:spPr>
      </p:sp>
      <p:sp>
        <p:nvSpPr>
          <p:cNvPr id="8" name="Text 6"/>
          <p:cNvSpPr/>
          <p:nvPr/>
        </p:nvSpPr>
        <p:spPr>
          <a:xfrm>
            <a:off x="2103120" y="2084832"/>
            <a:ext cx="777240" cy="62179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2</a:t>
            </a:r>
            <a:endParaRPr lang="en-US" sz="2000" dirty="0"/>
          </a:p>
        </p:txBody>
      </p:sp>
      <p:sp>
        <p:nvSpPr>
          <p:cNvPr id="9" name="Shape 7"/>
          <p:cNvSpPr/>
          <p:nvPr/>
        </p:nvSpPr>
        <p:spPr>
          <a:xfrm>
            <a:off x="2880360" y="2084832"/>
            <a:ext cx="777240" cy="621792"/>
          </a:xfrm>
          <a:prstGeom prst="rect">
            <a:avLst/>
          </a:prstGeom>
          <a:solidFill>
            <a:srgbClr val="EAF4F8"/>
          </a:solidFill>
          <a:ln w="9525">
            <a:solidFill>
              <a:srgbClr val="A9CDDB"/>
            </a:solidFill>
            <a:prstDash val="solid"/>
          </a:ln>
        </p:spPr>
      </p:sp>
      <p:sp>
        <p:nvSpPr>
          <p:cNvPr id="10" name="Text 8"/>
          <p:cNvSpPr/>
          <p:nvPr/>
        </p:nvSpPr>
        <p:spPr>
          <a:xfrm>
            <a:off x="2880360" y="2084832"/>
            <a:ext cx="777240" cy="62179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3</a:t>
            </a:r>
            <a:endParaRPr lang="en-US" sz="2000" dirty="0"/>
          </a:p>
        </p:txBody>
      </p:sp>
      <p:sp>
        <p:nvSpPr>
          <p:cNvPr id="11" name="Shape 9"/>
          <p:cNvSpPr/>
          <p:nvPr/>
        </p:nvSpPr>
        <p:spPr>
          <a:xfrm>
            <a:off x="1325880" y="2706624"/>
            <a:ext cx="777240" cy="621792"/>
          </a:xfrm>
          <a:prstGeom prst="rect">
            <a:avLst/>
          </a:prstGeom>
          <a:solidFill>
            <a:srgbClr val="EAF4F8"/>
          </a:solidFill>
          <a:ln w="9525">
            <a:solidFill>
              <a:srgbClr val="A9CDDB"/>
            </a:solidFill>
            <a:prstDash val="solid"/>
          </a:ln>
        </p:spPr>
      </p:sp>
      <p:sp>
        <p:nvSpPr>
          <p:cNvPr id="12" name="Text 10"/>
          <p:cNvSpPr/>
          <p:nvPr/>
        </p:nvSpPr>
        <p:spPr>
          <a:xfrm>
            <a:off x="1325880" y="2706624"/>
            <a:ext cx="777240" cy="62179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4</a:t>
            </a:r>
            <a:endParaRPr lang="en-US" sz="2000" dirty="0"/>
          </a:p>
        </p:txBody>
      </p:sp>
      <p:sp>
        <p:nvSpPr>
          <p:cNvPr id="13" name="Shape 11"/>
          <p:cNvSpPr/>
          <p:nvPr/>
        </p:nvSpPr>
        <p:spPr>
          <a:xfrm>
            <a:off x="2103120" y="2706624"/>
            <a:ext cx="777240" cy="621792"/>
          </a:xfrm>
          <a:prstGeom prst="rect">
            <a:avLst/>
          </a:prstGeom>
          <a:solidFill>
            <a:srgbClr val="EAF4F8"/>
          </a:solidFill>
          <a:ln w="9525">
            <a:solidFill>
              <a:srgbClr val="A9CDDB"/>
            </a:solidFill>
            <a:prstDash val="solid"/>
          </a:ln>
        </p:spPr>
      </p:sp>
      <p:sp>
        <p:nvSpPr>
          <p:cNvPr id="14" name="Text 12"/>
          <p:cNvSpPr/>
          <p:nvPr/>
        </p:nvSpPr>
        <p:spPr>
          <a:xfrm>
            <a:off x="2103120" y="2706624"/>
            <a:ext cx="777240" cy="62179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5</a:t>
            </a:r>
            <a:endParaRPr lang="en-US" sz="2000" dirty="0"/>
          </a:p>
        </p:txBody>
      </p:sp>
      <p:sp>
        <p:nvSpPr>
          <p:cNvPr id="15" name="Shape 13"/>
          <p:cNvSpPr/>
          <p:nvPr/>
        </p:nvSpPr>
        <p:spPr>
          <a:xfrm>
            <a:off x="2880360" y="2706624"/>
            <a:ext cx="777240" cy="621792"/>
          </a:xfrm>
          <a:prstGeom prst="rect">
            <a:avLst/>
          </a:prstGeom>
          <a:solidFill>
            <a:srgbClr val="EAF4F8"/>
          </a:solidFill>
          <a:ln w="9525">
            <a:solidFill>
              <a:srgbClr val="A9CDDB"/>
            </a:solidFill>
            <a:prstDash val="solid"/>
          </a:ln>
        </p:spPr>
      </p:sp>
      <p:sp>
        <p:nvSpPr>
          <p:cNvPr id="16" name="Text 14"/>
          <p:cNvSpPr/>
          <p:nvPr/>
        </p:nvSpPr>
        <p:spPr>
          <a:xfrm>
            <a:off x="2880360" y="2706624"/>
            <a:ext cx="777240" cy="621792"/>
          </a:xfrm>
          <a:prstGeom prst="rect">
            <a:avLst/>
          </a:prstGeom>
          <a:noFill/>
          <a:ln/>
        </p:spPr>
        <p:txBody>
          <a:bodyPr wrap="square" lIns="0" tIns="0" rIns="0" bIns="0" rtlCol="0" anchor="ctr"/>
          <a:lstStyle/>
          <a:p>
            <a:pPr marL="0" indent="0" algn="ctr">
              <a:buNone/>
            </a:pPr>
            <a:r>
              <a:rPr lang="en-US" sz="2000" dirty="0">
                <a:solidFill>
                  <a:srgbClr val="062A3A"/>
                </a:solidFill>
                <a:latin typeface="Consolas" pitchFamily="34" charset="0"/>
                <a:ea typeface="Consolas" pitchFamily="34" charset="-122"/>
                <a:cs typeface="Consolas" pitchFamily="34" charset="-120"/>
              </a:rPr>
              <a:t>6</a:t>
            </a:r>
            <a:endParaRPr lang="en-US" sz="2000" dirty="0"/>
          </a:p>
        </p:txBody>
      </p:sp>
      <p:sp>
        <p:nvSpPr>
          <p:cNvPr id="17" name="Text 15"/>
          <p:cNvSpPr/>
          <p:nvPr/>
        </p:nvSpPr>
        <p:spPr>
          <a:xfrm>
            <a:off x="841248" y="1746504"/>
            <a:ext cx="411480" cy="228600"/>
          </a:xfrm>
          <a:prstGeom prst="rect">
            <a:avLst/>
          </a:prstGeom>
          <a:noFill/>
          <a:ln/>
        </p:spPr>
        <p:txBody>
          <a:bodyPr wrap="square" lIns="0" tIns="0" rIns="0" bIns="0" rtlCol="0" anchor="t"/>
          <a:lstStyle/>
          <a:p>
            <a:pPr marL="0" indent="0">
              <a:buNone/>
            </a:pPr>
            <a:r>
              <a:rPr lang="en-US" sz="1600" b="1" dirty="0">
                <a:solidFill>
                  <a:srgbClr val="415A6B"/>
                </a:solidFill>
                <a:latin typeface="Consolas" pitchFamily="34" charset="0"/>
                <a:ea typeface="Consolas" pitchFamily="34" charset="-122"/>
                <a:cs typeface="Consolas" pitchFamily="34" charset="-120"/>
              </a:rPr>
              <a:t>m</a:t>
            </a:r>
            <a:endParaRPr lang="en-US" sz="1600" dirty="0"/>
          </a:p>
        </p:txBody>
      </p:sp>
      <p:sp>
        <p:nvSpPr>
          <p:cNvPr id="18" name="Shape 16"/>
          <p:cNvSpPr/>
          <p:nvPr/>
        </p:nvSpPr>
        <p:spPr>
          <a:xfrm>
            <a:off x="1033272" y="2157984"/>
            <a:ext cx="0" cy="914400"/>
          </a:xfrm>
          <a:prstGeom prst="line">
            <a:avLst/>
          </a:prstGeom>
          <a:noFill/>
          <a:ln w="19050">
            <a:solidFill>
              <a:srgbClr val="1B8EA8"/>
            </a:solidFill>
            <a:prstDash val="solid"/>
            <a:headEnd type="triangle"/>
            <a:tailEnd type="triangle"/>
          </a:ln>
        </p:spPr>
      </p:sp>
      <p:sp>
        <p:nvSpPr>
          <p:cNvPr id="19" name="Text 17"/>
          <p:cNvSpPr/>
          <p:nvPr/>
        </p:nvSpPr>
        <p:spPr>
          <a:xfrm>
            <a:off x="320040" y="3163824"/>
            <a:ext cx="914400" cy="219456"/>
          </a:xfrm>
          <a:prstGeom prst="rect">
            <a:avLst/>
          </a:prstGeom>
          <a:noFill/>
          <a:ln/>
        </p:spPr>
        <p:txBody>
          <a:bodyPr wrap="square" lIns="0" tIns="0" rIns="0" bIns="0" rtlCol="0" anchor="t"/>
          <a:lstStyle/>
          <a:p>
            <a:pPr marL="0" indent="0" algn="ctr">
              <a:buNone/>
            </a:pPr>
            <a:r>
              <a:rPr lang="en-US" sz="1400" b="1" dirty="0">
                <a:solidFill>
                  <a:srgbClr val="1B8EA8"/>
                </a:solidFill>
                <a:latin typeface="Consolas" pitchFamily="34" charset="0"/>
                <a:ea typeface="Consolas" pitchFamily="34" charset="-122"/>
                <a:cs typeface="Consolas" pitchFamily="34" charset="-120"/>
              </a:rPr>
              <a:t>axis = 0</a:t>
            </a:r>
            <a:endParaRPr lang="en-US" sz="1400" dirty="0"/>
          </a:p>
        </p:txBody>
      </p:sp>
      <p:sp>
        <p:nvSpPr>
          <p:cNvPr id="20" name="Shape 18"/>
          <p:cNvSpPr/>
          <p:nvPr/>
        </p:nvSpPr>
        <p:spPr>
          <a:xfrm>
            <a:off x="1371600" y="1837944"/>
            <a:ext cx="1600200" cy="0"/>
          </a:xfrm>
          <a:prstGeom prst="line">
            <a:avLst/>
          </a:prstGeom>
          <a:noFill/>
          <a:ln w="19050">
            <a:solidFill>
              <a:srgbClr val="E8A33D"/>
            </a:solidFill>
            <a:prstDash val="solid"/>
            <a:headEnd type="triangle"/>
            <a:tailEnd type="triangle"/>
          </a:ln>
        </p:spPr>
      </p:sp>
      <p:sp>
        <p:nvSpPr>
          <p:cNvPr id="21" name="Text 19"/>
          <p:cNvSpPr/>
          <p:nvPr/>
        </p:nvSpPr>
        <p:spPr>
          <a:xfrm>
            <a:off x="3017520" y="1728216"/>
            <a:ext cx="868680" cy="219456"/>
          </a:xfrm>
          <a:prstGeom prst="rect">
            <a:avLst/>
          </a:prstGeom>
          <a:noFill/>
          <a:ln/>
        </p:spPr>
        <p:txBody>
          <a:bodyPr wrap="square" lIns="0" tIns="0" rIns="0" bIns="0" rtlCol="0" anchor="t"/>
          <a:lstStyle/>
          <a:p>
            <a:pPr marL="0" indent="0">
              <a:buNone/>
            </a:pPr>
            <a:r>
              <a:rPr lang="en-US" sz="1400" b="1" dirty="0">
                <a:solidFill>
                  <a:srgbClr val="B7771B"/>
                </a:solidFill>
                <a:latin typeface="Consolas" pitchFamily="34" charset="0"/>
                <a:ea typeface="Consolas" pitchFamily="34" charset="-122"/>
                <a:cs typeface="Consolas" pitchFamily="34" charset="-120"/>
              </a:rPr>
              <a:t>axis = 1</a:t>
            </a:r>
            <a:endParaRPr lang="en-US" sz="1400" dirty="0"/>
          </a:p>
        </p:txBody>
      </p:sp>
      <p:sp>
        <p:nvSpPr>
          <p:cNvPr id="22" name="Text 20"/>
          <p:cNvSpPr/>
          <p:nvPr/>
        </p:nvSpPr>
        <p:spPr>
          <a:xfrm>
            <a:off x="1143000" y="3456432"/>
            <a:ext cx="2148840" cy="320040"/>
          </a:xfrm>
          <a:prstGeom prst="rect">
            <a:avLst/>
          </a:prstGeom>
          <a:noFill/>
          <a:ln/>
        </p:spPr>
        <p:txBody>
          <a:bodyPr wrap="square" lIns="0" tIns="0" rIns="0" bIns="0" rtlCol="0" anchor="t"/>
          <a:lstStyle/>
          <a:p>
            <a:pPr marL="0" indent="0">
              <a:buNone/>
            </a:pPr>
            <a:r>
              <a:rPr lang="en-US" sz="2000" b="1" dirty="0">
                <a:solidFill>
                  <a:srgbClr val="1B8EA8"/>
                </a:solidFill>
                <a:latin typeface="Consolas" pitchFamily="34" charset="0"/>
                <a:ea typeface="Consolas" pitchFamily="34" charset="-122"/>
                <a:cs typeface="Consolas" pitchFamily="34" charset="-120"/>
              </a:rPr>
              <a:t>[5 7 9]</a:t>
            </a:r>
            <a:endParaRPr lang="en-US" sz="2000" dirty="0"/>
          </a:p>
        </p:txBody>
      </p:sp>
      <p:sp>
        <p:nvSpPr>
          <p:cNvPr id="23" name="Text 21"/>
          <p:cNvSpPr/>
          <p:nvPr/>
        </p:nvSpPr>
        <p:spPr>
          <a:xfrm>
            <a:off x="3822192" y="2377440"/>
            <a:ext cx="1188720" cy="320040"/>
          </a:xfrm>
          <a:prstGeom prst="rect">
            <a:avLst/>
          </a:prstGeom>
          <a:noFill/>
          <a:ln/>
        </p:spPr>
        <p:txBody>
          <a:bodyPr wrap="square" lIns="0" tIns="0" rIns="0" bIns="0" rtlCol="0" anchor="t"/>
          <a:lstStyle/>
          <a:p>
            <a:pPr marL="0" indent="0">
              <a:buNone/>
            </a:pPr>
            <a:r>
              <a:rPr lang="en-US" sz="2000" b="1" dirty="0">
                <a:solidFill>
                  <a:srgbClr val="B7771B"/>
                </a:solidFill>
                <a:latin typeface="Consolas" pitchFamily="34" charset="0"/>
                <a:ea typeface="Consolas" pitchFamily="34" charset="-122"/>
                <a:cs typeface="Consolas" pitchFamily="34" charset="-120"/>
              </a:rPr>
              <a:t>[ 6 15]</a:t>
            </a:r>
            <a:endParaRPr lang="en-US" sz="2000" dirty="0"/>
          </a:p>
        </p:txBody>
      </p:sp>
      <p:sp>
        <p:nvSpPr>
          <p:cNvPr id="24" name="Text 22"/>
          <p:cNvSpPr/>
          <p:nvPr/>
        </p:nvSpPr>
        <p:spPr>
          <a:xfrm>
            <a:off x="1188720" y="3840480"/>
            <a:ext cx="2331720" cy="219456"/>
          </a:xfrm>
          <a:prstGeom prst="rect">
            <a:avLst/>
          </a:prstGeom>
          <a:noFill/>
          <a:ln/>
        </p:spPr>
        <p:txBody>
          <a:bodyPr wrap="square" lIns="0" tIns="0" rIns="0" bIns="0" rtlCol="0" anchor="t"/>
          <a:lstStyle/>
          <a:p>
            <a:pPr marL="0" indent="0">
              <a:buNone/>
            </a:pPr>
            <a:r>
              <a:rPr lang="en-US" sz="1400" dirty="0">
                <a:solidFill>
                  <a:srgbClr val="728694"/>
                </a:solidFill>
                <a:latin typeface="Segoe UI" pitchFamily="34" charset="0"/>
                <a:ea typeface="Segoe UI" pitchFamily="34" charset="-122"/>
                <a:cs typeface="Segoe UI" pitchFamily="34" charset="-120"/>
              </a:rPr>
              <a:t>gộp hàng → theo cột</a:t>
            </a:r>
            <a:endParaRPr lang="en-US" sz="1400" dirty="0"/>
          </a:p>
        </p:txBody>
      </p:sp>
      <p:sp>
        <p:nvSpPr>
          <p:cNvPr id="25" name="Text 23"/>
          <p:cNvSpPr/>
          <p:nvPr/>
        </p:nvSpPr>
        <p:spPr>
          <a:xfrm>
            <a:off x="3803904" y="2770632"/>
            <a:ext cx="1234440" cy="438912"/>
          </a:xfrm>
          <a:prstGeom prst="rect">
            <a:avLst/>
          </a:prstGeom>
          <a:noFill/>
          <a:ln/>
        </p:spPr>
        <p:txBody>
          <a:bodyPr wrap="square" lIns="0" tIns="0" rIns="0" bIns="0" rtlCol="0" anchor="t"/>
          <a:lstStyle/>
          <a:p>
            <a:pPr marL="0" indent="0">
              <a:buNone/>
            </a:pPr>
            <a:r>
              <a:rPr lang="en-US" sz="1350" dirty="0">
                <a:solidFill>
                  <a:srgbClr val="728694"/>
                </a:solidFill>
                <a:latin typeface="Segoe UI" pitchFamily="34" charset="0"/>
                <a:ea typeface="Segoe UI" pitchFamily="34" charset="-122"/>
                <a:cs typeface="Segoe UI" pitchFamily="34" charset="-120"/>
              </a:rPr>
              <a:t>gộp cột</a:t>
            </a:r>
            <a:endParaRPr lang="en-US" sz="1350" dirty="0"/>
          </a:p>
          <a:p>
            <a:pPr marL="0" indent="0">
              <a:buNone/>
            </a:pPr>
            <a:r>
              <a:rPr lang="en-US" sz="1350" dirty="0">
                <a:solidFill>
                  <a:srgbClr val="728694"/>
                </a:solidFill>
                <a:latin typeface="Segoe UI" pitchFamily="34" charset="0"/>
                <a:ea typeface="Segoe UI" pitchFamily="34" charset="-122"/>
                <a:cs typeface="Segoe UI" pitchFamily="34" charset="-120"/>
              </a:rPr>
              <a:t>→ theo hàng</a:t>
            </a:r>
            <a:endParaRPr lang="en-US" sz="1350" dirty="0"/>
          </a:p>
        </p:txBody>
      </p:sp>
      <p:sp>
        <p:nvSpPr>
          <p:cNvPr id="26" name="Shape 24"/>
          <p:cNvSpPr/>
          <p:nvPr/>
        </p:nvSpPr>
        <p:spPr>
          <a:xfrm>
            <a:off x="5257800" y="1463040"/>
            <a:ext cx="6382512" cy="2331720"/>
          </a:xfrm>
          <a:prstGeom prst="roundRect">
            <a:avLst>
              <a:gd name="adj" fmla="val 1961"/>
            </a:avLst>
          </a:prstGeom>
          <a:solidFill>
            <a:srgbClr val="0B2230"/>
          </a:solidFill>
          <a:ln w="9525">
            <a:solidFill>
              <a:srgbClr val="163B4C"/>
            </a:solidFill>
            <a:prstDash val="solid"/>
          </a:ln>
        </p:spPr>
      </p:sp>
      <p:sp>
        <p:nvSpPr>
          <p:cNvPr id="27" name="Shape 25"/>
          <p:cNvSpPr/>
          <p:nvPr/>
        </p:nvSpPr>
        <p:spPr>
          <a:xfrm>
            <a:off x="5257800" y="1463040"/>
            <a:ext cx="6382512" cy="310896"/>
          </a:xfrm>
          <a:prstGeom prst="rect">
            <a:avLst/>
          </a:prstGeom>
          <a:solidFill>
            <a:srgbClr val="103445"/>
          </a:solidFill>
          <a:ln w="12700">
            <a:solidFill>
              <a:srgbClr val="103445"/>
            </a:solidFill>
            <a:prstDash val="solid"/>
          </a:ln>
        </p:spPr>
      </p:sp>
      <p:sp>
        <p:nvSpPr>
          <p:cNvPr id="28" name="Text 26"/>
          <p:cNvSpPr/>
          <p:nvPr/>
        </p:nvSpPr>
        <p:spPr>
          <a:xfrm>
            <a:off x="5404104" y="1527048"/>
            <a:ext cx="5468112"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9" name="Shape 27"/>
          <p:cNvSpPr/>
          <p:nvPr/>
        </p:nvSpPr>
        <p:spPr>
          <a:xfrm>
            <a:off x="11073384" y="1581912"/>
            <a:ext cx="82296" cy="82296"/>
          </a:xfrm>
          <a:prstGeom prst="ellipse">
            <a:avLst/>
          </a:prstGeom>
          <a:solidFill>
            <a:srgbClr val="D96C5F"/>
          </a:solidFill>
          <a:ln w="12700">
            <a:solidFill>
              <a:srgbClr val="D96C5F"/>
            </a:solidFill>
            <a:prstDash val="solid"/>
          </a:ln>
        </p:spPr>
      </p:sp>
      <p:sp>
        <p:nvSpPr>
          <p:cNvPr id="30" name="Shape 28"/>
          <p:cNvSpPr/>
          <p:nvPr/>
        </p:nvSpPr>
        <p:spPr>
          <a:xfrm>
            <a:off x="11228832" y="1581912"/>
            <a:ext cx="82296" cy="82296"/>
          </a:xfrm>
          <a:prstGeom prst="ellipse">
            <a:avLst/>
          </a:prstGeom>
          <a:solidFill>
            <a:srgbClr val="E8A33D"/>
          </a:solidFill>
          <a:ln w="12700">
            <a:solidFill>
              <a:srgbClr val="E8A33D"/>
            </a:solidFill>
            <a:prstDash val="solid"/>
          </a:ln>
        </p:spPr>
      </p:sp>
      <p:sp>
        <p:nvSpPr>
          <p:cNvPr id="31" name="Shape 29"/>
          <p:cNvSpPr/>
          <p:nvPr/>
        </p:nvSpPr>
        <p:spPr>
          <a:xfrm>
            <a:off x="11384280" y="1581912"/>
            <a:ext cx="82296" cy="82296"/>
          </a:xfrm>
          <a:prstGeom prst="ellipse">
            <a:avLst/>
          </a:prstGeom>
          <a:solidFill>
            <a:srgbClr val="2D8C6F"/>
          </a:solidFill>
          <a:ln w="12700">
            <a:solidFill>
              <a:srgbClr val="2D8C6F"/>
            </a:solidFill>
            <a:prstDash val="solid"/>
          </a:ln>
        </p:spPr>
      </p:sp>
      <p:sp>
        <p:nvSpPr>
          <p:cNvPr id="32" name="Text 30"/>
          <p:cNvSpPr/>
          <p:nvPr/>
        </p:nvSpPr>
        <p:spPr>
          <a:xfrm>
            <a:off x="5422392" y="1874520"/>
            <a:ext cx="6089904" cy="1856232"/>
          </a:xfrm>
          <a:prstGeom prst="rect">
            <a:avLst/>
          </a:prstGeom>
          <a:noFill/>
          <a:ln/>
        </p:spPr>
        <p:txBody>
          <a:bodyPr wrap="square" lIns="0" tIns="0" rIns="0" bIns="0" rtlCol="0" anchor="t"/>
          <a:lstStyle/>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.sum(m))           </a:t>
            </a:r>
            <a:r>
              <a:rPr lang="en-US" sz="2000" i="1" dirty="0">
                <a:solidFill>
                  <a:srgbClr val="6F93A3"/>
                </a:solidFill>
                <a:latin typeface="Consolas" pitchFamily="34" charset="0"/>
                <a:ea typeface="Consolas" pitchFamily="34" charset="-122"/>
                <a:cs typeface="Consolas" pitchFamily="34" charset="-120"/>
              </a:rPr>
              <a:t># 21</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.sum(m, axis=</a:t>
            </a:r>
            <a:r>
              <a:rPr lang="en-US" sz="2000" dirty="0">
                <a:solidFill>
                  <a:srgbClr val="F08A7C"/>
                </a:solidFill>
                <a:latin typeface="Consolas" pitchFamily="34" charset="0"/>
                <a:ea typeface="Consolas" pitchFamily="34" charset="-122"/>
                <a:cs typeface="Consolas" pitchFamily="34" charset="-120"/>
              </a:rPr>
              <a:t>0</a:t>
            </a:r>
            <a:r>
              <a:rPr lang="en-US" sz="2000" dirty="0">
                <a:solidFill>
                  <a:srgbClr val="D6E6EF"/>
                </a:solidFill>
                <a:latin typeface="Consolas" pitchFamily="34" charset="0"/>
                <a:ea typeface="Consolas" pitchFamily="34" charset="-122"/>
                <a:cs typeface="Consolas" pitchFamily="34" charset="-120"/>
              </a:rPr>
              <a:t>))   </a:t>
            </a:r>
            <a:r>
              <a:rPr lang="en-US" sz="2000" i="1" dirty="0">
                <a:solidFill>
                  <a:srgbClr val="6F93A3"/>
                </a:solidFill>
                <a:latin typeface="Consolas" pitchFamily="34" charset="0"/>
                <a:ea typeface="Consolas" pitchFamily="34" charset="-122"/>
                <a:cs typeface="Consolas" pitchFamily="34" charset="-120"/>
              </a:rPr>
              <a:t># [5 7 9]</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.sum(m, axis=</a:t>
            </a:r>
            <a:r>
              <a:rPr lang="en-US" sz="2000" dirty="0">
                <a:solidFill>
                  <a:srgbClr val="F08A7C"/>
                </a:solidFill>
                <a:latin typeface="Consolas" pitchFamily="34" charset="0"/>
                <a:ea typeface="Consolas" pitchFamily="34" charset="-122"/>
                <a:cs typeface="Consolas" pitchFamily="34" charset="-120"/>
              </a:rPr>
              <a:t>1</a:t>
            </a:r>
            <a:r>
              <a:rPr lang="en-US" sz="2000" dirty="0">
                <a:solidFill>
                  <a:srgbClr val="D6E6EF"/>
                </a:solidFill>
                <a:latin typeface="Consolas" pitchFamily="34" charset="0"/>
                <a:ea typeface="Consolas" pitchFamily="34" charset="-122"/>
                <a:cs typeface="Consolas" pitchFamily="34" charset="-120"/>
              </a:rPr>
              <a:t>))   </a:t>
            </a:r>
            <a:r>
              <a:rPr lang="en-US" sz="2000" i="1" dirty="0">
                <a:solidFill>
                  <a:srgbClr val="6F93A3"/>
                </a:solidFill>
                <a:latin typeface="Consolas" pitchFamily="34" charset="0"/>
                <a:ea typeface="Consolas" pitchFamily="34" charset="-122"/>
                <a:cs typeface="Consolas" pitchFamily="34" charset="-120"/>
              </a:rPr>
              <a:t># [ 6 15]</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.mean(m))          </a:t>
            </a:r>
            <a:r>
              <a:rPr lang="en-US" sz="2000" i="1" dirty="0">
                <a:solidFill>
                  <a:srgbClr val="6F93A3"/>
                </a:solidFill>
                <a:latin typeface="Consolas" pitchFamily="34" charset="0"/>
                <a:ea typeface="Consolas" pitchFamily="34" charset="-122"/>
                <a:cs typeface="Consolas" pitchFamily="34" charset="-120"/>
              </a:rPr>
              <a:t># 3.5</a:t>
            </a:r>
            <a:endParaRPr lang="en-US" sz="2000" dirty="0"/>
          </a:p>
          <a:p>
            <a:pPr marL="0" indent="0">
              <a:lnSpc>
                <a:spcPct val="100000"/>
              </a:lnSpc>
              <a:buNone/>
            </a:pPr>
            <a:r>
              <a:rPr lang="en-US" sz="2000" dirty="0">
                <a:solidFill>
                  <a:srgbClr val="6FD0E4"/>
                </a:solidFill>
                <a:latin typeface="Consolas" pitchFamily="34" charset="0"/>
                <a:ea typeface="Consolas" pitchFamily="34" charset="-122"/>
                <a:cs typeface="Consolas" pitchFamily="34" charset="-120"/>
              </a:rPr>
              <a:t>print</a:t>
            </a:r>
            <a:r>
              <a:rPr lang="en-US" sz="2000" dirty="0">
                <a:solidFill>
                  <a:srgbClr val="D6E6EF"/>
                </a:solidFill>
                <a:latin typeface="Consolas" pitchFamily="34" charset="0"/>
                <a:ea typeface="Consolas" pitchFamily="34" charset="-122"/>
                <a:cs typeface="Consolas" pitchFamily="34" charset="-120"/>
              </a:rPr>
              <a:t>(</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.min(m), </a:t>
            </a:r>
            <a:r>
              <a:rPr lang="en-US" sz="2000" dirty="0">
                <a:solidFill>
                  <a:srgbClr val="8AD9C0"/>
                </a:solidFill>
                <a:latin typeface="Consolas" pitchFamily="34" charset="0"/>
                <a:ea typeface="Consolas" pitchFamily="34" charset="-122"/>
                <a:cs typeface="Consolas" pitchFamily="34" charset="-120"/>
              </a:rPr>
              <a:t>np</a:t>
            </a:r>
            <a:r>
              <a:rPr lang="en-US" sz="2000" dirty="0">
                <a:solidFill>
                  <a:srgbClr val="D6E6EF"/>
                </a:solidFill>
                <a:latin typeface="Consolas" pitchFamily="34" charset="0"/>
                <a:ea typeface="Consolas" pitchFamily="34" charset="-122"/>
                <a:cs typeface="Consolas" pitchFamily="34" charset="-120"/>
              </a:rPr>
              <a:t>.max(m)) </a:t>
            </a:r>
            <a:r>
              <a:rPr lang="en-US" sz="2000" i="1" dirty="0">
                <a:solidFill>
                  <a:srgbClr val="6F93A3"/>
                </a:solidFill>
                <a:latin typeface="Consolas" pitchFamily="34" charset="0"/>
                <a:ea typeface="Consolas" pitchFamily="34" charset="-122"/>
                <a:cs typeface="Consolas" pitchFamily="34" charset="-120"/>
              </a:rPr>
              <a:t># 1 6</a:t>
            </a:r>
            <a:endParaRPr lang="en-US" sz="2000" dirty="0"/>
          </a:p>
        </p:txBody>
      </p:sp>
      <p:sp>
        <p:nvSpPr>
          <p:cNvPr id="33" name="Shape 31"/>
          <p:cNvSpPr/>
          <p:nvPr/>
        </p:nvSpPr>
        <p:spPr>
          <a:xfrm>
            <a:off x="5257800" y="3886200"/>
            <a:ext cx="6382512" cy="822960"/>
          </a:xfrm>
          <a:prstGeom prst="roundRect">
            <a:avLst>
              <a:gd name="adj" fmla="val 5556"/>
            </a:avLst>
          </a:prstGeom>
          <a:solidFill>
            <a:srgbClr val="FFFFFF"/>
          </a:solidFill>
          <a:ln w="9525">
            <a:solidFill>
              <a:srgbClr val="CFE5EE"/>
            </a:solidFill>
            <a:prstDash val="solid"/>
          </a:ln>
        </p:spPr>
      </p:sp>
      <p:sp>
        <p:nvSpPr>
          <p:cNvPr id="34" name="Text 32"/>
          <p:cNvSpPr/>
          <p:nvPr/>
        </p:nvSpPr>
        <p:spPr>
          <a:xfrm>
            <a:off x="5404104" y="3977640"/>
            <a:ext cx="6108192"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5" name="Text 33"/>
          <p:cNvSpPr/>
          <p:nvPr/>
        </p:nvSpPr>
        <p:spPr>
          <a:xfrm>
            <a:off x="5404104" y="4233672"/>
            <a:ext cx="6108192" cy="40233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21 · [5 7 9] · [ 6 15] · 3.5 · 1 6</a:t>
            </a:r>
            <a:endParaRPr lang="en-US" dirty="0"/>
          </a:p>
        </p:txBody>
      </p:sp>
      <p:graphicFrame>
        <p:nvGraphicFramePr>
          <p:cNvPr id="36" name="Table 0"/>
          <p:cNvGraphicFramePr>
            <a:graphicFrameLocks noGrp="1"/>
          </p:cNvGraphicFramePr>
          <p:nvPr>
            <p:extLst>
              <p:ext uri="{D42A27DB-BD31-4B8C-83A1-F6EECF244321}">
                <p14:modId xmlns:p14="http://schemas.microsoft.com/office/powerpoint/2010/main" val="2198860967"/>
              </p:ext>
            </p:extLst>
          </p:nvPr>
        </p:nvGraphicFramePr>
        <p:xfrm>
          <a:off x="416051" y="4754880"/>
          <a:ext cx="6812281" cy="1491488"/>
        </p:xfrm>
        <a:graphic>
          <a:graphicData uri="http://schemas.openxmlformats.org/drawingml/2006/table">
            <a:tbl>
              <a:tblPr/>
              <a:tblGrid>
                <a:gridCol w="1750378">
                  <a:extLst>
                    <a:ext uri="{9D8B030D-6E8A-4147-A177-3AD203B41FA5}">
                      <a16:colId xmlns:a16="http://schemas.microsoft.com/office/drawing/2014/main" val="20000"/>
                    </a:ext>
                  </a:extLst>
                </a:gridCol>
                <a:gridCol w="1750378">
                  <a:extLst>
                    <a:ext uri="{9D8B030D-6E8A-4147-A177-3AD203B41FA5}">
                      <a16:colId xmlns:a16="http://schemas.microsoft.com/office/drawing/2014/main" val="20001"/>
                    </a:ext>
                  </a:extLst>
                </a:gridCol>
                <a:gridCol w="3311525">
                  <a:extLst>
                    <a:ext uri="{9D8B030D-6E8A-4147-A177-3AD203B41FA5}">
                      <a16:colId xmlns:a16="http://schemas.microsoft.com/office/drawing/2014/main" val="20002"/>
                    </a:ext>
                  </a:extLst>
                </a:gridCol>
              </a:tblGrid>
              <a:tr h="347472">
                <a:tc>
                  <a:txBody>
                    <a:bodyPr/>
                    <a:lstStyle/>
                    <a:p>
                      <a:pPr marL="0" indent="0">
                        <a:buNone/>
                      </a:pPr>
                      <a:r>
                        <a:rPr lang="en-US" sz="1550" b="1" dirty="0">
                          <a:solidFill>
                            <a:srgbClr val="FFFFFF"/>
                          </a:solidFill>
                          <a:latin typeface="Segoe UI" pitchFamily="34" charset="0"/>
                          <a:ea typeface="Segoe UI" pitchFamily="34" charset="-122"/>
                          <a:cs typeface="Segoe UI" pitchFamily="34" charset="-120"/>
                        </a:rPr>
                        <a:t>Cách gọi</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550" b="1" dirty="0">
                          <a:solidFill>
                            <a:srgbClr val="FFFFFF"/>
                          </a:solidFill>
                          <a:latin typeface="Segoe UI" pitchFamily="34" charset="0"/>
                          <a:ea typeface="Segoe UI" pitchFamily="34" charset="-122"/>
                          <a:cs typeface="Segoe UI" pitchFamily="34" charset="-120"/>
                        </a:rPr>
                        <a:t>Chiều bị gộp</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550" b="1" dirty="0">
                          <a:solidFill>
                            <a:srgbClr val="FFFFFF"/>
                          </a:solidFill>
                          <a:latin typeface="Segoe UI" pitchFamily="34" charset="0"/>
                          <a:ea typeface="Segoe UI" pitchFamily="34" charset="-122"/>
                          <a:cs typeface="Segoe UI" pitchFamily="34" charset="-120"/>
                        </a:rPr>
                        <a:t>Kết quả</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extLst>
                  <a:ext uri="{0D108BD9-81ED-4DB2-BD59-A6C34878D82A}">
                    <a16:rowId xmlns:a16="http://schemas.microsoft.com/office/drawing/2014/main" val="10000"/>
                  </a:ext>
                </a:extLst>
              </a:tr>
              <a:tr h="365387">
                <a:tc>
                  <a:txBody>
                    <a:bodyPr/>
                    <a:lstStyle/>
                    <a:p>
                      <a:pPr marL="0" indent="0">
                        <a:buNone/>
                      </a:pPr>
                      <a:r>
                        <a:rPr lang="en-US" sz="1800" b="1" dirty="0">
                          <a:solidFill>
                            <a:srgbClr val="062A3A"/>
                          </a:solidFill>
                          <a:latin typeface="Consolas" pitchFamily="34" charset="0"/>
                          <a:ea typeface="Consolas" pitchFamily="34" charset="-122"/>
                          <a:cs typeface="Consolas" pitchFamily="34" charset="-120"/>
                        </a:rPr>
                        <a:t>m.sum()</a:t>
                      </a:r>
                      <a:endParaRPr lang="en-US" sz="18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toàn bộ</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21</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800" b="1" dirty="0">
                          <a:solidFill>
                            <a:srgbClr val="062A3A"/>
                          </a:solidFill>
                          <a:latin typeface="Consolas" pitchFamily="34" charset="0"/>
                          <a:ea typeface="Consolas" pitchFamily="34" charset="-122"/>
                          <a:cs typeface="Consolas" pitchFamily="34" charset="-120"/>
                        </a:rPr>
                        <a:t>m.sum(axis=0)</a:t>
                      </a:r>
                      <a:endParaRPr lang="en-US" sz="18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hàng (trục 0)</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[5 7 9] · (3,)</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2"/>
                  </a:ext>
                </a:extLst>
              </a:tr>
              <a:tr h="384048">
                <a:tc>
                  <a:txBody>
                    <a:bodyPr/>
                    <a:lstStyle/>
                    <a:p>
                      <a:pPr marL="0" indent="0">
                        <a:buNone/>
                      </a:pPr>
                      <a:r>
                        <a:rPr lang="en-US" sz="1800" b="1" dirty="0">
                          <a:solidFill>
                            <a:srgbClr val="062A3A"/>
                          </a:solidFill>
                          <a:latin typeface="Consolas" pitchFamily="34" charset="0"/>
                          <a:ea typeface="Consolas" pitchFamily="34" charset="-122"/>
                          <a:cs typeface="Consolas" pitchFamily="34" charset="-120"/>
                        </a:rPr>
                        <a:t>m.sum(axis=1)</a:t>
                      </a:r>
                      <a:endParaRPr lang="en-US" sz="18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cột (trục 1)</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800" dirty="0">
                          <a:solidFill>
                            <a:srgbClr val="415A6B"/>
                          </a:solidFill>
                          <a:latin typeface="Segoe UI" pitchFamily="34" charset="0"/>
                          <a:ea typeface="Segoe UI" pitchFamily="34" charset="-122"/>
                          <a:cs typeface="Segoe UI" pitchFamily="34" charset="-120"/>
                        </a:rPr>
                        <a:t>[ 6 15] · (2,)</a:t>
                      </a:r>
                      <a:endParaRPr lang="en-US" sz="18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7" name="Text 34"/>
          <p:cNvSpPr/>
          <p:nvPr/>
        </p:nvSpPr>
        <p:spPr>
          <a:xfrm>
            <a:off x="7520472" y="4846320"/>
            <a:ext cx="4092407" cy="960120"/>
          </a:xfrm>
          <a:prstGeom prst="rect">
            <a:avLst/>
          </a:prstGeom>
          <a:noFill/>
          <a:ln/>
        </p:spPr>
        <p:txBody>
          <a:bodyPr wrap="square" lIns="0" tIns="0" rIns="0" bIns="0" rtlCol="0" anchor="t"/>
          <a:lstStyle/>
          <a:p>
            <a:pPr marL="0" indent="0">
              <a:buNone/>
            </a:pPr>
            <a:r>
              <a:rPr lang="en-US" sz="2000" i="1" dirty="0">
                <a:solidFill>
                  <a:srgbClr val="728694"/>
                </a:solidFill>
                <a:latin typeface="Segoe UI" pitchFamily="34" charset="0"/>
                <a:ea typeface="Segoe UI" pitchFamily="34" charset="-122"/>
                <a:cs typeface="Segoe UI" pitchFamily="34" charset="-120"/>
              </a:rPr>
              <a:t>axis là chiều bị gộp: axis=0 gộp hàng, axis=1 gộp cột.</a:t>
            </a:r>
            <a:endParaRPr lang="en-US" sz="2000" dirty="0"/>
          </a:p>
        </p:txBody>
      </p:sp>
      <p:sp>
        <p:nvSpPr>
          <p:cNvPr id="38" name="Shape 35"/>
          <p:cNvSpPr/>
          <p:nvPr/>
        </p:nvSpPr>
        <p:spPr>
          <a:xfrm>
            <a:off x="548640" y="6437376"/>
            <a:ext cx="11091672" cy="9144"/>
          </a:xfrm>
          <a:prstGeom prst="rect">
            <a:avLst/>
          </a:prstGeom>
          <a:solidFill>
            <a:srgbClr val="D7E5EC"/>
          </a:solidFill>
          <a:ln w="12700">
            <a:solidFill>
              <a:srgbClr val="D7E5EC"/>
            </a:solidFill>
            <a:prstDash val="solid"/>
          </a:ln>
        </p:spPr>
      </p:sp>
      <p:sp>
        <p:nvSpPr>
          <p:cNvPr id="39" name="Text 36"/>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0" name="Text 37"/>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19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Broadcasting: tính giữa các shape khác nhau</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463040"/>
            <a:ext cx="5257800" cy="1188720"/>
          </a:xfrm>
          <a:prstGeom prst="rect">
            <a:avLst/>
          </a:prstGeom>
          <a:noFill/>
          <a:ln/>
        </p:spPr>
        <p:txBody>
          <a:bodyPr wrap="square" lIns="0" tIns="0" rIns="0" bIns="0" rtlCol="0" anchor="t"/>
          <a:lstStyle/>
          <a:p>
            <a:pPr marL="0" indent="0">
              <a:lnSpc>
                <a:spcPct val="110000"/>
              </a:lnSpc>
              <a:buNone/>
            </a:pPr>
            <a:r>
              <a:rPr lang="en-US" sz="2000" dirty="0">
                <a:solidFill>
                  <a:srgbClr val="062A3A"/>
                </a:solidFill>
                <a:latin typeface="Segoe UI" pitchFamily="34" charset="0"/>
                <a:ea typeface="Segoe UI" pitchFamily="34" charset="-122"/>
                <a:cs typeface="Segoe UI" pitchFamily="34" charset="-120"/>
              </a:rPr>
              <a:t>Broadcasting cho phép mảng nhỏ được “trải” lên mảng lớn. Vòng lặp chạy trong C, không sao chép dữ liệu.</a:t>
            </a:r>
            <a:endParaRPr lang="en-US" sz="2000" dirty="0"/>
          </a:p>
        </p:txBody>
      </p:sp>
      <p:sp>
        <p:nvSpPr>
          <p:cNvPr id="6" name="Shape 4"/>
          <p:cNvSpPr/>
          <p:nvPr/>
        </p:nvSpPr>
        <p:spPr>
          <a:xfrm>
            <a:off x="548640" y="2788920"/>
            <a:ext cx="475488" cy="475488"/>
          </a:xfrm>
          <a:prstGeom prst="roundRect">
            <a:avLst>
              <a:gd name="adj" fmla="val 28846"/>
            </a:avLst>
          </a:prstGeom>
          <a:solidFill>
            <a:srgbClr val="1B8EA8"/>
          </a:solidFill>
          <a:ln w="12700">
            <a:solidFill>
              <a:srgbClr val="FFFFFF"/>
            </a:solidFill>
            <a:prstDash val="solid"/>
          </a:ln>
        </p:spPr>
      </p:sp>
      <p:sp>
        <p:nvSpPr>
          <p:cNvPr id="7" name="Text 5"/>
          <p:cNvSpPr/>
          <p:nvPr/>
        </p:nvSpPr>
        <p:spPr>
          <a:xfrm>
            <a:off x="548640" y="2788920"/>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8" name="Text 6"/>
          <p:cNvSpPr/>
          <p:nvPr/>
        </p:nvSpPr>
        <p:spPr>
          <a:xfrm>
            <a:off x="1170432" y="2761488"/>
            <a:ext cx="4480560" cy="777240"/>
          </a:xfrm>
          <a:prstGeom prst="rect">
            <a:avLst/>
          </a:prstGeom>
          <a:noFill/>
          <a:ln/>
        </p:spPr>
        <p:txBody>
          <a:bodyPr wrap="square" lIns="0" tIns="0" rIns="0" bIns="0" rtlCol="0" anchor="t"/>
          <a:lstStyle/>
          <a:p>
            <a:pPr marL="0" indent="0">
              <a:lnSpc>
                <a:spcPct val="105000"/>
              </a:lnSpc>
              <a:buNone/>
            </a:pPr>
            <a:r>
              <a:rPr lang="en-US" sz="2000" dirty="0">
                <a:solidFill>
                  <a:srgbClr val="415A6B"/>
                </a:solidFill>
                <a:latin typeface="Segoe UI" pitchFamily="34" charset="0"/>
                <a:ea typeface="Segoe UI" pitchFamily="34" charset="-122"/>
                <a:cs typeface="Segoe UI" pitchFamily="34" charset="-120"/>
              </a:rPr>
              <a:t>So sánh shape từ phải sang trái.</a:t>
            </a:r>
            <a:endParaRPr lang="en-US" sz="2000" dirty="0"/>
          </a:p>
        </p:txBody>
      </p:sp>
      <p:sp>
        <p:nvSpPr>
          <p:cNvPr id="9" name="Shape 7"/>
          <p:cNvSpPr/>
          <p:nvPr/>
        </p:nvSpPr>
        <p:spPr>
          <a:xfrm>
            <a:off x="548640" y="3703320"/>
            <a:ext cx="475488" cy="475488"/>
          </a:xfrm>
          <a:prstGeom prst="roundRect">
            <a:avLst>
              <a:gd name="adj" fmla="val 28846"/>
            </a:avLst>
          </a:prstGeom>
          <a:solidFill>
            <a:srgbClr val="1B8EA8"/>
          </a:solidFill>
          <a:ln w="12700">
            <a:solidFill>
              <a:srgbClr val="FFFFFF"/>
            </a:solidFill>
            <a:prstDash val="solid"/>
          </a:ln>
        </p:spPr>
      </p:sp>
      <p:sp>
        <p:nvSpPr>
          <p:cNvPr id="10" name="Text 8"/>
          <p:cNvSpPr/>
          <p:nvPr/>
        </p:nvSpPr>
        <p:spPr>
          <a:xfrm>
            <a:off x="548640" y="3703320"/>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1" name="Text 9"/>
          <p:cNvSpPr/>
          <p:nvPr/>
        </p:nvSpPr>
        <p:spPr>
          <a:xfrm>
            <a:off x="1170432" y="3675888"/>
            <a:ext cx="4480560" cy="777240"/>
          </a:xfrm>
          <a:prstGeom prst="rect">
            <a:avLst/>
          </a:prstGeom>
          <a:noFill/>
          <a:ln/>
        </p:spPr>
        <p:txBody>
          <a:bodyPr wrap="square" lIns="0" tIns="0" rIns="0" bIns="0" rtlCol="0" anchor="t"/>
          <a:lstStyle/>
          <a:p>
            <a:pPr marL="0" indent="0">
              <a:lnSpc>
                <a:spcPct val="105000"/>
              </a:lnSpc>
              <a:buNone/>
            </a:pPr>
            <a:r>
              <a:rPr lang="en-US" sz="2000" dirty="0">
                <a:solidFill>
                  <a:srgbClr val="415A6B"/>
                </a:solidFill>
                <a:latin typeface="Segoe UI" pitchFamily="34" charset="0"/>
                <a:ea typeface="Segoe UI" pitchFamily="34" charset="-122"/>
                <a:cs typeface="Segoe UI" pitchFamily="34" charset="-120"/>
              </a:rPr>
              <a:t>Mỗi cặp chiều bằng nhau, hoặc một bên bằng 1.</a:t>
            </a:r>
            <a:endParaRPr lang="en-US" sz="2000" dirty="0"/>
          </a:p>
        </p:txBody>
      </p:sp>
      <p:sp>
        <p:nvSpPr>
          <p:cNvPr id="12" name="Shape 10"/>
          <p:cNvSpPr/>
          <p:nvPr/>
        </p:nvSpPr>
        <p:spPr>
          <a:xfrm>
            <a:off x="548640" y="4617720"/>
            <a:ext cx="475488" cy="475488"/>
          </a:xfrm>
          <a:prstGeom prst="roundRect">
            <a:avLst>
              <a:gd name="adj" fmla="val 28846"/>
            </a:avLst>
          </a:prstGeom>
          <a:solidFill>
            <a:srgbClr val="1B8EA8"/>
          </a:solidFill>
          <a:ln w="12700">
            <a:solidFill>
              <a:srgbClr val="FFFFFF"/>
            </a:solidFill>
            <a:prstDash val="solid"/>
          </a:ln>
        </p:spPr>
      </p:sp>
      <p:sp>
        <p:nvSpPr>
          <p:cNvPr id="13" name="Text 11"/>
          <p:cNvSpPr/>
          <p:nvPr/>
        </p:nvSpPr>
        <p:spPr>
          <a:xfrm>
            <a:off x="548640" y="4617720"/>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4" name="Text 12"/>
          <p:cNvSpPr/>
          <p:nvPr/>
        </p:nvSpPr>
        <p:spPr>
          <a:xfrm>
            <a:off x="1170432" y="4590288"/>
            <a:ext cx="4480560" cy="777240"/>
          </a:xfrm>
          <a:prstGeom prst="rect">
            <a:avLst/>
          </a:prstGeom>
          <a:noFill/>
          <a:ln/>
        </p:spPr>
        <p:txBody>
          <a:bodyPr wrap="square" lIns="0" tIns="0" rIns="0" bIns="0" rtlCol="0" anchor="t"/>
          <a:lstStyle/>
          <a:p>
            <a:pPr marL="0" indent="0">
              <a:lnSpc>
                <a:spcPct val="105000"/>
              </a:lnSpc>
              <a:buNone/>
            </a:pPr>
            <a:r>
              <a:rPr lang="en-US" sz="2000" dirty="0">
                <a:solidFill>
                  <a:srgbClr val="415A6B"/>
                </a:solidFill>
                <a:latin typeface="Segoe UI" pitchFamily="34" charset="0"/>
                <a:ea typeface="Segoe UI" pitchFamily="34" charset="-122"/>
                <a:cs typeface="Segoe UI" pitchFamily="34" charset="-120"/>
              </a:rPr>
              <a:t>Mảng ít chiều hơn được thêm chiều 1 ở bên trái.</a:t>
            </a:r>
            <a:endParaRPr lang="en-US" sz="2000" dirty="0"/>
          </a:p>
        </p:txBody>
      </p:sp>
      <p:sp>
        <p:nvSpPr>
          <p:cNvPr id="15" name="Text 13"/>
          <p:cNvSpPr/>
          <p:nvPr/>
        </p:nvSpPr>
        <p:spPr>
          <a:xfrm>
            <a:off x="548640" y="5532120"/>
            <a:ext cx="5257800" cy="320040"/>
          </a:xfrm>
          <a:prstGeom prst="rect">
            <a:avLst/>
          </a:prstGeom>
          <a:noFill/>
          <a:ln/>
        </p:spPr>
        <p:txBody>
          <a:bodyPr wrap="square" lIns="0" tIns="0" rIns="0" bIns="0" rtlCol="0" anchor="t"/>
          <a:lstStyle/>
          <a:p>
            <a:pPr marL="0" indent="0">
              <a:buNone/>
            </a:pPr>
            <a:r>
              <a:rPr lang="en-US" sz="1800" i="1" dirty="0">
                <a:solidFill>
                  <a:srgbClr val="728694"/>
                </a:solidFill>
                <a:latin typeface="Segoe UI" pitchFamily="34" charset="0"/>
                <a:ea typeface="Segoe UI" pitchFamily="34" charset="-122"/>
                <a:cs typeface="Segoe UI" pitchFamily="34" charset="-120"/>
              </a:rPr>
              <a:t>Scalar trải nhưng không sao chép thật.</a:t>
            </a:r>
            <a:endParaRPr lang="en-US" sz="1800" dirty="0"/>
          </a:p>
        </p:txBody>
      </p:sp>
      <p:sp>
        <p:nvSpPr>
          <p:cNvPr id="16" name="Shape 14"/>
          <p:cNvSpPr/>
          <p:nvPr/>
        </p:nvSpPr>
        <p:spPr>
          <a:xfrm>
            <a:off x="5989320" y="1463040"/>
            <a:ext cx="5650992" cy="3383280"/>
          </a:xfrm>
          <a:prstGeom prst="roundRect">
            <a:avLst>
              <a:gd name="adj" fmla="val 1892"/>
            </a:avLst>
          </a:prstGeom>
          <a:solidFill>
            <a:srgbClr val="062A3A"/>
          </a:solidFill>
          <a:ln w="9525">
            <a:solidFill>
              <a:srgbClr val="062A3A"/>
            </a:solidFill>
            <a:prstDash val="solid"/>
          </a:ln>
          <a:effectLst>
            <a:outerShdw blurRad="63500" dist="12700" dir="5400000" algn="bl" rotWithShape="0">
              <a:srgbClr val="062A3A">
                <a:alpha val="7000"/>
              </a:srgbClr>
            </a:outerShdw>
          </a:effectLst>
        </p:spPr>
      </p:sp>
      <p:sp>
        <p:nvSpPr>
          <p:cNvPr id="17" name="Text 15"/>
          <p:cNvSpPr/>
          <p:nvPr/>
        </p:nvSpPr>
        <p:spPr>
          <a:xfrm>
            <a:off x="6236208" y="1627632"/>
            <a:ext cx="5120640" cy="228600"/>
          </a:xfrm>
          <a:prstGeom prst="rect">
            <a:avLst/>
          </a:prstGeom>
          <a:noFill/>
          <a:ln/>
        </p:spPr>
        <p:txBody>
          <a:bodyPr wrap="square" lIns="0" tIns="0" rIns="0" bIns="0" rtlCol="0" anchor="t"/>
          <a:lstStyle/>
          <a:p>
            <a:pPr marL="0" indent="0">
              <a:buNone/>
            </a:pPr>
            <a:r>
              <a:rPr lang="en-US" sz="1200" b="1" kern="0" spc="130" dirty="0">
                <a:solidFill>
                  <a:srgbClr val="4DB8D4"/>
                </a:solidFill>
                <a:latin typeface="Segoe UI" pitchFamily="34" charset="0"/>
                <a:ea typeface="Segoe UI" pitchFamily="34" charset="-122"/>
                <a:cs typeface="Segoe UI" pitchFamily="34" charset="-120"/>
              </a:rPr>
              <a:t>SO SÁNH TỪ PHẢI SANG TRÁI</a:t>
            </a:r>
            <a:endParaRPr lang="en-US" sz="1200" dirty="0"/>
          </a:p>
        </p:txBody>
      </p:sp>
      <p:sp>
        <p:nvSpPr>
          <p:cNvPr id="18" name="Text 16"/>
          <p:cNvSpPr/>
          <p:nvPr/>
        </p:nvSpPr>
        <p:spPr>
          <a:xfrm>
            <a:off x="6236208" y="1938528"/>
            <a:ext cx="2468880" cy="457200"/>
          </a:xfrm>
          <a:prstGeom prst="rect">
            <a:avLst/>
          </a:prstGeom>
          <a:noFill/>
          <a:ln/>
        </p:spPr>
        <p:txBody>
          <a:bodyPr wrap="square" lIns="0" tIns="0" rIns="0" bIns="0" rtlCol="0" anchor="t"/>
          <a:lstStyle/>
          <a:p>
            <a:pPr marL="0" indent="0" algn="r">
              <a:buNone/>
            </a:pPr>
            <a:r>
              <a:rPr lang="en-US" sz="2800" b="1" dirty="0">
                <a:solidFill>
                  <a:srgbClr val="FFFFFF"/>
                </a:solidFill>
                <a:latin typeface="Consolas" pitchFamily="34" charset="0"/>
                <a:ea typeface="Consolas" pitchFamily="34" charset="-122"/>
                <a:cs typeface="Consolas" pitchFamily="34" charset="-120"/>
              </a:rPr>
              <a:t>(2, 3)</a:t>
            </a:r>
            <a:endParaRPr lang="en-US" sz="2800" dirty="0"/>
          </a:p>
        </p:txBody>
      </p:sp>
      <p:sp>
        <p:nvSpPr>
          <p:cNvPr id="19" name="Text 17"/>
          <p:cNvSpPr/>
          <p:nvPr/>
        </p:nvSpPr>
        <p:spPr>
          <a:xfrm>
            <a:off x="6236208" y="2487168"/>
            <a:ext cx="2468880" cy="457200"/>
          </a:xfrm>
          <a:prstGeom prst="rect">
            <a:avLst/>
          </a:prstGeom>
          <a:noFill/>
          <a:ln/>
        </p:spPr>
        <p:txBody>
          <a:bodyPr wrap="square" lIns="0" tIns="0" rIns="0" bIns="0" rtlCol="0" anchor="t"/>
          <a:lstStyle/>
          <a:p>
            <a:pPr marL="0" indent="0" algn="r">
              <a:buNone/>
            </a:pPr>
            <a:r>
              <a:rPr lang="en-US" sz="2800" b="1" dirty="0">
                <a:solidFill>
                  <a:srgbClr val="4DB8D4"/>
                </a:solidFill>
                <a:latin typeface="Consolas" pitchFamily="34" charset="0"/>
                <a:ea typeface="Consolas" pitchFamily="34" charset="-122"/>
                <a:cs typeface="Consolas" pitchFamily="34" charset="-120"/>
              </a:rPr>
              <a:t>(   3,)</a:t>
            </a:r>
            <a:endParaRPr lang="en-US" sz="2800" dirty="0"/>
          </a:p>
        </p:txBody>
      </p:sp>
      <p:sp>
        <p:nvSpPr>
          <p:cNvPr id="20" name="Shape 18"/>
          <p:cNvSpPr/>
          <p:nvPr/>
        </p:nvSpPr>
        <p:spPr>
          <a:xfrm>
            <a:off x="6236208" y="3044952"/>
            <a:ext cx="2468880" cy="9144"/>
          </a:xfrm>
          <a:prstGeom prst="rect">
            <a:avLst/>
          </a:prstGeom>
          <a:solidFill>
            <a:srgbClr val="2A5668"/>
          </a:solidFill>
          <a:ln w="12700">
            <a:solidFill>
              <a:srgbClr val="2A5668"/>
            </a:solidFill>
            <a:prstDash val="solid"/>
          </a:ln>
        </p:spPr>
      </p:sp>
      <p:sp>
        <p:nvSpPr>
          <p:cNvPr id="21" name="Text 19"/>
          <p:cNvSpPr/>
          <p:nvPr/>
        </p:nvSpPr>
        <p:spPr>
          <a:xfrm>
            <a:off x="6236208" y="3154680"/>
            <a:ext cx="2468880" cy="457200"/>
          </a:xfrm>
          <a:prstGeom prst="rect">
            <a:avLst/>
          </a:prstGeom>
          <a:noFill/>
          <a:ln/>
        </p:spPr>
        <p:txBody>
          <a:bodyPr wrap="square" lIns="0" tIns="0" rIns="0" bIns="0" rtlCol="0" anchor="t"/>
          <a:lstStyle/>
          <a:p>
            <a:pPr marL="0" indent="0" algn="r">
              <a:buNone/>
            </a:pPr>
            <a:r>
              <a:rPr lang="en-US" sz="2800" b="1" dirty="0">
                <a:solidFill>
                  <a:srgbClr val="E8A33D"/>
                </a:solidFill>
                <a:latin typeface="Consolas" pitchFamily="34" charset="0"/>
                <a:ea typeface="Consolas" pitchFamily="34" charset="-122"/>
                <a:cs typeface="Consolas" pitchFamily="34" charset="-120"/>
              </a:rPr>
              <a:t>(2, 3)</a:t>
            </a:r>
            <a:endParaRPr lang="en-US" sz="2800" dirty="0"/>
          </a:p>
        </p:txBody>
      </p:sp>
      <p:sp>
        <p:nvSpPr>
          <p:cNvPr id="22" name="Text 20"/>
          <p:cNvSpPr/>
          <p:nvPr/>
        </p:nvSpPr>
        <p:spPr>
          <a:xfrm>
            <a:off x="8869680" y="1993392"/>
            <a:ext cx="1371600" cy="292608"/>
          </a:xfrm>
          <a:prstGeom prst="rect">
            <a:avLst/>
          </a:prstGeom>
          <a:noFill/>
          <a:ln/>
        </p:spPr>
        <p:txBody>
          <a:bodyPr wrap="square" lIns="0" tIns="0" rIns="0" bIns="0" rtlCol="0" anchor="t"/>
          <a:lstStyle/>
          <a:p>
            <a:pPr marL="0" indent="0">
              <a:buNone/>
            </a:pPr>
            <a:r>
              <a:rPr lang="en-US" sz="1800" dirty="0">
                <a:solidFill>
                  <a:srgbClr val="8AD9C0"/>
                </a:solidFill>
                <a:latin typeface="Consolas" pitchFamily="34" charset="0"/>
                <a:ea typeface="Consolas" pitchFamily="34" charset="-122"/>
                <a:cs typeface="Consolas" pitchFamily="34" charset="-120"/>
              </a:rPr>
              <a:t>3 = 3</a:t>
            </a:r>
            <a:endParaRPr lang="en-US" sz="1800" dirty="0"/>
          </a:p>
        </p:txBody>
      </p:sp>
      <p:sp>
        <p:nvSpPr>
          <p:cNvPr id="23" name="Text 21"/>
          <p:cNvSpPr/>
          <p:nvPr/>
        </p:nvSpPr>
        <p:spPr>
          <a:xfrm>
            <a:off x="8869680" y="2788920"/>
            <a:ext cx="2286000" cy="292608"/>
          </a:xfrm>
          <a:prstGeom prst="rect">
            <a:avLst/>
          </a:prstGeom>
          <a:noFill/>
          <a:ln/>
        </p:spPr>
        <p:txBody>
          <a:bodyPr wrap="square" lIns="0" tIns="0" rIns="0" bIns="0" rtlCol="0" anchor="t"/>
          <a:lstStyle/>
          <a:p>
            <a:pPr marL="0" indent="0">
              <a:buNone/>
            </a:pPr>
            <a:r>
              <a:rPr lang="en-US" sz="1800" dirty="0">
                <a:solidFill>
                  <a:srgbClr val="8AD9C0"/>
                </a:solidFill>
                <a:latin typeface="Consolas" pitchFamily="34" charset="0"/>
                <a:ea typeface="Consolas" pitchFamily="34" charset="-122"/>
                <a:cs typeface="Consolas" pitchFamily="34" charset="-120"/>
              </a:rPr>
              <a:t>2 vs 1 → 2</a:t>
            </a:r>
            <a:endParaRPr lang="en-US" sz="1800" dirty="0"/>
          </a:p>
        </p:txBody>
      </p:sp>
      <p:sp>
        <p:nvSpPr>
          <p:cNvPr id="24" name="Shape 22"/>
          <p:cNvSpPr/>
          <p:nvPr/>
        </p:nvSpPr>
        <p:spPr>
          <a:xfrm>
            <a:off x="8732520" y="2176272"/>
            <a:ext cx="0" cy="1024128"/>
          </a:xfrm>
          <a:prstGeom prst="line">
            <a:avLst/>
          </a:prstGeom>
          <a:noFill/>
          <a:ln w="12700">
            <a:solidFill>
              <a:srgbClr val="4DB8D4"/>
            </a:solidFill>
            <a:prstDash val="dash"/>
            <a:headEnd type="none"/>
            <a:tailEnd type="none"/>
          </a:ln>
        </p:spPr>
      </p:sp>
      <p:sp>
        <p:nvSpPr>
          <p:cNvPr id="25" name="Text 23"/>
          <p:cNvSpPr/>
          <p:nvPr/>
        </p:nvSpPr>
        <p:spPr>
          <a:xfrm>
            <a:off x="6236208" y="3639312"/>
            <a:ext cx="2468880" cy="219456"/>
          </a:xfrm>
          <a:prstGeom prst="rect">
            <a:avLst/>
          </a:prstGeom>
          <a:noFill/>
          <a:ln/>
        </p:spPr>
        <p:txBody>
          <a:bodyPr wrap="square" lIns="0" tIns="0" rIns="0" bIns="0" rtlCol="0" anchor="t"/>
          <a:lstStyle/>
          <a:p>
            <a:pPr marL="0" indent="0" algn="r">
              <a:buNone/>
            </a:pPr>
            <a:r>
              <a:rPr lang="en-US" sz="1200" b="1" kern="0" spc="120" dirty="0">
                <a:solidFill>
                  <a:srgbClr val="4DB8D4"/>
                </a:solidFill>
                <a:latin typeface="Segoe UI" pitchFamily="34" charset="0"/>
                <a:ea typeface="Segoe UI" pitchFamily="34" charset="-122"/>
                <a:cs typeface="Segoe UI" pitchFamily="34" charset="-120"/>
              </a:rPr>
              <a:t>KẾT QUẢ</a:t>
            </a:r>
            <a:endParaRPr lang="en-US" sz="1200" dirty="0"/>
          </a:p>
        </p:txBody>
      </p:sp>
      <p:sp>
        <p:nvSpPr>
          <p:cNvPr id="26" name="Text 24"/>
          <p:cNvSpPr/>
          <p:nvPr/>
        </p:nvSpPr>
        <p:spPr>
          <a:xfrm>
            <a:off x="6236208" y="3877056"/>
            <a:ext cx="2468880" cy="457200"/>
          </a:xfrm>
          <a:prstGeom prst="rect">
            <a:avLst/>
          </a:prstGeom>
          <a:noFill/>
          <a:ln/>
        </p:spPr>
        <p:txBody>
          <a:bodyPr wrap="square" lIns="0" tIns="0" rIns="0" bIns="0" rtlCol="0" anchor="t"/>
          <a:lstStyle/>
          <a:p>
            <a:pPr marL="0" indent="0" algn="r">
              <a:buNone/>
            </a:pPr>
            <a:r>
              <a:rPr lang="en-US" sz="2800" b="1" dirty="0">
                <a:solidFill>
                  <a:srgbClr val="E8A33D"/>
                </a:solidFill>
                <a:latin typeface="Consolas" pitchFamily="34" charset="0"/>
                <a:ea typeface="Consolas" pitchFamily="34" charset="-122"/>
                <a:cs typeface="Consolas" pitchFamily="34" charset="-120"/>
              </a:rPr>
              <a:t>(2, 3)</a:t>
            </a:r>
            <a:endParaRPr lang="en-US" sz="2800" dirty="0"/>
          </a:p>
        </p:txBody>
      </p:sp>
      <p:sp>
        <p:nvSpPr>
          <p:cNvPr id="27" name="Text 25"/>
          <p:cNvSpPr/>
          <p:nvPr/>
        </p:nvSpPr>
        <p:spPr>
          <a:xfrm>
            <a:off x="6236208" y="4370832"/>
            <a:ext cx="5074920" cy="365760"/>
          </a:xfrm>
          <a:prstGeom prst="rect">
            <a:avLst/>
          </a:prstGeom>
          <a:noFill/>
          <a:ln/>
        </p:spPr>
        <p:txBody>
          <a:bodyPr wrap="square" lIns="0" tIns="0" rIns="0" bIns="0" rtlCol="0" anchor="t"/>
          <a:lstStyle/>
          <a:p>
            <a:pPr marL="0" indent="0">
              <a:buNone/>
            </a:pPr>
            <a:r>
              <a:rPr lang="en-US" sz="2000" dirty="0">
                <a:solidFill>
                  <a:srgbClr val="B8D2DD"/>
                </a:solidFill>
                <a:latin typeface="Segoe UI" pitchFamily="34" charset="0"/>
                <a:ea typeface="Segoe UI" pitchFamily="34" charset="-122"/>
                <a:cs typeface="Segoe UI" pitchFamily="34" charset="-120"/>
              </a:rPr>
              <a:t>shape của mảng lớn được giữ nguyên</a:t>
            </a:r>
            <a:endParaRPr lang="en-US" sz="2000" dirty="0"/>
          </a:p>
        </p:txBody>
      </p:sp>
      <p:sp>
        <p:nvSpPr>
          <p:cNvPr id="28" name="Shape 26"/>
          <p:cNvSpPr/>
          <p:nvPr/>
        </p:nvSpPr>
        <p:spPr>
          <a:xfrm>
            <a:off x="5989320" y="5029200"/>
            <a:ext cx="5650992" cy="914400"/>
          </a:xfrm>
          <a:prstGeom prst="roundRect">
            <a:avLst>
              <a:gd name="adj" fmla="val 7000"/>
            </a:avLst>
          </a:prstGeom>
          <a:solidFill>
            <a:srgbClr val="EAF4F8"/>
          </a:solidFill>
          <a:ln w="9525">
            <a:solidFill>
              <a:srgbClr val="CFE5EE"/>
            </a:solidFill>
            <a:prstDash val="solid"/>
          </a:ln>
        </p:spPr>
      </p:sp>
      <p:sp>
        <p:nvSpPr>
          <p:cNvPr id="29" name="Text 27"/>
          <p:cNvSpPr/>
          <p:nvPr/>
        </p:nvSpPr>
        <p:spPr>
          <a:xfrm>
            <a:off x="6199632" y="5029200"/>
            <a:ext cx="3063240" cy="914400"/>
          </a:xfrm>
          <a:prstGeom prst="rect">
            <a:avLst/>
          </a:prstGeom>
          <a:noFill/>
          <a:ln/>
        </p:spPr>
        <p:txBody>
          <a:bodyPr wrap="square" lIns="0" tIns="0" rIns="0" bIns="0" rtlCol="0" anchor="ctr"/>
          <a:lstStyle/>
          <a:p>
            <a:pPr marL="0" indent="0">
              <a:buNone/>
            </a:pPr>
            <a:r>
              <a:rPr lang="en-US" sz="1800" b="1" dirty="0">
                <a:solidFill>
                  <a:srgbClr val="062A3A"/>
                </a:solidFill>
                <a:latin typeface="Consolas" pitchFamily="34" charset="0"/>
                <a:ea typeface="Consolas" pitchFamily="34" charset="-122"/>
                <a:cs typeface="Consolas" pitchFamily="34" charset="-120"/>
              </a:rPr>
              <a:t>a * 2.0  →  [2. 4. 6.]</a:t>
            </a:r>
            <a:endParaRPr lang="en-US" sz="1800" dirty="0"/>
          </a:p>
        </p:txBody>
      </p:sp>
      <p:sp>
        <p:nvSpPr>
          <p:cNvPr id="30" name="Text 28"/>
          <p:cNvSpPr/>
          <p:nvPr/>
        </p:nvSpPr>
        <p:spPr>
          <a:xfrm>
            <a:off x="9326880" y="5102352"/>
            <a:ext cx="2103120" cy="685800"/>
          </a:xfrm>
          <a:prstGeom prst="rect">
            <a:avLst/>
          </a:prstGeom>
          <a:noFill/>
          <a:ln/>
        </p:spPr>
        <p:txBody>
          <a:bodyPr wrap="square" lIns="0" tIns="0" rIns="0" bIns="0" rtlCol="0" anchor="t"/>
          <a:lstStyle/>
          <a:p>
            <a:pPr marL="0" indent="0">
              <a:buNone/>
            </a:pPr>
            <a:r>
              <a:rPr lang="en-US" sz="1550" dirty="0">
                <a:solidFill>
                  <a:srgbClr val="728694"/>
                </a:solidFill>
                <a:latin typeface="Segoe UI" pitchFamily="34" charset="0"/>
                <a:ea typeface="Segoe UI" pitchFamily="34" charset="-122"/>
                <a:cs typeface="Segoe UI" pitchFamily="34" charset="-120"/>
              </a:rPr>
              <a:t>scalar trải như (3,)</a:t>
            </a:r>
            <a:endParaRPr lang="en-US" sz="1550" dirty="0"/>
          </a:p>
        </p:txBody>
      </p:sp>
      <p:sp>
        <p:nvSpPr>
          <p:cNvPr id="31" name="Text 29"/>
          <p:cNvSpPr/>
          <p:nvPr/>
        </p:nvSpPr>
        <p:spPr>
          <a:xfrm>
            <a:off x="548640" y="6080760"/>
            <a:ext cx="5212080" cy="219456"/>
          </a:xfrm>
          <a:prstGeom prst="rect">
            <a:avLst/>
          </a:prstGeom>
          <a:noFill/>
          <a:ln/>
        </p:spPr>
        <p:txBody>
          <a:bodyPr wrap="square" lIns="0" tIns="0" rIns="0" bIns="0" rtlCol="0" anchor="t"/>
          <a:lstStyle/>
          <a:p>
            <a:pPr marL="0" indent="0">
              <a:buNone/>
            </a:pPr>
            <a:r>
              <a:rPr lang="en-US" sz="1250" dirty="0">
                <a:solidFill>
                  <a:srgbClr val="728694"/>
                </a:solidFill>
                <a:latin typeface="Segoe UI" pitchFamily="34" charset="0"/>
                <a:ea typeface="Segoe UI" pitchFamily="34" charset="-122"/>
                <a:cs typeface="Segoe UI" pitchFamily="34" charset="-120"/>
              </a:rPr>
              <a:t>Nguồn: NumPy Documentation — Broadcasting [3]</a:t>
            </a:r>
            <a:endParaRPr lang="en-US" sz="1250" dirty="0"/>
          </a:p>
        </p:txBody>
      </p:sp>
      <p:sp>
        <p:nvSpPr>
          <p:cNvPr id="32" name="Shape 30"/>
          <p:cNvSpPr/>
          <p:nvPr/>
        </p:nvSpPr>
        <p:spPr>
          <a:xfrm>
            <a:off x="548640" y="6437376"/>
            <a:ext cx="11091672" cy="9144"/>
          </a:xfrm>
          <a:prstGeom prst="rect">
            <a:avLst/>
          </a:prstGeom>
          <a:solidFill>
            <a:srgbClr val="D7E5EC"/>
          </a:solidFill>
          <a:ln w="12700">
            <a:solidFill>
              <a:srgbClr val="D7E5EC"/>
            </a:solidFill>
            <a:prstDash val="solid"/>
          </a:ln>
        </p:spPr>
      </p:sp>
      <p:sp>
        <p:nvSpPr>
          <p:cNvPr id="33" name="Text 31"/>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4" name="Text 32"/>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20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Broadcasting: thành công và thất bại</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3547872" cy="2606040"/>
          </a:xfrm>
          <a:prstGeom prst="roundRect">
            <a:avLst>
              <a:gd name="adj" fmla="val 2456"/>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Text 4"/>
          <p:cNvSpPr/>
          <p:nvPr/>
        </p:nvSpPr>
        <p:spPr>
          <a:xfrm>
            <a:off x="768096" y="1609344"/>
            <a:ext cx="3127248" cy="365760"/>
          </a:xfrm>
          <a:prstGeom prst="rect">
            <a:avLst/>
          </a:prstGeom>
          <a:noFill/>
          <a:ln/>
        </p:spPr>
        <p:txBody>
          <a:bodyPr wrap="square" lIns="0" tIns="0" rIns="0" bIns="0" rtlCol="0" anchor="t"/>
          <a:lstStyle/>
          <a:p>
            <a:pPr marL="0" indent="0">
              <a:buNone/>
            </a:pPr>
            <a:r>
              <a:rPr lang="en-US" sz="2100" b="1" dirty="0">
                <a:solidFill>
                  <a:srgbClr val="062A3A"/>
                </a:solidFill>
                <a:latin typeface="Consolas" pitchFamily="34" charset="0"/>
                <a:ea typeface="Consolas" pitchFamily="34" charset="-122"/>
                <a:cs typeface="Consolas" pitchFamily="34" charset="-120"/>
              </a:rPr>
              <a:t>(2, 3) + (3,)</a:t>
            </a:r>
            <a:endParaRPr lang="en-US" sz="2100" dirty="0"/>
          </a:p>
        </p:txBody>
      </p:sp>
      <p:sp>
        <p:nvSpPr>
          <p:cNvPr id="7" name="Text 5"/>
          <p:cNvSpPr/>
          <p:nvPr/>
        </p:nvSpPr>
        <p:spPr>
          <a:xfrm>
            <a:off x="768096" y="2029968"/>
            <a:ext cx="3127248" cy="502920"/>
          </a:xfrm>
          <a:prstGeom prst="rect">
            <a:avLst/>
          </a:prstGeom>
          <a:noFill/>
          <a:ln/>
        </p:spPr>
        <p:txBody>
          <a:bodyPr wrap="square" lIns="0" tIns="0" rIns="0" bIns="0" rtlCol="0" anchor="t"/>
          <a:lstStyle/>
          <a:p>
            <a:pPr marL="0" indent="0">
              <a:lnSpc>
                <a:spcPct val="102000"/>
              </a:lnSpc>
              <a:buNone/>
            </a:pPr>
            <a:r>
              <a:rPr lang="en-US" sz="1800" dirty="0">
                <a:solidFill>
                  <a:srgbClr val="728694"/>
                </a:solidFill>
                <a:latin typeface="Segoe UI" pitchFamily="34" charset="0"/>
                <a:ea typeface="Segoe UI" pitchFamily="34" charset="-122"/>
                <a:cs typeface="Segoe UI" pitchFamily="34" charset="-120"/>
              </a:rPr>
              <a:t>(3,) coi là (1, 3), trải xuống 2 hàng</a:t>
            </a:r>
            <a:endParaRPr lang="en-US" sz="1800" dirty="0"/>
          </a:p>
        </p:txBody>
      </p:sp>
      <p:sp>
        <p:nvSpPr>
          <p:cNvPr id="8" name="Text 6"/>
          <p:cNvSpPr/>
          <p:nvPr/>
        </p:nvSpPr>
        <p:spPr>
          <a:xfrm>
            <a:off x="768096" y="2651760"/>
            <a:ext cx="3127248" cy="685800"/>
          </a:xfrm>
          <a:prstGeom prst="rect">
            <a:avLst/>
          </a:prstGeom>
          <a:noFill/>
          <a:ln/>
        </p:spPr>
        <p:txBody>
          <a:bodyPr wrap="square" lIns="0" tIns="0" rIns="0" bIns="0" rtlCol="0" anchor="t"/>
          <a:lstStyle/>
          <a:p>
            <a:pPr marL="0" indent="0">
              <a:lnSpc>
                <a:spcPct val="100000"/>
              </a:lnSpc>
              <a:buNone/>
            </a:pPr>
            <a:r>
              <a:rPr lang="en-US" sz="2000" dirty="0">
                <a:solidFill>
                  <a:srgbClr val="2D8C6F"/>
                </a:solidFill>
                <a:latin typeface="Consolas" pitchFamily="34" charset="0"/>
                <a:ea typeface="Consolas" pitchFamily="34" charset="-122"/>
                <a:cs typeface="Consolas" pitchFamily="34" charset="-120"/>
              </a:rPr>
              <a:t>[[11 22 33]</a:t>
            </a:r>
            <a:endParaRPr lang="en-US" sz="2000" dirty="0"/>
          </a:p>
          <a:p>
            <a:pPr marL="0" indent="0">
              <a:lnSpc>
                <a:spcPct val="100000"/>
              </a:lnSpc>
              <a:buNone/>
            </a:pPr>
            <a:r>
              <a:rPr lang="en-US" sz="2000" dirty="0">
                <a:solidFill>
                  <a:srgbClr val="2D8C6F"/>
                </a:solidFill>
                <a:latin typeface="Consolas" pitchFamily="34" charset="0"/>
                <a:ea typeface="Consolas" pitchFamily="34" charset="-122"/>
                <a:cs typeface="Consolas" pitchFamily="34" charset="-120"/>
              </a:rPr>
              <a:t> [14 25 36]]</a:t>
            </a:r>
            <a:endParaRPr lang="en-US" sz="2000" dirty="0"/>
          </a:p>
        </p:txBody>
      </p:sp>
      <p:sp>
        <p:nvSpPr>
          <p:cNvPr id="9" name="Text 7"/>
          <p:cNvSpPr/>
          <p:nvPr/>
        </p:nvSpPr>
        <p:spPr>
          <a:xfrm>
            <a:off x="768096" y="3474720"/>
            <a:ext cx="1463040" cy="256032"/>
          </a:xfrm>
          <a:prstGeom prst="rect">
            <a:avLst/>
          </a:prstGeom>
          <a:noFill/>
          <a:ln/>
        </p:spPr>
        <p:txBody>
          <a:bodyPr wrap="square" lIns="0" tIns="0" rIns="0" bIns="0" rtlCol="0" anchor="t"/>
          <a:lstStyle/>
          <a:p>
            <a:pPr marL="0" indent="0">
              <a:buNone/>
            </a:pPr>
            <a:r>
              <a:rPr lang="en-US" sz="1700" b="1" dirty="0">
                <a:solidFill>
                  <a:srgbClr val="2D8C6F"/>
                </a:solidFill>
                <a:latin typeface="Segoe UI" pitchFamily="34" charset="0"/>
                <a:ea typeface="Segoe UI" pitchFamily="34" charset="-122"/>
                <a:cs typeface="Segoe UI" pitchFamily="34" charset="-120"/>
              </a:rPr>
              <a:t>✓ hợp lệ</a:t>
            </a:r>
            <a:endParaRPr lang="en-US" sz="1700" dirty="0"/>
          </a:p>
        </p:txBody>
      </p:sp>
      <p:sp>
        <p:nvSpPr>
          <p:cNvPr id="10" name="Shape 8"/>
          <p:cNvSpPr/>
          <p:nvPr/>
        </p:nvSpPr>
        <p:spPr>
          <a:xfrm>
            <a:off x="4315968" y="1463040"/>
            <a:ext cx="3547872" cy="2606040"/>
          </a:xfrm>
          <a:prstGeom prst="roundRect">
            <a:avLst>
              <a:gd name="adj" fmla="val 2456"/>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1" name="Text 9"/>
          <p:cNvSpPr/>
          <p:nvPr/>
        </p:nvSpPr>
        <p:spPr>
          <a:xfrm>
            <a:off x="4535424" y="1609344"/>
            <a:ext cx="3127248" cy="365760"/>
          </a:xfrm>
          <a:prstGeom prst="rect">
            <a:avLst/>
          </a:prstGeom>
          <a:noFill/>
          <a:ln/>
        </p:spPr>
        <p:txBody>
          <a:bodyPr wrap="square" lIns="0" tIns="0" rIns="0" bIns="0" rtlCol="0" anchor="t"/>
          <a:lstStyle/>
          <a:p>
            <a:pPr marL="0" indent="0">
              <a:buNone/>
            </a:pPr>
            <a:r>
              <a:rPr lang="en-US" sz="2100" b="1" dirty="0">
                <a:solidFill>
                  <a:srgbClr val="062A3A"/>
                </a:solidFill>
                <a:latin typeface="Consolas" pitchFamily="34" charset="0"/>
                <a:ea typeface="Consolas" pitchFamily="34" charset="-122"/>
                <a:cs typeface="Consolas" pitchFamily="34" charset="-120"/>
              </a:rPr>
              <a:t>(2, 3) + (2, 1)</a:t>
            </a:r>
            <a:endParaRPr lang="en-US" sz="2100" dirty="0"/>
          </a:p>
        </p:txBody>
      </p:sp>
      <p:sp>
        <p:nvSpPr>
          <p:cNvPr id="12" name="Text 10"/>
          <p:cNvSpPr/>
          <p:nvPr/>
        </p:nvSpPr>
        <p:spPr>
          <a:xfrm>
            <a:off x="4535424" y="2029968"/>
            <a:ext cx="3127248" cy="502920"/>
          </a:xfrm>
          <a:prstGeom prst="rect">
            <a:avLst/>
          </a:prstGeom>
          <a:noFill/>
          <a:ln/>
        </p:spPr>
        <p:txBody>
          <a:bodyPr wrap="square" lIns="0" tIns="0" rIns="0" bIns="0" rtlCol="0" anchor="t"/>
          <a:lstStyle/>
          <a:p>
            <a:pPr marL="0" indent="0">
              <a:lnSpc>
                <a:spcPct val="102000"/>
              </a:lnSpc>
              <a:buNone/>
            </a:pPr>
            <a:r>
              <a:rPr lang="en-US" sz="1800" dirty="0">
                <a:solidFill>
                  <a:srgbClr val="728694"/>
                </a:solidFill>
                <a:latin typeface="Segoe UI" pitchFamily="34" charset="0"/>
                <a:ea typeface="Segoe UI" pitchFamily="34" charset="-122"/>
                <a:cs typeface="Segoe UI" pitchFamily="34" charset="-120"/>
              </a:rPr>
              <a:t>(2, 1) trải sang 3 cột, mỗi hàng cộng một số</a:t>
            </a:r>
            <a:endParaRPr lang="en-US" sz="1800" dirty="0"/>
          </a:p>
        </p:txBody>
      </p:sp>
      <p:sp>
        <p:nvSpPr>
          <p:cNvPr id="13" name="Text 11"/>
          <p:cNvSpPr/>
          <p:nvPr/>
        </p:nvSpPr>
        <p:spPr>
          <a:xfrm>
            <a:off x="4535424" y="2651760"/>
            <a:ext cx="3127248" cy="685800"/>
          </a:xfrm>
          <a:prstGeom prst="rect">
            <a:avLst/>
          </a:prstGeom>
          <a:noFill/>
          <a:ln/>
        </p:spPr>
        <p:txBody>
          <a:bodyPr wrap="square" lIns="0" tIns="0" rIns="0" bIns="0" rtlCol="0" anchor="t"/>
          <a:lstStyle/>
          <a:p>
            <a:pPr marL="0" indent="0">
              <a:lnSpc>
                <a:spcPct val="100000"/>
              </a:lnSpc>
              <a:buNone/>
            </a:pPr>
            <a:r>
              <a:rPr lang="en-US" sz="2000" dirty="0">
                <a:solidFill>
                  <a:srgbClr val="2D8C6F"/>
                </a:solidFill>
                <a:latin typeface="Consolas" pitchFamily="34" charset="0"/>
                <a:ea typeface="Consolas" pitchFamily="34" charset="-122"/>
                <a:cs typeface="Consolas" pitchFamily="34" charset="-120"/>
              </a:rPr>
              <a:t>[[11 12 13]</a:t>
            </a:r>
            <a:endParaRPr lang="en-US" sz="2000" dirty="0"/>
          </a:p>
          <a:p>
            <a:pPr marL="0" indent="0">
              <a:lnSpc>
                <a:spcPct val="100000"/>
              </a:lnSpc>
              <a:buNone/>
            </a:pPr>
            <a:r>
              <a:rPr lang="en-US" sz="2000" dirty="0">
                <a:solidFill>
                  <a:srgbClr val="2D8C6F"/>
                </a:solidFill>
                <a:latin typeface="Consolas" pitchFamily="34" charset="0"/>
                <a:ea typeface="Consolas" pitchFamily="34" charset="-122"/>
                <a:cs typeface="Consolas" pitchFamily="34" charset="-120"/>
              </a:rPr>
              <a:t> [24 25 26]]</a:t>
            </a:r>
            <a:endParaRPr lang="en-US" sz="2000" dirty="0"/>
          </a:p>
        </p:txBody>
      </p:sp>
      <p:sp>
        <p:nvSpPr>
          <p:cNvPr id="14" name="Text 12"/>
          <p:cNvSpPr/>
          <p:nvPr/>
        </p:nvSpPr>
        <p:spPr>
          <a:xfrm>
            <a:off x="4535424" y="3474720"/>
            <a:ext cx="1463040" cy="256032"/>
          </a:xfrm>
          <a:prstGeom prst="rect">
            <a:avLst/>
          </a:prstGeom>
          <a:noFill/>
          <a:ln/>
        </p:spPr>
        <p:txBody>
          <a:bodyPr wrap="square" lIns="0" tIns="0" rIns="0" bIns="0" rtlCol="0" anchor="t"/>
          <a:lstStyle/>
          <a:p>
            <a:pPr marL="0" indent="0">
              <a:buNone/>
            </a:pPr>
            <a:r>
              <a:rPr lang="en-US" sz="1700" b="1" dirty="0">
                <a:solidFill>
                  <a:srgbClr val="2D8C6F"/>
                </a:solidFill>
                <a:latin typeface="Segoe UI" pitchFamily="34" charset="0"/>
                <a:ea typeface="Segoe UI" pitchFamily="34" charset="-122"/>
                <a:cs typeface="Segoe UI" pitchFamily="34" charset="-120"/>
              </a:rPr>
              <a:t>✓ hợp lệ</a:t>
            </a:r>
            <a:endParaRPr lang="en-US" sz="1700" dirty="0"/>
          </a:p>
        </p:txBody>
      </p:sp>
      <p:sp>
        <p:nvSpPr>
          <p:cNvPr id="15" name="Shape 13"/>
          <p:cNvSpPr/>
          <p:nvPr/>
        </p:nvSpPr>
        <p:spPr>
          <a:xfrm>
            <a:off x="8083296" y="1463040"/>
            <a:ext cx="3557016" cy="2606040"/>
          </a:xfrm>
          <a:prstGeom prst="roundRect">
            <a:avLst>
              <a:gd name="adj" fmla="val 2456"/>
            </a:avLst>
          </a:prstGeom>
          <a:solidFill>
            <a:srgbClr val="FBEDEA"/>
          </a:solidFill>
          <a:ln w="9525">
            <a:solidFill>
              <a:srgbClr val="EBC3BB"/>
            </a:solidFill>
            <a:prstDash val="solid"/>
          </a:ln>
          <a:effectLst>
            <a:outerShdw blurRad="63500" dist="12700" dir="5400000" algn="bl" rotWithShape="0">
              <a:srgbClr val="062A3A">
                <a:alpha val="7000"/>
              </a:srgbClr>
            </a:outerShdw>
          </a:effectLst>
        </p:spPr>
      </p:sp>
      <p:sp>
        <p:nvSpPr>
          <p:cNvPr id="16" name="Text 14"/>
          <p:cNvSpPr/>
          <p:nvPr/>
        </p:nvSpPr>
        <p:spPr>
          <a:xfrm>
            <a:off x="8302752" y="1609344"/>
            <a:ext cx="3127248" cy="365760"/>
          </a:xfrm>
          <a:prstGeom prst="rect">
            <a:avLst/>
          </a:prstGeom>
          <a:noFill/>
          <a:ln/>
        </p:spPr>
        <p:txBody>
          <a:bodyPr wrap="square" lIns="0" tIns="0" rIns="0" bIns="0" rtlCol="0" anchor="t"/>
          <a:lstStyle/>
          <a:p>
            <a:pPr marL="0" indent="0">
              <a:buNone/>
            </a:pPr>
            <a:r>
              <a:rPr lang="en-US" sz="2100" b="1" dirty="0">
                <a:solidFill>
                  <a:srgbClr val="062A3A"/>
                </a:solidFill>
                <a:latin typeface="Consolas" pitchFamily="34" charset="0"/>
                <a:ea typeface="Consolas" pitchFamily="34" charset="-122"/>
                <a:cs typeface="Consolas" pitchFamily="34" charset="-120"/>
              </a:rPr>
              <a:t>(2, 3) + (2,)</a:t>
            </a:r>
            <a:endParaRPr lang="en-US" sz="2100" dirty="0"/>
          </a:p>
        </p:txBody>
      </p:sp>
      <p:sp>
        <p:nvSpPr>
          <p:cNvPr id="17" name="Text 15"/>
          <p:cNvSpPr/>
          <p:nvPr/>
        </p:nvSpPr>
        <p:spPr>
          <a:xfrm>
            <a:off x="8302752" y="2029968"/>
            <a:ext cx="3127248" cy="502920"/>
          </a:xfrm>
          <a:prstGeom prst="rect">
            <a:avLst/>
          </a:prstGeom>
          <a:noFill/>
          <a:ln/>
        </p:spPr>
        <p:txBody>
          <a:bodyPr wrap="square" lIns="0" tIns="0" rIns="0" bIns="0" rtlCol="0" anchor="t"/>
          <a:lstStyle/>
          <a:p>
            <a:pPr marL="0" indent="0">
              <a:lnSpc>
                <a:spcPct val="102000"/>
              </a:lnSpc>
              <a:buNone/>
            </a:pPr>
            <a:r>
              <a:rPr lang="en-US" sz="1800" dirty="0">
                <a:solidFill>
                  <a:srgbClr val="728694"/>
                </a:solidFill>
                <a:latin typeface="Segoe UI" pitchFamily="34" charset="0"/>
                <a:ea typeface="Segoe UI" pitchFamily="34" charset="-122"/>
                <a:cs typeface="Segoe UI" pitchFamily="34" charset="-120"/>
              </a:rPr>
              <a:t>Chiều cuối 3 ≠ 2, không bên nào bằng 1.</a:t>
            </a:r>
            <a:endParaRPr lang="en-US" sz="1800" dirty="0"/>
          </a:p>
        </p:txBody>
      </p:sp>
      <p:sp>
        <p:nvSpPr>
          <p:cNvPr id="18" name="Text 16"/>
          <p:cNvSpPr/>
          <p:nvPr/>
        </p:nvSpPr>
        <p:spPr>
          <a:xfrm>
            <a:off x="8302752" y="2651760"/>
            <a:ext cx="3127248" cy="320040"/>
          </a:xfrm>
          <a:prstGeom prst="rect">
            <a:avLst/>
          </a:prstGeom>
          <a:noFill/>
          <a:ln/>
        </p:spPr>
        <p:txBody>
          <a:bodyPr wrap="square" lIns="0" tIns="0" rIns="0" bIns="0" rtlCol="0" anchor="t"/>
          <a:lstStyle/>
          <a:p>
            <a:pPr marL="0" indent="0">
              <a:buNone/>
            </a:pPr>
            <a:r>
              <a:rPr lang="en-US" sz="2000" b="1" dirty="0">
                <a:solidFill>
                  <a:srgbClr val="D96C5F"/>
                </a:solidFill>
                <a:latin typeface="Consolas" pitchFamily="34" charset="0"/>
                <a:ea typeface="Consolas" pitchFamily="34" charset="-122"/>
                <a:cs typeface="Consolas" pitchFamily="34" charset="-120"/>
              </a:rPr>
              <a:t>ValueError</a:t>
            </a:r>
            <a:endParaRPr lang="en-US" sz="2000" dirty="0"/>
          </a:p>
        </p:txBody>
      </p:sp>
      <p:sp>
        <p:nvSpPr>
          <p:cNvPr id="19" name="Text 17"/>
          <p:cNvSpPr/>
          <p:nvPr/>
        </p:nvSpPr>
        <p:spPr>
          <a:xfrm>
            <a:off x="8302752" y="2999232"/>
            <a:ext cx="3127248" cy="457200"/>
          </a:xfrm>
          <a:prstGeom prst="rect">
            <a:avLst/>
          </a:prstGeom>
          <a:noFill/>
          <a:ln/>
        </p:spPr>
        <p:txBody>
          <a:bodyPr wrap="square" lIns="0" tIns="0" rIns="0" bIns="0" rtlCol="0" anchor="t"/>
          <a:lstStyle/>
          <a:p>
            <a:pPr marL="0" indent="0">
              <a:lnSpc>
                <a:spcPct val="100000"/>
              </a:lnSpc>
              <a:buNone/>
            </a:pPr>
            <a:r>
              <a:rPr lang="en-US" sz="1400" dirty="0">
                <a:solidFill>
                  <a:srgbClr val="D96C5F"/>
                </a:solidFill>
                <a:latin typeface="Consolas" pitchFamily="34" charset="0"/>
                <a:ea typeface="Consolas" pitchFamily="34" charset="-122"/>
                <a:cs typeface="Consolas" pitchFamily="34" charset="-120"/>
              </a:rPr>
              <a:t>shapes (2,3) (2,)</a:t>
            </a:r>
            <a:endParaRPr lang="en-US" sz="1400" dirty="0"/>
          </a:p>
          <a:p>
            <a:pPr marL="0" indent="0">
              <a:lnSpc>
                <a:spcPct val="100000"/>
              </a:lnSpc>
              <a:buNone/>
            </a:pPr>
            <a:r>
              <a:rPr lang="en-US" sz="1400" dirty="0">
                <a:solidFill>
                  <a:srgbClr val="D96C5F"/>
                </a:solidFill>
                <a:latin typeface="Consolas" pitchFamily="34" charset="0"/>
                <a:ea typeface="Consolas" pitchFamily="34" charset="-122"/>
                <a:cs typeface="Consolas" pitchFamily="34" charset="-120"/>
              </a:rPr>
              <a:t>không broadcast được</a:t>
            </a:r>
            <a:endParaRPr lang="en-US" sz="1400" dirty="0"/>
          </a:p>
        </p:txBody>
      </p:sp>
      <p:sp>
        <p:nvSpPr>
          <p:cNvPr id="20" name="Text 18"/>
          <p:cNvSpPr/>
          <p:nvPr/>
        </p:nvSpPr>
        <p:spPr>
          <a:xfrm>
            <a:off x="8302752" y="3474720"/>
            <a:ext cx="1463040" cy="256032"/>
          </a:xfrm>
          <a:prstGeom prst="rect">
            <a:avLst/>
          </a:prstGeom>
          <a:noFill/>
          <a:ln/>
        </p:spPr>
        <p:txBody>
          <a:bodyPr wrap="square" lIns="0" tIns="0" rIns="0" bIns="0" rtlCol="0" anchor="t"/>
          <a:lstStyle/>
          <a:p>
            <a:pPr marL="0" indent="0">
              <a:buNone/>
            </a:pPr>
            <a:r>
              <a:rPr lang="en-US" sz="1700" b="1" dirty="0">
                <a:solidFill>
                  <a:srgbClr val="D96C5F"/>
                </a:solidFill>
                <a:latin typeface="Segoe UI" pitchFamily="34" charset="0"/>
                <a:ea typeface="Segoe UI" pitchFamily="34" charset="-122"/>
                <a:cs typeface="Segoe UI" pitchFamily="34" charset="-120"/>
              </a:rPr>
              <a:t>✕ thất bại</a:t>
            </a:r>
            <a:endParaRPr lang="en-US" sz="1700" dirty="0"/>
          </a:p>
        </p:txBody>
      </p:sp>
      <p:sp>
        <p:nvSpPr>
          <p:cNvPr id="21" name="Shape 19"/>
          <p:cNvSpPr/>
          <p:nvPr/>
        </p:nvSpPr>
        <p:spPr>
          <a:xfrm>
            <a:off x="548640" y="4297680"/>
            <a:ext cx="6949440" cy="1554480"/>
          </a:xfrm>
          <a:prstGeom prst="roundRect">
            <a:avLst>
              <a:gd name="adj" fmla="val 2941"/>
            </a:avLst>
          </a:prstGeom>
          <a:solidFill>
            <a:srgbClr val="0B2230"/>
          </a:solidFill>
          <a:ln w="9525">
            <a:solidFill>
              <a:srgbClr val="163B4C"/>
            </a:solidFill>
            <a:prstDash val="solid"/>
          </a:ln>
        </p:spPr>
      </p:sp>
      <p:sp>
        <p:nvSpPr>
          <p:cNvPr id="22" name="Shape 20"/>
          <p:cNvSpPr/>
          <p:nvPr/>
        </p:nvSpPr>
        <p:spPr>
          <a:xfrm>
            <a:off x="548640" y="4297680"/>
            <a:ext cx="6949440" cy="310896"/>
          </a:xfrm>
          <a:prstGeom prst="rect">
            <a:avLst/>
          </a:prstGeom>
          <a:solidFill>
            <a:srgbClr val="103445"/>
          </a:solidFill>
          <a:ln w="12700">
            <a:solidFill>
              <a:srgbClr val="103445"/>
            </a:solidFill>
            <a:prstDash val="solid"/>
          </a:ln>
        </p:spPr>
      </p:sp>
      <p:sp>
        <p:nvSpPr>
          <p:cNvPr id="23" name="Text 21"/>
          <p:cNvSpPr/>
          <p:nvPr/>
        </p:nvSpPr>
        <p:spPr>
          <a:xfrm>
            <a:off x="694944" y="4361688"/>
            <a:ext cx="6035040"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4" name="Shape 22"/>
          <p:cNvSpPr/>
          <p:nvPr/>
        </p:nvSpPr>
        <p:spPr>
          <a:xfrm>
            <a:off x="6931152" y="4416552"/>
            <a:ext cx="82296" cy="82296"/>
          </a:xfrm>
          <a:prstGeom prst="ellipse">
            <a:avLst/>
          </a:prstGeom>
          <a:solidFill>
            <a:srgbClr val="D96C5F"/>
          </a:solidFill>
          <a:ln w="12700">
            <a:solidFill>
              <a:srgbClr val="D96C5F"/>
            </a:solidFill>
            <a:prstDash val="solid"/>
          </a:ln>
        </p:spPr>
      </p:sp>
      <p:sp>
        <p:nvSpPr>
          <p:cNvPr id="25" name="Shape 23"/>
          <p:cNvSpPr/>
          <p:nvPr/>
        </p:nvSpPr>
        <p:spPr>
          <a:xfrm>
            <a:off x="7086600" y="4416552"/>
            <a:ext cx="82296" cy="82296"/>
          </a:xfrm>
          <a:prstGeom prst="ellipse">
            <a:avLst/>
          </a:prstGeom>
          <a:solidFill>
            <a:srgbClr val="E8A33D"/>
          </a:solidFill>
          <a:ln w="12700">
            <a:solidFill>
              <a:srgbClr val="E8A33D"/>
            </a:solidFill>
            <a:prstDash val="solid"/>
          </a:ln>
        </p:spPr>
      </p:sp>
      <p:sp>
        <p:nvSpPr>
          <p:cNvPr id="26" name="Shape 24"/>
          <p:cNvSpPr/>
          <p:nvPr/>
        </p:nvSpPr>
        <p:spPr>
          <a:xfrm>
            <a:off x="7242048" y="4416552"/>
            <a:ext cx="82296" cy="82296"/>
          </a:xfrm>
          <a:prstGeom prst="ellipse">
            <a:avLst/>
          </a:prstGeom>
          <a:solidFill>
            <a:srgbClr val="2D8C6F"/>
          </a:solidFill>
          <a:ln w="12700">
            <a:solidFill>
              <a:srgbClr val="2D8C6F"/>
            </a:solidFill>
            <a:prstDash val="solid"/>
          </a:ln>
        </p:spPr>
      </p:sp>
      <p:sp>
        <p:nvSpPr>
          <p:cNvPr id="27" name="Text 25"/>
          <p:cNvSpPr/>
          <p:nvPr/>
        </p:nvSpPr>
        <p:spPr>
          <a:xfrm>
            <a:off x="713232" y="4709160"/>
            <a:ext cx="6656832" cy="1078992"/>
          </a:xfrm>
          <a:prstGeom prst="rect">
            <a:avLst/>
          </a:prstGeom>
          <a:noFill/>
          <a:ln/>
        </p:spPr>
        <p:txBody>
          <a:bodyPr wrap="square" lIns="0" tIns="0" rIns="0" bIns="0" rtlCol="0" anchor="t"/>
          <a:lstStyle/>
          <a:p>
            <a:pPr marL="0" indent="0">
              <a:lnSpc>
                <a:spcPct val="100000"/>
              </a:lnSpc>
              <a:buNone/>
            </a:pPr>
            <a:r>
              <a:rPr lang="en-US" sz="1550" dirty="0">
                <a:solidFill>
                  <a:srgbClr val="D6E6EF"/>
                </a:solidFill>
                <a:latin typeface="Consolas" pitchFamily="34" charset="0"/>
                <a:ea typeface="Consolas" pitchFamily="34" charset="-122"/>
                <a:cs typeface="Consolas" pitchFamily="34" charset="-120"/>
              </a:rPr>
              <a:t>p = </a:t>
            </a:r>
            <a:r>
              <a:rPr lang="en-US" sz="1550" dirty="0">
                <a:solidFill>
                  <a:srgbClr val="8AD9C0"/>
                </a:solidFill>
                <a:latin typeface="Consolas" pitchFamily="34" charset="0"/>
                <a:ea typeface="Consolas" pitchFamily="34" charset="-122"/>
                <a:cs typeface="Consolas" pitchFamily="34" charset="-120"/>
              </a:rPr>
              <a:t>np</a:t>
            </a:r>
            <a:r>
              <a:rPr lang="en-US" sz="1550" dirty="0">
                <a:solidFill>
                  <a:srgbClr val="D6E6EF"/>
                </a:solidFill>
                <a:latin typeface="Consolas" pitchFamily="34" charset="0"/>
                <a:ea typeface="Consolas" pitchFamily="34" charset="-122"/>
                <a:cs typeface="Consolas" pitchFamily="34" charset="-120"/>
              </a:rPr>
              <a:t>.array([[</a:t>
            </a:r>
            <a:r>
              <a:rPr lang="en-US" sz="1550" dirty="0">
                <a:solidFill>
                  <a:srgbClr val="F08A7C"/>
                </a:solidFill>
                <a:latin typeface="Consolas" pitchFamily="34" charset="0"/>
                <a:ea typeface="Consolas" pitchFamily="34" charset="-122"/>
                <a:cs typeface="Consolas" pitchFamily="34" charset="-120"/>
              </a:rPr>
              <a:t>1</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2</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3</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4</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5</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6</a:t>
            </a:r>
            <a:r>
              <a:rPr lang="en-US" sz="1550" dirty="0">
                <a:solidFill>
                  <a:srgbClr val="D6E6EF"/>
                </a:solidFill>
                <a:latin typeface="Consolas" pitchFamily="34" charset="0"/>
                <a:ea typeface="Consolas" pitchFamily="34" charset="-122"/>
                <a:cs typeface="Consolas" pitchFamily="34" charset="-120"/>
              </a:rPr>
              <a:t>]])</a:t>
            </a:r>
            <a:endParaRPr lang="en-US" sz="1550" dirty="0"/>
          </a:p>
          <a:p>
            <a:pPr marL="0" indent="0">
              <a:lnSpc>
                <a:spcPct val="100000"/>
              </a:lnSpc>
              <a:buNone/>
            </a:pPr>
            <a:r>
              <a:rPr lang="en-US" sz="1550" dirty="0">
                <a:solidFill>
                  <a:srgbClr val="6FD0E4"/>
                </a:solidFill>
                <a:latin typeface="Consolas" pitchFamily="34" charset="0"/>
                <a:ea typeface="Consolas" pitchFamily="34" charset="-122"/>
                <a:cs typeface="Consolas" pitchFamily="34" charset="-120"/>
              </a:rPr>
              <a:t>print</a:t>
            </a:r>
            <a:r>
              <a:rPr lang="en-US" sz="1550" dirty="0">
                <a:solidFill>
                  <a:srgbClr val="D6E6EF"/>
                </a:solidFill>
                <a:latin typeface="Consolas" pitchFamily="34" charset="0"/>
                <a:ea typeface="Consolas" pitchFamily="34" charset="-122"/>
                <a:cs typeface="Consolas" pitchFamily="34" charset="-120"/>
              </a:rPr>
              <a:t>(p + </a:t>
            </a:r>
            <a:r>
              <a:rPr lang="en-US" sz="1550" dirty="0">
                <a:solidFill>
                  <a:srgbClr val="8AD9C0"/>
                </a:solidFill>
                <a:latin typeface="Consolas" pitchFamily="34" charset="0"/>
                <a:ea typeface="Consolas" pitchFamily="34" charset="-122"/>
                <a:cs typeface="Consolas" pitchFamily="34" charset="-120"/>
              </a:rPr>
              <a:t>np</a:t>
            </a:r>
            <a:r>
              <a:rPr lang="en-US" sz="1550" dirty="0">
                <a:solidFill>
                  <a:srgbClr val="D6E6EF"/>
                </a:solidFill>
                <a:latin typeface="Consolas" pitchFamily="34" charset="0"/>
                <a:ea typeface="Consolas" pitchFamily="34" charset="-122"/>
                <a:cs typeface="Consolas" pitchFamily="34" charset="-120"/>
              </a:rPr>
              <a:t>.array([</a:t>
            </a:r>
            <a:r>
              <a:rPr lang="en-US" sz="1550" dirty="0">
                <a:solidFill>
                  <a:srgbClr val="F08A7C"/>
                </a:solidFill>
                <a:latin typeface="Consolas" pitchFamily="34" charset="0"/>
                <a:ea typeface="Consolas" pitchFamily="34" charset="-122"/>
                <a:cs typeface="Consolas" pitchFamily="34" charset="-120"/>
              </a:rPr>
              <a:t>10</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20</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30</a:t>
            </a:r>
            <a:r>
              <a:rPr lang="en-US" sz="1550" dirty="0">
                <a:solidFill>
                  <a:srgbClr val="D6E6EF"/>
                </a:solidFill>
                <a:latin typeface="Consolas" pitchFamily="34" charset="0"/>
                <a:ea typeface="Consolas" pitchFamily="34" charset="-122"/>
                <a:cs typeface="Consolas" pitchFamily="34" charset="-120"/>
              </a:rPr>
              <a:t>]))</a:t>
            </a:r>
            <a:endParaRPr lang="en-US" sz="1550" dirty="0"/>
          </a:p>
          <a:p>
            <a:pPr marL="0" indent="0">
              <a:lnSpc>
                <a:spcPct val="100000"/>
              </a:lnSpc>
              <a:buNone/>
            </a:pPr>
            <a:r>
              <a:rPr lang="en-US" sz="1550" dirty="0">
                <a:solidFill>
                  <a:srgbClr val="6FD0E4"/>
                </a:solidFill>
                <a:latin typeface="Consolas" pitchFamily="34" charset="0"/>
                <a:ea typeface="Consolas" pitchFamily="34" charset="-122"/>
                <a:cs typeface="Consolas" pitchFamily="34" charset="-120"/>
              </a:rPr>
              <a:t>print</a:t>
            </a:r>
            <a:r>
              <a:rPr lang="en-US" sz="1550" dirty="0">
                <a:solidFill>
                  <a:srgbClr val="D6E6EF"/>
                </a:solidFill>
                <a:latin typeface="Consolas" pitchFamily="34" charset="0"/>
                <a:ea typeface="Consolas" pitchFamily="34" charset="-122"/>
                <a:cs typeface="Consolas" pitchFamily="34" charset="-120"/>
              </a:rPr>
              <a:t>(p + </a:t>
            </a:r>
            <a:r>
              <a:rPr lang="en-US" sz="1550" dirty="0">
                <a:solidFill>
                  <a:srgbClr val="8AD9C0"/>
                </a:solidFill>
                <a:latin typeface="Consolas" pitchFamily="34" charset="0"/>
                <a:ea typeface="Consolas" pitchFamily="34" charset="-122"/>
                <a:cs typeface="Consolas" pitchFamily="34" charset="-120"/>
              </a:rPr>
              <a:t>np</a:t>
            </a:r>
            <a:r>
              <a:rPr lang="en-US" sz="1550" dirty="0">
                <a:solidFill>
                  <a:srgbClr val="D6E6EF"/>
                </a:solidFill>
                <a:latin typeface="Consolas" pitchFamily="34" charset="0"/>
                <a:ea typeface="Consolas" pitchFamily="34" charset="-122"/>
                <a:cs typeface="Consolas" pitchFamily="34" charset="-120"/>
              </a:rPr>
              <a:t>.array([[</a:t>
            </a:r>
            <a:r>
              <a:rPr lang="en-US" sz="1550" dirty="0">
                <a:solidFill>
                  <a:srgbClr val="F08A7C"/>
                </a:solidFill>
                <a:latin typeface="Consolas" pitchFamily="34" charset="0"/>
                <a:ea typeface="Consolas" pitchFamily="34" charset="-122"/>
                <a:cs typeface="Consolas" pitchFamily="34" charset="-120"/>
              </a:rPr>
              <a:t>10</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20</a:t>
            </a:r>
            <a:r>
              <a:rPr lang="en-US" sz="1550" dirty="0">
                <a:solidFill>
                  <a:srgbClr val="D6E6EF"/>
                </a:solidFill>
                <a:latin typeface="Consolas" pitchFamily="34" charset="0"/>
                <a:ea typeface="Consolas" pitchFamily="34" charset="-122"/>
                <a:cs typeface="Consolas" pitchFamily="34" charset="-120"/>
              </a:rPr>
              <a:t>]]))</a:t>
            </a:r>
            <a:endParaRPr lang="en-US" sz="1550" dirty="0"/>
          </a:p>
          <a:p>
            <a:pPr marL="0" indent="0">
              <a:lnSpc>
                <a:spcPct val="100000"/>
              </a:lnSpc>
              <a:buNone/>
            </a:pPr>
            <a:r>
              <a:rPr lang="en-US" sz="1550" dirty="0">
                <a:solidFill>
                  <a:srgbClr val="6FD0E4"/>
                </a:solidFill>
                <a:latin typeface="Consolas" pitchFamily="34" charset="0"/>
                <a:ea typeface="Consolas" pitchFamily="34" charset="-122"/>
                <a:cs typeface="Consolas" pitchFamily="34" charset="-120"/>
              </a:rPr>
              <a:t>print</a:t>
            </a:r>
            <a:r>
              <a:rPr lang="en-US" sz="1550" dirty="0">
                <a:solidFill>
                  <a:srgbClr val="D6E6EF"/>
                </a:solidFill>
                <a:latin typeface="Consolas" pitchFamily="34" charset="0"/>
                <a:ea typeface="Consolas" pitchFamily="34" charset="-122"/>
                <a:cs typeface="Consolas" pitchFamily="34" charset="-120"/>
              </a:rPr>
              <a:t>(p + </a:t>
            </a:r>
            <a:r>
              <a:rPr lang="en-US" sz="1550" dirty="0">
                <a:solidFill>
                  <a:srgbClr val="8AD9C0"/>
                </a:solidFill>
                <a:latin typeface="Consolas" pitchFamily="34" charset="0"/>
                <a:ea typeface="Consolas" pitchFamily="34" charset="-122"/>
                <a:cs typeface="Consolas" pitchFamily="34" charset="-120"/>
              </a:rPr>
              <a:t>np</a:t>
            </a:r>
            <a:r>
              <a:rPr lang="en-US" sz="1550" dirty="0">
                <a:solidFill>
                  <a:srgbClr val="D6E6EF"/>
                </a:solidFill>
                <a:latin typeface="Consolas" pitchFamily="34" charset="0"/>
                <a:ea typeface="Consolas" pitchFamily="34" charset="-122"/>
                <a:cs typeface="Consolas" pitchFamily="34" charset="-120"/>
              </a:rPr>
              <a:t>.array([</a:t>
            </a:r>
            <a:r>
              <a:rPr lang="en-US" sz="1550" dirty="0">
                <a:solidFill>
                  <a:srgbClr val="F08A7C"/>
                </a:solidFill>
                <a:latin typeface="Consolas" pitchFamily="34" charset="0"/>
                <a:ea typeface="Consolas" pitchFamily="34" charset="-122"/>
                <a:cs typeface="Consolas" pitchFamily="34" charset="-120"/>
              </a:rPr>
              <a:t>10</a:t>
            </a:r>
            <a:r>
              <a:rPr lang="en-US" sz="1550" dirty="0">
                <a:solidFill>
                  <a:srgbClr val="D6E6EF"/>
                </a:solidFill>
                <a:latin typeface="Consolas" pitchFamily="34" charset="0"/>
                <a:ea typeface="Consolas" pitchFamily="34" charset="-122"/>
                <a:cs typeface="Consolas" pitchFamily="34" charset="-120"/>
              </a:rPr>
              <a:t>, </a:t>
            </a:r>
            <a:r>
              <a:rPr lang="en-US" sz="1550" dirty="0">
                <a:solidFill>
                  <a:srgbClr val="F08A7C"/>
                </a:solidFill>
                <a:latin typeface="Consolas" pitchFamily="34" charset="0"/>
                <a:ea typeface="Consolas" pitchFamily="34" charset="-122"/>
                <a:cs typeface="Consolas" pitchFamily="34" charset="-120"/>
              </a:rPr>
              <a:t>20</a:t>
            </a:r>
            <a:r>
              <a:rPr lang="en-US" sz="1550" dirty="0">
                <a:solidFill>
                  <a:srgbClr val="D6E6EF"/>
                </a:solidFill>
                <a:latin typeface="Consolas" pitchFamily="34" charset="0"/>
                <a:ea typeface="Consolas" pitchFamily="34" charset="-122"/>
                <a:cs typeface="Consolas" pitchFamily="34" charset="-120"/>
              </a:rPr>
              <a:t>]))   </a:t>
            </a:r>
            <a:r>
              <a:rPr lang="en-US" sz="1550" i="1" dirty="0">
                <a:solidFill>
                  <a:srgbClr val="6F93A3"/>
                </a:solidFill>
                <a:latin typeface="Consolas" pitchFamily="34" charset="0"/>
                <a:ea typeface="Consolas" pitchFamily="34" charset="-122"/>
                <a:cs typeface="Consolas" pitchFamily="34" charset="-120"/>
              </a:rPr>
              <a:t># ValueError</a:t>
            </a:r>
            <a:endParaRPr lang="en-US" sz="1550" dirty="0"/>
          </a:p>
        </p:txBody>
      </p:sp>
      <p:sp>
        <p:nvSpPr>
          <p:cNvPr id="28" name="Shape 26"/>
          <p:cNvSpPr/>
          <p:nvPr/>
        </p:nvSpPr>
        <p:spPr>
          <a:xfrm>
            <a:off x="7680960" y="4297680"/>
            <a:ext cx="3959352" cy="2011680"/>
          </a:xfrm>
          <a:prstGeom prst="roundRect">
            <a:avLst>
              <a:gd name="adj" fmla="val 2941"/>
            </a:avLst>
          </a:prstGeom>
          <a:solidFill>
            <a:srgbClr val="FFFFFF"/>
          </a:solidFill>
          <a:ln w="9525">
            <a:solidFill>
              <a:srgbClr val="CFE5EE"/>
            </a:solidFill>
            <a:prstDash val="solid"/>
          </a:ln>
        </p:spPr>
      </p:sp>
      <p:sp>
        <p:nvSpPr>
          <p:cNvPr id="29" name="Text 27"/>
          <p:cNvSpPr/>
          <p:nvPr/>
        </p:nvSpPr>
        <p:spPr>
          <a:xfrm>
            <a:off x="7827264" y="4389120"/>
            <a:ext cx="3685032" cy="182880"/>
          </a:xfrm>
          <a:prstGeom prst="rect">
            <a:avLst/>
          </a:prstGeom>
          <a:noFill/>
          <a:ln/>
        </p:spPr>
        <p:txBody>
          <a:bodyPr wrap="square" lIns="0" tIns="0" rIns="0" bIns="0" rtlCol="0" anchor="t"/>
          <a:lstStyle/>
          <a:p>
            <a:pPr marL="0" indent="0">
              <a:buNone/>
            </a:pPr>
            <a:r>
              <a:rPr lang="en-US" sz="1300" b="1" kern="0" spc="110" dirty="0">
                <a:solidFill>
                  <a:srgbClr val="2D8C6F"/>
                </a:solidFill>
                <a:latin typeface="Segoe UI" pitchFamily="34" charset="0"/>
                <a:ea typeface="Segoe UI" pitchFamily="34" charset="-122"/>
                <a:cs typeface="Segoe UI" pitchFamily="34" charset="-120"/>
              </a:rPr>
              <a:t>KẾT QUẢ</a:t>
            </a:r>
            <a:endParaRPr lang="en-US" sz="1300" dirty="0"/>
          </a:p>
        </p:txBody>
      </p:sp>
      <p:sp>
        <p:nvSpPr>
          <p:cNvPr id="30" name="Text 28"/>
          <p:cNvSpPr/>
          <p:nvPr/>
        </p:nvSpPr>
        <p:spPr>
          <a:xfrm>
            <a:off x="7827264" y="4645152"/>
            <a:ext cx="3685032" cy="113385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[[11 22 33]</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 [14 25 36]]</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[[11 12 13]</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 [24 25 26]]</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ValueError: (2,3) vs (2,)</a:t>
            </a:r>
            <a:endParaRPr lang="en-US" dirty="0"/>
          </a:p>
        </p:txBody>
      </p:sp>
      <p:sp>
        <p:nvSpPr>
          <p:cNvPr id="31" name="Text 29"/>
          <p:cNvSpPr/>
          <p:nvPr/>
        </p:nvSpPr>
        <p:spPr>
          <a:xfrm>
            <a:off x="548640" y="5989320"/>
            <a:ext cx="11064240" cy="320040"/>
          </a:xfrm>
          <a:prstGeom prst="rect">
            <a:avLst/>
          </a:prstGeom>
          <a:noFill/>
          <a:ln/>
        </p:spPr>
        <p:txBody>
          <a:bodyPr wrap="square" lIns="0" tIns="0" rIns="0" bIns="0" rtlCol="0" anchor="t"/>
          <a:lstStyle/>
          <a:p>
            <a:pPr marL="0" indent="0">
              <a:buNone/>
            </a:pPr>
            <a:r>
              <a:rPr lang="en-US" sz="2000" i="1" dirty="0">
                <a:solidFill>
                  <a:srgbClr val="728694"/>
                </a:solidFill>
                <a:latin typeface="Segoe UI" pitchFamily="34" charset="0"/>
                <a:ea typeface="Segoe UI" pitchFamily="34" charset="-122"/>
                <a:cs typeface="Segoe UI" pitchFamily="34" charset="-120"/>
              </a:rPr>
              <a:t>Chiều cuối không khớp và không bên nào bằng 1 → ValueError.</a:t>
            </a:r>
            <a:endParaRPr lang="en-US" sz="2000" dirty="0"/>
          </a:p>
        </p:txBody>
      </p:sp>
      <p:sp>
        <p:nvSpPr>
          <p:cNvPr id="32" name="Shape 30"/>
          <p:cNvSpPr/>
          <p:nvPr/>
        </p:nvSpPr>
        <p:spPr>
          <a:xfrm>
            <a:off x="548640" y="6437376"/>
            <a:ext cx="11091672" cy="9144"/>
          </a:xfrm>
          <a:prstGeom prst="rect">
            <a:avLst/>
          </a:prstGeom>
          <a:solidFill>
            <a:srgbClr val="D7E5EC"/>
          </a:solidFill>
          <a:ln w="12700">
            <a:solidFill>
              <a:srgbClr val="D7E5EC"/>
            </a:solidFill>
            <a:prstDash val="solid"/>
          </a:ln>
        </p:spPr>
      </p:sp>
      <p:sp>
        <p:nvSpPr>
          <p:cNvPr id="33" name="Text 31"/>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4" name="Text 32"/>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21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06 · THỰC HÀNH</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Ví dụ 1 — Thống kê điểm kiểm tra</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417320"/>
            <a:ext cx="11064240" cy="640080"/>
          </a:xfrm>
          <a:prstGeom prst="rect">
            <a:avLst/>
          </a:prstGeom>
          <a:noFill/>
          <a:ln/>
        </p:spPr>
        <p:txBody>
          <a:bodyPr wrap="square" lIns="0" tIns="0" rIns="0" bIns="0" rtlCol="0" anchor="t"/>
          <a:lstStyle/>
          <a:p>
            <a:pPr marL="0" indent="0">
              <a:lnSpc>
                <a:spcPct val="104000"/>
              </a:lnSpc>
              <a:buNone/>
            </a:pPr>
            <a:r>
              <a:rPr lang="en-US" sz="2000" dirty="0">
                <a:solidFill>
                  <a:srgbClr val="415A6B"/>
                </a:solidFill>
                <a:latin typeface="Segoe UI" pitchFamily="34" charset="0"/>
                <a:ea typeface="Segoe UI" pitchFamily="34" charset="-122"/>
                <a:cs typeface="Segoe UI" pitchFamily="34" charset="-120"/>
              </a:rPr>
              <a:t>5 bài: 8.0, 7.5, 9.0, 6.5, 8.5. Tính trung bình, min, max, độ lệch chuẩn, đếm điểm đạt và cộng thưởng.</a:t>
            </a:r>
            <a:endParaRPr lang="en-US" sz="2000" dirty="0"/>
          </a:p>
        </p:txBody>
      </p:sp>
      <p:sp>
        <p:nvSpPr>
          <p:cNvPr id="6" name="Shape 4"/>
          <p:cNvSpPr/>
          <p:nvPr/>
        </p:nvSpPr>
        <p:spPr>
          <a:xfrm>
            <a:off x="548640" y="2121408"/>
            <a:ext cx="5577840" cy="2331720"/>
          </a:xfrm>
          <a:prstGeom prst="roundRect">
            <a:avLst>
              <a:gd name="adj" fmla="val 1961"/>
            </a:avLst>
          </a:prstGeom>
          <a:solidFill>
            <a:srgbClr val="0B2230"/>
          </a:solidFill>
          <a:ln w="9525">
            <a:solidFill>
              <a:srgbClr val="163B4C"/>
            </a:solidFill>
            <a:prstDash val="solid"/>
          </a:ln>
        </p:spPr>
      </p:sp>
      <p:sp>
        <p:nvSpPr>
          <p:cNvPr id="7" name="Shape 5"/>
          <p:cNvSpPr/>
          <p:nvPr/>
        </p:nvSpPr>
        <p:spPr>
          <a:xfrm>
            <a:off x="548640" y="2121408"/>
            <a:ext cx="5577840" cy="310896"/>
          </a:xfrm>
          <a:prstGeom prst="rect">
            <a:avLst/>
          </a:prstGeom>
          <a:solidFill>
            <a:srgbClr val="103445"/>
          </a:solidFill>
          <a:ln w="12700">
            <a:solidFill>
              <a:srgbClr val="103445"/>
            </a:solidFill>
            <a:prstDash val="solid"/>
          </a:ln>
        </p:spPr>
      </p:sp>
      <p:sp>
        <p:nvSpPr>
          <p:cNvPr id="8" name="Text 6"/>
          <p:cNvSpPr/>
          <p:nvPr/>
        </p:nvSpPr>
        <p:spPr>
          <a:xfrm>
            <a:off x="694944" y="2185416"/>
            <a:ext cx="4663440"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9" name="Shape 7"/>
          <p:cNvSpPr/>
          <p:nvPr/>
        </p:nvSpPr>
        <p:spPr>
          <a:xfrm>
            <a:off x="5559552" y="2240280"/>
            <a:ext cx="82296" cy="82296"/>
          </a:xfrm>
          <a:prstGeom prst="ellipse">
            <a:avLst/>
          </a:prstGeom>
          <a:solidFill>
            <a:srgbClr val="D96C5F"/>
          </a:solidFill>
          <a:ln w="12700">
            <a:solidFill>
              <a:srgbClr val="D96C5F"/>
            </a:solidFill>
            <a:prstDash val="solid"/>
          </a:ln>
        </p:spPr>
      </p:sp>
      <p:sp>
        <p:nvSpPr>
          <p:cNvPr id="10" name="Shape 8"/>
          <p:cNvSpPr/>
          <p:nvPr/>
        </p:nvSpPr>
        <p:spPr>
          <a:xfrm>
            <a:off x="5715000" y="2240280"/>
            <a:ext cx="82296" cy="82296"/>
          </a:xfrm>
          <a:prstGeom prst="ellipse">
            <a:avLst/>
          </a:prstGeom>
          <a:solidFill>
            <a:srgbClr val="E8A33D"/>
          </a:solidFill>
          <a:ln w="12700">
            <a:solidFill>
              <a:srgbClr val="E8A33D"/>
            </a:solidFill>
            <a:prstDash val="solid"/>
          </a:ln>
        </p:spPr>
      </p:sp>
      <p:sp>
        <p:nvSpPr>
          <p:cNvPr id="11" name="Shape 9"/>
          <p:cNvSpPr/>
          <p:nvPr/>
        </p:nvSpPr>
        <p:spPr>
          <a:xfrm>
            <a:off x="5870448" y="2240280"/>
            <a:ext cx="82296" cy="82296"/>
          </a:xfrm>
          <a:prstGeom prst="ellipse">
            <a:avLst/>
          </a:prstGeom>
          <a:solidFill>
            <a:srgbClr val="2D8C6F"/>
          </a:solidFill>
          <a:ln w="12700">
            <a:solidFill>
              <a:srgbClr val="2D8C6F"/>
            </a:solidFill>
            <a:prstDash val="solid"/>
          </a:ln>
        </p:spPr>
      </p:sp>
      <p:sp>
        <p:nvSpPr>
          <p:cNvPr id="12" name="Text 10"/>
          <p:cNvSpPr/>
          <p:nvPr/>
        </p:nvSpPr>
        <p:spPr>
          <a:xfrm>
            <a:off x="713232" y="2532888"/>
            <a:ext cx="5285232" cy="1856232"/>
          </a:xfrm>
          <a:prstGeom prst="rect">
            <a:avLst/>
          </a:prstGeom>
          <a:noFill/>
          <a:ln/>
        </p:spPr>
        <p:txBody>
          <a:bodyPr wrap="square" lIns="0" tIns="0" rIns="0" bIns="0" rtlCol="0" anchor="t"/>
          <a:lstStyle/>
          <a:p>
            <a:pPr marL="0" indent="0">
              <a:lnSpc>
                <a:spcPct val="100000"/>
              </a:lnSpc>
              <a:buNone/>
            </a:pPr>
            <a:r>
              <a:rPr lang="en-US" dirty="0">
                <a:solidFill>
                  <a:srgbClr val="D6E6EF"/>
                </a:solidFill>
                <a:latin typeface="Consolas" pitchFamily="34" charset="0"/>
                <a:ea typeface="Consolas" pitchFamily="34" charset="-122"/>
                <a:cs typeface="Consolas" pitchFamily="34" charset="-120"/>
              </a:rPr>
              <a:t>d =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.array([</a:t>
            </a:r>
            <a:r>
              <a:rPr lang="en-US" dirty="0">
                <a:solidFill>
                  <a:srgbClr val="F08A7C"/>
                </a:solidFill>
                <a:latin typeface="Consolas" pitchFamily="34" charset="0"/>
                <a:ea typeface="Consolas" pitchFamily="34" charset="-122"/>
                <a:cs typeface="Consolas" pitchFamily="34" charset="-120"/>
              </a:rPr>
              <a:t>8.0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7.5</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9.0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6.5</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8.5</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E8A33D"/>
                </a:solidFill>
                <a:latin typeface="Consolas" pitchFamily="34" charset="0"/>
                <a:ea typeface="Consolas" pitchFamily="34" charset="-122"/>
                <a:cs typeface="Consolas" pitchFamily="34" charset="-120"/>
              </a:rPr>
              <a:t>"TB:"</a:t>
            </a:r>
            <a:r>
              <a:rPr lang="en-US" dirty="0">
                <a:solidFill>
                  <a:srgbClr val="D6E6EF"/>
                </a:solidFill>
                <a:latin typeface="Consolas" pitchFamily="34" charset="0"/>
                <a:ea typeface="Consolas" pitchFamily="34" charset="-122"/>
                <a:cs typeface="Consolas" pitchFamily="34" charset="-120"/>
              </a:rPr>
              <a:t>,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.mean(d))</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E8A33D"/>
                </a:solidFill>
                <a:latin typeface="Consolas" pitchFamily="34" charset="0"/>
                <a:ea typeface="Consolas" pitchFamily="34" charset="-122"/>
                <a:cs typeface="Consolas" pitchFamily="34" charset="-120"/>
              </a:rPr>
              <a:t>"Max:"</a:t>
            </a:r>
            <a:r>
              <a:rPr lang="en-US" dirty="0">
                <a:solidFill>
                  <a:srgbClr val="D6E6EF"/>
                </a:solidFill>
                <a:latin typeface="Consolas" pitchFamily="34" charset="0"/>
                <a:ea typeface="Consolas" pitchFamily="34" charset="-122"/>
                <a:cs typeface="Consolas" pitchFamily="34" charset="-120"/>
              </a:rPr>
              <a:t>,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.max(d))</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E8A33D"/>
                </a:solidFill>
                <a:latin typeface="Consolas" pitchFamily="34" charset="0"/>
                <a:ea typeface="Consolas" pitchFamily="34" charset="-122"/>
                <a:cs typeface="Consolas" pitchFamily="34" charset="-120"/>
              </a:rPr>
              <a:t>"Min:"</a:t>
            </a:r>
            <a:r>
              <a:rPr lang="en-US" dirty="0">
                <a:solidFill>
                  <a:srgbClr val="D6E6EF"/>
                </a:solidFill>
                <a:latin typeface="Consolas" pitchFamily="34" charset="0"/>
                <a:ea typeface="Consolas" pitchFamily="34" charset="-122"/>
                <a:cs typeface="Consolas" pitchFamily="34" charset="-120"/>
              </a:rPr>
              <a:t>,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.min(d))</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E8A33D"/>
                </a:solidFill>
                <a:latin typeface="Consolas" pitchFamily="34" charset="0"/>
                <a:ea typeface="Consolas" pitchFamily="34" charset="-122"/>
                <a:cs typeface="Consolas" pitchFamily="34" charset="-120"/>
              </a:rPr>
              <a:t>"Std:"</a:t>
            </a:r>
            <a:r>
              <a:rPr lang="en-US" dirty="0">
                <a:solidFill>
                  <a:srgbClr val="D6E6EF"/>
                </a:solidFill>
                <a:latin typeface="Consolas" pitchFamily="34" charset="0"/>
                <a:ea typeface="Consolas" pitchFamily="34" charset="-122"/>
                <a:cs typeface="Consolas" pitchFamily="34" charset="-120"/>
              </a:rPr>
              <a:t>,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.std(d))</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E8A33D"/>
                </a:solidFill>
                <a:latin typeface="Consolas" pitchFamily="34" charset="0"/>
                <a:ea typeface="Consolas" pitchFamily="34" charset="-122"/>
                <a:cs typeface="Consolas" pitchFamily="34" charset="-120"/>
              </a:rPr>
              <a:t>"&gt;=8:"</a:t>
            </a:r>
            <a:r>
              <a:rPr lang="en-US" dirty="0">
                <a:solidFill>
                  <a:srgbClr val="D6E6EF"/>
                </a:solidFill>
                <a:latin typeface="Consolas" pitchFamily="34" charset="0"/>
                <a:ea typeface="Consolas" pitchFamily="34" charset="-122"/>
                <a:cs typeface="Consolas" pitchFamily="34" charset="-120"/>
              </a:rPr>
              <a:t>,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.sum(d &gt;= </a:t>
            </a:r>
            <a:r>
              <a:rPr lang="en-US" dirty="0">
                <a:solidFill>
                  <a:srgbClr val="F08A7C"/>
                </a:solidFill>
                <a:latin typeface="Consolas" pitchFamily="34" charset="0"/>
                <a:ea typeface="Consolas" pitchFamily="34" charset="-122"/>
                <a:cs typeface="Consolas" pitchFamily="34" charset="-120"/>
              </a:rPr>
              <a:t>8</a:t>
            </a:r>
            <a:r>
              <a:rPr lang="en-US" dirty="0">
                <a:solidFill>
                  <a:srgbClr val="D6E6EF"/>
                </a:solidFill>
                <a:latin typeface="Consolas" pitchFamily="34" charset="0"/>
                <a:ea typeface="Consolas" pitchFamily="34" charset="-122"/>
                <a:cs typeface="Consolas" pitchFamily="34" charset="-120"/>
              </a:rPr>
              <a:t>), </a:t>
            </a:r>
            <a:r>
              <a:rPr lang="en-US" dirty="0">
                <a:solidFill>
                  <a:srgbClr val="E8A33D"/>
                </a:solidFill>
                <a:latin typeface="Consolas" pitchFamily="34" charset="0"/>
                <a:ea typeface="Consolas" pitchFamily="34" charset="-122"/>
                <a:cs typeface="Consolas" pitchFamily="34" charset="-120"/>
              </a:rPr>
              <a:t>"/"</a:t>
            </a:r>
            <a:r>
              <a:rPr lang="en-US" dirty="0">
                <a:solidFill>
                  <a:srgbClr val="D6E6EF"/>
                </a:solidFill>
                <a:latin typeface="Consolas" pitchFamily="34" charset="0"/>
                <a:ea typeface="Consolas" pitchFamily="34" charset="-122"/>
                <a:cs typeface="Consolas" pitchFamily="34" charset="-120"/>
              </a:rPr>
              <a:t>, d.size)</a:t>
            </a:r>
            <a:endParaRPr lang="en-US" dirty="0"/>
          </a:p>
        </p:txBody>
      </p:sp>
      <p:sp>
        <p:nvSpPr>
          <p:cNvPr id="13" name="Shape 11"/>
          <p:cNvSpPr/>
          <p:nvPr/>
        </p:nvSpPr>
        <p:spPr>
          <a:xfrm>
            <a:off x="548640" y="4590288"/>
            <a:ext cx="5577840" cy="1737360"/>
          </a:xfrm>
          <a:prstGeom prst="roundRect">
            <a:avLst>
              <a:gd name="adj" fmla="val 3571"/>
            </a:avLst>
          </a:prstGeom>
          <a:solidFill>
            <a:srgbClr val="FFFFFF"/>
          </a:solidFill>
          <a:ln w="9525">
            <a:solidFill>
              <a:srgbClr val="CFE5EE"/>
            </a:solidFill>
            <a:prstDash val="solid"/>
          </a:ln>
        </p:spPr>
      </p:sp>
      <p:sp>
        <p:nvSpPr>
          <p:cNvPr id="14" name="Text 12"/>
          <p:cNvSpPr/>
          <p:nvPr/>
        </p:nvSpPr>
        <p:spPr>
          <a:xfrm>
            <a:off x="694944" y="4681728"/>
            <a:ext cx="5303520" cy="182880"/>
          </a:xfrm>
          <a:prstGeom prst="rect">
            <a:avLst/>
          </a:prstGeom>
          <a:noFill/>
          <a:ln/>
        </p:spPr>
        <p:txBody>
          <a:bodyPr wrap="square" lIns="0" tIns="0" rIns="0" bIns="0" rtlCol="0" anchor="t"/>
          <a:lstStyle/>
          <a:p>
            <a:pPr marL="0" indent="0">
              <a:buNone/>
            </a:pPr>
            <a:r>
              <a:rPr lang="en-US" sz="1300" b="1" kern="0" spc="110" dirty="0">
                <a:solidFill>
                  <a:srgbClr val="2D8C6F"/>
                </a:solidFill>
                <a:latin typeface="Segoe UI" pitchFamily="34" charset="0"/>
                <a:ea typeface="Segoe UI" pitchFamily="34" charset="-122"/>
                <a:cs typeface="Segoe UI" pitchFamily="34" charset="-120"/>
              </a:rPr>
              <a:t>KẾT QUẢ</a:t>
            </a:r>
            <a:endParaRPr lang="en-US" sz="1300" dirty="0"/>
          </a:p>
        </p:txBody>
      </p:sp>
      <p:sp>
        <p:nvSpPr>
          <p:cNvPr id="15" name="Text 13"/>
          <p:cNvSpPr/>
          <p:nvPr/>
        </p:nvSpPr>
        <p:spPr>
          <a:xfrm>
            <a:off x="694944" y="4937760"/>
            <a:ext cx="5303520" cy="1207008"/>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TB: 7.9   Max: 9.0</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Min: 6.5   Std: 0.8602</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&gt;=8: 3 / 5</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Sau thưởng: [8.5 8. 9.5 7. 9.]</a:t>
            </a:r>
            <a:endParaRPr lang="en-US" dirty="0"/>
          </a:p>
        </p:txBody>
      </p:sp>
      <p:sp>
        <p:nvSpPr>
          <p:cNvPr id="16" name="Shape 14"/>
          <p:cNvSpPr/>
          <p:nvPr/>
        </p:nvSpPr>
        <p:spPr>
          <a:xfrm>
            <a:off x="6355080" y="2121408"/>
            <a:ext cx="2578608" cy="960120"/>
          </a:xfrm>
          <a:prstGeom prst="roundRect">
            <a:avLst>
              <a:gd name="adj" fmla="val 66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7" name="Text 15"/>
          <p:cNvSpPr/>
          <p:nvPr/>
        </p:nvSpPr>
        <p:spPr>
          <a:xfrm>
            <a:off x="6501384" y="2194560"/>
            <a:ext cx="1325880" cy="502920"/>
          </a:xfrm>
          <a:prstGeom prst="rect">
            <a:avLst/>
          </a:prstGeom>
          <a:noFill/>
          <a:ln/>
        </p:spPr>
        <p:txBody>
          <a:bodyPr wrap="square" lIns="0" tIns="0" rIns="0" bIns="0" rtlCol="0" anchor="t"/>
          <a:lstStyle/>
          <a:p>
            <a:pPr marL="0" indent="0">
              <a:buNone/>
            </a:pPr>
            <a:r>
              <a:rPr lang="en-US" sz="2800" b="1" dirty="0">
                <a:solidFill>
                  <a:srgbClr val="1B8EA8"/>
                </a:solidFill>
                <a:latin typeface="Consolas" pitchFamily="34" charset="0"/>
                <a:ea typeface="Consolas" pitchFamily="34" charset="-122"/>
                <a:cs typeface="Consolas" pitchFamily="34" charset="-120"/>
              </a:rPr>
              <a:t>7.9</a:t>
            </a:r>
            <a:endParaRPr lang="en-US" sz="2800" dirty="0"/>
          </a:p>
        </p:txBody>
      </p:sp>
      <p:sp>
        <p:nvSpPr>
          <p:cNvPr id="18" name="Text 16"/>
          <p:cNvSpPr/>
          <p:nvPr/>
        </p:nvSpPr>
        <p:spPr>
          <a:xfrm>
            <a:off x="7498080" y="2286000"/>
            <a:ext cx="1325880" cy="640080"/>
          </a:xfrm>
          <a:prstGeom prst="rect">
            <a:avLst/>
          </a:prstGeom>
          <a:noFill/>
          <a:ln/>
        </p:spPr>
        <p:txBody>
          <a:bodyPr wrap="square" lIns="0" tIns="0" rIns="0" bIns="0" rtlCol="0" anchor="t"/>
          <a:lstStyle/>
          <a:p>
            <a:pPr marL="0" indent="0">
              <a:lnSpc>
                <a:spcPct val="100000"/>
              </a:lnSpc>
              <a:buNone/>
            </a:pPr>
            <a:r>
              <a:rPr lang="en-US" sz="2000" dirty="0">
                <a:solidFill>
                  <a:srgbClr val="728694"/>
                </a:solidFill>
                <a:latin typeface="Segoe UI" pitchFamily="34" charset="0"/>
                <a:ea typeface="Segoe UI" pitchFamily="34" charset="-122"/>
                <a:cs typeface="Segoe UI" pitchFamily="34" charset="-120"/>
              </a:rPr>
              <a:t>Trung bình</a:t>
            </a:r>
            <a:endParaRPr lang="en-US" sz="2000" dirty="0"/>
          </a:p>
        </p:txBody>
      </p:sp>
      <p:sp>
        <p:nvSpPr>
          <p:cNvPr id="19" name="Shape 17"/>
          <p:cNvSpPr/>
          <p:nvPr/>
        </p:nvSpPr>
        <p:spPr>
          <a:xfrm>
            <a:off x="9025128" y="2121408"/>
            <a:ext cx="2578608" cy="960120"/>
          </a:xfrm>
          <a:prstGeom prst="roundRect">
            <a:avLst>
              <a:gd name="adj" fmla="val 66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0" name="Text 18"/>
          <p:cNvSpPr/>
          <p:nvPr/>
        </p:nvSpPr>
        <p:spPr>
          <a:xfrm>
            <a:off x="9171432" y="2194560"/>
            <a:ext cx="1325880" cy="502920"/>
          </a:xfrm>
          <a:prstGeom prst="rect">
            <a:avLst/>
          </a:prstGeom>
          <a:noFill/>
          <a:ln/>
        </p:spPr>
        <p:txBody>
          <a:bodyPr wrap="square" lIns="0" tIns="0" rIns="0" bIns="0" rtlCol="0" anchor="t"/>
          <a:lstStyle/>
          <a:p>
            <a:pPr marL="0" indent="0">
              <a:buNone/>
            </a:pPr>
            <a:r>
              <a:rPr lang="en-US" sz="2800" b="1" dirty="0">
                <a:solidFill>
                  <a:srgbClr val="1B8EA8"/>
                </a:solidFill>
                <a:latin typeface="Consolas" pitchFamily="34" charset="0"/>
                <a:ea typeface="Consolas" pitchFamily="34" charset="-122"/>
                <a:cs typeface="Consolas" pitchFamily="34" charset="-120"/>
              </a:rPr>
              <a:t>9.0</a:t>
            </a:r>
            <a:endParaRPr lang="en-US" sz="2800" dirty="0"/>
          </a:p>
        </p:txBody>
      </p:sp>
      <p:sp>
        <p:nvSpPr>
          <p:cNvPr id="21" name="Text 19"/>
          <p:cNvSpPr/>
          <p:nvPr/>
        </p:nvSpPr>
        <p:spPr>
          <a:xfrm>
            <a:off x="10396728" y="2286000"/>
            <a:ext cx="1097280" cy="640080"/>
          </a:xfrm>
          <a:prstGeom prst="rect">
            <a:avLst/>
          </a:prstGeom>
          <a:noFill/>
          <a:ln/>
        </p:spPr>
        <p:txBody>
          <a:bodyPr wrap="square" lIns="0" tIns="0" rIns="0" bIns="0" rtlCol="0" anchor="t"/>
          <a:lstStyle/>
          <a:p>
            <a:pPr marL="0" indent="0">
              <a:lnSpc>
                <a:spcPct val="100000"/>
              </a:lnSpc>
              <a:buNone/>
            </a:pPr>
            <a:r>
              <a:rPr lang="en-US" sz="2000" dirty="0">
                <a:solidFill>
                  <a:srgbClr val="728694"/>
                </a:solidFill>
                <a:latin typeface="Segoe UI" pitchFamily="34" charset="0"/>
                <a:ea typeface="Segoe UI" pitchFamily="34" charset="-122"/>
                <a:cs typeface="Segoe UI" pitchFamily="34" charset="-120"/>
              </a:rPr>
              <a:t>Cao nhất</a:t>
            </a:r>
            <a:endParaRPr lang="en-US" sz="2000" dirty="0"/>
          </a:p>
        </p:txBody>
      </p:sp>
      <p:sp>
        <p:nvSpPr>
          <p:cNvPr id="22" name="Shape 20"/>
          <p:cNvSpPr/>
          <p:nvPr/>
        </p:nvSpPr>
        <p:spPr>
          <a:xfrm>
            <a:off x="6355080" y="3200400"/>
            <a:ext cx="2578608" cy="960120"/>
          </a:xfrm>
          <a:prstGeom prst="roundRect">
            <a:avLst>
              <a:gd name="adj" fmla="val 66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3" name="Text 21"/>
          <p:cNvSpPr/>
          <p:nvPr/>
        </p:nvSpPr>
        <p:spPr>
          <a:xfrm>
            <a:off x="6501384" y="3273552"/>
            <a:ext cx="1325880" cy="502920"/>
          </a:xfrm>
          <a:prstGeom prst="rect">
            <a:avLst/>
          </a:prstGeom>
          <a:noFill/>
          <a:ln/>
        </p:spPr>
        <p:txBody>
          <a:bodyPr wrap="square" lIns="0" tIns="0" rIns="0" bIns="0" rtlCol="0" anchor="t"/>
          <a:lstStyle/>
          <a:p>
            <a:pPr marL="0" indent="0">
              <a:buNone/>
            </a:pPr>
            <a:r>
              <a:rPr lang="en-US" sz="2800" b="1" dirty="0">
                <a:solidFill>
                  <a:srgbClr val="1B8EA8"/>
                </a:solidFill>
                <a:latin typeface="Consolas" pitchFamily="34" charset="0"/>
                <a:ea typeface="Consolas" pitchFamily="34" charset="-122"/>
                <a:cs typeface="Consolas" pitchFamily="34" charset="-120"/>
              </a:rPr>
              <a:t>6.5</a:t>
            </a:r>
            <a:endParaRPr lang="en-US" sz="2800" dirty="0"/>
          </a:p>
        </p:txBody>
      </p:sp>
      <p:sp>
        <p:nvSpPr>
          <p:cNvPr id="24" name="Text 22"/>
          <p:cNvSpPr/>
          <p:nvPr/>
        </p:nvSpPr>
        <p:spPr>
          <a:xfrm>
            <a:off x="7641771" y="3364992"/>
            <a:ext cx="1182189" cy="640080"/>
          </a:xfrm>
          <a:prstGeom prst="rect">
            <a:avLst/>
          </a:prstGeom>
          <a:noFill/>
          <a:ln/>
        </p:spPr>
        <p:txBody>
          <a:bodyPr wrap="square" lIns="0" tIns="0" rIns="0" bIns="0" rtlCol="0" anchor="t"/>
          <a:lstStyle/>
          <a:p>
            <a:pPr marL="0" indent="0">
              <a:lnSpc>
                <a:spcPct val="100000"/>
              </a:lnSpc>
              <a:buNone/>
            </a:pPr>
            <a:r>
              <a:rPr lang="en-US" sz="2000" dirty="0">
                <a:solidFill>
                  <a:srgbClr val="728694"/>
                </a:solidFill>
                <a:latin typeface="Segoe UI" pitchFamily="34" charset="0"/>
                <a:ea typeface="Segoe UI" pitchFamily="34" charset="-122"/>
                <a:cs typeface="Segoe UI" pitchFamily="34" charset="-120"/>
              </a:rPr>
              <a:t>Thấp nhất</a:t>
            </a:r>
            <a:endParaRPr lang="en-US" sz="2000" dirty="0"/>
          </a:p>
        </p:txBody>
      </p:sp>
      <p:sp>
        <p:nvSpPr>
          <p:cNvPr id="25" name="Shape 23"/>
          <p:cNvSpPr/>
          <p:nvPr/>
        </p:nvSpPr>
        <p:spPr>
          <a:xfrm>
            <a:off x="9025128" y="3200400"/>
            <a:ext cx="2578608" cy="960120"/>
          </a:xfrm>
          <a:prstGeom prst="roundRect">
            <a:avLst>
              <a:gd name="adj" fmla="val 66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6" name="Text 24"/>
          <p:cNvSpPr/>
          <p:nvPr/>
        </p:nvSpPr>
        <p:spPr>
          <a:xfrm>
            <a:off x="9171432" y="3273552"/>
            <a:ext cx="1325880" cy="502920"/>
          </a:xfrm>
          <a:prstGeom prst="rect">
            <a:avLst/>
          </a:prstGeom>
          <a:noFill/>
          <a:ln/>
        </p:spPr>
        <p:txBody>
          <a:bodyPr wrap="square" lIns="0" tIns="0" rIns="0" bIns="0" rtlCol="0" anchor="t"/>
          <a:lstStyle/>
          <a:p>
            <a:pPr marL="0" indent="0">
              <a:buNone/>
            </a:pPr>
            <a:r>
              <a:rPr lang="en-US" sz="2800" b="1" dirty="0">
                <a:solidFill>
                  <a:srgbClr val="1B8EA8"/>
                </a:solidFill>
                <a:latin typeface="Consolas" pitchFamily="34" charset="0"/>
                <a:ea typeface="Consolas" pitchFamily="34" charset="-122"/>
                <a:cs typeface="Consolas" pitchFamily="34" charset="-120"/>
              </a:rPr>
              <a:t>0.860</a:t>
            </a:r>
            <a:endParaRPr lang="en-US" sz="2800" dirty="0"/>
          </a:p>
        </p:txBody>
      </p:sp>
      <p:sp>
        <p:nvSpPr>
          <p:cNvPr id="27" name="Text 25"/>
          <p:cNvSpPr/>
          <p:nvPr/>
        </p:nvSpPr>
        <p:spPr>
          <a:xfrm>
            <a:off x="10396728" y="3364992"/>
            <a:ext cx="1097280" cy="640080"/>
          </a:xfrm>
          <a:prstGeom prst="rect">
            <a:avLst/>
          </a:prstGeom>
          <a:noFill/>
          <a:ln/>
        </p:spPr>
        <p:txBody>
          <a:bodyPr wrap="square" lIns="0" tIns="0" rIns="0" bIns="0" rtlCol="0" anchor="t"/>
          <a:lstStyle/>
          <a:p>
            <a:pPr marL="0" indent="0">
              <a:lnSpc>
                <a:spcPct val="100000"/>
              </a:lnSpc>
              <a:buNone/>
            </a:pPr>
            <a:r>
              <a:rPr lang="en-US" sz="2000" dirty="0">
                <a:solidFill>
                  <a:srgbClr val="728694"/>
                </a:solidFill>
                <a:latin typeface="Segoe UI" pitchFamily="34" charset="0"/>
                <a:ea typeface="Segoe UI" pitchFamily="34" charset="-122"/>
                <a:cs typeface="Segoe UI" pitchFamily="34" charset="-120"/>
              </a:rPr>
              <a:t>Độ lệch chuẩn</a:t>
            </a:r>
            <a:endParaRPr lang="en-US" sz="2000" dirty="0"/>
          </a:p>
        </p:txBody>
      </p:sp>
      <p:sp>
        <p:nvSpPr>
          <p:cNvPr id="28" name="Text 26"/>
          <p:cNvSpPr/>
          <p:nvPr/>
        </p:nvSpPr>
        <p:spPr>
          <a:xfrm>
            <a:off x="6355080" y="4407408"/>
            <a:ext cx="5212080" cy="274320"/>
          </a:xfrm>
          <a:prstGeom prst="rect">
            <a:avLst/>
          </a:prstGeom>
          <a:noFill/>
          <a:ln/>
        </p:spPr>
        <p:txBody>
          <a:bodyPr wrap="square" lIns="0" tIns="0" rIns="0" bIns="0" rtlCol="0" anchor="t"/>
          <a:lstStyle/>
          <a:p>
            <a:pPr marL="0" indent="0">
              <a:buNone/>
            </a:pPr>
            <a:r>
              <a:rPr lang="en-US" b="1" dirty="0">
                <a:solidFill>
                  <a:srgbClr val="415A6B"/>
                </a:solidFill>
                <a:latin typeface="Segoe UI" pitchFamily="34" charset="0"/>
                <a:ea typeface="Segoe UI" pitchFamily="34" charset="-122"/>
                <a:cs typeface="Segoe UI" pitchFamily="34" charset="-120"/>
              </a:rPr>
              <a:t>3/5 bài đạt ≥ 8.0 · TB 7.9</a:t>
            </a:r>
            <a:endParaRPr lang="en-US" dirty="0"/>
          </a:p>
        </p:txBody>
      </p:sp>
      <p:sp>
        <p:nvSpPr>
          <p:cNvPr id="29" name="Shape 27"/>
          <p:cNvSpPr/>
          <p:nvPr/>
        </p:nvSpPr>
        <p:spPr>
          <a:xfrm>
            <a:off x="6492240" y="5038344"/>
            <a:ext cx="530352" cy="950976"/>
          </a:xfrm>
          <a:prstGeom prst="rect">
            <a:avLst/>
          </a:prstGeom>
          <a:solidFill>
            <a:srgbClr val="1B8EA8"/>
          </a:solidFill>
          <a:ln w="6350">
            <a:solidFill>
              <a:srgbClr val="FFFFFF"/>
            </a:solidFill>
            <a:prstDash val="solid"/>
          </a:ln>
        </p:spPr>
      </p:sp>
      <p:sp>
        <p:nvSpPr>
          <p:cNvPr id="30" name="Text 28"/>
          <p:cNvSpPr/>
          <p:nvPr/>
        </p:nvSpPr>
        <p:spPr>
          <a:xfrm>
            <a:off x="6419088" y="4809744"/>
            <a:ext cx="676656" cy="201168"/>
          </a:xfrm>
          <a:prstGeom prst="rect">
            <a:avLst/>
          </a:prstGeom>
          <a:noFill/>
          <a:ln/>
        </p:spPr>
        <p:txBody>
          <a:bodyPr wrap="square" lIns="0" tIns="0" rIns="0" bIns="0" rtlCol="0" anchor="t"/>
          <a:lstStyle/>
          <a:p>
            <a:pPr marL="0" indent="0" algn="ctr">
              <a:buNone/>
            </a:pPr>
            <a:r>
              <a:rPr lang="en-US" sz="1250" dirty="0">
                <a:solidFill>
                  <a:srgbClr val="062A3A"/>
                </a:solidFill>
                <a:latin typeface="Consolas" pitchFamily="34" charset="0"/>
                <a:ea typeface="Consolas" pitchFamily="34" charset="-122"/>
                <a:cs typeface="Consolas" pitchFamily="34" charset="-120"/>
              </a:rPr>
              <a:t>8.0</a:t>
            </a:r>
            <a:endParaRPr lang="en-US" sz="1250" dirty="0"/>
          </a:p>
        </p:txBody>
      </p:sp>
      <p:sp>
        <p:nvSpPr>
          <p:cNvPr id="31" name="Shape 29"/>
          <p:cNvSpPr/>
          <p:nvPr/>
        </p:nvSpPr>
        <p:spPr>
          <a:xfrm>
            <a:off x="7424928" y="5097780"/>
            <a:ext cx="530352" cy="891540"/>
          </a:xfrm>
          <a:prstGeom prst="rect">
            <a:avLst/>
          </a:prstGeom>
          <a:solidFill>
            <a:srgbClr val="4DB8D4"/>
          </a:solidFill>
          <a:ln w="6350">
            <a:solidFill>
              <a:srgbClr val="FFFFFF"/>
            </a:solidFill>
            <a:prstDash val="solid"/>
          </a:ln>
        </p:spPr>
      </p:sp>
      <p:sp>
        <p:nvSpPr>
          <p:cNvPr id="32" name="Text 30"/>
          <p:cNvSpPr/>
          <p:nvPr/>
        </p:nvSpPr>
        <p:spPr>
          <a:xfrm>
            <a:off x="7351776" y="4869180"/>
            <a:ext cx="676656" cy="201168"/>
          </a:xfrm>
          <a:prstGeom prst="rect">
            <a:avLst/>
          </a:prstGeom>
          <a:noFill/>
          <a:ln/>
        </p:spPr>
        <p:txBody>
          <a:bodyPr wrap="square" lIns="0" tIns="0" rIns="0" bIns="0" rtlCol="0" anchor="t"/>
          <a:lstStyle/>
          <a:p>
            <a:pPr marL="0" indent="0" algn="ctr">
              <a:buNone/>
            </a:pPr>
            <a:r>
              <a:rPr lang="en-US" sz="1250" dirty="0">
                <a:solidFill>
                  <a:srgbClr val="062A3A"/>
                </a:solidFill>
                <a:latin typeface="Consolas" pitchFamily="34" charset="0"/>
                <a:ea typeface="Consolas" pitchFamily="34" charset="-122"/>
                <a:cs typeface="Consolas" pitchFamily="34" charset="-120"/>
              </a:rPr>
              <a:t>7.5</a:t>
            </a:r>
            <a:endParaRPr lang="en-US" sz="1250" dirty="0"/>
          </a:p>
        </p:txBody>
      </p:sp>
      <p:sp>
        <p:nvSpPr>
          <p:cNvPr id="33" name="Shape 31"/>
          <p:cNvSpPr/>
          <p:nvPr/>
        </p:nvSpPr>
        <p:spPr>
          <a:xfrm>
            <a:off x="8357616" y="4919472"/>
            <a:ext cx="530352" cy="1069848"/>
          </a:xfrm>
          <a:prstGeom prst="rect">
            <a:avLst/>
          </a:prstGeom>
          <a:solidFill>
            <a:srgbClr val="1B8EA8"/>
          </a:solidFill>
          <a:ln w="6350">
            <a:solidFill>
              <a:srgbClr val="FFFFFF"/>
            </a:solidFill>
            <a:prstDash val="solid"/>
          </a:ln>
        </p:spPr>
      </p:sp>
      <p:sp>
        <p:nvSpPr>
          <p:cNvPr id="34" name="Text 32"/>
          <p:cNvSpPr/>
          <p:nvPr/>
        </p:nvSpPr>
        <p:spPr>
          <a:xfrm>
            <a:off x="8284464" y="4690872"/>
            <a:ext cx="676656" cy="201168"/>
          </a:xfrm>
          <a:prstGeom prst="rect">
            <a:avLst/>
          </a:prstGeom>
          <a:noFill/>
          <a:ln/>
        </p:spPr>
        <p:txBody>
          <a:bodyPr wrap="square" lIns="0" tIns="0" rIns="0" bIns="0" rtlCol="0" anchor="t"/>
          <a:lstStyle/>
          <a:p>
            <a:pPr marL="0" indent="0" algn="ctr">
              <a:buNone/>
            </a:pPr>
            <a:r>
              <a:rPr lang="en-US" sz="1250" dirty="0">
                <a:solidFill>
                  <a:srgbClr val="062A3A"/>
                </a:solidFill>
                <a:latin typeface="Consolas" pitchFamily="34" charset="0"/>
                <a:ea typeface="Consolas" pitchFamily="34" charset="-122"/>
                <a:cs typeface="Consolas" pitchFamily="34" charset="-120"/>
              </a:rPr>
              <a:t>9.0</a:t>
            </a:r>
            <a:endParaRPr lang="en-US" sz="1250" dirty="0"/>
          </a:p>
        </p:txBody>
      </p:sp>
      <p:sp>
        <p:nvSpPr>
          <p:cNvPr id="35" name="Shape 33"/>
          <p:cNvSpPr/>
          <p:nvPr/>
        </p:nvSpPr>
        <p:spPr>
          <a:xfrm>
            <a:off x="9290304" y="5216652"/>
            <a:ext cx="530352" cy="772668"/>
          </a:xfrm>
          <a:prstGeom prst="rect">
            <a:avLst/>
          </a:prstGeom>
          <a:solidFill>
            <a:srgbClr val="1B8EA8"/>
          </a:solidFill>
          <a:ln w="6350">
            <a:solidFill>
              <a:srgbClr val="FFFFFF"/>
            </a:solidFill>
            <a:prstDash val="solid"/>
          </a:ln>
        </p:spPr>
      </p:sp>
      <p:sp>
        <p:nvSpPr>
          <p:cNvPr id="36" name="Text 34"/>
          <p:cNvSpPr/>
          <p:nvPr/>
        </p:nvSpPr>
        <p:spPr>
          <a:xfrm>
            <a:off x="9217152" y="4988052"/>
            <a:ext cx="676656" cy="201168"/>
          </a:xfrm>
          <a:prstGeom prst="rect">
            <a:avLst/>
          </a:prstGeom>
          <a:noFill/>
          <a:ln/>
        </p:spPr>
        <p:txBody>
          <a:bodyPr wrap="square" lIns="0" tIns="0" rIns="0" bIns="0" rtlCol="0" anchor="t"/>
          <a:lstStyle/>
          <a:p>
            <a:pPr marL="0" indent="0" algn="ctr">
              <a:buNone/>
            </a:pPr>
            <a:r>
              <a:rPr lang="en-US" sz="1250" dirty="0">
                <a:solidFill>
                  <a:srgbClr val="062A3A"/>
                </a:solidFill>
                <a:latin typeface="Consolas" pitchFamily="34" charset="0"/>
                <a:ea typeface="Consolas" pitchFamily="34" charset="-122"/>
                <a:cs typeface="Consolas" pitchFamily="34" charset="-120"/>
              </a:rPr>
              <a:t>6.5</a:t>
            </a:r>
            <a:endParaRPr lang="en-US" sz="1250" dirty="0"/>
          </a:p>
        </p:txBody>
      </p:sp>
      <p:sp>
        <p:nvSpPr>
          <p:cNvPr id="37" name="Shape 35"/>
          <p:cNvSpPr/>
          <p:nvPr/>
        </p:nvSpPr>
        <p:spPr>
          <a:xfrm>
            <a:off x="10222992" y="4978908"/>
            <a:ext cx="530352" cy="1010412"/>
          </a:xfrm>
          <a:prstGeom prst="rect">
            <a:avLst/>
          </a:prstGeom>
          <a:solidFill>
            <a:srgbClr val="1B8EA8"/>
          </a:solidFill>
          <a:ln w="6350">
            <a:solidFill>
              <a:srgbClr val="FFFFFF"/>
            </a:solidFill>
            <a:prstDash val="solid"/>
          </a:ln>
        </p:spPr>
      </p:sp>
      <p:sp>
        <p:nvSpPr>
          <p:cNvPr id="38" name="Text 36"/>
          <p:cNvSpPr/>
          <p:nvPr/>
        </p:nvSpPr>
        <p:spPr>
          <a:xfrm>
            <a:off x="10149840" y="4750308"/>
            <a:ext cx="676656" cy="201168"/>
          </a:xfrm>
          <a:prstGeom prst="rect">
            <a:avLst/>
          </a:prstGeom>
          <a:noFill/>
          <a:ln/>
        </p:spPr>
        <p:txBody>
          <a:bodyPr wrap="square" lIns="0" tIns="0" rIns="0" bIns="0" rtlCol="0" anchor="t"/>
          <a:lstStyle/>
          <a:p>
            <a:pPr marL="0" indent="0" algn="ctr">
              <a:buNone/>
            </a:pPr>
            <a:r>
              <a:rPr lang="en-US" sz="1250" dirty="0">
                <a:solidFill>
                  <a:srgbClr val="062A3A"/>
                </a:solidFill>
                <a:latin typeface="Consolas" pitchFamily="34" charset="0"/>
                <a:ea typeface="Consolas" pitchFamily="34" charset="-122"/>
                <a:cs typeface="Consolas" pitchFamily="34" charset="-120"/>
              </a:rPr>
              <a:t>8.5</a:t>
            </a:r>
            <a:endParaRPr lang="en-US" sz="1250" dirty="0"/>
          </a:p>
        </p:txBody>
      </p:sp>
      <p:sp>
        <p:nvSpPr>
          <p:cNvPr id="39" name="Shape 37"/>
          <p:cNvSpPr/>
          <p:nvPr/>
        </p:nvSpPr>
        <p:spPr>
          <a:xfrm>
            <a:off x="6446520" y="5050231"/>
            <a:ext cx="4754880" cy="0"/>
          </a:xfrm>
          <a:prstGeom prst="line">
            <a:avLst/>
          </a:prstGeom>
          <a:noFill/>
          <a:ln w="15875">
            <a:solidFill>
              <a:srgbClr val="E8A33D"/>
            </a:solidFill>
            <a:prstDash val="dash"/>
          </a:ln>
        </p:spPr>
      </p:sp>
      <p:sp>
        <p:nvSpPr>
          <p:cNvPr id="40" name="Text 38"/>
          <p:cNvSpPr/>
          <p:nvPr/>
        </p:nvSpPr>
        <p:spPr>
          <a:xfrm>
            <a:off x="10652760" y="4821631"/>
            <a:ext cx="731520" cy="201168"/>
          </a:xfrm>
          <a:prstGeom prst="rect">
            <a:avLst/>
          </a:prstGeom>
          <a:noFill/>
          <a:ln/>
        </p:spPr>
        <p:txBody>
          <a:bodyPr wrap="square" lIns="0" tIns="0" rIns="0" bIns="0" rtlCol="0" anchor="t"/>
          <a:lstStyle/>
          <a:p>
            <a:pPr marL="0" indent="0">
              <a:buNone/>
            </a:pPr>
            <a:r>
              <a:rPr lang="en-US" sz="1250" b="1" dirty="0">
                <a:solidFill>
                  <a:srgbClr val="B7771B"/>
                </a:solidFill>
                <a:latin typeface="Consolas" pitchFamily="34" charset="0"/>
                <a:ea typeface="Consolas" pitchFamily="34" charset="-122"/>
                <a:cs typeface="Consolas" pitchFamily="34" charset="-120"/>
              </a:rPr>
              <a:t>TB 7.9</a:t>
            </a:r>
            <a:endParaRPr lang="en-US" sz="1250" dirty="0"/>
          </a:p>
        </p:txBody>
      </p:sp>
      <p:sp>
        <p:nvSpPr>
          <p:cNvPr id="41" name="Shape 39"/>
          <p:cNvSpPr/>
          <p:nvPr/>
        </p:nvSpPr>
        <p:spPr>
          <a:xfrm>
            <a:off x="548640" y="6437376"/>
            <a:ext cx="11091672" cy="9144"/>
          </a:xfrm>
          <a:prstGeom prst="rect">
            <a:avLst/>
          </a:prstGeom>
          <a:solidFill>
            <a:srgbClr val="D7E5EC"/>
          </a:solidFill>
          <a:ln w="12700">
            <a:solidFill>
              <a:srgbClr val="D7E5EC"/>
            </a:solidFill>
            <a:prstDash val="solid"/>
          </a:ln>
        </p:spPr>
      </p:sp>
      <p:sp>
        <p:nvSpPr>
          <p:cNvPr id="42" name="Text 40"/>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3" name="Text 41"/>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22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06 · THỰC HÀNH</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Ví dụ 2 — Chuẩn hóa và thay vòng lặp</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440680" cy="4160520"/>
          </a:xfrm>
          <a:prstGeom prst="roundRect">
            <a:avLst>
              <a:gd name="adj" fmla="val 1538"/>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Text 4"/>
          <p:cNvSpPr/>
          <p:nvPr/>
        </p:nvSpPr>
        <p:spPr>
          <a:xfrm>
            <a:off x="786384" y="1609344"/>
            <a:ext cx="4937760" cy="36576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Chuẩn hóa z-score</a:t>
            </a:r>
            <a:endParaRPr lang="en-US" sz="2500" dirty="0"/>
          </a:p>
        </p:txBody>
      </p:sp>
      <p:sp>
        <p:nvSpPr>
          <p:cNvPr id="7" name="Shape 5"/>
          <p:cNvSpPr/>
          <p:nvPr/>
        </p:nvSpPr>
        <p:spPr>
          <a:xfrm>
            <a:off x="749808" y="2057400"/>
            <a:ext cx="5029200" cy="1618488"/>
          </a:xfrm>
          <a:prstGeom prst="roundRect">
            <a:avLst>
              <a:gd name="adj" fmla="val 3086"/>
            </a:avLst>
          </a:prstGeom>
          <a:solidFill>
            <a:srgbClr val="0B2230"/>
          </a:solidFill>
          <a:ln w="9525">
            <a:solidFill>
              <a:srgbClr val="163B4C"/>
            </a:solidFill>
            <a:prstDash val="solid"/>
          </a:ln>
        </p:spPr>
      </p:sp>
      <p:sp>
        <p:nvSpPr>
          <p:cNvPr id="8" name="Shape 6"/>
          <p:cNvSpPr/>
          <p:nvPr/>
        </p:nvSpPr>
        <p:spPr>
          <a:xfrm>
            <a:off x="749808" y="2057400"/>
            <a:ext cx="5029200" cy="310896"/>
          </a:xfrm>
          <a:prstGeom prst="rect">
            <a:avLst/>
          </a:prstGeom>
          <a:solidFill>
            <a:srgbClr val="103445"/>
          </a:solidFill>
          <a:ln w="12700">
            <a:solidFill>
              <a:srgbClr val="103445"/>
            </a:solidFill>
            <a:prstDash val="solid"/>
          </a:ln>
        </p:spPr>
      </p:sp>
      <p:sp>
        <p:nvSpPr>
          <p:cNvPr id="9" name="Text 7"/>
          <p:cNvSpPr/>
          <p:nvPr/>
        </p:nvSpPr>
        <p:spPr>
          <a:xfrm>
            <a:off x="896112" y="2121408"/>
            <a:ext cx="4114800"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10" name="Shape 8"/>
          <p:cNvSpPr/>
          <p:nvPr/>
        </p:nvSpPr>
        <p:spPr>
          <a:xfrm>
            <a:off x="5212080" y="2176272"/>
            <a:ext cx="82296" cy="82296"/>
          </a:xfrm>
          <a:prstGeom prst="ellipse">
            <a:avLst/>
          </a:prstGeom>
          <a:solidFill>
            <a:srgbClr val="D96C5F"/>
          </a:solidFill>
          <a:ln w="12700">
            <a:solidFill>
              <a:srgbClr val="D96C5F"/>
            </a:solidFill>
            <a:prstDash val="solid"/>
          </a:ln>
        </p:spPr>
      </p:sp>
      <p:sp>
        <p:nvSpPr>
          <p:cNvPr id="11" name="Shape 9"/>
          <p:cNvSpPr/>
          <p:nvPr/>
        </p:nvSpPr>
        <p:spPr>
          <a:xfrm>
            <a:off x="5367528" y="2176272"/>
            <a:ext cx="82296" cy="82296"/>
          </a:xfrm>
          <a:prstGeom prst="ellipse">
            <a:avLst/>
          </a:prstGeom>
          <a:solidFill>
            <a:srgbClr val="E8A33D"/>
          </a:solidFill>
          <a:ln w="12700">
            <a:solidFill>
              <a:srgbClr val="E8A33D"/>
            </a:solidFill>
            <a:prstDash val="solid"/>
          </a:ln>
        </p:spPr>
      </p:sp>
      <p:sp>
        <p:nvSpPr>
          <p:cNvPr id="12" name="Shape 10"/>
          <p:cNvSpPr/>
          <p:nvPr/>
        </p:nvSpPr>
        <p:spPr>
          <a:xfrm>
            <a:off x="5522976" y="2176272"/>
            <a:ext cx="82296" cy="82296"/>
          </a:xfrm>
          <a:prstGeom prst="ellipse">
            <a:avLst/>
          </a:prstGeom>
          <a:solidFill>
            <a:srgbClr val="2D8C6F"/>
          </a:solidFill>
          <a:ln w="12700">
            <a:solidFill>
              <a:srgbClr val="2D8C6F"/>
            </a:solidFill>
            <a:prstDash val="solid"/>
          </a:ln>
        </p:spPr>
      </p:sp>
      <p:sp>
        <p:nvSpPr>
          <p:cNvPr id="13" name="Text 11"/>
          <p:cNvSpPr/>
          <p:nvPr/>
        </p:nvSpPr>
        <p:spPr>
          <a:xfrm>
            <a:off x="914400" y="2468880"/>
            <a:ext cx="4736592" cy="1005840"/>
          </a:xfrm>
          <a:prstGeom prst="rect">
            <a:avLst/>
          </a:prstGeom>
          <a:noFill/>
          <a:ln/>
        </p:spPr>
        <p:txBody>
          <a:bodyPr wrap="square" lIns="0" tIns="0" rIns="0" bIns="0" rtlCol="0" anchor="t"/>
          <a:lstStyle/>
          <a:p>
            <a:pPr marL="0" indent="0">
              <a:lnSpc>
                <a:spcPct val="100000"/>
              </a:lnSpc>
              <a:buNone/>
            </a:pPr>
            <a:r>
              <a:rPr lang="en-US" dirty="0">
                <a:solidFill>
                  <a:srgbClr val="D6E6EF"/>
                </a:solidFill>
                <a:latin typeface="Consolas" pitchFamily="34" charset="0"/>
                <a:ea typeface="Consolas" pitchFamily="34" charset="-122"/>
                <a:cs typeface="Consolas" pitchFamily="34" charset="-120"/>
              </a:rPr>
              <a:t>x =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.array([</a:t>
            </a:r>
            <a:r>
              <a:rPr lang="en-US" dirty="0">
                <a:solidFill>
                  <a:srgbClr val="F08A7C"/>
                </a:solidFill>
                <a:latin typeface="Consolas" pitchFamily="34" charset="0"/>
                <a:ea typeface="Consolas" pitchFamily="34" charset="-122"/>
                <a:cs typeface="Consolas" pitchFamily="34" charset="-120"/>
              </a:rPr>
              <a:t>2.0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4.0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6.0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8.0</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D6E6EF"/>
                </a:solidFill>
                <a:latin typeface="Consolas" pitchFamily="34" charset="0"/>
                <a:ea typeface="Consolas" pitchFamily="34" charset="-122"/>
                <a:cs typeface="Consolas" pitchFamily="34" charset="-120"/>
              </a:rPr>
              <a:t>z = (x -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.mean(x)) /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.std(x)</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(z)</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.mean(z),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.std(z))</a:t>
            </a:r>
            <a:endParaRPr lang="en-US" dirty="0"/>
          </a:p>
        </p:txBody>
      </p:sp>
      <p:sp>
        <p:nvSpPr>
          <p:cNvPr id="14" name="Shape 12"/>
          <p:cNvSpPr/>
          <p:nvPr/>
        </p:nvSpPr>
        <p:spPr>
          <a:xfrm>
            <a:off x="749808" y="3776472"/>
            <a:ext cx="5029200" cy="1005840"/>
          </a:xfrm>
          <a:prstGeom prst="roundRect">
            <a:avLst>
              <a:gd name="adj" fmla="val 4545"/>
            </a:avLst>
          </a:prstGeom>
          <a:solidFill>
            <a:srgbClr val="FFFFFF"/>
          </a:solidFill>
          <a:ln w="9525">
            <a:solidFill>
              <a:srgbClr val="CFE5EE"/>
            </a:solidFill>
            <a:prstDash val="solid"/>
          </a:ln>
        </p:spPr>
      </p:sp>
      <p:sp>
        <p:nvSpPr>
          <p:cNvPr id="15" name="Text 13"/>
          <p:cNvSpPr/>
          <p:nvPr/>
        </p:nvSpPr>
        <p:spPr>
          <a:xfrm>
            <a:off x="896112" y="3867912"/>
            <a:ext cx="4754880"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6" name="Text 14"/>
          <p:cNvSpPr/>
          <p:nvPr/>
        </p:nvSpPr>
        <p:spPr>
          <a:xfrm>
            <a:off x="896112" y="4123944"/>
            <a:ext cx="4754880" cy="58521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[-1.3416 -0.4472 0.4472 1.3416]</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mean: 0.0  std: 1.0</a:t>
            </a:r>
            <a:endParaRPr lang="en-US" dirty="0"/>
          </a:p>
        </p:txBody>
      </p:sp>
      <p:sp>
        <p:nvSpPr>
          <p:cNvPr id="17" name="Text 15"/>
          <p:cNvSpPr/>
          <p:nvPr/>
        </p:nvSpPr>
        <p:spPr>
          <a:xfrm>
            <a:off x="786384" y="4846320"/>
            <a:ext cx="4937760" cy="685800"/>
          </a:xfrm>
          <a:prstGeom prst="rect">
            <a:avLst/>
          </a:prstGeom>
          <a:noFill/>
          <a:ln/>
        </p:spPr>
        <p:txBody>
          <a:bodyPr wrap="square" lIns="0" tIns="0" rIns="0" bIns="0" rtlCol="0" anchor="t"/>
          <a:lstStyle/>
          <a:p>
            <a:pPr marL="0" indent="0">
              <a:lnSpc>
                <a:spcPct val="105000"/>
              </a:lnSpc>
              <a:buNone/>
            </a:pPr>
            <a:r>
              <a:rPr lang="en-US" sz="2000" i="1" dirty="0">
                <a:solidFill>
                  <a:srgbClr val="728694"/>
                </a:solidFill>
                <a:latin typeface="Segoe UI" pitchFamily="34" charset="0"/>
                <a:ea typeface="Segoe UI" pitchFamily="34" charset="-122"/>
                <a:cs typeface="Segoe UI" pitchFamily="34" charset="-120"/>
              </a:rPr>
              <a:t>Broadcasting với scalar: trừ 5.0, chia 2.236. Kết quả mean 0, std 1.</a:t>
            </a:r>
            <a:endParaRPr lang="en-US" sz="2000" dirty="0"/>
          </a:p>
        </p:txBody>
      </p:sp>
      <p:sp>
        <p:nvSpPr>
          <p:cNvPr id="18" name="Shape 16"/>
          <p:cNvSpPr/>
          <p:nvPr/>
        </p:nvSpPr>
        <p:spPr>
          <a:xfrm>
            <a:off x="6199632" y="1463040"/>
            <a:ext cx="5440680" cy="4160520"/>
          </a:xfrm>
          <a:prstGeom prst="roundRect">
            <a:avLst>
              <a:gd name="adj" fmla="val 1538"/>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9" name="Text 17"/>
          <p:cNvSpPr/>
          <p:nvPr/>
        </p:nvSpPr>
        <p:spPr>
          <a:xfrm>
            <a:off x="6437376" y="1609344"/>
            <a:ext cx="4937760" cy="36576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Vector hóa và lọc dữ liệu</a:t>
            </a:r>
            <a:endParaRPr lang="en-US" sz="2500" dirty="0"/>
          </a:p>
        </p:txBody>
      </p:sp>
      <p:sp>
        <p:nvSpPr>
          <p:cNvPr id="20" name="Shape 18"/>
          <p:cNvSpPr/>
          <p:nvPr/>
        </p:nvSpPr>
        <p:spPr>
          <a:xfrm>
            <a:off x="6400800" y="2057400"/>
            <a:ext cx="5029200" cy="1572768"/>
          </a:xfrm>
          <a:prstGeom prst="roundRect">
            <a:avLst>
              <a:gd name="adj" fmla="val 3086"/>
            </a:avLst>
          </a:prstGeom>
          <a:solidFill>
            <a:srgbClr val="0B2230"/>
          </a:solidFill>
          <a:ln w="9525">
            <a:solidFill>
              <a:srgbClr val="163B4C"/>
            </a:solidFill>
            <a:prstDash val="solid"/>
          </a:ln>
        </p:spPr>
      </p:sp>
      <p:sp>
        <p:nvSpPr>
          <p:cNvPr id="21" name="Shape 19"/>
          <p:cNvSpPr/>
          <p:nvPr/>
        </p:nvSpPr>
        <p:spPr>
          <a:xfrm>
            <a:off x="6400800" y="2057400"/>
            <a:ext cx="5029200" cy="310896"/>
          </a:xfrm>
          <a:prstGeom prst="rect">
            <a:avLst/>
          </a:prstGeom>
          <a:solidFill>
            <a:srgbClr val="103445"/>
          </a:solidFill>
          <a:ln w="12700">
            <a:solidFill>
              <a:srgbClr val="103445"/>
            </a:solidFill>
            <a:prstDash val="solid"/>
          </a:ln>
        </p:spPr>
      </p:sp>
      <p:sp>
        <p:nvSpPr>
          <p:cNvPr id="22" name="Text 20"/>
          <p:cNvSpPr/>
          <p:nvPr/>
        </p:nvSpPr>
        <p:spPr>
          <a:xfrm>
            <a:off x="6547104" y="2121408"/>
            <a:ext cx="4114800" cy="201168"/>
          </a:xfrm>
          <a:prstGeom prst="rect">
            <a:avLst/>
          </a:prstGeom>
          <a:noFill/>
          <a:ln/>
        </p:spPr>
        <p:txBody>
          <a:bodyPr wrap="square" lIns="0" tIns="0" rIns="0" bIns="0" rtlCol="0" anchor="t"/>
          <a:lstStyle/>
          <a:p>
            <a:pPr marL="0" indent="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3" name="Shape 21"/>
          <p:cNvSpPr/>
          <p:nvPr/>
        </p:nvSpPr>
        <p:spPr>
          <a:xfrm>
            <a:off x="10863072" y="2176272"/>
            <a:ext cx="82296" cy="82296"/>
          </a:xfrm>
          <a:prstGeom prst="ellipse">
            <a:avLst/>
          </a:prstGeom>
          <a:solidFill>
            <a:srgbClr val="D96C5F"/>
          </a:solidFill>
          <a:ln w="12700">
            <a:solidFill>
              <a:srgbClr val="D96C5F"/>
            </a:solidFill>
            <a:prstDash val="solid"/>
          </a:ln>
        </p:spPr>
      </p:sp>
      <p:sp>
        <p:nvSpPr>
          <p:cNvPr id="24" name="Shape 22"/>
          <p:cNvSpPr/>
          <p:nvPr/>
        </p:nvSpPr>
        <p:spPr>
          <a:xfrm>
            <a:off x="11018520" y="2176272"/>
            <a:ext cx="82296" cy="82296"/>
          </a:xfrm>
          <a:prstGeom prst="ellipse">
            <a:avLst/>
          </a:prstGeom>
          <a:solidFill>
            <a:srgbClr val="E8A33D"/>
          </a:solidFill>
          <a:ln w="12700">
            <a:solidFill>
              <a:srgbClr val="E8A33D"/>
            </a:solidFill>
            <a:prstDash val="solid"/>
          </a:ln>
        </p:spPr>
      </p:sp>
      <p:sp>
        <p:nvSpPr>
          <p:cNvPr id="25" name="Shape 23"/>
          <p:cNvSpPr/>
          <p:nvPr/>
        </p:nvSpPr>
        <p:spPr>
          <a:xfrm>
            <a:off x="11173968" y="2176272"/>
            <a:ext cx="82296" cy="82296"/>
          </a:xfrm>
          <a:prstGeom prst="ellipse">
            <a:avLst/>
          </a:prstGeom>
          <a:solidFill>
            <a:srgbClr val="2D8C6F"/>
          </a:solidFill>
          <a:ln w="12700">
            <a:solidFill>
              <a:srgbClr val="2D8C6F"/>
            </a:solidFill>
            <a:prstDash val="solid"/>
          </a:ln>
        </p:spPr>
      </p:sp>
      <p:sp>
        <p:nvSpPr>
          <p:cNvPr id="26" name="Text 24"/>
          <p:cNvSpPr/>
          <p:nvPr/>
        </p:nvSpPr>
        <p:spPr>
          <a:xfrm>
            <a:off x="6565392" y="2468880"/>
            <a:ext cx="4864608" cy="1417320"/>
          </a:xfrm>
          <a:prstGeom prst="rect">
            <a:avLst/>
          </a:prstGeom>
          <a:noFill/>
          <a:ln/>
        </p:spPr>
        <p:txBody>
          <a:bodyPr wrap="square" lIns="0" tIns="0" rIns="0" bIns="0" rtlCol="0" anchor="t"/>
          <a:lstStyle/>
          <a:p>
            <a:pPr marL="0" indent="0">
              <a:lnSpc>
                <a:spcPct val="100000"/>
              </a:lnSpc>
              <a:buNone/>
            </a:pPr>
            <a:r>
              <a:rPr lang="en-US" dirty="0">
                <a:solidFill>
                  <a:srgbClr val="D6E6EF"/>
                </a:solidFill>
                <a:latin typeface="Consolas" pitchFamily="34" charset="0"/>
                <a:ea typeface="Consolas" pitchFamily="34" charset="-122"/>
                <a:cs typeface="Consolas" pitchFamily="34" charset="-120"/>
              </a:rPr>
              <a:t>prices = </a:t>
            </a:r>
            <a:r>
              <a:rPr lang="en-US" dirty="0">
                <a:solidFill>
                  <a:srgbClr val="8AD9C0"/>
                </a:solidFill>
                <a:latin typeface="Consolas" pitchFamily="34" charset="0"/>
                <a:ea typeface="Consolas" pitchFamily="34" charset="-122"/>
                <a:cs typeface="Consolas" pitchFamily="34" charset="-120"/>
              </a:rPr>
              <a:t>np</a:t>
            </a:r>
            <a:r>
              <a:rPr lang="en-US" dirty="0">
                <a:solidFill>
                  <a:srgbClr val="D6E6EF"/>
                </a:solidFill>
                <a:latin typeface="Consolas" pitchFamily="34" charset="0"/>
                <a:ea typeface="Consolas" pitchFamily="34" charset="-122"/>
                <a:cs typeface="Consolas" pitchFamily="34" charset="-120"/>
              </a:rPr>
              <a:t>.array([</a:t>
            </a:r>
            <a:r>
              <a:rPr lang="en-US" dirty="0">
                <a:solidFill>
                  <a:srgbClr val="F08A7C"/>
                </a:solidFill>
                <a:latin typeface="Consolas" pitchFamily="34" charset="0"/>
                <a:ea typeface="Consolas" pitchFamily="34" charset="-122"/>
                <a:cs typeface="Consolas" pitchFamily="34" charset="-120"/>
              </a:rPr>
              <a:t>100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250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80</a:t>
            </a:r>
            <a:r>
              <a:rPr lang="en-US" dirty="0">
                <a:solidFill>
                  <a:srgbClr val="D6E6EF"/>
                </a:solidFill>
                <a:latin typeface="Consolas" pitchFamily="34" charset="0"/>
                <a:ea typeface="Consolas" pitchFamily="34" charset="-122"/>
                <a:cs typeface="Consolas" pitchFamily="34" charset="-120"/>
              </a:rPr>
              <a:t>, </a:t>
            </a:r>
            <a:r>
              <a:rPr lang="en-US" dirty="0">
                <a:solidFill>
                  <a:srgbClr val="F08A7C"/>
                </a:solidFill>
                <a:latin typeface="Consolas" pitchFamily="34" charset="0"/>
                <a:ea typeface="Consolas" pitchFamily="34" charset="-122"/>
                <a:cs typeface="Consolas" pitchFamily="34" charset="-120"/>
              </a:rPr>
              <a:t>320</a:t>
            </a:r>
            <a:r>
              <a:rPr lang="en-US" dirty="0">
                <a:solidFill>
                  <a:srgbClr val="D6E6EF"/>
                </a:solidFill>
                <a:latin typeface="Consolas" pitchFamily="34" charset="0"/>
                <a:ea typeface="Consolas" pitchFamily="34" charset="-122"/>
                <a:cs typeface="Consolas" pitchFamily="34" charset="-120"/>
              </a:rPr>
              <a:t>])</a:t>
            </a:r>
            <a:endParaRPr lang="en-US" dirty="0"/>
          </a:p>
          <a:p>
            <a:pPr marL="0" indent="0">
              <a:lnSpc>
                <a:spcPct val="100000"/>
              </a:lnSpc>
              <a:buNone/>
            </a:pPr>
            <a:r>
              <a:rPr lang="en-US" dirty="0">
                <a:solidFill>
                  <a:srgbClr val="D6E6EF"/>
                </a:solidFill>
                <a:latin typeface="Consolas" pitchFamily="34" charset="0"/>
                <a:ea typeface="Consolas" pitchFamily="34" charset="-122"/>
                <a:cs typeface="Consolas" pitchFamily="34" charset="-120"/>
              </a:rPr>
              <a:t>new = prices * </a:t>
            </a:r>
            <a:r>
              <a:rPr lang="en-US" dirty="0">
                <a:solidFill>
                  <a:srgbClr val="F08A7C"/>
                </a:solidFill>
                <a:latin typeface="Consolas" pitchFamily="34" charset="0"/>
                <a:ea typeface="Consolas" pitchFamily="34" charset="-122"/>
                <a:cs typeface="Consolas" pitchFamily="34" charset="-120"/>
              </a:rPr>
              <a:t>1.1</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(new)</a:t>
            </a:r>
            <a:endParaRPr lang="en-US" dirty="0"/>
          </a:p>
          <a:p>
            <a:pPr marL="0" indent="0">
              <a:lnSpc>
                <a:spcPct val="100000"/>
              </a:lnSpc>
              <a:buNone/>
            </a:pPr>
            <a:r>
              <a:rPr lang="en-US" dirty="0">
                <a:solidFill>
                  <a:srgbClr val="6FD0E4"/>
                </a:solidFill>
                <a:latin typeface="Consolas" pitchFamily="34" charset="0"/>
                <a:ea typeface="Consolas" pitchFamily="34" charset="-122"/>
                <a:cs typeface="Consolas" pitchFamily="34" charset="-120"/>
              </a:rPr>
              <a:t>print</a:t>
            </a:r>
            <a:r>
              <a:rPr lang="en-US" dirty="0">
                <a:solidFill>
                  <a:srgbClr val="D6E6EF"/>
                </a:solidFill>
                <a:latin typeface="Consolas" pitchFamily="34" charset="0"/>
                <a:ea typeface="Consolas" pitchFamily="34" charset="-122"/>
                <a:cs typeface="Consolas" pitchFamily="34" charset="-120"/>
              </a:rPr>
              <a:t>(prices[prices &gt; </a:t>
            </a:r>
            <a:r>
              <a:rPr lang="en-US" dirty="0">
                <a:solidFill>
                  <a:srgbClr val="F08A7C"/>
                </a:solidFill>
                <a:latin typeface="Consolas" pitchFamily="34" charset="0"/>
                <a:ea typeface="Consolas" pitchFamily="34" charset="-122"/>
                <a:cs typeface="Consolas" pitchFamily="34" charset="-120"/>
              </a:rPr>
              <a:t>200</a:t>
            </a:r>
            <a:r>
              <a:rPr lang="en-US" dirty="0">
                <a:solidFill>
                  <a:srgbClr val="D6E6EF"/>
                </a:solidFill>
                <a:latin typeface="Consolas" pitchFamily="34" charset="0"/>
                <a:ea typeface="Consolas" pitchFamily="34" charset="-122"/>
                <a:cs typeface="Consolas" pitchFamily="34" charset="-120"/>
              </a:rPr>
              <a:t>])</a:t>
            </a:r>
            <a:endParaRPr lang="en-US" dirty="0"/>
          </a:p>
        </p:txBody>
      </p:sp>
      <p:sp>
        <p:nvSpPr>
          <p:cNvPr id="27" name="Shape 25"/>
          <p:cNvSpPr/>
          <p:nvPr/>
        </p:nvSpPr>
        <p:spPr>
          <a:xfrm>
            <a:off x="6400800" y="3675888"/>
            <a:ext cx="5029200" cy="1216152"/>
          </a:xfrm>
          <a:prstGeom prst="roundRect">
            <a:avLst>
              <a:gd name="adj" fmla="val 4545"/>
            </a:avLst>
          </a:prstGeom>
          <a:solidFill>
            <a:srgbClr val="FFFFFF"/>
          </a:solidFill>
          <a:ln w="9525">
            <a:solidFill>
              <a:srgbClr val="CFE5EE"/>
            </a:solidFill>
            <a:prstDash val="solid"/>
          </a:ln>
        </p:spPr>
      </p:sp>
      <p:sp>
        <p:nvSpPr>
          <p:cNvPr id="28" name="Text 26"/>
          <p:cNvSpPr/>
          <p:nvPr/>
        </p:nvSpPr>
        <p:spPr>
          <a:xfrm>
            <a:off x="6547104" y="3767328"/>
            <a:ext cx="4754880" cy="182880"/>
          </a:xfrm>
          <a:prstGeom prst="rect">
            <a:avLst/>
          </a:prstGeom>
          <a:noFill/>
          <a:ln/>
        </p:spPr>
        <p:txBody>
          <a:bodyPr wrap="square" lIns="0" tIns="0" rIns="0" bIns="0" rtlCol="0" anchor="t"/>
          <a:lstStyle/>
          <a:p>
            <a:pPr marL="0" indent="0">
              <a:buNone/>
            </a:pPr>
            <a:r>
              <a:rPr lang="en-US" sz="1050" b="1" kern="0" spc="11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29" name="Text 27"/>
          <p:cNvSpPr/>
          <p:nvPr/>
        </p:nvSpPr>
        <p:spPr>
          <a:xfrm>
            <a:off x="6547104" y="4023360"/>
            <a:ext cx="4754880" cy="585216"/>
          </a:xfrm>
          <a:prstGeom prst="rect">
            <a:avLst/>
          </a:prstGeom>
          <a:noFill/>
          <a:ln/>
        </p:spPr>
        <p:txBody>
          <a:bodyPr wrap="square" lIns="0" tIns="0" rIns="0" bIns="0" rtlCol="0" anchor="t"/>
          <a:lstStyle/>
          <a:p>
            <a:pPr marL="0" indent="0">
              <a:lnSpc>
                <a:spcPct val="100000"/>
              </a:lnSpc>
              <a:buNone/>
            </a:pPr>
            <a:r>
              <a:rPr lang="en-US" dirty="0">
                <a:solidFill>
                  <a:srgbClr val="062A3A"/>
                </a:solidFill>
                <a:latin typeface="Consolas" pitchFamily="34" charset="0"/>
                <a:ea typeface="Consolas" pitchFamily="34" charset="-122"/>
                <a:cs typeface="Consolas" pitchFamily="34" charset="-120"/>
              </a:rPr>
              <a:t>[110. 275.  88. 352.]</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[False  True False  True]</a:t>
            </a:r>
            <a:endParaRPr lang="en-US" dirty="0"/>
          </a:p>
          <a:p>
            <a:pPr marL="0" indent="0">
              <a:lnSpc>
                <a:spcPct val="100000"/>
              </a:lnSpc>
              <a:buNone/>
            </a:pPr>
            <a:r>
              <a:rPr lang="en-US" dirty="0">
                <a:solidFill>
                  <a:srgbClr val="062A3A"/>
                </a:solidFill>
                <a:latin typeface="Consolas" pitchFamily="34" charset="0"/>
                <a:ea typeface="Consolas" pitchFamily="34" charset="-122"/>
                <a:cs typeface="Consolas" pitchFamily="34" charset="-120"/>
              </a:rPr>
              <a:t>[250 320]</a:t>
            </a:r>
            <a:endParaRPr lang="en-US" dirty="0"/>
          </a:p>
        </p:txBody>
      </p:sp>
      <p:sp>
        <p:nvSpPr>
          <p:cNvPr id="30" name="Text 28"/>
          <p:cNvSpPr/>
          <p:nvPr/>
        </p:nvSpPr>
        <p:spPr>
          <a:xfrm>
            <a:off x="6437376" y="4892040"/>
            <a:ext cx="4937760" cy="685800"/>
          </a:xfrm>
          <a:prstGeom prst="rect">
            <a:avLst/>
          </a:prstGeom>
          <a:noFill/>
          <a:ln/>
        </p:spPr>
        <p:txBody>
          <a:bodyPr wrap="square" lIns="0" tIns="0" rIns="0" bIns="0" rtlCol="0" anchor="t"/>
          <a:lstStyle/>
          <a:p>
            <a:pPr marL="0" indent="0">
              <a:lnSpc>
                <a:spcPct val="105000"/>
              </a:lnSpc>
              <a:buNone/>
            </a:pPr>
            <a:r>
              <a:rPr lang="en-US" sz="2000" i="1" dirty="0">
                <a:solidFill>
                  <a:srgbClr val="728694"/>
                </a:solidFill>
                <a:latin typeface="Segoe UI" pitchFamily="34" charset="0"/>
                <a:ea typeface="Segoe UI" pitchFamily="34" charset="-122"/>
                <a:cs typeface="Segoe UI" pitchFamily="34" charset="-120"/>
              </a:rPr>
              <a:t>Một biểu thức thay vòng lặp: nhân, tạo mặt nạ, lọc.</a:t>
            </a:r>
            <a:endParaRPr lang="en-US" sz="2000" dirty="0"/>
          </a:p>
        </p:txBody>
      </p:sp>
      <p:sp>
        <p:nvSpPr>
          <p:cNvPr id="31" name="Shape 29"/>
          <p:cNvSpPr/>
          <p:nvPr/>
        </p:nvSpPr>
        <p:spPr>
          <a:xfrm>
            <a:off x="548640" y="5760720"/>
            <a:ext cx="11091672" cy="502920"/>
          </a:xfrm>
          <a:prstGeom prst="roundRect">
            <a:avLst>
              <a:gd name="adj" fmla="val 12727"/>
            </a:avLst>
          </a:prstGeom>
          <a:solidFill>
            <a:srgbClr val="EAF4F8"/>
          </a:solidFill>
          <a:ln w="9525">
            <a:solidFill>
              <a:srgbClr val="CFE5EE"/>
            </a:solidFill>
            <a:prstDash val="solid"/>
          </a:ln>
        </p:spPr>
      </p:sp>
      <p:sp>
        <p:nvSpPr>
          <p:cNvPr id="32" name="Text 30"/>
          <p:cNvSpPr/>
          <p:nvPr/>
        </p:nvSpPr>
        <p:spPr>
          <a:xfrm>
            <a:off x="777240" y="5760720"/>
            <a:ext cx="10607040" cy="502920"/>
          </a:xfrm>
          <a:prstGeom prst="rect">
            <a:avLst/>
          </a:prstGeom>
          <a:noFill/>
          <a:ln/>
        </p:spPr>
        <p:txBody>
          <a:bodyPr wrap="square" lIns="0" tIns="0" rIns="0" bIns="0" rtlCol="0" anchor="ctr"/>
          <a:lstStyle/>
          <a:p>
            <a:pPr marL="0" indent="0">
              <a:buNone/>
            </a:pPr>
            <a:r>
              <a:rPr lang="en-US" sz="2000" b="1" dirty="0">
                <a:solidFill>
                  <a:srgbClr val="1B8EA8"/>
                </a:solidFill>
                <a:latin typeface="Segoe UI" pitchFamily="34" charset="0"/>
                <a:ea typeface="Segoe UI" pitchFamily="34" charset="-122"/>
                <a:cs typeface="Segoe UI" pitchFamily="34" charset="-120"/>
              </a:rPr>
              <a:t>Biểu thức mảng thay vòng lặp — ngắn hơn, ít lỗi chỉ số.</a:t>
            </a:r>
            <a:endParaRPr lang="en-US" sz="2000" dirty="0"/>
          </a:p>
        </p:txBody>
      </p:sp>
      <p:sp>
        <p:nvSpPr>
          <p:cNvPr id="33" name="Shape 31"/>
          <p:cNvSpPr/>
          <p:nvPr/>
        </p:nvSpPr>
        <p:spPr>
          <a:xfrm>
            <a:off x="548640" y="6437376"/>
            <a:ext cx="11091672" cy="9144"/>
          </a:xfrm>
          <a:prstGeom prst="rect">
            <a:avLst/>
          </a:prstGeom>
          <a:solidFill>
            <a:srgbClr val="D7E5EC"/>
          </a:solidFill>
          <a:ln w="12700">
            <a:solidFill>
              <a:srgbClr val="D7E5EC"/>
            </a:solidFill>
            <a:prstDash val="solid"/>
          </a:ln>
        </p:spPr>
      </p:sp>
      <p:sp>
        <p:nvSpPr>
          <p:cNvPr id="34" name="Text 32"/>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5" name="Text 33"/>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23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2A3A"/>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4DB8D4"/>
                </a:solidFill>
                <a:latin typeface="Segoe UI" pitchFamily="34" charset="0"/>
                <a:ea typeface="Segoe UI" pitchFamily="34" charset="-122"/>
                <a:cs typeface="Segoe UI" pitchFamily="34" charset="-120"/>
              </a:rPr>
              <a:t>KẾT LUẬN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Ba điều cần nhớ về NumPy</a:t>
            </a:r>
            <a:endParaRPr lang="en-US" sz="3200" dirty="0"/>
          </a:p>
        </p:txBody>
      </p:sp>
      <p:sp>
        <p:nvSpPr>
          <p:cNvPr id="4" name="Shape 2"/>
          <p:cNvSpPr/>
          <p:nvPr/>
        </p:nvSpPr>
        <p:spPr>
          <a:xfrm>
            <a:off x="548640" y="1280160"/>
            <a:ext cx="914400" cy="41148"/>
          </a:xfrm>
          <a:prstGeom prst="rect">
            <a:avLst/>
          </a:prstGeom>
          <a:solidFill>
            <a:srgbClr val="E8A33D"/>
          </a:solidFill>
          <a:ln w="12700">
            <a:solidFill>
              <a:srgbClr val="E8A33D"/>
            </a:solidFill>
            <a:prstDash val="solid"/>
          </a:ln>
        </p:spPr>
      </p:sp>
      <p:sp>
        <p:nvSpPr>
          <p:cNvPr id="5" name="Text 3"/>
          <p:cNvSpPr/>
          <p:nvPr/>
        </p:nvSpPr>
        <p:spPr>
          <a:xfrm>
            <a:off x="566928" y="1572768"/>
            <a:ext cx="731520" cy="457200"/>
          </a:xfrm>
          <a:prstGeom prst="rect">
            <a:avLst/>
          </a:prstGeom>
          <a:noFill/>
          <a:ln/>
        </p:spPr>
        <p:txBody>
          <a:bodyPr wrap="square" lIns="0" tIns="0" rIns="0" bIns="0" rtlCol="0" anchor="t"/>
          <a:lstStyle/>
          <a:p>
            <a:pPr marL="0" indent="0">
              <a:buNone/>
            </a:pPr>
            <a:r>
              <a:rPr lang="en-US" sz="2600" b="1" dirty="0">
                <a:solidFill>
                  <a:srgbClr val="E8A33D"/>
                </a:solidFill>
                <a:latin typeface="Consolas" pitchFamily="34" charset="0"/>
                <a:ea typeface="Consolas" pitchFamily="34" charset="-122"/>
                <a:cs typeface="Consolas" pitchFamily="34" charset="-120"/>
              </a:rPr>
              <a:t>01</a:t>
            </a:r>
            <a:endParaRPr lang="en-US" sz="2600" dirty="0"/>
          </a:p>
        </p:txBody>
      </p:sp>
      <p:sp>
        <p:nvSpPr>
          <p:cNvPr id="6" name="Text 4"/>
          <p:cNvSpPr/>
          <p:nvPr/>
        </p:nvSpPr>
        <p:spPr>
          <a:xfrm>
            <a:off x="1325880" y="1554480"/>
            <a:ext cx="9966960" cy="384048"/>
          </a:xfrm>
          <a:prstGeom prst="rect">
            <a:avLst/>
          </a:prstGeom>
          <a:noFill/>
          <a:ln/>
        </p:spPr>
        <p:txBody>
          <a:bodyPr wrap="square" lIns="0" tIns="0" rIns="0" bIns="0" rtlCol="0" anchor="t"/>
          <a:lstStyle/>
          <a:p>
            <a:pPr marL="0" indent="0">
              <a:buNone/>
            </a:pPr>
            <a:r>
              <a:rPr lang="en-US" sz="2500" b="1" dirty="0">
                <a:solidFill>
                  <a:srgbClr val="FFFFFF"/>
                </a:solidFill>
                <a:latin typeface="Segoe UI" pitchFamily="34" charset="0"/>
                <a:ea typeface="Segoe UI" pitchFamily="34" charset="-122"/>
                <a:cs typeface="Segoe UI" pitchFamily="34" charset="-120"/>
              </a:rPr>
              <a:t>Shape quyết định mọi thứ</a:t>
            </a:r>
            <a:endParaRPr lang="en-US" sz="2500" dirty="0"/>
          </a:p>
        </p:txBody>
      </p:sp>
      <p:sp>
        <p:nvSpPr>
          <p:cNvPr id="7" name="Text 5"/>
          <p:cNvSpPr/>
          <p:nvPr/>
        </p:nvSpPr>
        <p:spPr>
          <a:xfrm>
            <a:off x="1325880" y="1965960"/>
            <a:ext cx="9966960" cy="365760"/>
          </a:xfrm>
          <a:prstGeom prst="rect">
            <a:avLst/>
          </a:prstGeom>
          <a:noFill/>
          <a:ln/>
        </p:spPr>
        <p:txBody>
          <a:bodyPr wrap="square" lIns="0" tIns="0" rIns="0" bIns="0" rtlCol="0" anchor="t"/>
          <a:lstStyle/>
          <a:p>
            <a:pPr marL="0" indent="0">
              <a:lnSpc>
                <a:spcPct val="102000"/>
              </a:lnSpc>
              <a:buNone/>
            </a:pPr>
            <a:r>
              <a:rPr lang="en-US" sz="2000" dirty="0">
                <a:solidFill>
                  <a:srgbClr val="A9C6D3"/>
                </a:solidFill>
                <a:latin typeface="Segoe UI" pitchFamily="34" charset="0"/>
                <a:ea typeface="Segoe UI" pitchFamily="34" charset="-122"/>
                <a:cs typeface="Segoe UI" pitchFamily="34" charset="-120"/>
              </a:rPr>
              <a:t>Đọc shape trước khi viết phép toán.</a:t>
            </a:r>
            <a:endParaRPr lang="en-US" sz="2000" dirty="0"/>
          </a:p>
        </p:txBody>
      </p:sp>
      <p:sp>
        <p:nvSpPr>
          <p:cNvPr id="8" name="Text 6"/>
          <p:cNvSpPr/>
          <p:nvPr/>
        </p:nvSpPr>
        <p:spPr>
          <a:xfrm>
            <a:off x="566928" y="2779776"/>
            <a:ext cx="731520" cy="457200"/>
          </a:xfrm>
          <a:prstGeom prst="rect">
            <a:avLst/>
          </a:prstGeom>
          <a:noFill/>
          <a:ln/>
        </p:spPr>
        <p:txBody>
          <a:bodyPr wrap="square" lIns="0" tIns="0" rIns="0" bIns="0" rtlCol="0" anchor="t"/>
          <a:lstStyle/>
          <a:p>
            <a:pPr marL="0" indent="0">
              <a:buNone/>
            </a:pPr>
            <a:r>
              <a:rPr lang="en-US" sz="2600" b="1" dirty="0">
                <a:solidFill>
                  <a:srgbClr val="E8A33D"/>
                </a:solidFill>
                <a:latin typeface="Consolas" pitchFamily="34" charset="0"/>
                <a:ea typeface="Consolas" pitchFamily="34" charset="-122"/>
                <a:cs typeface="Consolas" pitchFamily="34" charset="-120"/>
              </a:rPr>
              <a:t>02</a:t>
            </a:r>
            <a:endParaRPr lang="en-US" sz="2600" dirty="0"/>
          </a:p>
        </p:txBody>
      </p:sp>
      <p:sp>
        <p:nvSpPr>
          <p:cNvPr id="9" name="Text 7"/>
          <p:cNvSpPr/>
          <p:nvPr/>
        </p:nvSpPr>
        <p:spPr>
          <a:xfrm>
            <a:off x="1325880" y="2761488"/>
            <a:ext cx="9966960" cy="384048"/>
          </a:xfrm>
          <a:prstGeom prst="rect">
            <a:avLst/>
          </a:prstGeom>
          <a:noFill/>
          <a:ln/>
        </p:spPr>
        <p:txBody>
          <a:bodyPr wrap="square" lIns="0" tIns="0" rIns="0" bIns="0" rtlCol="0" anchor="t"/>
          <a:lstStyle/>
          <a:p>
            <a:pPr marL="0" indent="0">
              <a:buNone/>
            </a:pPr>
            <a:r>
              <a:rPr lang="en-US" sz="2500" b="1" dirty="0">
                <a:solidFill>
                  <a:srgbClr val="FFFFFF"/>
                </a:solidFill>
                <a:latin typeface="Segoe UI" pitchFamily="34" charset="0"/>
                <a:ea typeface="Segoe UI" pitchFamily="34" charset="-122"/>
                <a:cs typeface="Segoe UI" pitchFamily="34" charset="-120"/>
              </a:rPr>
              <a:t>* khác @</a:t>
            </a:r>
            <a:endParaRPr lang="en-US" sz="2500" dirty="0"/>
          </a:p>
        </p:txBody>
      </p:sp>
      <p:sp>
        <p:nvSpPr>
          <p:cNvPr id="10" name="Text 8"/>
          <p:cNvSpPr/>
          <p:nvPr/>
        </p:nvSpPr>
        <p:spPr>
          <a:xfrm>
            <a:off x="1325880" y="3172968"/>
            <a:ext cx="9966960" cy="365760"/>
          </a:xfrm>
          <a:prstGeom prst="rect">
            <a:avLst/>
          </a:prstGeom>
          <a:noFill/>
          <a:ln/>
        </p:spPr>
        <p:txBody>
          <a:bodyPr wrap="square" lIns="0" tIns="0" rIns="0" bIns="0" rtlCol="0" anchor="t"/>
          <a:lstStyle/>
          <a:p>
            <a:pPr marL="0" indent="0">
              <a:lnSpc>
                <a:spcPct val="102000"/>
              </a:lnSpc>
              <a:buNone/>
            </a:pPr>
            <a:r>
              <a:rPr lang="en-US" sz="2000" dirty="0">
                <a:solidFill>
                  <a:srgbClr val="A9C6D3"/>
                </a:solidFill>
                <a:latin typeface="Segoe UI" pitchFamily="34" charset="0"/>
                <a:ea typeface="Segoe UI" pitchFamily="34" charset="-122"/>
                <a:cs typeface="Segoe UI" pitchFamily="34" charset="-120"/>
              </a:rPr>
              <a:t>* nhân từng phần tử; @ nhân ma trận hàng × cột.</a:t>
            </a:r>
            <a:endParaRPr lang="en-US" sz="2000" dirty="0"/>
          </a:p>
        </p:txBody>
      </p:sp>
      <p:sp>
        <p:nvSpPr>
          <p:cNvPr id="11" name="Text 9"/>
          <p:cNvSpPr/>
          <p:nvPr/>
        </p:nvSpPr>
        <p:spPr>
          <a:xfrm>
            <a:off x="566928" y="3986784"/>
            <a:ext cx="731520" cy="457200"/>
          </a:xfrm>
          <a:prstGeom prst="rect">
            <a:avLst/>
          </a:prstGeom>
          <a:noFill/>
          <a:ln/>
        </p:spPr>
        <p:txBody>
          <a:bodyPr wrap="square" lIns="0" tIns="0" rIns="0" bIns="0" rtlCol="0" anchor="t"/>
          <a:lstStyle/>
          <a:p>
            <a:pPr marL="0" indent="0">
              <a:buNone/>
            </a:pPr>
            <a:r>
              <a:rPr lang="en-US" sz="2600" b="1" dirty="0">
                <a:solidFill>
                  <a:srgbClr val="E8A33D"/>
                </a:solidFill>
                <a:latin typeface="Consolas" pitchFamily="34" charset="0"/>
                <a:ea typeface="Consolas" pitchFamily="34" charset="-122"/>
                <a:cs typeface="Consolas" pitchFamily="34" charset="-120"/>
              </a:rPr>
              <a:t>03</a:t>
            </a:r>
            <a:endParaRPr lang="en-US" sz="2600" dirty="0"/>
          </a:p>
        </p:txBody>
      </p:sp>
      <p:sp>
        <p:nvSpPr>
          <p:cNvPr id="12" name="Text 10"/>
          <p:cNvSpPr/>
          <p:nvPr/>
        </p:nvSpPr>
        <p:spPr>
          <a:xfrm>
            <a:off x="1325880" y="3968496"/>
            <a:ext cx="9966960" cy="384048"/>
          </a:xfrm>
          <a:prstGeom prst="rect">
            <a:avLst/>
          </a:prstGeom>
          <a:noFill/>
          <a:ln/>
        </p:spPr>
        <p:txBody>
          <a:bodyPr wrap="square" lIns="0" tIns="0" rIns="0" bIns="0" rtlCol="0" anchor="t"/>
          <a:lstStyle/>
          <a:p>
            <a:pPr marL="0" indent="0">
              <a:buNone/>
            </a:pPr>
            <a:r>
              <a:rPr lang="en-US" sz="2500" b="1" dirty="0">
                <a:solidFill>
                  <a:srgbClr val="FFFFFF"/>
                </a:solidFill>
                <a:latin typeface="Segoe UI" pitchFamily="34" charset="0"/>
                <a:ea typeface="Segoe UI" pitchFamily="34" charset="-122"/>
                <a:cs typeface="Segoe UI" pitchFamily="34" charset="-120"/>
              </a:rPr>
              <a:t>Broadcasting so sánh từ phải sang trái</a:t>
            </a:r>
            <a:endParaRPr lang="en-US" sz="2500" dirty="0"/>
          </a:p>
        </p:txBody>
      </p:sp>
      <p:sp>
        <p:nvSpPr>
          <p:cNvPr id="13" name="Text 11"/>
          <p:cNvSpPr/>
          <p:nvPr/>
        </p:nvSpPr>
        <p:spPr>
          <a:xfrm>
            <a:off x="1325880" y="4379976"/>
            <a:ext cx="9966960" cy="365760"/>
          </a:xfrm>
          <a:prstGeom prst="rect">
            <a:avLst/>
          </a:prstGeom>
          <a:noFill/>
          <a:ln/>
        </p:spPr>
        <p:txBody>
          <a:bodyPr wrap="square" lIns="0" tIns="0" rIns="0" bIns="0" rtlCol="0" anchor="t"/>
          <a:lstStyle/>
          <a:p>
            <a:pPr marL="0" indent="0">
              <a:lnSpc>
                <a:spcPct val="102000"/>
              </a:lnSpc>
              <a:buNone/>
            </a:pPr>
            <a:r>
              <a:rPr lang="en-US" sz="2000" dirty="0">
                <a:solidFill>
                  <a:srgbClr val="A9C6D3"/>
                </a:solidFill>
                <a:latin typeface="Segoe UI" pitchFamily="34" charset="0"/>
                <a:ea typeface="Segoe UI" pitchFamily="34" charset="-122"/>
                <a:cs typeface="Segoe UI" pitchFamily="34" charset="-120"/>
              </a:rPr>
              <a:t>Bằng nhau hoặc một bên bằng 1; chiều thiếu là 1.</a:t>
            </a:r>
            <a:endParaRPr lang="en-US" sz="2000" dirty="0"/>
          </a:p>
        </p:txBody>
      </p:sp>
      <p:sp>
        <p:nvSpPr>
          <p:cNvPr id="14" name="Shape 12"/>
          <p:cNvSpPr/>
          <p:nvPr/>
        </p:nvSpPr>
        <p:spPr>
          <a:xfrm>
            <a:off x="548640" y="5532120"/>
            <a:ext cx="11091672" cy="566928"/>
          </a:xfrm>
          <a:prstGeom prst="roundRect">
            <a:avLst>
              <a:gd name="adj" fmla="val 11290"/>
            </a:avLst>
          </a:prstGeom>
          <a:solidFill>
            <a:srgbClr val="0F3A4C"/>
          </a:solidFill>
          <a:ln w="9525">
            <a:solidFill>
              <a:srgbClr val="1D566B"/>
            </a:solidFill>
            <a:prstDash val="solid"/>
          </a:ln>
        </p:spPr>
      </p:sp>
      <p:sp>
        <p:nvSpPr>
          <p:cNvPr id="15" name="Text 13"/>
          <p:cNvSpPr/>
          <p:nvPr/>
        </p:nvSpPr>
        <p:spPr>
          <a:xfrm>
            <a:off x="777240" y="5532120"/>
            <a:ext cx="10607040" cy="566928"/>
          </a:xfrm>
          <a:prstGeom prst="rect">
            <a:avLst/>
          </a:prstGeom>
          <a:noFill/>
          <a:ln/>
        </p:spPr>
        <p:txBody>
          <a:bodyPr wrap="square" lIns="0" tIns="0" rIns="0" bIns="0" rtlCol="0" anchor="ctr"/>
          <a:lstStyle/>
          <a:p>
            <a:pPr marL="0" indent="0">
              <a:buNone/>
            </a:pPr>
            <a:r>
              <a:rPr lang="en-US" sz="1800" b="1" dirty="0">
                <a:solidFill>
                  <a:srgbClr val="4DB8D4"/>
                </a:solidFill>
                <a:latin typeface="Segoe UI" pitchFamily="34" charset="0"/>
                <a:ea typeface="Segoe UI" pitchFamily="34" charset="-122"/>
                <a:cs typeface="Segoe UI" pitchFamily="34" charset="-120"/>
              </a:rPr>
              <a:t>Ngoài NumPy: pandas cho bảng nhiều kiểu; PyTorch cho GPU/autograd.</a:t>
            </a:r>
            <a:endParaRPr lang="en-US" sz="1800" dirty="0"/>
          </a:p>
        </p:txBody>
      </p:sp>
      <p:sp>
        <p:nvSpPr>
          <p:cNvPr id="16" name="Shape 14"/>
          <p:cNvSpPr/>
          <p:nvPr/>
        </p:nvSpPr>
        <p:spPr>
          <a:xfrm>
            <a:off x="548640" y="6437376"/>
            <a:ext cx="11091672" cy="9144"/>
          </a:xfrm>
          <a:prstGeom prst="rect">
            <a:avLst/>
          </a:prstGeom>
          <a:solidFill>
            <a:srgbClr val="1D4657"/>
          </a:solidFill>
          <a:ln w="12700">
            <a:solidFill>
              <a:srgbClr val="1D4657"/>
            </a:solidFill>
            <a:prstDash val="solid"/>
          </a:ln>
        </p:spPr>
      </p:sp>
      <p:sp>
        <p:nvSpPr>
          <p:cNvPr id="17" name="Text 15"/>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8FB0BF"/>
                </a:solidFill>
                <a:latin typeface="Segoe UI" pitchFamily="34" charset="0"/>
                <a:ea typeface="Segoe UI" pitchFamily="34" charset="-122"/>
                <a:cs typeface="Segoe UI" pitchFamily="34" charset="-120"/>
              </a:rPr>
              <a:t>Tìm hiểu thư viện NumPy trong Python</a:t>
            </a:r>
            <a:endParaRPr lang="en-US" sz="1050" dirty="0"/>
          </a:p>
        </p:txBody>
      </p:sp>
      <p:sp>
        <p:nvSpPr>
          <p:cNvPr id="18" name="Text 16"/>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8FB0BF"/>
                </a:solidFill>
                <a:latin typeface="Segoe UI" pitchFamily="34" charset="0"/>
                <a:ea typeface="Segoe UI" pitchFamily="34" charset="-122"/>
                <a:cs typeface="Segoe UI" pitchFamily="34" charset="-120"/>
              </a:rPr>
              <a:t>24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marL="0" indent="0">
              <a:buNone/>
            </a:pPr>
            <a:r>
              <a:rPr lang="en-US" sz="1200" b="1" kern="0" spc="150" dirty="0">
                <a:solidFill>
                  <a:srgbClr val="1B8EA8"/>
                </a:solidFill>
                <a:latin typeface="Segoe UI" pitchFamily="34" charset="0"/>
                <a:ea typeface="Segoe UI" pitchFamily="34" charset="-122"/>
                <a:cs typeface="Segoe UI" pitchFamily="34" charset="-120"/>
              </a:rPr>
              <a:t>TÀI LIỆU THAM KHẢO</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marL="0" indent="0">
              <a:buNone/>
            </a:pPr>
            <a:r>
              <a:rPr lang="en-US" sz="3200" b="1" dirty="0">
                <a:solidFill>
                  <a:srgbClr val="062A3A"/>
                </a:solidFill>
                <a:latin typeface="Segoe UI" pitchFamily="34" charset="0"/>
                <a:ea typeface="Segoe UI" pitchFamily="34" charset="-122"/>
                <a:cs typeface="Segoe UI" pitchFamily="34" charset="-120"/>
              </a:rPr>
              <a:t>Nguồn và hướng tìm hiểu tiếp</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417320"/>
            <a:ext cx="4480560" cy="36576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Hướng tìm hiểu tiếp</a:t>
            </a:r>
            <a:endParaRPr lang="en-US" sz="2500" dirty="0"/>
          </a:p>
        </p:txBody>
      </p:sp>
      <p:sp>
        <p:nvSpPr>
          <p:cNvPr id="6" name="Shape 4"/>
          <p:cNvSpPr/>
          <p:nvPr/>
        </p:nvSpPr>
        <p:spPr>
          <a:xfrm>
            <a:off x="548640" y="1901952"/>
            <a:ext cx="4480560" cy="621792"/>
          </a:xfrm>
          <a:prstGeom prst="roundRect">
            <a:avLst>
              <a:gd name="adj" fmla="val 1029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7" name="Text 5"/>
          <p:cNvSpPr/>
          <p:nvPr/>
        </p:nvSpPr>
        <p:spPr>
          <a:xfrm>
            <a:off x="731520" y="1975104"/>
            <a:ext cx="1645920" cy="256032"/>
          </a:xfrm>
          <a:prstGeom prst="rect">
            <a:avLst/>
          </a:prstGeom>
          <a:noFill/>
          <a:ln/>
        </p:spPr>
        <p:txBody>
          <a:bodyPr wrap="square" lIns="0" tIns="0" rIns="0" bIns="0" rtlCol="0" anchor="t"/>
          <a:lstStyle/>
          <a:p>
            <a:pPr marL="0" indent="0">
              <a:buNone/>
            </a:pPr>
            <a:r>
              <a:rPr lang="en-US" sz="1800" b="1" dirty="0">
                <a:solidFill>
                  <a:srgbClr val="1B8EA8"/>
                </a:solidFill>
                <a:latin typeface="Consolas" pitchFamily="34" charset="0"/>
                <a:ea typeface="Consolas" pitchFamily="34" charset="-122"/>
                <a:cs typeface="Consolas" pitchFamily="34" charset="-120"/>
              </a:rPr>
              <a:t>Matplotlib</a:t>
            </a:r>
            <a:endParaRPr lang="en-US" sz="1800" dirty="0"/>
          </a:p>
        </p:txBody>
      </p:sp>
      <p:sp>
        <p:nvSpPr>
          <p:cNvPr id="8" name="Text 6"/>
          <p:cNvSpPr/>
          <p:nvPr/>
        </p:nvSpPr>
        <p:spPr>
          <a:xfrm>
            <a:off x="2468880" y="1975104"/>
            <a:ext cx="2331720" cy="475488"/>
          </a:xfrm>
          <a:prstGeom prst="rect">
            <a:avLst/>
          </a:prstGeom>
          <a:noFill/>
          <a:ln/>
        </p:spPr>
        <p:txBody>
          <a:bodyPr wrap="square" lIns="0" tIns="0" rIns="0" bIns="0" rtlCol="0" anchor="t"/>
          <a:lstStyle/>
          <a:p>
            <a:pPr marL="0" indent="0">
              <a:lnSpc>
                <a:spcPct val="100000"/>
              </a:lnSpc>
              <a:buNone/>
            </a:pPr>
            <a:r>
              <a:rPr lang="en-US" sz="1600" dirty="0">
                <a:solidFill>
                  <a:srgbClr val="415A6B"/>
                </a:solidFill>
                <a:latin typeface="Segoe UI" pitchFamily="34" charset="0"/>
                <a:ea typeface="Segoe UI" pitchFamily="34" charset="-122"/>
                <a:cs typeface="Segoe UI" pitchFamily="34" charset="-120"/>
              </a:rPr>
              <a:t>Trực quan hóa mảng.</a:t>
            </a:r>
            <a:endParaRPr lang="en-US" sz="1600" dirty="0"/>
          </a:p>
        </p:txBody>
      </p:sp>
      <p:sp>
        <p:nvSpPr>
          <p:cNvPr id="9" name="Shape 7"/>
          <p:cNvSpPr/>
          <p:nvPr/>
        </p:nvSpPr>
        <p:spPr>
          <a:xfrm>
            <a:off x="548640" y="2633472"/>
            <a:ext cx="4480560" cy="621792"/>
          </a:xfrm>
          <a:prstGeom prst="roundRect">
            <a:avLst>
              <a:gd name="adj" fmla="val 1029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0" name="Text 8"/>
          <p:cNvSpPr/>
          <p:nvPr/>
        </p:nvSpPr>
        <p:spPr>
          <a:xfrm>
            <a:off x="731520" y="2706624"/>
            <a:ext cx="1645920" cy="256032"/>
          </a:xfrm>
          <a:prstGeom prst="rect">
            <a:avLst/>
          </a:prstGeom>
          <a:noFill/>
          <a:ln/>
        </p:spPr>
        <p:txBody>
          <a:bodyPr wrap="square" lIns="0" tIns="0" rIns="0" bIns="0" rtlCol="0" anchor="t"/>
          <a:lstStyle/>
          <a:p>
            <a:pPr marL="0" indent="0">
              <a:buNone/>
            </a:pPr>
            <a:r>
              <a:rPr lang="en-US" sz="1800" b="1" dirty="0">
                <a:solidFill>
                  <a:srgbClr val="1B8EA8"/>
                </a:solidFill>
                <a:latin typeface="Consolas" pitchFamily="34" charset="0"/>
                <a:ea typeface="Consolas" pitchFamily="34" charset="-122"/>
                <a:cs typeface="Consolas" pitchFamily="34" charset="-120"/>
              </a:rPr>
              <a:t>pandas</a:t>
            </a:r>
            <a:endParaRPr lang="en-US" sz="1800" dirty="0"/>
          </a:p>
        </p:txBody>
      </p:sp>
      <p:sp>
        <p:nvSpPr>
          <p:cNvPr id="11" name="Text 9"/>
          <p:cNvSpPr/>
          <p:nvPr/>
        </p:nvSpPr>
        <p:spPr>
          <a:xfrm>
            <a:off x="2468880" y="2706624"/>
            <a:ext cx="2331720" cy="475488"/>
          </a:xfrm>
          <a:prstGeom prst="rect">
            <a:avLst/>
          </a:prstGeom>
          <a:noFill/>
          <a:ln/>
        </p:spPr>
        <p:txBody>
          <a:bodyPr wrap="square" lIns="0" tIns="0" rIns="0" bIns="0" rtlCol="0" anchor="t"/>
          <a:lstStyle/>
          <a:p>
            <a:pPr marL="0" indent="0">
              <a:lnSpc>
                <a:spcPct val="100000"/>
              </a:lnSpc>
              <a:buNone/>
            </a:pPr>
            <a:r>
              <a:rPr lang="en-US" sz="1600" dirty="0">
                <a:solidFill>
                  <a:srgbClr val="415A6B"/>
                </a:solidFill>
                <a:latin typeface="Segoe UI" pitchFamily="34" charset="0"/>
                <a:ea typeface="Segoe UI" pitchFamily="34" charset="-122"/>
                <a:cs typeface="Segoe UI" pitchFamily="34" charset="-120"/>
              </a:rPr>
              <a:t>Bảng dữ liệu có nhãn.</a:t>
            </a:r>
            <a:endParaRPr lang="en-US" sz="1600" dirty="0"/>
          </a:p>
        </p:txBody>
      </p:sp>
      <p:sp>
        <p:nvSpPr>
          <p:cNvPr id="12" name="Shape 10"/>
          <p:cNvSpPr/>
          <p:nvPr/>
        </p:nvSpPr>
        <p:spPr>
          <a:xfrm>
            <a:off x="548640" y="3364992"/>
            <a:ext cx="4480560" cy="621792"/>
          </a:xfrm>
          <a:prstGeom prst="roundRect">
            <a:avLst>
              <a:gd name="adj" fmla="val 1029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3" name="Text 11"/>
          <p:cNvSpPr/>
          <p:nvPr/>
        </p:nvSpPr>
        <p:spPr>
          <a:xfrm>
            <a:off x="731520" y="3438144"/>
            <a:ext cx="1645920" cy="256032"/>
          </a:xfrm>
          <a:prstGeom prst="rect">
            <a:avLst/>
          </a:prstGeom>
          <a:noFill/>
          <a:ln/>
        </p:spPr>
        <p:txBody>
          <a:bodyPr wrap="square" lIns="0" tIns="0" rIns="0" bIns="0" rtlCol="0" anchor="t"/>
          <a:lstStyle/>
          <a:p>
            <a:pPr marL="0" indent="0">
              <a:buNone/>
            </a:pPr>
            <a:r>
              <a:rPr lang="en-US" sz="1800" b="1" dirty="0">
                <a:solidFill>
                  <a:srgbClr val="1B8EA8"/>
                </a:solidFill>
                <a:latin typeface="Consolas" pitchFamily="34" charset="0"/>
                <a:ea typeface="Consolas" pitchFamily="34" charset="-122"/>
                <a:cs typeface="Consolas" pitchFamily="34" charset="-120"/>
              </a:rPr>
              <a:t>numpy.linalg</a:t>
            </a:r>
            <a:endParaRPr lang="en-US" sz="1800" dirty="0"/>
          </a:p>
        </p:txBody>
      </p:sp>
      <p:sp>
        <p:nvSpPr>
          <p:cNvPr id="14" name="Text 12"/>
          <p:cNvSpPr/>
          <p:nvPr/>
        </p:nvSpPr>
        <p:spPr>
          <a:xfrm>
            <a:off x="2468880" y="3438144"/>
            <a:ext cx="2331720" cy="475488"/>
          </a:xfrm>
          <a:prstGeom prst="rect">
            <a:avLst/>
          </a:prstGeom>
          <a:noFill/>
          <a:ln/>
        </p:spPr>
        <p:txBody>
          <a:bodyPr wrap="square" lIns="0" tIns="0" rIns="0" bIns="0" rtlCol="0" anchor="t"/>
          <a:lstStyle/>
          <a:p>
            <a:pPr marL="0" indent="0">
              <a:lnSpc>
                <a:spcPct val="100000"/>
              </a:lnSpc>
              <a:buNone/>
            </a:pPr>
            <a:r>
              <a:rPr lang="en-US" sz="1600" dirty="0">
                <a:solidFill>
                  <a:srgbClr val="415A6B"/>
                </a:solidFill>
                <a:latin typeface="Segoe UI" pitchFamily="34" charset="0"/>
                <a:ea typeface="Segoe UI" pitchFamily="34" charset="-122"/>
                <a:cs typeface="Segoe UI" pitchFamily="34" charset="-120"/>
              </a:rPr>
              <a:t>Đại số tuyến tính.</a:t>
            </a:r>
            <a:endParaRPr lang="en-US" sz="1600" dirty="0"/>
          </a:p>
        </p:txBody>
      </p:sp>
      <p:sp>
        <p:nvSpPr>
          <p:cNvPr id="15" name="Shape 13"/>
          <p:cNvSpPr/>
          <p:nvPr/>
        </p:nvSpPr>
        <p:spPr>
          <a:xfrm>
            <a:off x="548640" y="4096512"/>
            <a:ext cx="4480560" cy="621792"/>
          </a:xfrm>
          <a:prstGeom prst="roundRect">
            <a:avLst>
              <a:gd name="adj" fmla="val 1029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6" name="Text 14"/>
          <p:cNvSpPr/>
          <p:nvPr/>
        </p:nvSpPr>
        <p:spPr>
          <a:xfrm>
            <a:off x="731520" y="4169664"/>
            <a:ext cx="1645920" cy="256032"/>
          </a:xfrm>
          <a:prstGeom prst="rect">
            <a:avLst/>
          </a:prstGeom>
          <a:noFill/>
          <a:ln/>
        </p:spPr>
        <p:txBody>
          <a:bodyPr wrap="square" lIns="0" tIns="0" rIns="0" bIns="0" rtlCol="0" anchor="t"/>
          <a:lstStyle/>
          <a:p>
            <a:pPr marL="0" indent="0">
              <a:buNone/>
            </a:pPr>
            <a:r>
              <a:rPr lang="en-US" sz="1800" b="1" dirty="0">
                <a:solidFill>
                  <a:srgbClr val="1B8EA8"/>
                </a:solidFill>
                <a:latin typeface="Consolas" pitchFamily="34" charset="0"/>
                <a:ea typeface="Consolas" pitchFamily="34" charset="-122"/>
                <a:cs typeface="Consolas" pitchFamily="34" charset="-120"/>
              </a:rPr>
              <a:t>Broadcasting</a:t>
            </a:r>
            <a:endParaRPr lang="en-US" sz="1800" dirty="0"/>
          </a:p>
        </p:txBody>
      </p:sp>
      <p:sp>
        <p:nvSpPr>
          <p:cNvPr id="17" name="Text 15"/>
          <p:cNvSpPr/>
          <p:nvPr/>
        </p:nvSpPr>
        <p:spPr>
          <a:xfrm>
            <a:off x="2468880" y="4169664"/>
            <a:ext cx="2331720" cy="475488"/>
          </a:xfrm>
          <a:prstGeom prst="rect">
            <a:avLst/>
          </a:prstGeom>
          <a:noFill/>
          <a:ln/>
        </p:spPr>
        <p:txBody>
          <a:bodyPr wrap="square" lIns="0" tIns="0" rIns="0" bIns="0" rtlCol="0" anchor="t"/>
          <a:lstStyle/>
          <a:p>
            <a:pPr marL="0" indent="0">
              <a:lnSpc>
                <a:spcPct val="100000"/>
              </a:lnSpc>
              <a:buNone/>
            </a:pPr>
            <a:r>
              <a:rPr lang="en-US" sz="1600" dirty="0">
                <a:solidFill>
                  <a:srgbClr val="415A6B"/>
                </a:solidFill>
                <a:latin typeface="Segoe UI" pitchFamily="34" charset="0"/>
                <a:ea typeface="Segoe UI" pitchFamily="34" charset="-122"/>
                <a:cs typeface="Segoe UI" pitchFamily="34" charset="-120"/>
              </a:rPr>
              <a:t>np.newaxis, expand_dims.</a:t>
            </a:r>
            <a:endParaRPr lang="en-US" sz="1600" dirty="0"/>
          </a:p>
        </p:txBody>
      </p:sp>
      <p:sp>
        <p:nvSpPr>
          <p:cNvPr id="18" name="Shape 16"/>
          <p:cNvSpPr/>
          <p:nvPr/>
        </p:nvSpPr>
        <p:spPr>
          <a:xfrm>
            <a:off x="548640" y="4828032"/>
            <a:ext cx="4480560" cy="621792"/>
          </a:xfrm>
          <a:prstGeom prst="roundRect">
            <a:avLst>
              <a:gd name="adj" fmla="val 1029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9" name="Text 17"/>
          <p:cNvSpPr/>
          <p:nvPr/>
        </p:nvSpPr>
        <p:spPr>
          <a:xfrm>
            <a:off x="731520" y="4901184"/>
            <a:ext cx="1645920" cy="256032"/>
          </a:xfrm>
          <a:prstGeom prst="rect">
            <a:avLst/>
          </a:prstGeom>
          <a:noFill/>
          <a:ln/>
        </p:spPr>
        <p:txBody>
          <a:bodyPr wrap="square" lIns="0" tIns="0" rIns="0" bIns="0" rtlCol="0" anchor="t"/>
          <a:lstStyle/>
          <a:p>
            <a:pPr marL="0" indent="0">
              <a:buNone/>
            </a:pPr>
            <a:r>
              <a:rPr lang="en-US" sz="1800" b="1" dirty="0">
                <a:solidFill>
                  <a:srgbClr val="1B8EA8"/>
                </a:solidFill>
                <a:latin typeface="Consolas" pitchFamily="34" charset="0"/>
                <a:ea typeface="Consolas" pitchFamily="34" charset="-122"/>
                <a:cs typeface="Consolas" pitchFamily="34" charset="-120"/>
              </a:rPr>
              <a:t>Đọc / ghi</a:t>
            </a:r>
            <a:endParaRPr lang="en-US" sz="1800" dirty="0"/>
          </a:p>
        </p:txBody>
      </p:sp>
      <p:sp>
        <p:nvSpPr>
          <p:cNvPr id="20" name="Text 18"/>
          <p:cNvSpPr/>
          <p:nvPr/>
        </p:nvSpPr>
        <p:spPr>
          <a:xfrm>
            <a:off x="2468880" y="4901184"/>
            <a:ext cx="2331720" cy="475488"/>
          </a:xfrm>
          <a:prstGeom prst="rect">
            <a:avLst/>
          </a:prstGeom>
          <a:noFill/>
          <a:ln/>
        </p:spPr>
        <p:txBody>
          <a:bodyPr wrap="square" lIns="0" tIns="0" rIns="0" bIns="0" rtlCol="0" anchor="t"/>
          <a:lstStyle/>
          <a:p>
            <a:pPr marL="0" indent="0">
              <a:lnSpc>
                <a:spcPct val="100000"/>
              </a:lnSpc>
              <a:buNone/>
            </a:pPr>
            <a:r>
              <a:rPr lang="en-US" sz="1600" dirty="0">
                <a:solidFill>
                  <a:srgbClr val="415A6B"/>
                </a:solidFill>
                <a:latin typeface="Segoe UI" pitchFamily="34" charset="0"/>
                <a:ea typeface="Segoe UI" pitchFamily="34" charset="-122"/>
                <a:cs typeface="Segoe UI" pitchFamily="34" charset="-120"/>
              </a:rPr>
              <a:t>loadtxt, savetxt, save, load.</a:t>
            </a:r>
            <a:endParaRPr lang="en-US" sz="1600" dirty="0"/>
          </a:p>
        </p:txBody>
      </p:sp>
      <p:sp>
        <p:nvSpPr>
          <p:cNvPr id="21" name="Text 19"/>
          <p:cNvSpPr/>
          <p:nvPr/>
        </p:nvSpPr>
        <p:spPr>
          <a:xfrm>
            <a:off x="5349240" y="1417320"/>
            <a:ext cx="6217920" cy="365760"/>
          </a:xfrm>
          <a:prstGeom prst="rect">
            <a:avLst/>
          </a:prstGeom>
          <a:noFill/>
          <a:ln/>
        </p:spPr>
        <p:txBody>
          <a:bodyPr wrap="square" lIns="0" tIns="0" rIns="0" bIns="0" rtlCol="0" anchor="t"/>
          <a:lstStyle/>
          <a:p>
            <a:pPr marL="0" indent="0">
              <a:buNone/>
            </a:pPr>
            <a:r>
              <a:rPr lang="en-US" sz="2500" b="1" dirty="0">
                <a:solidFill>
                  <a:srgbClr val="062A3A"/>
                </a:solidFill>
                <a:latin typeface="Segoe UI" pitchFamily="34" charset="0"/>
                <a:ea typeface="Segoe UI" pitchFamily="34" charset="-122"/>
                <a:cs typeface="Segoe UI" pitchFamily="34" charset="-120"/>
              </a:rPr>
              <a:t>Tài liệu tham khảo</a:t>
            </a:r>
            <a:endParaRPr lang="en-US" sz="2500" dirty="0"/>
          </a:p>
        </p:txBody>
      </p:sp>
      <p:sp>
        <p:nvSpPr>
          <p:cNvPr id="22" name="Text 20"/>
          <p:cNvSpPr/>
          <p:nvPr/>
        </p:nvSpPr>
        <p:spPr>
          <a:xfrm>
            <a:off x="5349240" y="1792224"/>
            <a:ext cx="2926080" cy="219456"/>
          </a:xfrm>
          <a:prstGeom prst="rect">
            <a:avLst/>
          </a:prstGeom>
          <a:noFill/>
          <a:ln/>
        </p:spPr>
        <p:txBody>
          <a:bodyPr wrap="square" lIns="0" tIns="0" rIns="0" bIns="0" rtlCol="0" anchor="t"/>
          <a:lstStyle/>
          <a:p>
            <a:pPr marL="0" indent="0">
              <a:buNone/>
            </a:pPr>
            <a:r>
              <a:rPr lang="en-US" sz="1250" i="1" dirty="0">
                <a:solidFill>
                  <a:srgbClr val="728694"/>
                </a:solidFill>
                <a:latin typeface="Segoe UI" pitchFamily="34" charset="0"/>
                <a:ea typeface="Segoe UI" pitchFamily="34" charset="-122"/>
                <a:cs typeface="Segoe UI" pitchFamily="34" charset="-120"/>
              </a:rPr>
              <a:t>Truy cập: 25/10/2026</a:t>
            </a:r>
            <a:endParaRPr lang="en-US" sz="1250" dirty="0"/>
          </a:p>
        </p:txBody>
      </p:sp>
      <p:sp>
        <p:nvSpPr>
          <p:cNvPr id="23" name="Text 21"/>
          <p:cNvSpPr/>
          <p:nvPr/>
        </p:nvSpPr>
        <p:spPr>
          <a:xfrm>
            <a:off x="5349240" y="2121408"/>
            <a:ext cx="6291072" cy="3611880"/>
          </a:xfrm>
          <a:prstGeom prst="rect">
            <a:avLst/>
          </a:prstGeom>
          <a:noFill/>
          <a:ln/>
        </p:spPr>
        <p:txBody>
          <a:bodyPr wrap="square" lIns="0" tIns="0" rIns="0" bIns="0" rtlCol="0" anchor="t"/>
          <a:lstStyle/>
          <a:p>
            <a:pPr marL="0" indent="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[1] NumPy Developers. What is NumPy? NumPy v2.5 Manual. https://numpy.org/doc/stable/user/whatisnumpy.html</a:t>
            </a:r>
            <a:endParaRPr lang="en-US" sz="1320" dirty="0"/>
          </a:p>
          <a:p>
            <a:pPr marL="0" indent="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[2] NumPy Developers. NumPy: the absolute basics for beginners. https://numpy.org/doc/stable/user/absolute_beginners.html</a:t>
            </a:r>
            <a:endParaRPr lang="en-US" sz="1320" dirty="0"/>
          </a:p>
          <a:p>
            <a:pPr marL="0" indent="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[3] NumPy Developers. Broadcasting. https://numpy.org/doc/stable/user/basics.broadcasting.html</a:t>
            </a:r>
            <a:endParaRPr lang="en-US" sz="1320" dirty="0"/>
          </a:p>
          <a:p>
            <a:pPr marL="0" indent="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[4] NumPy Developers. NumPy quickstart. https://numpy.org/doc/stable/user/quickstart.html</a:t>
            </a:r>
            <a:endParaRPr lang="en-US" sz="1320" dirty="0"/>
          </a:p>
          <a:p>
            <a:pPr marL="0" indent="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[5] NumPy Developers. Array creation routines. https://numpy.org/doc/stable/reference/routines.array-creation.html</a:t>
            </a:r>
            <a:endParaRPr lang="en-US" sz="1320" dirty="0"/>
          </a:p>
          <a:p>
            <a:pPr marL="0" indent="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[6] NumPy Developers. Linear algebra (numpy.linalg). https://numpy.org/doc/stable/reference/routines.linalg.html</a:t>
            </a:r>
            <a:endParaRPr lang="en-US" sz="1320" dirty="0"/>
          </a:p>
          <a:p>
            <a:pPr marL="0" indent="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[7] Python Software Foundation. Data Structures — Python Tutorial. https://docs.python.org/3/tutorial/datastructures.html</a:t>
            </a:r>
            <a:endParaRPr lang="en-US" sz="1320" dirty="0"/>
          </a:p>
        </p:txBody>
      </p:sp>
      <p:sp>
        <p:nvSpPr>
          <p:cNvPr id="24" name="Text 22"/>
          <p:cNvSpPr/>
          <p:nvPr/>
        </p:nvSpPr>
        <p:spPr>
          <a:xfrm>
            <a:off x="548640" y="5833872"/>
            <a:ext cx="11064240" cy="411480"/>
          </a:xfrm>
          <a:prstGeom prst="rect">
            <a:avLst/>
          </a:prstGeom>
          <a:noFill/>
          <a:ln/>
        </p:spPr>
        <p:txBody>
          <a:bodyPr wrap="square" lIns="0" tIns="0" rIns="0" bIns="0" rtlCol="0" anchor="t"/>
          <a:lstStyle/>
          <a:p>
            <a:pPr marL="0" indent="0">
              <a:buNone/>
            </a:pPr>
            <a:r>
              <a:rPr lang="en-US" sz="1150" i="1" dirty="0">
                <a:solidFill>
                  <a:srgbClr val="728694"/>
                </a:solidFill>
                <a:latin typeface="Segoe UI" pitchFamily="34" charset="0"/>
                <a:ea typeface="Segoe UI" pitchFamily="34" charset="-122"/>
                <a:cs typeface="Segoe UI" pitchFamily="34" charset="-120"/>
              </a:rPr>
              <a:t>Logo: NumPy Documentation (giấy phép BSD). Các sơ đồ khác được vẽ bằng hình khối PowerPoint. Code và output kiểm chứng trên Python 3.14 + NumPy 2.5.4.</a:t>
            </a:r>
            <a:endParaRPr lang="en-US" sz="1150" dirty="0"/>
          </a:p>
        </p:txBody>
      </p:sp>
      <p:sp>
        <p:nvSpPr>
          <p:cNvPr id="25" name="Shape 23"/>
          <p:cNvSpPr/>
          <p:nvPr/>
        </p:nvSpPr>
        <p:spPr>
          <a:xfrm>
            <a:off x="548640" y="6437376"/>
            <a:ext cx="11091672" cy="9144"/>
          </a:xfrm>
          <a:prstGeom prst="rect">
            <a:avLst/>
          </a:prstGeom>
          <a:solidFill>
            <a:srgbClr val="D7E5EC"/>
          </a:solidFill>
          <a:ln w="12700">
            <a:solidFill>
              <a:srgbClr val="D7E5EC"/>
            </a:solidFill>
            <a:prstDash val="solid"/>
          </a:ln>
        </p:spPr>
      </p:sp>
      <p:sp>
        <p:nvSpPr>
          <p:cNvPr id="26" name="Text 24"/>
          <p:cNvSpPr/>
          <p:nvPr/>
        </p:nvSpPr>
        <p:spPr>
          <a:xfrm>
            <a:off x="548640" y="6510528"/>
            <a:ext cx="7772400" cy="201168"/>
          </a:xfrm>
          <a:prstGeom prst="rect">
            <a:avLst/>
          </a:prstGeom>
          <a:noFill/>
          <a:ln/>
        </p:spPr>
        <p:txBody>
          <a:bodyPr wrap="square" lIns="0" tIns="0" rIns="0" bIns="0" rtlCol="0" anchor="t"/>
          <a:lstStyle/>
          <a:p>
            <a:pPr marL="0" indent="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27" name="Text 25"/>
          <p:cNvSpPr/>
          <p:nvPr/>
        </p:nvSpPr>
        <p:spPr>
          <a:xfrm>
            <a:off x="10698480" y="6510528"/>
            <a:ext cx="941832" cy="201168"/>
          </a:xfrm>
          <a:prstGeom prst="rect">
            <a:avLst/>
          </a:prstGeom>
          <a:noFill/>
          <a:ln/>
        </p:spPr>
        <p:txBody>
          <a:bodyPr wrap="square" lIns="0" tIns="0" rIns="0" bIns="0" rtlCol="0" anchor="t"/>
          <a:lstStyle/>
          <a:p>
            <a:pPr marL="0" indent="0" algn="r">
              <a:buNone/>
            </a:pPr>
            <a:r>
              <a:rPr lang="en-US" sz="1050" dirty="0">
                <a:solidFill>
                  <a:srgbClr val="728694"/>
                </a:solidFill>
                <a:latin typeface="Segoe UI" pitchFamily="34" charset="0"/>
                <a:ea typeface="Segoe UI" pitchFamily="34" charset="-122"/>
                <a:cs typeface="Segoe UI" pitchFamily="34" charset="-120"/>
              </a:rPr>
              <a:t>25 / 25</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5401</Words>
  <Application>Microsoft Office PowerPoint</Application>
  <PresentationFormat>Widescreen</PresentationFormat>
  <Paragraphs>844</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Nhập môn Công nghệ Thông 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thư viện NumPy trong Python</dc:title>
  <dc:subject>Tìm hiểu thư viện NumPy trong Python</dc:subject>
  <dc:creator>26120072</dc:creator>
  <cp:lastModifiedBy>Admin</cp:lastModifiedBy>
  <cp:revision>11</cp:revision>
  <dcterms:created xsi:type="dcterms:W3CDTF">2026-10-25T15:26:48Z</dcterms:created>
  <dcterms:modified xsi:type="dcterms:W3CDTF">2026-10-26T08:08:33Z</dcterms:modified>
</cp:coreProperties>
</file>