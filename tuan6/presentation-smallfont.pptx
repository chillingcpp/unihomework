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4172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chủ đề: NumPy là thư viện nền tảng cho tính toán số trong Python. Bài đi từ đối tượng ndarray, cách tạo và truy cập dữ liệu, đến phép toán, broadcasting và bốn ví dụ thực hành.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Sáu chặng tương ứng với sáu phần nội dung. Mạch đi từ động cơ sử dụng, mô hình dữ liệu, thao tác cơ bản, đến tính toán và ví dụ.</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Định nghĩa ngắn: NumPy là gói nền tảng cho tính toán khoa học, cung cấp ndarray cùng kho hàm toán học, logic, biến đổi hình dạng, sắp xếp, nhập xuất và đại số tuyến tính. Phiên bản dùng trong tài liệu là 2.5.4.</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động cơ: biểu diễn dữ liệu số nhiều chiều, viết ngắn hơn nhờ biểu thức mảng, và có sẵn hàm thống kê trên toàn mảng. Ví dụ then chốt: cùng dấu * nhưng list lặp còn ndarray nhân từng phần tử.</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ndarray là kiểu trung tâm: mảng N chiều, đồng nhất kiểu, kích thước cố định, dạng lưới chữ nhật. Hiểu ndarray là hiểu cách NumPy nghĩ: dữ liệu là lưới nhiều chiều và phép toán áp lên lưới đó.</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Cân bằng hai mặt: mạnh ở vector hóa, broadcasting và hệ sinh thái; yếu khi dữ liệu không đồng nhất, cần thêm bớt phần tử, hoặc cần nhãn. Với bảng nhiều kiểu, pandas là lựa chọn phù hợp hơn.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nhóm ứng dụng tiêu biểu. Điểm chung: dữ liệu là số, đồng nhất kiểu, kích thước lớn và cần tính hàng loạt.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so sánh sáu tiêu chí. Ví dụ then chốt: list nhân với 2 là lặp danh sách, ndarray nhân với 2 là nhân từng phần tử. Đây là lý do phải phân biệt rõ kiểu dữ liệu khi đọc code.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chiều là số trục của lưới. 0-D là một giá trị, 1-D là dãy, 2-D là bảng hàng cột, 3-D là chồng các bảng. Cú pháp shape (3,) cần dấu phẩy vì Python coi (3) là số 3 chứ không phải tuple.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thuộc tính mô tả đầy đủ hình dạng dữ liệu: ndim là số chiều, shape là tuple kích thước, size là tổng phần tử, dtype là kiểu. Quan hệ: ndim bằng độ dài shape, size bằng tích các chiều.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hàm tạo mảng cơ bản nhất. array nhận dữ liệu có sẵn và tự suy ra dtype; zeros và ones nhận shape dạng tuple và mặc định trả về float64. Có thể chỉ định dtype khi cần.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arange tạo dãy theo bước và không gồm stop; linspace tạo num điểm chia đều và mặc định gồm điểm cuối; eye tạo ma trận đơn vị. Chọn hàm theo cách mô tả dữ liệu: bước nhảy hay số điểm.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Chỉ số bắt đầu từ 0, chỉ số âm tính từ cuối. Slice start:stop:step không lấy stop, c[::2] lấy cách một, c[::-1] đảo ngược. Lưu ý slicing trả về view nên sửa view sẽ ảnh hưởng mảng gốc.</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Với mảng hai chiều, dùng a[hàng, cột]. b[1] lấy cả hàng, b[:, 2] lấy cả cột, b[0:2, 1:3] lấy khối con. Ba hình nhỏ bên trái tô màu đúng vùng được chọn.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sánh một mảng với một giá trị tạo ra mảng boolean cùng shape. Dùng mảng boolean làm chỉ số sẽ lấy các phần tử True và nén thành mảng một chiều. Kết hợp điều kiện bằng &amp; và |, nhớ đặt ngoặc đơn.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reshape đổi hình dạng nhưng giữ nguyên dữ liệu và thứ tự đọc; tổng số phần tử phải bằng nhau. Dùng -1 để tự suy ra một chiều. .T hoán vị hàng và cột, không đổi dữ liệu.</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toán tử +, -, *, /, **, //, % áp dụng cho từng cặp phần tử và trả về mảng cùng shape. Lưu ý / luôn trả về số thực, còn // là chia lấy phần nguyên.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lỗi rất dễ mắc: * là nhân từng phần tử, @ là nhân ma trận theo quy tắc hàng nhân cột. Với A@B, phần tử (0,0) bằng 1×5 + 2×7 = 19, còn A*B cho 1×5 = 5.</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axis là chiều bị gộp, không phải chiều giữ lại. Với mảng 2×3, axis=0 gộp các hàng nên kết quả theo cột; axis=1 gộp các cột nên kết quả theo hàng. Không truyền axis thì gộp toàn mảng.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tắc cốt lõi: so sánh shape từ phải sang trái; mỗi cặp chiều bằng nhau hoặc một bên bằng 1 thì tương thích; mảng ít chiều hơn được coi là có chiều thiếu bằng 1 ở bên trái. Scalar được trải nhưng không thực sự sao chép.</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trường hợp thành công: (2,3)+(3,) và (2,3)+(2,1). Trường hợp thất bại: (2,3)+(2,) vì chiều cuối 3 khác 2 và không bên nào bằng 1. NumPy báo ValueError thay vì tự suy diễn.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thống kê: mean 7.9, max 9.0, min 6.5, std khoảng 0.860. d &gt;= 8.0 tạo mảng boolean, np.sum cộng các True để đếm 3/5. d + 0.5 cộng điểm thưởng nhờ broadcasting.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ví dụ cho thấy sức mạnh biểu diễn: chuẩn hóa z-score bằng một biểu thức, và thay vòng lặp bằng phép nhân mảng kết hợp mặt nạ boolean. Kết quả z có mean 0 và std 1.</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điều cần nhớ: shape quyết định mọi thứ, * khác @, và broadcasting so sánh từ phải sang trái. Kết thúc bằng ranh giới công cụ: pandas cho bảng nhiều kiểu, PyTorch cho GPU và autograd.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Bảy nguồn chính thức: What is NumPy, absolute beginners, broadcasting, quickstart, array creation, numpy.linalg và Python datastructures. Hướng tiếp: Matplotlib, pandas, numpy.linalg, broadcasting nâng cao và đọc ghi dữ liệu.</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2A3A"/>
        </a:solidFill>
        <a:effectLst/>
      </p:bgPr>
    </p:bg>
    <p:spTree>
      <p:nvGrpSpPr>
        <p:cNvPr id="1" name=""/>
        <p:cNvGrpSpPr/>
        <p:nvPr/>
      </p:nvGrpSpPr>
      <p:grpSpPr>
        <a:xfrm>
          <a:off x="0" y="0"/>
          <a:ext cx="0" cy="0"/>
          <a:chOff x="0" y="0"/>
          <a:chExt cx="0" cy="0"/>
        </a:xfrm>
      </p:grpSpPr>
      <p:sp>
        <p:nvSpPr>
          <p:cNvPr id="2" name="Shape 0"/>
          <p:cNvSpPr/>
          <p:nvPr/>
        </p:nvSpPr>
        <p:spPr>
          <a:xfrm>
            <a:off x="7452360" y="4160520"/>
            <a:ext cx="512064" cy="338328"/>
          </a:xfrm>
          <a:prstGeom prst="rect">
            <a:avLst/>
          </a:prstGeom>
          <a:solidFill>
            <a:srgbClr val="0E3E52"/>
          </a:solidFill>
          <a:ln w="12700">
            <a:solidFill>
              <a:srgbClr val="0A3042"/>
            </a:solidFill>
            <a:prstDash val="solid"/>
          </a:ln>
        </p:spPr>
      </p:sp>
      <p:sp>
        <p:nvSpPr>
          <p:cNvPr id="3" name="Shape 1"/>
          <p:cNvSpPr/>
          <p:nvPr/>
        </p:nvSpPr>
        <p:spPr>
          <a:xfrm>
            <a:off x="8019288" y="4160520"/>
            <a:ext cx="512064" cy="338328"/>
          </a:xfrm>
          <a:prstGeom prst="rect">
            <a:avLst/>
          </a:prstGeom>
          <a:solidFill>
            <a:srgbClr val="0A3042"/>
          </a:solidFill>
          <a:ln w="12700">
            <a:solidFill>
              <a:srgbClr val="0A3042"/>
            </a:solidFill>
            <a:prstDash val="solid"/>
          </a:ln>
        </p:spPr>
      </p:sp>
      <p:sp>
        <p:nvSpPr>
          <p:cNvPr id="4" name="Shape 2"/>
          <p:cNvSpPr/>
          <p:nvPr/>
        </p:nvSpPr>
        <p:spPr>
          <a:xfrm>
            <a:off x="8586216" y="4160520"/>
            <a:ext cx="512064" cy="338328"/>
          </a:xfrm>
          <a:prstGeom prst="rect">
            <a:avLst/>
          </a:prstGeom>
          <a:solidFill>
            <a:srgbClr val="0A3042"/>
          </a:solidFill>
          <a:ln w="12700">
            <a:solidFill>
              <a:srgbClr val="0A3042"/>
            </a:solidFill>
            <a:prstDash val="solid"/>
          </a:ln>
        </p:spPr>
      </p:sp>
      <p:sp>
        <p:nvSpPr>
          <p:cNvPr id="5" name="Shape 3"/>
          <p:cNvSpPr/>
          <p:nvPr/>
        </p:nvSpPr>
        <p:spPr>
          <a:xfrm>
            <a:off x="9153144" y="4160520"/>
            <a:ext cx="512064" cy="338328"/>
          </a:xfrm>
          <a:prstGeom prst="rect">
            <a:avLst/>
          </a:prstGeom>
          <a:solidFill>
            <a:srgbClr val="0A3042"/>
          </a:solidFill>
          <a:ln w="12700">
            <a:solidFill>
              <a:srgbClr val="0A3042"/>
            </a:solidFill>
            <a:prstDash val="solid"/>
          </a:ln>
        </p:spPr>
      </p:sp>
      <p:sp>
        <p:nvSpPr>
          <p:cNvPr id="6" name="Shape 4"/>
          <p:cNvSpPr/>
          <p:nvPr/>
        </p:nvSpPr>
        <p:spPr>
          <a:xfrm>
            <a:off x="9720072" y="4160520"/>
            <a:ext cx="512064" cy="338328"/>
          </a:xfrm>
          <a:prstGeom prst="rect">
            <a:avLst/>
          </a:prstGeom>
          <a:solidFill>
            <a:srgbClr val="0A3042"/>
          </a:solidFill>
          <a:ln w="12700">
            <a:solidFill>
              <a:srgbClr val="0A3042"/>
            </a:solidFill>
            <a:prstDash val="solid"/>
          </a:ln>
        </p:spPr>
      </p:sp>
      <p:sp>
        <p:nvSpPr>
          <p:cNvPr id="7" name="Shape 5"/>
          <p:cNvSpPr/>
          <p:nvPr/>
        </p:nvSpPr>
        <p:spPr>
          <a:xfrm>
            <a:off x="10287000" y="4160520"/>
            <a:ext cx="512064" cy="338328"/>
          </a:xfrm>
          <a:prstGeom prst="rect">
            <a:avLst/>
          </a:prstGeom>
          <a:solidFill>
            <a:srgbClr val="0E3E52"/>
          </a:solidFill>
          <a:ln w="12700">
            <a:solidFill>
              <a:srgbClr val="0A3042"/>
            </a:solidFill>
            <a:prstDash val="solid"/>
          </a:ln>
        </p:spPr>
      </p:sp>
      <p:sp>
        <p:nvSpPr>
          <p:cNvPr id="8" name="Shape 6"/>
          <p:cNvSpPr/>
          <p:nvPr/>
        </p:nvSpPr>
        <p:spPr>
          <a:xfrm>
            <a:off x="10853928" y="4160520"/>
            <a:ext cx="512064" cy="338328"/>
          </a:xfrm>
          <a:prstGeom prst="rect">
            <a:avLst/>
          </a:prstGeom>
          <a:solidFill>
            <a:srgbClr val="0A3042"/>
          </a:solidFill>
          <a:ln w="12700">
            <a:solidFill>
              <a:srgbClr val="0A3042"/>
            </a:solidFill>
            <a:prstDash val="solid"/>
          </a:ln>
        </p:spPr>
      </p:sp>
      <p:sp>
        <p:nvSpPr>
          <p:cNvPr id="9" name="Shape 7"/>
          <p:cNvSpPr/>
          <p:nvPr/>
        </p:nvSpPr>
        <p:spPr>
          <a:xfrm>
            <a:off x="11420856" y="4160520"/>
            <a:ext cx="512064" cy="338328"/>
          </a:xfrm>
          <a:prstGeom prst="rect">
            <a:avLst/>
          </a:prstGeom>
          <a:solidFill>
            <a:srgbClr val="0A3042"/>
          </a:solidFill>
          <a:ln w="12700">
            <a:solidFill>
              <a:srgbClr val="0A3042"/>
            </a:solidFill>
            <a:prstDash val="solid"/>
          </a:ln>
        </p:spPr>
      </p:sp>
      <p:sp>
        <p:nvSpPr>
          <p:cNvPr id="10" name="Shape 8"/>
          <p:cNvSpPr/>
          <p:nvPr/>
        </p:nvSpPr>
        <p:spPr>
          <a:xfrm>
            <a:off x="7452360" y="4544568"/>
            <a:ext cx="512064" cy="338328"/>
          </a:xfrm>
          <a:prstGeom prst="rect">
            <a:avLst/>
          </a:prstGeom>
          <a:solidFill>
            <a:srgbClr val="0A3042"/>
          </a:solidFill>
          <a:ln w="12700">
            <a:solidFill>
              <a:srgbClr val="0A3042"/>
            </a:solidFill>
            <a:prstDash val="solid"/>
          </a:ln>
        </p:spPr>
      </p:sp>
      <p:sp>
        <p:nvSpPr>
          <p:cNvPr id="11" name="Shape 9"/>
          <p:cNvSpPr/>
          <p:nvPr/>
        </p:nvSpPr>
        <p:spPr>
          <a:xfrm>
            <a:off x="8019288" y="4544568"/>
            <a:ext cx="512064" cy="338328"/>
          </a:xfrm>
          <a:prstGeom prst="rect">
            <a:avLst/>
          </a:prstGeom>
          <a:solidFill>
            <a:srgbClr val="0A3042"/>
          </a:solidFill>
          <a:ln w="12700">
            <a:solidFill>
              <a:srgbClr val="0A3042"/>
            </a:solidFill>
            <a:prstDash val="solid"/>
          </a:ln>
        </p:spPr>
      </p:sp>
      <p:sp>
        <p:nvSpPr>
          <p:cNvPr id="12" name="Shape 10"/>
          <p:cNvSpPr/>
          <p:nvPr/>
        </p:nvSpPr>
        <p:spPr>
          <a:xfrm>
            <a:off x="8586216" y="4544568"/>
            <a:ext cx="512064" cy="338328"/>
          </a:xfrm>
          <a:prstGeom prst="rect">
            <a:avLst/>
          </a:prstGeom>
          <a:solidFill>
            <a:srgbClr val="0A3042"/>
          </a:solidFill>
          <a:ln w="12700">
            <a:solidFill>
              <a:srgbClr val="0A3042"/>
            </a:solidFill>
            <a:prstDash val="solid"/>
          </a:ln>
        </p:spPr>
      </p:sp>
      <p:sp>
        <p:nvSpPr>
          <p:cNvPr id="13" name="Shape 11"/>
          <p:cNvSpPr/>
          <p:nvPr/>
        </p:nvSpPr>
        <p:spPr>
          <a:xfrm>
            <a:off x="9153144" y="4544568"/>
            <a:ext cx="512064" cy="338328"/>
          </a:xfrm>
          <a:prstGeom prst="rect">
            <a:avLst/>
          </a:prstGeom>
          <a:solidFill>
            <a:srgbClr val="0A3042"/>
          </a:solidFill>
          <a:ln w="12700">
            <a:solidFill>
              <a:srgbClr val="0A3042"/>
            </a:solidFill>
            <a:prstDash val="solid"/>
          </a:ln>
        </p:spPr>
      </p:sp>
      <p:sp>
        <p:nvSpPr>
          <p:cNvPr id="14" name="Shape 12"/>
          <p:cNvSpPr/>
          <p:nvPr/>
        </p:nvSpPr>
        <p:spPr>
          <a:xfrm>
            <a:off x="9720072" y="4544568"/>
            <a:ext cx="512064" cy="338328"/>
          </a:xfrm>
          <a:prstGeom prst="rect">
            <a:avLst/>
          </a:prstGeom>
          <a:solidFill>
            <a:srgbClr val="0E3E52"/>
          </a:solidFill>
          <a:ln w="12700">
            <a:solidFill>
              <a:srgbClr val="0A3042"/>
            </a:solidFill>
            <a:prstDash val="solid"/>
          </a:ln>
        </p:spPr>
      </p:sp>
      <p:sp>
        <p:nvSpPr>
          <p:cNvPr id="15" name="Shape 13"/>
          <p:cNvSpPr/>
          <p:nvPr/>
        </p:nvSpPr>
        <p:spPr>
          <a:xfrm>
            <a:off x="10287000" y="4544568"/>
            <a:ext cx="512064" cy="338328"/>
          </a:xfrm>
          <a:prstGeom prst="rect">
            <a:avLst/>
          </a:prstGeom>
          <a:solidFill>
            <a:srgbClr val="0A3042"/>
          </a:solidFill>
          <a:ln w="12700">
            <a:solidFill>
              <a:srgbClr val="0A3042"/>
            </a:solidFill>
            <a:prstDash val="solid"/>
          </a:ln>
        </p:spPr>
      </p:sp>
      <p:sp>
        <p:nvSpPr>
          <p:cNvPr id="16" name="Shape 14"/>
          <p:cNvSpPr/>
          <p:nvPr/>
        </p:nvSpPr>
        <p:spPr>
          <a:xfrm>
            <a:off x="10853928" y="4544568"/>
            <a:ext cx="512064" cy="338328"/>
          </a:xfrm>
          <a:prstGeom prst="rect">
            <a:avLst/>
          </a:prstGeom>
          <a:solidFill>
            <a:srgbClr val="0A3042"/>
          </a:solidFill>
          <a:ln w="12700">
            <a:solidFill>
              <a:srgbClr val="0A3042"/>
            </a:solidFill>
            <a:prstDash val="solid"/>
          </a:ln>
        </p:spPr>
      </p:sp>
      <p:sp>
        <p:nvSpPr>
          <p:cNvPr id="17" name="Shape 15"/>
          <p:cNvSpPr/>
          <p:nvPr/>
        </p:nvSpPr>
        <p:spPr>
          <a:xfrm>
            <a:off x="11420856" y="4544568"/>
            <a:ext cx="512064" cy="338328"/>
          </a:xfrm>
          <a:prstGeom prst="rect">
            <a:avLst/>
          </a:prstGeom>
          <a:solidFill>
            <a:srgbClr val="0A3042"/>
          </a:solidFill>
          <a:ln w="12700">
            <a:solidFill>
              <a:srgbClr val="0A3042"/>
            </a:solidFill>
            <a:prstDash val="solid"/>
          </a:ln>
        </p:spPr>
      </p:sp>
      <p:sp>
        <p:nvSpPr>
          <p:cNvPr id="18" name="Shape 16"/>
          <p:cNvSpPr/>
          <p:nvPr/>
        </p:nvSpPr>
        <p:spPr>
          <a:xfrm>
            <a:off x="7452360" y="4928616"/>
            <a:ext cx="512064" cy="338328"/>
          </a:xfrm>
          <a:prstGeom prst="rect">
            <a:avLst/>
          </a:prstGeom>
          <a:solidFill>
            <a:srgbClr val="0A3042"/>
          </a:solidFill>
          <a:ln w="12700">
            <a:solidFill>
              <a:srgbClr val="0A3042"/>
            </a:solidFill>
            <a:prstDash val="solid"/>
          </a:ln>
        </p:spPr>
      </p:sp>
      <p:sp>
        <p:nvSpPr>
          <p:cNvPr id="19" name="Shape 17"/>
          <p:cNvSpPr/>
          <p:nvPr/>
        </p:nvSpPr>
        <p:spPr>
          <a:xfrm>
            <a:off x="8019288" y="4928616"/>
            <a:ext cx="512064" cy="338328"/>
          </a:xfrm>
          <a:prstGeom prst="rect">
            <a:avLst/>
          </a:prstGeom>
          <a:solidFill>
            <a:srgbClr val="0A3042"/>
          </a:solidFill>
          <a:ln w="12700">
            <a:solidFill>
              <a:srgbClr val="0A3042"/>
            </a:solidFill>
            <a:prstDash val="solid"/>
          </a:ln>
        </p:spPr>
      </p:sp>
      <p:sp>
        <p:nvSpPr>
          <p:cNvPr id="20" name="Shape 18"/>
          <p:cNvSpPr/>
          <p:nvPr/>
        </p:nvSpPr>
        <p:spPr>
          <a:xfrm>
            <a:off x="8586216" y="4928616"/>
            <a:ext cx="512064" cy="338328"/>
          </a:xfrm>
          <a:prstGeom prst="rect">
            <a:avLst/>
          </a:prstGeom>
          <a:solidFill>
            <a:srgbClr val="0A3042"/>
          </a:solidFill>
          <a:ln w="12700">
            <a:solidFill>
              <a:srgbClr val="0A3042"/>
            </a:solidFill>
            <a:prstDash val="solid"/>
          </a:ln>
        </p:spPr>
      </p:sp>
      <p:sp>
        <p:nvSpPr>
          <p:cNvPr id="21" name="Shape 19"/>
          <p:cNvSpPr/>
          <p:nvPr/>
        </p:nvSpPr>
        <p:spPr>
          <a:xfrm>
            <a:off x="9153144" y="4928616"/>
            <a:ext cx="512064" cy="338328"/>
          </a:xfrm>
          <a:prstGeom prst="rect">
            <a:avLst/>
          </a:prstGeom>
          <a:solidFill>
            <a:srgbClr val="0E3E52"/>
          </a:solidFill>
          <a:ln w="12700">
            <a:solidFill>
              <a:srgbClr val="0A3042"/>
            </a:solidFill>
            <a:prstDash val="solid"/>
          </a:ln>
        </p:spPr>
      </p:sp>
      <p:sp>
        <p:nvSpPr>
          <p:cNvPr id="22" name="Shape 20"/>
          <p:cNvSpPr/>
          <p:nvPr/>
        </p:nvSpPr>
        <p:spPr>
          <a:xfrm>
            <a:off x="9720072" y="4928616"/>
            <a:ext cx="512064" cy="338328"/>
          </a:xfrm>
          <a:prstGeom prst="rect">
            <a:avLst/>
          </a:prstGeom>
          <a:solidFill>
            <a:srgbClr val="0A3042"/>
          </a:solidFill>
          <a:ln w="12700">
            <a:solidFill>
              <a:srgbClr val="0A3042"/>
            </a:solidFill>
            <a:prstDash val="solid"/>
          </a:ln>
        </p:spPr>
      </p:sp>
      <p:sp>
        <p:nvSpPr>
          <p:cNvPr id="23" name="Shape 21"/>
          <p:cNvSpPr/>
          <p:nvPr/>
        </p:nvSpPr>
        <p:spPr>
          <a:xfrm>
            <a:off x="10287000" y="4928616"/>
            <a:ext cx="512064" cy="338328"/>
          </a:xfrm>
          <a:prstGeom prst="rect">
            <a:avLst/>
          </a:prstGeom>
          <a:solidFill>
            <a:srgbClr val="0A3042"/>
          </a:solidFill>
          <a:ln w="12700">
            <a:solidFill>
              <a:srgbClr val="0A3042"/>
            </a:solidFill>
            <a:prstDash val="solid"/>
          </a:ln>
        </p:spPr>
      </p:sp>
      <p:sp>
        <p:nvSpPr>
          <p:cNvPr id="24" name="Shape 22"/>
          <p:cNvSpPr/>
          <p:nvPr/>
        </p:nvSpPr>
        <p:spPr>
          <a:xfrm>
            <a:off x="10853928" y="4928616"/>
            <a:ext cx="512064" cy="338328"/>
          </a:xfrm>
          <a:prstGeom prst="rect">
            <a:avLst/>
          </a:prstGeom>
          <a:solidFill>
            <a:srgbClr val="0A3042"/>
          </a:solidFill>
          <a:ln w="12700">
            <a:solidFill>
              <a:srgbClr val="0A3042"/>
            </a:solidFill>
            <a:prstDash val="solid"/>
          </a:ln>
        </p:spPr>
      </p:sp>
      <p:sp>
        <p:nvSpPr>
          <p:cNvPr id="25" name="Shape 23"/>
          <p:cNvSpPr/>
          <p:nvPr/>
        </p:nvSpPr>
        <p:spPr>
          <a:xfrm>
            <a:off x="11420856" y="4928616"/>
            <a:ext cx="512064" cy="338328"/>
          </a:xfrm>
          <a:prstGeom prst="rect">
            <a:avLst/>
          </a:prstGeom>
          <a:solidFill>
            <a:srgbClr val="0A3042"/>
          </a:solidFill>
          <a:ln w="12700">
            <a:solidFill>
              <a:srgbClr val="0A3042"/>
            </a:solidFill>
            <a:prstDash val="solid"/>
          </a:ln>
        </p:spPr>
      </p:sp>
      <p:sp>
        <p:nvSpPr>
          <p:cNvPr id="26" name="Shape 24"/>
          <p:cNvSpPr/>
          <p:nvPr/>
        </p:nvSpPr>
        <p:spPr>
          <a:xfrm>
            <a:off x="7452360" y="5312664"/>
            <a:ext cx="512064" cy="338328"/>
          </a:xfrm>
          <a:prstGeom prst="rect">
            <a:avLst/>
          </a:prstGeom>
          <a:solidFill>
            <a:srgbClr val="0A3042"/>
          </a:solidFill>
          <a:ln w="12700">
            <a:solidFill>
              <a:srgbClr val="0A3042"/>
            </a:solidFill>
            <a:prstDash val="solid"/>
          </a:ln>
        </p:spPr>
      </p:sp>
      <p:sp>
        <p:nvSpPr>
          <p:cNvPr id="27" name="Shape 25"/>
          <p:cNvSpPr/>
          <p:nvPr/>
        </p:nvSpPr>
        <p:spPr>
          <a:xfrm>
            <a:off x="8019288" y="5312664"/>
            <a:ext cx="512064" cy="338328"/>
          </a:xfrm>
          <a:prstGeom prst="rect">
            <a:avLst/>
          </a:prstGeom>
          <a:solidFill>
            <a:srgbClr val="0A3042"/>
          </a:solidFill>
          <a:ln w="12700">
            <a:solidFill>
              <a:srgbClr val="0A3042"/>
            </a:solidFill>
            <a:prstDash val="solid"/>
          </a:ln>
        </p:spPr>
      </p:sp>
      <p:sp>
        <p:nvSpPr>
          <p:cNvPr id="28" name="Shape 26"/>
          <p:cNvSpPr/>
          <p:nvPr/>
        </p:nvSpPr>
        <p:spPr>
          <a:xfrm>
            <a:off x="8586216" y="5312664"/>
            <a:ext cx="512064" cy="338328"/>
          </a:xfrm>
          <a:prstGeom prst="rect">
            <a:avLst/>
          </a:prstGeom>
          <a:solidFill>
            <a:srgbClr val="0E3E52"/>
          </a:solidFill>
          <a:ln w="12700">
            <a:solidFill>
              <a:srgbClr val="0A3042"/>
            </a:solidFill>
            <a:prstDash val="solid"/>
          </a:ln>
        </p:spPr>
      </p:sp>
      <p:sp>
        <p:nvSpPr>
          <p:cNvPr id="29" name="Shape 27"/>
          <p:cNvSpPr/>
          <p:nvPr/>
        </p:nvSpPr>
        <p:spPr>
          <a:xfrm>
            <a:off x="9153144" y="5312664"/>
            <a:ext cx="512064" cy="338328"/>
          </a:xfrm>
          <a:prstGeom prst="rect">
            <a:avLst/>
          </a:prstGeom>
          <a:solidFill>
            <a:srgbClr val="0A3042"/>
          </a:solidFill>
          <a:ln w="12700">
            <a:solidFill>
              <a:srgbClr val="0A3042"/>
            </a:solidFill>
            <a:prstDash val="solid"/>
          </a:ln>
        </p:spPr>
      </p:sp>
      <p:sp>
        <p:nvSpPr>
          <p:cNvPr id="30" name="Shape 28"/>
          <p:cNvSpPr/>
          <p:nvPr/>
        </p:nvSpPr>
        <p:spPr>
          <a:xfrm>
            <a:off x="9720072" y="5312664"/>
            <a:ext cx="512064" cy="338328"/>
          </a:xfrm>
          <a:prstGeom prst="rect">
            <a:avLst/>
          </a:prstGeom>
          <a:solidFill>
            <a:srgbClr val="0A3042"/>
          </a:solidFill>
          <a:ln w="12700">
            <a:solidFill>
              <a:srgbClr val="0A3042"/>
            </a:solidFill>
            <a:prstDash val="solid"/>
          </a:ln>
        </p:spPr>
      </p:sp>
      <p:sp>
        <p:nvSpPr>
          <p:cNvPr id="31" name="Shape 29"/>
          <p:cNvSpPr/>
          <p:nvPr/>
        </p:nvSpPr>
        <p:spPr>
          <a:xfrm>
            <a:off x="10287000" y="5312664"/>
            <a:ext cx="512064" cy="338328"/>
          </a:xfrm>
          <a:prstGeom prst="rect">
            <a:avLst/>
          </a:prstGeom>
          <a:solidFill>
            <a:srgbClr val="0A3042"/>
          </a:solidFill>
          <a:ln w="12700">
            <a:solidFill>
              <a:srgbClr val="0A3042"/>
            </a:solidFill>
            <a:prstDash val="solid"/>
          </a:ln>
        </p:spPr>
      </p:sp>
      <p:sp>
        <p:nvSpPr>
          <p:cNvPr id="32" name="Shape 30"/>
          <p:cNvSpPr/>
          <p:nvPr/>
        </p:nvSpPr>
        <p:spPr>
          <a:xfrm>
            <a:off x="10853928" y="5312664"/>
            <a:ext cx="512064" cy="338328"/>
          </a:xfrm>
          <a:prstGeom prst="rect">
            <a:avLst/>
          </a:prstGeom>
          <a:solidFill>
            <a:srgbClr val="0A3042"/>
          </a:solidFill>
          <a:ln w="12700">
            <a:solidFill>
              <a:srgbClr val="0A3042"/>
            </a:solidFill>
            <a:prstDash val="solid"/>
          </a:ln>
        </p:spPr>
      </p:sp>
      <p:sp>
        <p:nvSpPr>
          <p:cNvPr id="33" name="Shape 31"/>
          <p:cNvSpPr/>
          <p:nvPr/>
        </p:nvSpPr>
        <p:spPr>
          <a:xfrm>
            <a:off x="11420856" y="5312664"/>
            <a:ext cx="512064" cy="338328"/>
          </a:xfrm>
          <a:prstGeom prst="rect">
            <a:avLst/>
          </a:prstGeom>
          <a:solidFill>
            <a:srgbClr val="0E3E52"/>
          </a:solidFill>
          <a:ln w="12700">
            <a:solidFill>
              <a:srgbClr val="0A3042"/>
            </a:solidFill>
            <a:prstDash val="solid"/>
          </a:ln>
        </p:spPr>
      </p:sp>
      <p:sp>
        <p:nvSpPr>
          <p:cNvPr id="34" name="Shape 32"/>
          <p:cNvSpPr/>
          <p:nvPr/>
        </p:nvSpPr>
        <p:spPr>
          <a:xfrm>
            <a:off x="7452360" y="5696712"/>
            <a:ext cx="512064" cy="338328"/>
          </a:xfrm>
          <a:prstGeom prst="rect">
            <a:avLst/>
          </a:prstGeom>
          <a:solidFill>
            <a:srgbClr val="0A3042"/>
          </a:solidFill>
          <a:ln w="12700">
            <a:solidFill>
              <a:srgbClr val="0A3042"/>
            </a:solidFill>
            <a:prstDash val="solid"/>
          </a:ln>
        </p:spPr>
      </p:sp>
      <p:sp>
        <p:nvSpPr>
          <p:cNvPr id="35" name="Shape 33"/>
          <p:cNvSpPr/>
          <p:nvPr/>
        </p:nvSpPr>
        <p:spPr>
          <a:xfrm>
            <a:off x="8019288" y="5696712"/>
            <a:ext cx="512064" cy="338328"/>
          </a:xfrm>
          <a:prstGeom prst="rect">
            <a:avLst/>
          </a:prstGeom>
          <a:solidFill>
            <a:srgbClr val="0E3E52"/>
          </a:solidFill>
          <a:ln w="12700">
            <a:solidFill>
              <a:srgbClr val="0A3042"/>
            </a:solidFill>
            <a:prstDash val="solid"/>
          </a:ln>
        </p:spPr>
      </p:sp>
      <p:sp>
        <p:nvSpPr>
          <p:cNvPr id="36" name="Shape 34"/>
          <p:cNvSpPr/>
          <p:nvPr/>
        </p:nvSpPr>
        <p:spPr>
          <a:xfrm>
            <a:off x="8586216" y="5696712"/>
            <a:ext cx="512064" cy="338328"/>
          </a:xfrm>
          <a:prstGeom prst="rect">
            <a:avLst/>
          </a:prstGeom>
          <a:solidFill>
            <a:srgbClr val="0A3042"/>
          </a:solidFill>
          <a:ln w="12700">
            <a:solidFill>
              <a:srgbClr val="0A3042"/>
            </a:solidFill>
            <a:prstDash val="solid"/>
          </a:ln>
        </p:spPr>
      </p:sp>
      <p:sp>
        <p:nvSpPr>
          <p:cNvPr id="37" name="Shape 35"/>
          <p:cNvSpPr/>
          <p:nvPr/>
        </p:nvSpPr>
        <p:spPr>
          <a:xfrm>
            <a:off x="9153144" y="5696712"/>
            <a:ext cx="512064" cy="338328"/>
          </a:xfrm>
          <a:prstGeom prst="rect">
            <a:avLst/>
          </a:prstGeom>
          <a:solidFill>
            <a:srgbClr val="0A3042"/>
          </a:solidFill>
          <a:ln w="12700">
            <a:solidFill>
              <a:srgbClr val="0A3042"/>
            </a:solidFill>
            <a:prstDash val="solid"/>
          </a:ln>
        </p:spPr>
      </p:sp>
      <p:sp>
        <p:nvSpPr>
          <p:cNvPr id="38" name="Shape 36"/>
          <p:cNvSpPr/>
          <p:nvPr/>
        </p:nvSpPr>
        <p:spPr>
          <a:xfrm>
            <a:off x="9720072" y="5696712"/>
            <a:ext cx="512064" cy="338328"/>
          </a:xfrm>
          <a:prstGeom prst="rect">
            <a:avLst/>
          </a:prstGeom>
          <a:solidFill>
            <a:srgbClr val="0A3042"/>
          </a:solidFill>
          <a:ln w="12700">
            <a:solidFill>
              <a:srgbClr val="0A3042"/>
            </a:solidFill>
            <a:prstDash val="solid"/>
          </a:ln>
        </p:spPr>
      </p:sp>
      <p:sp>
        <p:nvSpPr>
          <p:cNvPr id="39" name="Shape 37"/>
          <p:cNvSpPr/>
          <p:nvPr/>
        </p:nvSpPr>
        <p:spPr>
          <a:xfrm>
            <a:off x="10287000" y="5696712"/>
            <a:ext cx="512064" cy="338328"/>
          </a:xfrm>
          <a:prstGeom prst="rect">
            <a:avLst/>
          </a:prstGeom>
          <a:solidFill>
            <a:srgbClr val="0A3042"/>
          </a:solidFill>
          <a:ln w="12700">
            <a:solidFill>
              <a:srgbClr val="0A3042"/>
            </a:solidFill>
            <a:prstDash val="solid"/>
          </a:ln>
        </p:spPr>
      </p:sp>
      <p:sp>
        <p:nvSpPr>
          <p:cNvPr id="40" name="Shape 38"/>
          <p:cNvSpPr/>
          <p:nvPr/>
        </p:nvSpPr>
        <p:spPr>
          <a:xfrm>
            <a:off x="10853928" y="5696712"/>
            <a:ext cx="512064" cy="338328"/>
          </a:xfrm>
          <a:prstGeom prst="rect">
            <a:avLst/>
          </a:prstGeom>
          <a:solidFill>
            <a:srgbClr val="0E3E52"/>
          </a:solidFill>
          <a:ln w="12700">
            <a:solidFill>
              <a:srgbClr val="0A3042"/>
            </a:solidFill>
            <a:prstDash val="solid"/>
          </a:ln>
        </p:spPr>
      </p:sp>
      <p:sp>
        <p:nvSpPr>
          <p:cNvPr id="41" name="Shape 39"/>
          <p:cNvSpPr/>
          <p:nvPr/>
        </p:nvSpPr>
        <p:spPr>
          <a:xfrm>
            <a:off x="11420856" y="5696712"/>
            <a:ext cx="512064" cy="338328"/>
          </a:xfrm>
          <a:prstGeom prst="rect">
            <a:avLst/>
          </a:prstGeom>
          <a:solidFill>
            <a:srgbClr val="0A3042"/>
          </a:solidFill>
          <a:ln w="12700">
            <a:solidFill>
              <a:srgbClr val="0A3042"/>
            </a:solidFill>
            <a:prstDash val="solid"/>
          </a:ln>
        </p:spPr>
      </p:sp>
      <p:sp>
        <p:nvSpPr>
          <p:cNvPr id="42" name="Shape 40"/>
          <p:cNvSpPr/>
          <p:nvPr/>
        </p:nvSpPr>
        <p:spPr>
          <a:xfrm>
            <a:off x="7452360" y="6080760"/>
            <a:ext cx="512064" cy="338328"/>
          </a:xfrm>
          <a:prstGeom prst="rect">
            <a:avLst/>
          </a:prstGeom>
          <a:solidFill>
            <a:srgbClr val="0E3E52"/>
          </a:solidFill>
          <a:ln w="12700">
            <a:solidFill>
              <a:srgbClr val="0A3042"/>
            </a:solidFill>
            <a:prstDash val="solid"/>
          </a:ln>
        </p:spPr>
      </p:sp>
      <p:sp>
        <p:nvSpPr>
          <p:cNvPr id="43" name="Shape 41"/>
          <p:cNvSpPr/>
          <p:nvPr/>
        </p:nvSpPr>
        <p:spPr>
          <a:xfrm>
            <a:off x="8019288" y="6080760"/>
            <a:ext cx="512064" cy="338328"/>
          </a:xfrm>
          <a:prstGeom prst="rect">
            <a:avLst/>
          </a:prstGeom>
          <a:solidFill>
            <a:srgbClr val="0A3042"/>
          </a:solidFill>
          <a:ln w="12700">
            <a:solidFill>
              <a:srgbClr val="0A3042"/>
            </a:solidFill>
            <a:prstDash val="solid"/>
          </a:ln>
        </p:spPr>
      </p:sp>
      <p:sp>
        <p:nvSpPr>
          <p:cNvPr id="44" name="Shape 42"/>
          <p:cNvSpPr/>
          <p:nvPr/>
        </p:nvSpPr>
        <p:spPr>
          <a:xfrm>
            <a:off x="8586216" y="6080760"/>
            <a:ext cx="512064" cy="338328"/>
          </a:xfrm>
          <a:prstGeom prst="rect">
            <a:avLst/>
          </a:prstGeom>
          <a:solidFill>
            <a:srgbClr val="0A3042"/>
          </a:solidFill>
          <a:ln w="12700">
            <a:solidFill>
              <a:srgbClr val="0A3042"/>
            </a:solidFill>
            <a:prstDash val="solid"/>
          </a:ln>
        </p:spPr>
      </p:sp>
      <p:sp>
        <p:nvSpPr>
          <p:cNvPr id="45" name="Shape 43"/>
          <p:cNvSpPr/>
          <p:nvPr/>
        </p:nvSpPr>
        <p:spPr>
          <a:xfrm>
            <a:off x="9153144" y="6080760"/>
            <a:ext cx="512064" cy="338328"/>
          </a:xfrm>
          <a:prstGeom prst="rect">
            <a:avLst/>
          </a:prstGeom>
          <a:solidFill>
            <a:srgbClr val="0A3042"/>
          </a:solidFill>
          <a:ln w="12700">
            <a:solidFill>
              <a:srgbClr val="0A3042"/>
            </a:solidFill>
            <a:prstDash val="solid"/>
          </a:ln>
        </p:spPr>
      </p:sp>
      <p:sp>
        <p:nvSpPr>
          <p:cNvPr id="46" name="Shape 44"/>
          <p:cNvSpPr/>
          <p:nvPr/>
        </p:nvSpPr>
        <p:spPr>
          <a:xfrm>
            <a:off x="9720072" y="6080760"/>
            <a:ext cx="512064" cy="338328"/>
          </a:xfrm>
          <a:prstGeom prst="rect">
            <a:avLst/>
          </a:prstGeom>
          <a:solidFill>
            <a:srgbClr val="0A3042"/>
          </a:solidFill>
          <a:ln w="12700">
            <a:solidFill>
              <a:srgbClr val="0A3042"/>
            </a:solidFill>
            <a:prstDash val="solid"/>
          </a:ln>
        </p:spPr>
      </p:sp>
      <p:sp>
        <p:nvSpPr>
          <p:cNvPr id="47" name="Shape 45"/>
          <p:cNvSpPr/>
          <p:nvPr/>
        </p:nvSpPr>
        <p:spPr>
          <a:xfrm>
            <a:off x="10287000" y="6080760"/>
            <a:ext cx="512064" cy="338328"/>
          </a:xfrm>
          <a:prstGeom prst="rect">
            <a:avLst/>
          </a:prstGeom>
          <a:solidFill>
            <a:srgbClr val="0E3E52"/>
          </a:solidFill>
          <a:ln w="12700">
            <a:solidFill>
              <a:srgbClr val="0A3042"/>
            </a:solidFill>
            <a:prstDash val="solid"/>
          </a:ln>
        </p:spPr>
      </p:sp>
      <p:sp>
        <p:nvSpPr>
          <p:cNvPr id="48" name="Shape 46"/>
          <p:cNvSpPr/>
          <p:nvPr/>
        </p:nvSpPr>
        <p:spPr>
          <a:xfrm>
            <a:off x="10853928" y="6080760"/>
            <a:ext cx="512064" cy="338328"/>
          </a:xfrm>
          <a:prstGeom prst="rect">
            <a:avLst/>
          </a:prstGeom>
          <a:solidFill>
            <a:srgbClr val="0A3042"/>
          </a:solidFill>
          <a:ln w="12700">
            <a:solidFill>
              <a:srgbClr val="0A3042"/>
            </a:solidFill>
            <a:prstDash val="solid"/>
          </a:ln>
        </p:spPr>
      </p:sp>
      <p:sp>
        <p:nvSpPr>
          <p:cNvPr id="49" name="Shape 47"/>
          <p:cNvSpPr/>
          <p:nvPr/>
        </p:nvSpPr>
        <p:spPr>
          <a:xfrm>
            <a:off x="11420856" y="6080760"/>
            <a:ext cx="512064" cy="338328"/>
          </a:xfrm>
          <a:prstGeom prst="rect">
            <a:avLst/>
          </a:prstGeom>
          <a:solidFill>
            <a:srgbClr val="0A3042"/>
          </a:solidFill>
          <a:ln w="12700">
            <a:solidFill>
              <a:srgbClr val="0A3042"/>
            </a:solidFill>
            <a:prstDash val="solid"/>
          </a:ln>
        </p:spPr>
      </p:sp>
      <p:sp>
        <p:nvSpPr>
          <p:cNvPr id="50" name="Shape 48"/>
          <p:cNvSpPr/>
          <p:nvPr/>
        </p:nvSpPr>
        <p:spPr>
          <a:xfrm>
            <a:off x="7452360" y="6464808"/>
            <a:ext cx="512064" cy="338328"/>
          </a:xfrm>
          <a:prstGeom prst="rect">
            <a:avLst/>
          </a:prstGeom>
          <a:solidFill>
            <a:srgbClr val="0A3042"/>
          </a:solidFill>
          <a:ln w="12700">
            <a:solidFill>
              <a:srgbClr val="0A3042"/>
            </a:solidFill>
            <a:prstDash val="solid"/>
          </a:ln>
        </p:spPr>
      </p:sp>
      <p:sp>
        <p:nvSpPr>
          <p:cNvPr id="51" name="Shape 49"/>
          <p:cNvSpPr/>
          <p:nvPr/>
        </p:nvSpPr>
        <p:spPr>
          <a:xfrm>
            <a:off x="8019288" y="6464808"/>
            <a:ext cx="512064" cy="338328"/>
          </a:xfrm>
          <a:prstGeom prst="rect">
            <a:avLst/>
          </a:prstGeom>
          <a:solidFill>
            <a:srgbClr val="0A3042"/>
          </a:solidFill>
          <a:ln w="12700">
            <a:solidFill>
              <a:srgbClr val="0A3042"/>
            </a:solidFill>
            <a:prstDash val="solid"/>
          </a:ln>
        </p:spPr>
      </p:sp>
      <p:sp>
        <p:nvSpPr>
          <p:cNvPr id="52" name="Shape 50"/>
          <p:cNvSpPr/>
          <p:nvPr/>
        </p:nvSpPr>
        <p:spPr>
          <a:xfrm>
            <a:off x="8586216" y="6464808"/>
            <a:ext cx="512064" cy="338328"/>
          </a:xfrm>
          <a:prstGeom prst="rect">
            <a:avLst/>
          </a:prstGeom>
          <a:solidFill>
            <a:srgbClr val="0A3042"/>
          </a:solidFill>
          <a:ln w="12700">
            <a:solidFill>
              <a:srgbClr val="0A3042"/>
            </a:solidFill>
            <a:prstDash val="solid"/>
          </a:ln>
        </p:spPr>
      </p:sp>
      <p:sp>
        <p:nvSpPr>
          <p:cNvPr id="53" name="Shape 51"/>
          <p:cNvSpPr/>
          <p:nvPr/>
        </p:nvSpPr>
        <p:spPr>
          <a:xfrm>
            <a:off x="9153144" y="6464808"/>
            <a:ext cx="512064" cy="338328"/>
          </a:xfrm>
          <a:prstGeom prst="rect">
            <a:avLst/>
          </a:prstGeom>
          <a:solidFill>
            <a:srgbClr val="0A3042"/>
          </a:solidFill>
          <a:ln w="12700">
            <a:solidFill>
              <a:srgbClr val="0A3042"/>
            </a:solidFill>
            <a:prstDash val="solid"/>
          </a:ln>
        </p:spPr>
      </p:sp>
      <p:sp>
        <p:nvSpPr>
          <p:cNvPr id="54" name="Shape 52"/>
          <p:cNvSpPr/>
          <p:nvPr/>
        </p:nvSpPr>
        <p:spPr>
          <a:xfrm>
            <a:off x="9720072" y="6464808"/>
            <a:ext cx="512064" cy="338328"/>
          </a:xfrm>
          <a:prstGeom prst="rect">
            <a:avLst/>
          </a:prstGeom>
          <a:solidFill>
            <a:srgbClr val="0E3E52"/>
          </a:solidFill>
          <a:ln w="12700">
            <a:solidFill>
              <a:srgbClr val="0A3042"/>
            </a:solidFill>
            <a:prstDash val="solid"/>
          </a:ln>
        </p:spPr>
      </p:sp>
      <p:sp>
        <p:nvSpPr>
          <p:cNvPr id="55" name="Shape 53"/>
          <p:cNvSpPr/>
          <p:nvPr/>
        </p:nvSpPr>
        <p:spPr>
          <a:xfrm>
            <a:off x="10287000" y="6464808"/>
            <a:ext cx="512064" cy="338328"/>
          </a:xfrm>
          <a:prstGeom prst="rect">
            <a:avLst/>
          </a:prstGeom>
          <a:solidFill>
            <a:srgbClr val="0A3042"/>
          </a:solidFill>
          <a:ln w="12700">
            <a:solidFill>
              <a:srgbClr val="0A3042"/>
            </a:solidFill>
            <a:prstDash val="solid"/>
          </a:ln>
        </p:spPr>
      </p:sp>
      <p:sp>
        <p:nvSpPr>
          <p:cNvPr id="56" name="Shape 54"/>
          <p:cNvSpPr/>
          <p:nvPr/>
        </p:nvSpPr>
        <p:spPr>
          <a:xfrm>
            <a:off x="10853928" y="6464808"/>
            <a:ext cx="512064" cy="338328"/>
          </a:xfrm>
          <a:prstGeom prst="rect">
            <a:avLst/>
          </a:prstGeom>
          <a:solidFill>
            <a:srgbClr val="0A3042"/>
          </a:solidFill>
          <a:ln w="12700">
            <a:solidFill>
              <a:srgbClr val="0A3042"/>
            </a:solidFill>
            <a:prstDash val="solid"/>
          </a:ln>
        </p:spPr>
      </p:sp>
      <p:sp>
        <p:nvSpPr>
          <p:cNvPr id="57" name="Shape 55"/>
          <p:cNvSpPr/>
          <p:nvPr/>
        </p:nvSpPr>
        <p:spPr>
          <a:xfrm>
            <a:off x="11420856" y="6464808"/>
            <a:ext cx="512064" cy="338328"/>
          </a:xfrm>
          <a:prstGeom prst="rect">
            <a:avLst/>
          </a:prstGeom>
          <a:solidFill>
            <a:srgbClr val="0A3042"/>
          </a:solidFill>
          <a:ln w="12700">
            <a:solidFill>
              <a:srgbClr val="0A3042"/>
            </a:solidFill>
            <a:prstDash val="solid"/>
          </a:ln>
        </p:spPr>
      </p:sp>
      <p:sp>
        <p:nvSpPr>
          <p:cNvPr id="58" name="Text 56"/>
          <p:cNvSpPr/>
          <p:nvPr/>
        </p:nvSpPr>
        <p:spPr>
          <a:xfrm>
            <a:off x="685800" y="868680"/>
            <a:ext cx="6949440" cy="228600"/>
          </a:xfrm>
          <a:prstGeom prst="rect">
            <a:avLst/>
          </a:prstGeom>
          <a:noFill/>
          <a:ln/>
        </p:spPr>
        <p:txBody>
          <a:bodyPr wrap="square" lIns="0" tIns="0" rIns="0" bIns="0" rtlCol="0" anchor="t"/>
          <a:lstStyle/>
          <a:p>
            <a:pPr marL="0" indent="0">
              <a:buNone/>
            </a:pPr>
            <a:r>
              <a:rPr lang="en-US" sz="1050" b="1" kern="0" spc="240" dirty="0">
                <a:solidFill>
                  <a:srgbClr val="4DB8D4"/>
                </a:solidFill>
                <a:latin typeface="Segoe UI" pitchFamily="34" charset="0"/>
                <a:ea typeface="Segoe UI" pitchFamily="34" charset="-122"/>
                <a:cs typeface="Segoe UI" pitchFamily="34" charset="-120"/>
              </a:rPr>
              <a:t>PYTHON  ·  TÍNH TOÁN KHOA HỌC</a:t>
            </a:r>
            <a:endParaRPr lang="en-US" sz="1050" dirty="0"/>
          </a:p>
        </p:txBody>
      </p:sp>
      <p:sp>
        <p:nvSpPr>
          <p:cNvPr id="59" name="Text 57"/>
          <p:cNvSpPr/>
          <p:nvPr/>
        </p:nvSpPr>
        <p:spPr>
          <a:xfrm>
            <a:off x="658368" y="1325880"/>
            <a:ext cx="7040880" cy="2148840"/>
          </a:xfrm>
          <a:prstGeom prst="rect">
            <a:avLst/>
          </a:prstGeom>
          <a:noFill/>
          <a:ln/>
        </p:spPr>
        <p:txBody>
          <a:bodyPr wrap="square" lIns="0" tIns="0" rIns="0" bIns="0" rtlCol="0" anchor="t"/>
          <a:lstStyle/>
          <a:p>
            <a:pPr marL="0" indent="0">
              <a:lnSpc>
                <a:spcPct val="95000"/>
              </a:lnSpc>
              <a:buNone/>
            </a:pPr>
            <a:r>
              <a:rPr lang="en-US" sz="4400" b="1" dirty="0">
                <a:solidFill>
                  <a:srgbClr val="FFFFFF"/>
                </a:solidFill>
                <a:latin typeface="Segoe UI" pitchFamily="34" charset="0"/>
                <a:ea typeface="Segoe UI" pitchFamily="34" charset="-122"/>
                <a:cs typeface="Segoe UI" pitchFamily="34" charset="-120"/>
              </a:rPr>
              <a:t>Tìm hiểu thư viện</a:t>
            </a:r>
            <a:endParaRPr lang="en-US" sz="4400" dirty="0"/>
          </a:p>
          <a:p>
            <a:pPr marL="0" indent="0">
              <a:lnSpc>
                <a:spcPct val="95000"/>
              </a:lnSpc>
              <a:buNone/>
            </a:pPr>
            <a:r>
              <a:rPr lang="en-US" sz="4400" b="1" dirty="0">
                <a:solidFill>
                  <a:srgbClr val="FFFFFF"/>
                </a:solidFill>
                <a:latin typeface="Segoe UI" pitchFamily="34" charset="0"/>
                <a:ea typeface="Segoe UI" pitchFamily="34" charset="-122"/>
                <a:cs typeface="Segoe UI" pitchFamily="34" charset="-120"/>
              </a:rPr>
              <a:t>NumPy trong Python</a:t>
            </a:r>
            <a:endParaRPr lang="en-US" sz="4400" dirty="0"/>
          </a:p>
        </p:txBody>
      </p:sp>
      <p:sp>
        <p:nvSpPr>
          <p:cNvPr id="60" name="Shape 58"/>
          <p:cNvSpPr/>
          <p:nvPr/>
        </p:nvSpPr>
        <p:spPr>
          <a:xfrm>
            <a:off x="685800" y="3611880"/>
            <a:ext cx="1051560" cy="45720"/>
          </a:xfrm>
          <a:prstGeom prst="rect">
            <a:avLst/>
          </a:prstGeom>
          <a:solidFill>
            <a:srgbClr val="E8A33D"/>
          </a:solidFill>
          <a:ln w="12700">
            <a:solidFill>
              <a:srgbClr val="E8A33D"/>
            </a:solidFill>
            <a:prstDash val="solid"/>
          </a:ln>
        </p:spPr>
      </p:sp>
      <p:sp>
        <p:nvSpPr>
          <p:cNvPr id="61" name="Text 59"/>
          <p:cNvSpPr/>
          <p:nvPr/>
        </p:nvSpPr>
        <p:spPr>
          <a:xfrm>
            <a:off x="685800" y="3886200"/>
            <a:ext cx="6400800" cy="457200"/>
          </a:xfrm>
          <a:prstGeom prst="rect">
            <a:avLst/>
          </a:prstGeom>
          <a:noFill/>
          <a:ln/>
        </p:spPr>
        <p:txBody>
          <a:bodyPr wrap="square" lIns="0" tIns="0" rIns="0" bIns="0" rtlCol="0" anchor="t"/>
          <a:lstStyle/>
          <a:p>
            <a:pPr marL="0" indent="0">
              <a:buNone/>
            </a:pPr>
            <a:r>
              <a:rPr lang="en-US" sz="2100" dirty="0">
                <a:solidFill>
                  <a:srgbClr val="4DB8D4"/>
                </a:solidFill>
                <a:latin typeface="Segoe UI" pitchFamily="34" charset="0"/>
                <a:ea typeface="Segoe UI" pitchFamily="34" charset="-122"/>
                <a:cs typeface="Segoe UI" pitchFamily="34" charset="-120"/>
              </a:rPr>
              <a:t>Từ ndarray đến broadcasting</a:t>
            </a:r>
            <a:endParaRPr lang="en-US" sz="2100" dirty="0"/>
          </a:p>
        </p:txBody>
      </p:sp>
      <p:sp>
        <p:nvSpPr>
          <p:cNvPr id="62" name="Text 60"/>
          <p:cNvSpPr/>
          <p:nvPr/>
        </p:nvSpPr>
        <p:spPr>
          <a:xfrm>
            <a:off x="685800" y="5806440"/>
            <a:ext cx="6583680" cy="274320"/>
          </a:xfrm>
          <a:prstGeom prst="rect">
            <a:avLst/>
          </a:prstGeom>
          <a:noFill/>
          <a:ln/>
        </p:spPr>
        <p:txBody>
          <a:bodyPr wrap="square" lIns="0" tIns="0" rIns="0" bIns="0" rtlCol="0" anchor="t"/>
          <a:lstStyle/>
          <a:p>
            <a:pPr marL="0" indent="0">
              <a:buNone/>
            </a:pPr>
            <a:r>
              <a:rPr lang="en-US" sz="1200" dirty="0">
                <a:solidFill>
                  <a:srgbClr val="9FC0CF"/>
                </a:solidFill>
                <a:latin typeface="Segoe UI" pitchFamily="34" charset="0"/>
                <a:ea typeface="Segoe UI" pitchFamily="34" charset="-122"/>
                <a:cs typeface="Segoe UI" pitchFamily="34" charset="-120"/>
              </a:rPr>
              <a:t>Người trình bày: 26120072     ·     Tháng 10 / 2026</a:t>
            </a:r>
            <a:endParaRPr lang="en-US" sz="1200" dirty="0"/>
          </a:p>
        </p:txBody>
      </p:sp>
      <p:sp>
        <p:nvSpPr>
          <p:cNvPr id="63" name="Shape 61"/>
          <p:cNvSpPr/>
          <p:nvPr/>
        </p:nvSpPr>
        <p:spPr>
          <a:xfrm>
            <a:off x="8001000" y="1417320"/>
            <a:ext cx="3611880" cy="3063240"/>
          </a:xfrm>
          <a:prstGeom prst="roundRect">
            <a:avLst>
              <a:gd name="adj" fmla="val 1791"/>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pic>
        <p:nvPicPr>
          <p:cNvPr id="64" name="Image 0" descr="assets/numpylogo.png"/>
          <p:cNvPicPr>
            <a:picLocks noChangeAspect="1"/>
          </p:cNvPicPr>
          <p:nvPr/>
        </p:nvPicPr>
        <p:blipFill>
          <a:blip r:embed="rId3"/>
          <a:stretch>
            <a:fillRect/>
          </a:stretch>
        </p:blipFill>
        <p:spPr>
          <a:xfrm>
            <a:off x="8339328" y="2331720"/>
            <a:ext cx="2926080" cy="1408176"/>
          </a:xfrm>
          <a:prstGeom prst="rect">
            <a:avLst/>
          </a:prstGeom>
        </p:spPr>
      </p:pic>
      <p:sp>
        <p:nvSpPr>
          <p:cNvPr id="65" name="Text 62"/>
          <p:cNvSpPr/>
          <p:nvPr/>
        </p:nvSpPr>
        <p:spPr>
          <a:xfrm>
            <a:off x="8001000" y="3977640"/>
            <a:ext cx="3611880" cy="228600"/>
          </a:xfrm>
          <a:prstGeom prst="rect">
            <a:avLst/>
          </a:prstGeom>
          <a:noFill/>
          <a:ln/>
        </p:spPr>
        <p:txBody>
          <a:bodyPr wrap="square" lIns="0" tIns="0" rIns="0" bIns="0" rtlCol="0" anchor="t"/>
          <a:lstStyle/>
          <a:p>
            <a:pPr marL="0" indent="0" algn="ctr">
              <a:buNone/>
            </a:pPr>
            <a:r>
              <a:rPr lang="en-US" sz="950" dirty="0">
                <a:solidFill>
                  <a:srgbClr val="728694"/>
                </a:solidFill>
                <a:latin typeface="Segoe UI" pitchFamily="34" charset="0"/>
                <a:ea typeface="Segoe UI" pitchFamily="34" charset="-122"/>
                <a:cs typeface="Segoe UI" pitchFamily="34" charset="-120"/>
              </a:rPr>
              <a:t>Numerical Python  ·  BSD</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301752"/>
            <a:ext cx="10881360" cy="201168"/>
          </a:xfrm>
          <a:prstGeom prst="rect">
            <a:avLst/>
          </a:prstGeom>
          <a:noFill/>
          <a:ln/>
        </p:spPr>
        <p:txBody>
          <a:bodyPr wrap="square" lIns="0" tIns="0" rIns="0" bIns="0" rtlCol="0" anchor="t"/>
          <a:lstStyle/>
          <a:p>
            <a:pPr marL="0" indent="0">
              <a:buNone/>
            </a:pPr>
            <a:r>
              <a:rPr lang="en-US" sz="950" b="1" kern="0" spc="160" dirty="0">
                <a:solidFill>
                  <a:srgbClr val="1B8EA8"/>
                </a:solidFill>
                <a:latin typeface="Segoe UI" pitchFamily="34" charset="0"/>
                <a:ea typeface="Segoe UI" pitchFamily="34" charset="-122"/>
                <a:cs typeface="Segoe UI" pitchFamily="34" charset="-120"/>
              </a:rPr>
              <a:t>NỘI DUNG</a:t>
            </a:r>
            <a:endParaRPr lang="en-US" sz="950" dirty="0"/>
          </a:p>
        </p:txBody>
      </p:sp>
      <p:sp>
        <p:nvSpPr>
          <p:cNvPr id="3" name="Text 1"/>
          <p:cNvSpPr/>
          <p:nvPr/>
        </p:nvSpPr>
        <p:spPr>
          <a:xfrm>
            <a:off x="548640" y="502920"/>
            <a:ext cx="10881360" cy="640080"/>
          </a:xfrm>
          <a:prstGeom prst="rect">
            <a:avLst/>
          </a:prstGeom>
          <a:noFill/>
          <a:ln/>
        </p:spPr>
        <p:txBody>
          <a:bodyPr wrap="square" lIns="0" tIns="0" rIns="0" bIns="0" rtlCol="0" anchor="ctr"/>
          <a:lstStyle/>
          <a:p>
            <a:pPr marL="0" indent="0">
              <a:buNone/>
            </a:pPr>
            <a:r>
              <a:rPr lang="en-US" sz="2800" b="1" dirty="0">
                <a:solidFill>
                  <a:srgbClr val="062A3A"/>
                </a:solidFill>
                <a:latin typeface="Segoe UI" pitchFamily="34" charset="0"/>
                <a:ea typeface="Segoe UI" pitchFamily="34" charset="-122"/>
                <a:cs typeface="Segoe UI" pitchFamily="34" charset="-120"/>
              </a:rPr>
              <a:t>Sáu chặng của bài thuyết trình</a:t>
            </a:r>
            <a:endParaRPr lang="en-US" sz="2800" dirty="0"/>
          </a:p>
        </p:txBody>
      </p:sp>
      <p:sp>
        <p:nvSpPr>
          <p:cNvPr id="4" name="Shape 2"/>
          <p:cNvSpPr/>
          <p:nvPr/>
        </p:nvSpPr>
        <p:spPr>
          <a:xfrm>
            <a:off x="548640" y="1225296"/>
            <a:ext cx="868680" cy="41148"/>
          </a:xfrm>
          <a:prstGeom prst="rect">
            <a:avLst/>
          </a:prstGeom>
          <a:solidFill>
            <a:srgbClr val="1B8EA8"/>
          </a:solidFill>
          <a:ln w="12700">
            <a:solidFill>
              <a:srgbClr val="1B8EA8"/>
            </a:solidFill>
            <a:prstDash val="solid"/>
          </a:ln>
        </p:spPr>
      </p:sp>
      <p:sp>
        <p:nvSpPr>
          <p:cNvPr id="5" name="Shape 3"/>
          <p:cNvSpPr/>
          <p:nvPr/>
        </p:nvSpPr>
        <p:spPr>
          <a:xfrm>
            <a:off x="548640" y="1481328"/>
            <a:ext cx="3547872" cy="1847088"/>
          </a:xfrm>
          <a:prstGeom prst="roundRect">
            <a:avLst>
              <a:gd name="adj" fmla="val 2970"/>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6" name="Shape 4"/>
          <p:cNvSpPr/>
          <p:nvPr/>
        </p:nvSpPr>
        <p:spPr>
          <a:xfrm>
            <a:off x="768096" y="1700784"/>
            <a:ext cx="475488" cy="475488"/>
          </a:xfrm>
          <a:prstGeom prst="roundRect">
            <a:avLst>
              <a:gd name="adj" fmla="val 38462"/>
            </a:avLst>
          </a:prstGeom>
          <a:solidFill>
            <a:srgbClr val="1B8EA8"/>
          </a:solidFill>
          <a:ln w="19050">
            <a:solidFill>
              <a:srgbClr val="FFFFFF"/>
            </a:solidFill>
            <a:prstDash val="solid"/>
          </a:ln>
        </p:spPr>
      </p:sp>
      <p:sp>
        <p:nvSpPr>
          <p:cNvPr id="7" name="Text 5"/>
          <p:cNvSpPr/>
          <p:nvPr/>
        </p:nvSpPr>
        <p:spPr>
          <a:xfrm>
            <a:off x="768096" y="1700784"/>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onsolas" pitchFamily="34" charset="0"/>
                <a:ea typeface="Consolas" pitchFamily="34" charset="-122"/>
                <a:cs typeface="Consolas" pitchFamily="34" charset="-120"/>
              </a:rPr>
              <a:t>01</a:t>
            </a:r>
            <a:endParaRPr lang="en-US" sz="1400" dirty="0"/>
          </a:p>
        </p:txBody>
      </p:sp>
      <p:sp>
        <p:nvSpPr>
          <p:cNvPr id="8" name="Text 6"/>
          <p:cNvSpPr/>
          <p:nvPr/>
        </p:nvSpPr>
        <p:spPr>
          <a:xfrm>
            <a:off x="1371600" y="1755648"/>
            <a:ext cx="2468880" cy="384048"/>
          </a:xfrm>
          <a:prstGeom prst="rect">
            <a:avLst/>
          </a:prstGeom>
          <a:noFill/>
          <a:ln/>
        </p:spPr>
        <p:txBody>
          <a:bodyPr wrap="square" lIns="0" tIns="0" rIns="0" bIns="0" rtlCol="0" anchor="t"/>
          <a:lstStyle/>
          <a:p>
            <a:pPr marL="0" indent="0">
              <a:buNone/>
            </a:pPr>
            <a:r>
              <a:rPr lang="en-US" sz="1600" b="1" dirty="0">
                <a:solidFill>
                  <a:srgbClr val="062A3A"/>
                </a:solidFill>
                <a:latin typeface="Segoe UI" pitchFamily="34" charset="0"/>
                <a:ea typeface="Segoe UI" pitchFamily="34" charset="-122"/>
                <a:cs typeface="Segoe UI" pitchFamily="34" charset="-120"/>
              </a:rPr>
              <a:t>Giới thiệu</a:t>
            </a:r>
            <a:endParaRPr lang="en-US" sz="1600" dirty="0"/>
          </a:p>
        </p:txBody>
      </p:sp>
      <p:sp>
        <p:nvSpPr>
          <p:cNvPr id="9" name="Text 7"/>
          <p:cNvSpPr/>
          <p:nvPr/>
        </p:nvSpPr>
        <p:spPr>
          <a:xfrm>
            <a:off x="768096" y="2395728"/>
            <a:ext cx="3108960" cy="731520"/>
          </a:xfrm>
          <a:prstGeom prst="rect">
            <a:avLst/>
          </a:prstGeom>
          <a:noFill/>
          <a:ln/>
        </p:spPr>
        <p:txBody>
          <a:bodyPr wrap="square" lIns="0" tIns="0" rIns="0" bIns="0" rtlCol="0" anchor="t"/>
          <a:lstStyle/>
          <a:p>
            <a:pPr marL="0" indent="0">
              <a:lnSpc>
                <a:spcPct val="115000"/>
              </a:lnSpc>
              <a:buNone/>
            </a:pPr>
            <a:r>
              <a:rPr lang="en-US" sz="1150" dirty="0">
                <a:solidFill>
                  <a:srgbClr val="415A6B"/>
                </a:solidFill>
                <a:latin typeface="Segoe UI" pitchFamily="34" charset="0"/>
                <a:ea typeface="Segoe UI" pitchFamily="34" charset="-122"/>
                <a:cs typeface="Segoe UI" pitchFamily="34" charset="-120"/>
              </a:rPr>
              <a:t>NumPy là gì, vì sao nên dùng và dùng ở đâu.</a:t>
            </a:r>
            <a:endParaRPr lang="en-US" sz="1150" dirty="0"/>
          </a:p>
        </p:txBody>
      </p:sp>
      <p:sp>
        <p:nvSpPr>
          <p:cNvPr id="10" name="Shape 8"/>
          <p:cNvSpPr/>
          <p:nvPr/>
        </p:nvSpPr>
        <p:spPr>
          <a:xfrm>
            <a:off x="4315968" y="1481328"/>
            <a:ext cx="3547872" cy="1847088"/>
          </a:xfrm>
          <a:prstGeom prst="roundRect">
            <a:avLst>
              <a:gd name="adj" fmla="val 2970"/>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11" name="Shape 9"/>
          <p:cNvSpPr/>
          <p:nvPr/>
        </p:nvSpPr>
        <p:spPr>
          <a:xfrm>
            <a:off x="4535424" y="1700784"/>
            <a:ext cx="475488" cy="475488"/>
          </a:xfrm>
          <a:prstGeom prst="roundRect">
            <a:avLst>
              <a:gd name="adj" fmla="val 38462"/>
            </a:avLst>
          </a:prstGeom>
          <a:solidFill>
            <a:srgbClr val="4DB8D4"/>
          </a:solidFill>
          <a:ln w="19050">
            <a:solidFill>
              <a:srgbClr val="FFFFFF"/>
            </a:solidFill>
            <a:prstDash val="solid"/>
          </a:ln>
        </p:spPr>
      </p:sp>
      <p:sp>
        <p:nvSpPr>
          <p:cNvPr id="12" name="Text 10"/>
          <p:cNvSpPr/>
          <p:nvPr/>
        </p:nvSpPr>
        <p:spPr>
          <a:xfrm>
            <a:off x="4535424" y="1700784"/>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onsolas" pitchFamily="34" charset="0"/>
                <a:ea typeface="Consolas" pitchFamily="34" charset="-122"/>
                <a:cs typeface="Consolas" pitchFamily="34" charset="-120"/>
              </a:rPr>
              <a:t>02</a:t>
            </a:r>
            <a:endParaRPr lang="en-US" sz="1400" dirty="0"/>
          </a:p>
        </p:txBody>
      </p:sp>
      <p:sp>
        <p:nvSpPr>
          <p:cNvPr id="13" name="Text 11"/>
          <p:cNvSpPr/>
          <p:nvPr/>
        </p:nvSpPr>
        <p:spPr>
          <a:xfrm>
            <a:off x="5138928" y="1755648"/>
            <a:ext cx="2468880" cy="384048"/>
          </a:xfrm>
          <a:prstGeom prst="rect">
            <a:avLst/>
          </a:prstGeom>
          <a:noFill/>
          <a:ln/>
        </p:spPr>
        <p:txBody>
          <a:bodyPr wrap="square" lIns="0" tIns="0" rIns="0" bIns="0" rtlCol="0" anchor="t"/>
          <a:lstStyle/>
          <a:p>
            <a:pPr marL="0" indent="0">
              <a:buNone/>
            </a:pPr>
            <a:r>
              <a:rPr lang="en-US" sz="1600" b="1" dirty="0">
                <a:solidFill>
                  <a:srgbClr val="062A3A"/>
                </a:solidFill>
                <a:latin typeface="Segoe UI" pitchFamily="34" charset="0"/>
                <a:ea typeface="Segoe UI" pitchFamily="34" charset="-122"/>
                <a:cs typeface="Segoe UI" pitchFamily="34" charset="-120"/>
              </a:rPr>
              <a:t>Cấu trúc mảng</a:t>
            </a:r>
            <a:endParaRPr lang="en-US" sz="1600" dirty="0"/>
          </a:p>
        </p:txBody>
      </p:sp>
      <p:sp>
        <p:nvSpPr>
          <p:cNvPr id="14" name="Text 12"/>
          <p:cNvSpPr/>
          <p:nvPr/>
        </p:nvSpPr>
        <p:spPr>
          <a:xfrm>
            <a:off x="4535424" y="2395728"/>
            <a:ext cx="3108960" cy="731520"/>
          </a:xfrm>
          <a:prstGeom prst="rect">
            <a:avLst/>
          </a:prstGeom>
          <a:noFill/>
          <a:ln/>
        </p:spPr>
        <p:txBody>
          <a:bodyPr wrap="square" lIns="0" tIns="0" rIns="0" bIns="0" rtlCol="0" anchor="t"/>
          <a:lstStyle/>
          <a:p>
            <a:pPr marL="0" indent="0">
              <a:lnSpc>
                <a:spcPct val="115000"/>
              </a:lnSpc>
              <a:buNone/>
            </a:pPr>
            <a:r>
              <a:rPr lang="en-US" sz="2000" dirty="0">
                <a:solidFill>
                  <a:srgbClr val="415A6B"/>
                </a:solidFill>
                <a:latin typeface="Segoe UI" pitchFamily="34" charset="0"/>
                <a:ea typeface="Segoe UI" pitchFamily="34" charset="-122"/>
                <a:cs typeface="Segoe UI" pitchFamily="34" charset="-120"/>
              </a:rPr>
              <a:t>ndarray, số chiều, shape, size và dtype.</a:t>
            </a:r>
            <a:endParaRPr lang="en-US" sz="2000" dirty="0"/>
          </a:p>
        </p:txBody>
      </p:sp>
      <p:sp>
        <p:nvSpPr>
          <p:cNvPr id="15" name="Shape 13"/>
          <p:cNvSpPr/>
          <p:nvPr/>
        </p:nvSpPr>
        <p:spPr>
          <a:xfrm>
            <a:off x="8083296" y="1481328"/>
            <a:ext cx="3547872" cy="1847088"/>
          </a:xfrm>
          <a:prstGeom prst="roundRect">
            <a:avLst>
              <a:gd name="adj" fmla="val 2970"/>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16" name="Shape 14"/>
          <p:cNvSpPr/>
          <p:nvPr/>
        </p:nvSpPr>
        <p:spPr>
          <a:xfrm>
            <a:off x="8302752" y="1700784"/>
            <a:ext cx="475488" cy="475488"/>
          </a:xfrm>
          <a:prstGeom prst="roundRect">
            <a:avLst>
              <a:gd name="adj" fmla="val 38462"/>
            </a:avLst>
          </a:prstGeom>
          <a:solidFill>
            <a:srgbClr val="1B8EA8"/>
          </a:solidFill>
          <a:ln w="19050">
            <a:solidFill>
              <a:srgbClr val="FFFFFF"/>
            </a:solidFill>
            <a:prstDash val="solid"/>
          </a:ln>
        </p:spPr>
      </p:sp>
      <p:sp>
        <p:nvSpPr>
          <p:cNvPr id="17" name="Text 15"/>
          <p:cNvSpPr/>
          <p:nvPr/>
        </p:nvSpPr>
        <p:spPr>
          <a:xfrm>
            <a:off x="8302752" y="1700784"/>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onsolas" pitchFamily="34" charset="0"/>
                <a:ea typeface="Consolas" pitchFamily="34" charset="-122"/>
                <a:cs typeface="Consolas" pitchFamily="34" charset="-120"/>
              </a:rPr>
              <a:t>03</a:t>
            </a:r>
            <a:endParaRPr lang="en-US" sz="1400" dirty="0"/>
          </a:p>
        </p:txBody>
      </p:sp>
      <p:sp>
        <p:nvSpPr>
          <p:cNvPr id="18" name="Text 16"/>
          <p:cNvSpPr/>
          <p:nvPr/>
        </p:nvSpPr>
        <p:spPr>
          <a:xfrm>
            <a:off x="8906256" y="1755648"/>
            <a:ext cx="2468880" cy="384048"/>
          </a:xfrm>
          <a:prstGeom prst="rect">
            <a:avLst/>
          </a:prstGeom>
          <a:noFill/>
          <a:ln/>
        </p:spPr>
        <p:txBody>
          <a:bodyPr wrap="square" lIns="0" tIns="0" rIns="0" bIns="0" rtlCol="0" anchor="t"/>
          <a:lstStyle/>
          <a:p>
            <a:pPr marL="0" indent="0">
              <a:buNone/>
            </a:pPr>
            <a:r>
              <a:rPr lang="en-US" sz="1600" b="1" dirty="0">
                <a:solidFill>
                  <a:srgbClr val="062A3A"/>
                </a:solidFill>
                <a:latin typeface="Segoe UI" pitchFamily="34" charset="0"/>
                <a:ea typeface="Segoe UI" pitchFamily="34" charset="-122"/>
                <a:cs typeface="Segoe UI" pitchFamily="34" charset="-120"/>
              </a:rPr>
              <a:t>Tạo mảng</a:t>
            </a:r>
            <a:endParaRPr lang="en-US" sz="1600" dirty="0"/>
          </a:p>
        </p:txBody>
      </p:sp>
      <p:sp>
        <p:nvSpPr>
          <p:cNvPr id="19" name="Text 17"/>
          <p:cNvSpPr/>
          <p:nvPr/>
        </p:nvSpPr>
        <p:spPr>
          <a:xfrm>
            <a:off x="8302752" y="2395728"/>
            <a:ext cx="3108960" cy="731520"/>
          </a:xfrm>
          <a:prstGeom prst="rect">
            <a:avLst/>
          </a:prstGeom>
          <a:noFill/>
          <a:ln/>
        </p:spPr>
        <p:txBody>
          <a:bodyPr wrap="square" lIns="0" tIns="0" rIns="0" bIns="0" rtlCol="0" anchor="t"/>
          <a:lstStyle/>
          <a:p>
            <a:pPr marL="0" indent="0">
              <a:lnSpc>
                <a:spcPct val="115000"/>
              </a:lnSpc>
              <a:buNone/>
            </a:pPr>
            <a:r>
              <a:rPr lang="en-US" sz="1150" dirty="0">
                <a:solidFill>
                  <a:srgbClr val="415A6B"/>
                </a:solidFill>
                <a:latin typeface="Segoe UI" pitchFamily="34" charset="0"/>
                <a:ea typeface="Segoe UI" pitchFamily="34" charset="-122"/>
                <a:cs typeface="Segoe UI" pitchFamily="34" charset="-120"/>
              </a:rPr>
              <a:t>array, zeros, ones, arange, linspace, eye.</a:t>
            </a:r>
            <a:endParaRPr lang="en-US" sz="1150" dirty="0"/>
          </a:p>
        </p:txBody>
      </p:sp>
      <p:sp>
        <p:nvSpPr>
          <p:cNvPr id="20" name="Shape 18"/>
          <p:cNvSpPr/>
          <p:nvPr/>
        </p:nvSpPr>
        <p:spPr>
          <a:xfrm>
            <a:off x="548640" y="3584448"/>
            <a:ext cx="3547872" cy="1847088"/>
          </a:xfrm>
          <a:prstGeom prst="roundRect">
            <a:avLst>
              <a:gd name="adj" fmla="val 2970"/>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21" name="Shape 19"/>
          <p:cNvSpPr/>
          <p:nvPr/>
        </p:nvSpPr>
        <p:spPr>
          <a:xfrm>
            <a:off x="768096" y="3803904"/>
            <a:ext cx="475488" cy="475488"/>
          </a:xfrm>
          <a:prstGeom prst="roundRect">
            <a:avLst>
              <a:gd name="adj" fmla="val 38462"/>
            </a:avLst>
          </a:prstGeom>
          <a:solidFill>
            <a:srgbClr val="4DB8D4"/>
          </a:solidFill>
          <a:ln w="19050">
            <a:solidFill>
              <a:srgbClr val="FFFFFF"/>
            </a:solidFill>
            <a:prstDash val="solid"/>
          </a:ln>
        </p:spPr>
      </p:sp>
      <p:sp>
        <p:nvSpPr>
          <p:cNvPr id="22" name="Text 20"/>
          <p:cNvSpPr/>
          <p:nvPr/>
        </p:nvSpPr>
        <p:spPr>
          <a:xfrm>
            <a:off x="768096" y="3803904"/>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onsolas" pitchFamily="34" charset="0"/>
                <a:ea typeface="Consolas" pitchFamily="34" charset="-122"/>
                <a:cs typeface="Consolas" pitchFamily="34" charset="-120"/>
              </a:rPr>
              <a:t>04</a:t>
            </a:r>
            <a:endParaRPr lang="en-US" sz="1400" dirty="0"/>
          </a:p>
        </p:txBody>
      </p:sp>
      <p:sp>
        <p:nvSpPr>
          <p:cNvPr id="23" name="Text 21"/>
          <p:cNvSpPr/>
          <p:nvPr/>
        </p:nvSpPr>
        <p:spPr>
          <a:xfrm>
            <a:off x="1371600" y="3858768"/>
            <a:ext cx="2468880" cy="384048"/>
          </a:xfrm>
          <a:prstGeom prst="rect">
            <a:avLst/>
          </a:prstGeom>
          <a:noFill/>
          <a:ln/>
        </p:spPr>
        <p:txBody>
          <a:bodyPr wrap="square" lIns="0" tIns="0" rIns="0" bIns="0" rtlCol="0" anchor="t"/>
          <a:lstStyle/>
          <a:p>
            <a:pPr marL="0" indent="0">
              <a:buNone/>
            </a:pPr>
            <a:r>
              <a:rPr lang="en-US" sz="1600" b="1" dirty="0">
                <a:solidFill>
                  <a:srgbClr val="062A3A"/>
                </a:solidFill>
                <a:latin typeface="Segoe UI" pitchFamily="34" charset="0"/>
                <a:ea typeface="Segoe UI" pitchFamily="34" charset="-122"/>
                <a:cs typeface="Segoe UI" pitchFamily="34" charset="-120"/>
              </a:rPr>
              <a:t>Truy cập dữ liệu</a:t>
            </a:r>
            <a:endParaRPr lang="en-US" sz="1600" dirty="0"/>
          </a:p>
        </p:txBody>
      </p:sp>
      <p:sp>
        <p:nvSpPr>
          <p:cNvPr id="24" name="Text 22"/>
          <p:cNvSpPr/>
          <p:nvPr/>
        </p:nvSpPr>
        <p:spPr>
          <a:xfrm>
            <a:off x="768096" y="4498848"/>
            <a:ext cx="3108960" cy="731520"/>
          </a:xfrm>
          <a:prstGeom prst="rect">
            <a:avLst/>
          </a:prstGeom>
          <a:noFill/>
          <a:ln/>
        </p:spPr>
        <p:txBody>
          <a:bodyPr wrap="square" lIns="0" tIns="0" rIns="0" bIns="0" rtlCol="0" anchor="t"/>
          <a:lstStyle/>
          <a:p>
            <a:pPr marL="0" indent="0">
              <a:lnSpc>
                <a:spcPct val="115000"/>
              </a:lnSpc>
              <a:buNone/>
            </a:pPr>
            <a:r>
              <a:rPr lang="en-US" sz="1150" dirty="0">
                <a:solidFill>
                  <a:srgbClr val="415A6B"/>
                </a:solidFill>
                <a:latin typeface="Segoe UI" pitchFamily="34" charset="0"/>
                <a:ea typeface="Segoe UI" pitchFamily="34" charset="-122"/>
                <a:cs typeface="Segoe UI" pitchFamily="34" charset="-120"/>
              </a:rPr>
              <a:t>Indexing, slicing, boolean, reshape, .T.</a:t>
            </a:r>
            <a:endParaRPr lang="en-US" sz="1150" dirty="0"/>
          </a:p>
        </p:txBody>
      </p:sp>
      <p:sp>
        <p:nvSpPr>
          <p:cNvPr id="25" name="Shape 23"/>
          <p:cNvSpPr/>
          <p:nvPr/>
        </p:nvSpPr>
        <p:spPr>
          <a:xfrm>
            <a:off x="4315968" y="3584448"/>
            <a:ext cx="3547872" cy="1847088"/>
          </a:xfrm>
          <a:prstGeom prst="roundRect">
            <a:avLst>
              <a:gd name="adj" fmla="val 2970"/>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26" name="Shape 24"/>
          <p:cNvSpPr/>
          <p:nvPr/>
        </p:nvSpPr>
        <p:spPr>
          <a:xfrm>
            <a:off x="4535424" y="3803904"/>
            <a:ext cx="475488" cy="475488"/>
          </a:xfrm>
          <a:prstGeom prst="roundRect">
            <a:avLst>
              <a:gd name="adj" fmla="val 38462"/>
            </a:avLst>
          </a:prstGeom>
          <a:solidFill>
            <a:srgbClr val="1B8EA8"/>
          </a:solidFill>
          <a:ln w="19050">
            <a:solidFill>
              <a:srgbClr val="FFFFFF"/>
            </a:solidFill>
            <a:prstDash val="solid"/>
          </a:ln>
        </p:spPr>
      </p:sp>
      <p:sp>
        <p:nvSpPr>
          <p:cNvPr id="27" name="Text 25"/>
          <p:cNvSpPr/>
          <p:nvPr/>
        </p:nvSpPr>
        <p:spPr>
          <a:xfrm>
            <a:off x="4535424" y="3803904"/>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onsolas" pitchFamily="34" charset="0"/>
                <a:ea typeface="Consolas" pitchFamily="34" charset="-122"/>
                <a:cs typeface="Consolas" pitchFamily="34" charset="-120"/>
              </a:rPr>
              <a:t>05</a:t>
            </a:r>
            <a:endParaRPr lang="en-US" sz="1400" dirty="0"/>
          </a:p>
        </p:txBody>
      </p:sp>
      <p:sp>
        <p:nvSpPr>
          <p:cNvPr id="28" name="Text 26"/>
          <p:cNvSpPr/>
          <p:nvPr/>
        </p:nvSpPr>
        <p:spPr>
          <a:xfrm>
            <a:off x="5138928" y="3858768"/>
            <a:ext cx="2468880" cy="384048"/>
          </a:xfrm>
          <a:prstGeom prst="rect">
            <a:avLst/>
          </a:prstGeom>
          <a:noFill/>
          <a:ln/>
        </p:spPr>
        <p:txBody>
          <a:bodyPr wrap="square" lIns="0" tIns="0" rIns="0" bIns="0" rtlCol="0" anchor="t"/>
          <a:lstStyle/>
          <a:p>
            <a:pPr marL="0" indent="0">
              <a:buNone/>
            </a:pPr>
            <a:r>
              <a:rPr lang="en-US" sz="1600" b="1" dirty="0">
                <a:solidFill>
                  <a:srgbClr val="062A3A"/>
                </a:solidFill>
                <a:latin typeface="Segoe UI" pitchFamily="34" charset="0"/>
                <a:ea typeface="Segoe UI" pitchFamily="34" charset="-122"/>
                <a:cs typeface="Segoe UI" pitchFamily="34" charset="-120"/>
              </a:rPr>
              <a:t>Tính toán</a:t>
            </a:r>
            <a:endParaRPr lang="en-US" sz="1600" dirty="0"/>
          </a:p>
        </p:txBody>
      </p:sp>
      <p:sp>
        <p:nvSpPr>
          <p:cNvPr id="29" name="Text 27"/>
          <p:cNvSpPr/>
          <p:nvPr/>
        </p:nvSpPr>
        <p:spPr>
          <a:xfrm>
            <a:off x="4535424" y="4498848"/>
            <a:ext cx="3108960" cy="731520"/>
          </a:xfrm>
          <a:prstGeom prst="rect">
            <a:avLst/>
          </a:prstGeom>
          <a:noFill/>
          <a:ln/>
        </p:spPr>
        <p:txBody>
          <a:bodyPr wrap="square" lIns="0" tIns="0" rIns="0" bIns="0" rtlCol="0" anchor="t"/>
          <a:lstStyle/>
          <a:p>
            <a:pPr marL="0" indent="0">
              <a:lnSpc>
                <a:spcPct val="115000"/>
              </a:lnSpc>
              <a:buNone/>
            </a:pPr>
            <a:r>
              <a:rPr lang="en-US" sz="1150" dirty="0">
                <a:solidFill>
                  <a:srgbClr val="415A6B"/>
                </a:solidFill>
                <a:latin typeface="Segoe UI" pitchFamily="34" charset="0"/>
                <a:ea typeface="Segoe UI" pitchFamily="34" charset="-122"/>
                <a:cs typeface="Segoe UI" pitchFamily="34" charset="-120"/>
              </a:rPr>
              <a:t>Phép toán từng phần tử, axis và broadcasting.</a:t>
            </a:r>
            <a:endParaRPr lang="en-US" sz="1150" dirty="0"/>
          </a:p>
        </p:txBody>
      </p:sp>
      <p:sp>
        <p:nvSpPr>
          <p:cNvPr id="30" name="Shape 28"/>
          <p:cNvSpPr/>
          <p:nvPr/>
        </p:nvSpPr>
        <p:spPr>
          <a:xfrm>
            <a:off x="8083296" y="3584448"/>
            <a:ext cx="3547872" cy="1847088"/>
          </a:xfrm>
          <a:prstGeom prst="roundRect">
            <a:avLst>
              <a:gd name="adj" fmla="val 2970"/>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31" name="Shape 29"/>
          <p:cNvSpPr/>
          <p:nvPr/>
        </p:nvSpPr>
        <p:spPr>
          <a:xfrm>
            <a:off x="8302752" y="3803904"/>
            <a:ext cx="475488" cy="475488"/>
          </a:xfrm>
          <a:prstGeom prst="roundRect">
            <a:avLst>
              <a:gd name="adj" fmla="val 38462"/>
            </a:avLst>
          </a:prstGeom>
          <a:solidFill>
            <a:srgbClr val="4DB8D4"/>
          </a:solidFill>
          <a:ln w="19050">
            <a:solidFill>
              <a:srgbClr val="FFFFFF"/>
            </a:solidFill>
            <a:prstDash val="solid"/>
          </a:ln>
        </p:spPr>
      </p:sp>
      <p:sp>
        <p:nvSpPr>
          <p:cNvPr id="32" name="Text 30"/>
          <p:cNvSpPr/>
          <p:nvPr/>
        </p:nvSpPr>
        <p:spPr>
          <a:xfrm>
            <a:off x="8302752" y="3803904"/>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onsolas" pitchFamily="34" charset="0"/>
                <a:ea typeface="Consolas" pitchFamily="34" charset="-122"/>
                <a:cs typeface="Consolas" pitchFamily="34" charset="-120"/>
              </a:rPr>
              <a:t>06</a:t>
            </a:r>
            <a:endParaRPr lang="en-US" sz="1400" dirty="0"/>
          </a:p>
        </p:txBody>
      </p:sp>
      <p:sp>
        <p:nvSpPr>
          <p:cNvPr id="33" name="Text 31"/>
          <p:cNvSpPr/>
          <p:nvPr/>
        </p:nvSpPr>
        <p:spPr>
          <a:xfrm>
            <a:off x="8906256" y="3858768"/>
            <a:ext cx="2468880" cy="384048"/>
          </a:xfrm>
          <a:prstGeom prst="rect">
            <a:avLst/>
          </a:prstGeom>
          <a:noFill/>
          <a:ln/>
        </p:spPr>
        <p:txBody>
          <a:bodyPr wrap="square" lIns="0" tIns="0" rIns="0" bIns="0" rtlCol="0" anchor="t"/>
          <a:lstStyle/>
          <a:p>
            <a:pPr marL="0" indent="0">
              <a:buNone/>
            </a:pPr>
            <a:r>
              <a:rPr lang="en-US" sz="1600" b="1" dirty="0">
                <a:solidFill>
                  <a:srgbClr val="062A3A"/>
                </a:solidFill>
                <a:latin typeface="Segoe UI" pitchFamily="34" charset="0"/>
                <a:ea typeface="Segoe UI" pitchFamily="34" charset="-122"/>
                <a:cs typeface="Segoe UI" pitchFamily="34" charset="-120"/>
              </a:rPr>
              <a:t>Thực hành</a:t>
            </a:r>
            <a:endParaRPr lang="en-US" sz="1600" dirty="0"/>
          </a:p>
        </p:txBody>
      </p:sp>
      <p:sp>
        <p:nvSpPr>
          <p:cNvPr id="34" name="Text 32"/>
          <p:cNvSpPr/>
          <p:nvPr/>
        </p:nvSpPr>
        <p:spPr>
          <a:xfrm>
            <a:off x="8302752" y="4498848"/>
            <a:ext cx="3108960" cy="731520"/>
          </a:xfrm>
          <a:prstGeom prst="rect">
            <a:avLst/>
          </a:prstGeom>
          <a:noFill/>
          <a:ln/>
        </p:spPr>
        <p:txBody>
          <a:bodyPr wrap="square" lIns="0" tIns="0" rIns="0" bIns="0" rtlCol="0" anchor="t"/>
          <a:lstStyle/>
          <a:p>
            <a:pPr marL="0" indent="0">
              <a:lnSpc>
                <a:spcPct val="115000"/>
              </a:lnSpc>
              <a:buNone/>
            </a:pPr>
            <a:r>
              <a:rPr lang="en-US" sz="1150" dirty="0">
                <a:solidFill>
                  <a:srgbClr val="415A6B"/>
                </a:solidFill>
                <a:latin typeface="Segoe UI" pitchFamily="34" charset="0"/>
                <a:ea typeface="Segoe UI" pitchFamily="34" charset="-122"/>
                <a:cs typeface="Segoe UI" pitchFamily="34" charset="-120"/>
              </a:rPr>
              <a:t>Bốn ví dụ, kết luận và hướng tìm hiểu tiếp.</a:t>
            </a:r>
            <a:endParaRPr lang="en-US" sz="1150" dirty="0"/>
          </a:p>
        </p:txBody>
      </p:sp>
      <p:sp>
        <p:nvSpPr>
          <p:cNvPr id="35" name="Text 33"/>
          <p:cNvSpPr/>
          <p:nvPr/>
        </p:nvSpPr>
        <p:spPr>
          <a:xfrm>
            <a:off x="548640" y="5650992"/>
            <a:ext cx="11064240" cy="320040"/>
          </a:xfrm>
          <a:prstGeom prst="rect">
            <a:avLst/>
          </a:prstGeom>
          <a:noFill/>
          <a:ln/>
        </p:spPr>
        <p:txBody>
          <a:bodyPr wrap="square" lIns="0" tIns="0" rIns="0" bIns="0" rtlCol="0" anchor="t"/>
          <a:lstStyle/>
          <a:p>
            <a:pPr marL="0" indent="0">
              <a:buNone/>
            </a:pPr>
            <a:r>
              <a:rPr lang="en-US" sz="1200" i="1" dirty="0">
                <a:solidFill>
                  <a:srgbClr val="1B8EA8"/>
                </a:solidFill>
                <a:latin typeface="Segoe UI" pitchFamily="34" charset="0"/>
                <a:ea typeface="Segoe UI" pitchFamily="34" charset="-122"/>
                <a:cs typeface="Segoe UI" pitchFamily="34" charset="-120"/>
              </a:rPr>
              <a:t>Mạch kiến thức: vấn đề → đối tượng → tạo → truy cập → tính toán → mở rộng → ứng dụng.</a:t>
            </a:r>
            <a:endParaRPr lang="en-US" sz="1200" dirty="0"/>
          </a:p>
        </p:txBody>
      </p:sp>
      <p:sp>
        <p:nvSpPr>
          <p:cNvPr id="36" name="Shape 34"/>
          <p:cNvSpPr/>
          <p:nvPr/>
        </p:nvSpPr>
        <p:spPr>
          <a:xfrm>
            <a:off x="548640" y="6391656"/>
            <a:ext cx="11091672" cy="9144"/>
          </a:xfrm>
          <a:prstGeom prst="rect">
            <a:avLst/>
          </a:prstGeom>
          <a:solidFill>
            <a:srgbClr val="D7E5EC"/>
          </a:solidFill>
          <a:ln w="12700">
            <a:solidFill>
              <a:srgbClr val="D7E5EC"/>
            </a:solidFill>
            <a:prstDash val="solid"/>
          </a:ln>
        </p:spPr>
      </p:sp>
      <p:sp>
        <p:nvSpPr>
          <p:cNvPr id="37" name="Text 35"/>
          <p:cNvSpPr/>
          <p:nvPr/>
        </p:nvSpPr>
        <p:spPr>
          <a:xfrm>
            <a:off x="548640" y="6473952"/>
            <a:ext cx="7772400" cy="182880"/>
          </a:xfrm>
          <a:prstGeom prst="rect">
            <a:avLst/>
          </a:prstGeom>
          <a:noFill/>
          <a:ln/>
        </p:spPr>
        <p:txBody>
          <a:bodyPr wrap="square" lIns="0" tIns="0" rIns="0" bIns="0" rtlCol="0" anchor="t"/>
          <a:lstStyle/>
          <a:p>
            <a:pPr marL="0" indent="0">
              <a:buNone/>
            </a:pPr>
            <a:r>
              <a:rPr lang="en-US" sz="850" dirty="0">
                <a:solidFill>
                  <a:srgbClr val="728694"/>
                </a:solidFill>
                <a:latin typeface="Segoe UI" pitchFamily="34" charset="0"/>
                <a:ea typeface="Segoe UI" pitchFamily="34" charset="-122"/>
                <a:cs typeface="Segoe UI" pitchFamily="34" charset="-120"/>
              </a:rPr>
              <a:t>Tìm hiểu thư viện NumPy trong Python</a:t>
            </a:r>
            <a:endParaRPr lang="en-US" sz="850" dirty="0"/>
          </a:p>
        </p:txBody>
      </p:sp>
      <p:sp>
        <p:nvSpPr>
          <p:cNvPr id="38" name="Text 36"/>
          <p:cNvSpPr/>
          <p:nvPr/>
        </p:nvSpPr>
        <p:spPr>
          <a:xfrm>
            <a:off x="10698480" y="6473952"/>
            <a:ext cx="941832" cy="182880"/>
          </a:xfrm>
          <a:prstGeom prst="rect">
            <a:avLst/>
          </a:prstGeom>
          <a:noFill/>
          <a:ln/>
        </p:spPr>
        <p:txBody>
          <a:bodyPr wrap="square" lIns="0" tIns="0" rIns="0" bIns="0" rtlCol="0" anchor="t"/>
          <a:lstStyle/>
          <a:p>
            <a:pPr marL="0" indent="0" algn="r">
              <a:buNone/>
            </a:pPr>
            <a:r>
              <a:rPr lang="en-US" sz="850" dirty="0">
                <a:solidFill>
                  <a:srgbClr val="728694"/>
                </a:solidFill>
                <a:latin typeface="Segoe UI" pitchFamily="34" charset="0"/>
                <a:ea typeface="Segoe UI" pitchFamily="34" charset="-122"/>
                <a:cs typeface="Segoe UI" pitchFamily="34" charset="-120"/>
              </a:rPr>
              <a:t>02 / 25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301752"/>
            <a:ext cx="10881360" cy="201168"/>
          </a:xfrm>
          <a:prstGeom prst="rect">
            <a:avLst/>
          </a:prstGeom>
          <a:noFill/>
          <a:ln/>
        </p:spPr>
        <p:txBody>
          <a:bodyPr wrap="square" lIns="0" tIns="0" rIns="0" bIns="0" rtlCol="0" anchor="t"/>
          <a:lstStyle/>
          <a:p>
            <a:pPr marL="0" indent="0">
              <a:buNone/>
            </a:pPr>
            <a:r>
              <a:rPr lang="en-US" sz="950" b="1" kern="0" spc="160" dirty="0">
                <a:solidFill>
                  <a:srgbClr val="1B8EA8"/>
                </a:solidFill>
                <a:latin typeface="Segoe UI" pitchFamily="34" charset="0"/>
                <a:ea typeface="Segoe UI" pitchFamily="34" charset="-122"/>
                <a:cs typeface="Segoe UI" pitchFamily="34" charset="-120"/>
              </a:rPr>
              <a:t>01 · GIỚI THIỆU</a:t>
            </a:r>
            <a:endParaRPr lang="en-US" sz="950" dirty="0"/>
          </a:p>
        </p:txBody>
      </p:sp>
      <p:sp>
        <p:nvSpPr>
          <p:cNvPr id="3" name="Text 1"/>
          <p:cNvSpPr/>
          <p:nvPr/>
        </p:nvSpPr>
        <p:spPr>
          <a:xfrm>
            <a:off x="548640" y="502920"/>
            <a:ext cx="10881360" cy="640080"/>
          </a:xfrm>
          <a:prstGeom prst="rect">
            <a:avLst/>
          </a:prstGeom>
          <a:noFill/>
          <a:ln/>
        </p:spPr>
        <p:txBody>
          <a:bodyPr wrap="square" lIns="0" tIns="0" rIns="0" bIns="0" rtlCol="0" anchor="ctr"/>
          <a:lstStyle/>
          <a:p>
            <a:pPr marL="0" indent="0">
              <a:buNone/>
            </a:pPr>
            <a:r>
              <a:rPr lang="en-US" sz="2800" b="1" dirty="0">
                <a:solidFill>
                  <a:srgbClr val="062A3A"/>
                </a:solidFill>
                <a:latin typeface="Segoe UI" pitchFamily="34" charset="0"/>
                <a:ea typeface="Segoe UI" pitchFamily="34" charset="-122"/>
                <a:cs typeface="Segoe UI" pitchFamily="34" charset="-120"/>
              </a:rPr>
              <a:t>NumPy là gì?</a:t>
            </a:r>
            <a:endParaRPr lang="en-US" sz="2800" dirty="0"/>
          </a:p>
        </p:txBody>
      </p:sp>
      <p:sp>
        <p:nvSpPr>
          <p:cNvPr id="4" name="Shape 2"/>
          <p:cNvSpPr/>
          <p:nvPr/>
        </p:nvSpPr>
        <p:spPr>
          <a:xfrm>
            <a:off x="548640" y="1225296"/>
            <a:ext cx="868680" cy="41148"/>
          </a:xfrm>
          <a:prstGeom prst="rect">
            <a:avLst/>
          </a:prstGeom>
          <a:solidFill>
            <a:srgbClr val="1B8EA8"/>
          </a:solidFill>
          <a:ln w="12700">
            <a:solidFill>
              <a:srgbClr val="1B8EA8"/>
            </a:solidFill>
            <a:prstDash val="solid"/>
          </a:ln>
        </p:spPr>
      </p:sp>
      <p:sp>
        <p:nvSpPr>
          <p:cNvPr id="5" name="Text 3"/>
          <p:cNvSpPr/>
          <p:nvPr/>
        </p:nvSpPr>
        <p:spPr>
          <a:xfrm>
            <a:off x="548640" y="1417320"/>
            <a:ext cx="5577840" cy="868680"/>
          </a:xfrm>
          <a:prstGeom prst="rect">
            <a:avLst/>
          </a:prstGeom>
          <a:noFill/>
          <a:ln/>
        </p:spPr>
        <p:txBody>
          <a:bodyPr wrap="square" lIns="0" tIns="0" rIns="0" bIns="0" rtlCol="0" anchor="t"/>
          <a:lstStyle/>
          <a:p>
            <a:pPr marL="0" indent="0">
              <a:lnSpc>
                <a:spcPct val="120000"/>
              </a:lnSpc>
              <a:buNone/>
            </a:pPr>
            <a:r>
              <a:rPr lang="en-US" sz="1700" dirty="0">
                <a:solidFill>
                  <a:srgbClr val="062A3A"/>
                </a:solidFill>
                <a:latin typeface="Segoe UI" pitchFamily="34" charset="0"/>
                <a:ea typeface="Segoe UI" pitchFamily="34" charset="-122"/>
                <a:cs typeface="Segoe UI" pitchFamily="34" charset="-120"/>
              </a:rPr>
              <a:t>NumPy (Numerical Python) là thư viện mã nguồn mở cho tính toán khoa học trong Python.</a:t>
            </a:r>
            <a:endParaRPr lang="en-US" sz="1700" dirty="0"/>
          </a:p>
        </p:txBody>
      </p:sp>
      <p:sp>
        <p:nvSpPr>
          <p:cNvPr id="6" name="Shape 4"/>
          <p:cNvSpPr/>
          <p:nvPr/>
        </p:nvSpPr>
        <p:spPr>
          <a:xfrm>
            <a:off x="548640" y="2487168"/>
            <a:ext cx="5532120" cy="822960"/>
          </a:xfrm>
          <a:prstGeom prst="roundRect">
            <a:avLst>
              <a:gd name="adj" fmla="val 6667"/>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7" name="Shape 5"/>
          <p:cNvSpPr/>
          <p:nvPr/>
        </p:nvSpPr>
        <p:spPr>
          <a:xfrm>
            <a:off x="548640" y="2596896"/>
            <a:ext cx="54864" cy="603504"/>
          </a:xfrm>
          <a:prstGeom prst="rect">
            <a:avLst/>
          </a:prstGeom>
          <a:solidFill>
            <a:srgbClr val="1B8EA8"/>
          </a:solidFill>
          <a:ln w="12700">
            <a:solidFill>
              <a:srgbClr val="FFFFFF"/>
            </a:solidFill>
            <a:prstDash val="solid"/>
          </a:ln>
        </p:spPr>
      </p:sp>
      <p:sp>
        <p:nvSpPr>
          <p:cNvPr id="8" name="Text 6"/>
          <p:cNvSpPr/>
          <p:nvPr/>
        </p:nvSpPr>
        <p:spPr>
          <a:xfrm>
            <a:off x="777240" y="2606040"/>
            <a:ext cx="1600200" cy="256032"/>
          </a:xfrm>
          <a:prstGeom prst="rect">
            <a:avLst/>
          </a:prstGeom>
          <a:noFill/>
          <a:ln/>
        </p:spPr>
        <p:txBody>
          <a:bodyPr wrap="square" lIns="0" tIns="0" rIns="0" bIns="0" rtlCol="0" anchor="t"/>
          <a:lstStyle/>
          <a:p>
            <a:pPr marL="0" indent="0">
              <a:buNone/>
            </a:pPr>
            <a:r>
              <a:rPr lang="en-US" sz="1200" b="1" dirty="0">
                <a:solidFill>
                  <a:srgbClr val="062A3A"/>
                </a:solidFill>
                <a:latin typeface="Consolas" pitchFamily="34" charset="0"/>
                <a:ea typeface="Consolas" pitchFamily="34" charset="-122"/>
                <a:cs typeface="Consolas" pitchFamily="34" charset="-120"/>
              </a:rPr>
              <a:t>ndarray</a:t>
            </a:r>
            <a:endParaRPr lang="en-US" sz="1200" dirty="0"/>
          </a:p>
        </p:txBody>
      </p:sp>
      <p:sp>
        <p:nvSpPr>
          <p:cNvPr id="9" name="Text 7"/>
          <p:cNvSpPr/>
          <p:nvPr/>
        </p:nvSpPr>
        <p:spPr>
          <a:xfrm>
            <a:off x="2331720" y="2596896"/>
            <a:ext cx="3611880" cy="566928"/>
          </a:xfrm>
          <a:prstGeom prst="rect">
            <a:avLst/>
          </a:prstGeom>
          <a:noFill/>
          <a:ln/>
        </p:spPr>
        <p:txBody>
          <a:bodyPr wrap="square" lIns="0" tIns="0" rIns="0" bIns="0" rtlCol="0" anchor="t"/>
          <a:lstStyle/>
          <a:p>
            <a:pPr marL="0" indent="0">
              <a:lnSpc>
                <a:spcPct val="108000"/>
              </a:lnSpc>
              <a:buNone/>
            </a:pPr>
            <a:r>
              <a:rPr lang="en-US" sz="1050" dirty="0">
                <a:solidFill>
                  <a:srgbClr val="415A6B"/>
                </a:solidFill>
                <a:latin typeface="Segoe UI" pitchFamily="34" charset="0"/>
                <a:ea typeface="Segoe UI" pitchFamily="34" charset="-122"/>
                <a:cs typeface="Segoe UI" pitchFamily="34" charset="-120"/>
              </a:rPr>
              <a:t>Mảng N chiều, đồng nhất kiểu, kích thước cố định</a:t>
            </a:r>
            <a:endParaRPr lang="en-US" sz="1050" dirty="0"/>
          </a:p>
        </p:txBody>
      </p:sp>
      <p:sp>
        <p:nvSpPr>
          <p:cNvPr id="10" name="Shape 8"/>
          <p:cNvSpPr/>
          <p:nvPr/>
        </p:nvSpPr>
        <p:spPr>
          <a:xfrm>
            <a:off x="548640" y="3447288"/>
            <a:ext cx="5532120" cy="822960"/>
          </a:xfrm>
          <a:prstGeom prst="roundRect">
            <a:avLst>
              <a:gd name="adj" fmla="val 6667"/>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11" name="Shape 9"/>
          <p:cNvSpPr/>
          <p:nvPr/>
        </p:nvSpPr>
        <p:spPr>
          <a:xfrm>
            <a:off x="548640" y="3557016"/>
            <a:ext cx="54864" cy="603504"/>
          </a:xfrm>
          <a:prstGeom prst="rect">
            <a:avLst/>
          </a:prstGeom>
          <a:solidFill>
            <a:srgbClr val="4DB8D4"/>
          </a:solidFill>
          <a:ln w="12700">
            <a:solidFill>
              <a:srgbClr val="FFFFFF"/>
            </a:solidFill>
            <a:prstDash val="solid"/>
          </a:ln>
        </p:spPr>
      </p:sp>
      <p:sp>
        <p:nvSpPr>
          <p:cNvPr id="12" name="Text 10"/>
          <p:cNvSpPr/>
          <p:nvPr/>
        </p:nvSpPr>
        <p:spPr>
          <a:xfrm>
            <a:off x="777240" y="3566160"/>
            <a:ext cx="1600200" cy="256032"/>
          </a:xfrm>
          <a:prstGeom prst="rect">
            <a:avLst/>
          </a:prstGeom>
          <a:noFill/>
          <a:ln/>
        </p:spPr>
        <p:txBody>
          <a:bodyPr wrap="square" lIns="0" tIns="0" rIns="0" bIns="0" rtlCol="0" anchor="t"/>
          <a:lstStyle/>
          <a:p>
            <a:pPr marL="0" indent="0">
              <a:buNone/>
            </a:pPr>
            <a:r>
              <a:rPr lang="en-US" sz="1200" b="1" dirty="0">
                <a:solidFill>
                  <a:srgbClr val="062A3A"/>
                </a:solidFill>
                <a:latin typeface="Consolas" pitchFamily="34" charset="0"/>
                <a:ea typeface="Consolas" pitchFamily="34" charset="-122"/>
                <a:cs typeface="Consolas" pitchFamily="34" charset="-120"/>
              </a:rPr>
              <a:t>Hàm toán học</a:t>
            </a:r>
            <a:endParaRPr lang="en-US" sz="1200" dirty="0"/>
          </a:p>
        </p:txBody>
      </p:sp>
      <p:sp>
        <p:nvSpPr>
          <p:cNvPr id="13" name="Text 11"/>
          <p:cNvSpPr/>
          <p:nvPr/>
        </p:nvSpPr>
        <p:spPr>
          <a:xfrm>
            <a:off x="2331720" y="3557016"/>
            <a:ext cx="3611880" cy="566928"/>
          </a:xfrm>
          <a:prstGeom prst="rect">
            <a:avLst/>
          </a:prstGeom>
          <a:noFill/>
          <a:ln/>
        </p:spPr>
        <p:txBody>
          <a:bodyPr wrap="square" lIns="0" tIns="0" rIns="0" bIns="0" rtlCol="0" anchor="t"/>
          <a:lstStyle/>
          <a:p>
            <a:pPr marL="0" indent="0">
              <a:lnSpc>
                <a:spcPct val="108000"/>
              </a:lnSpc>
              <a:buNone/>
            </a:pPr>
            <a:r>
              <a:rPr lang="en-US" sz="1050" dirty="0">
                <a:solidFill>
                  <a:srgbClr val="415A6B"/>
                </a:solidFill>
                <a:latin typeface="Segoe UI" pitchFamily="34" charset="0"/>
                <a:ea typeface="Segoe UI" pitchFamily="34" charset="-122"/>
                <a:cs typeface="Segoe UI" pitchFamily="34" charset="-120"/>
              </a:rPr>
              <a:t>Đại số tuyến tính, thống kê, sắp xếp, tìm kiếm</a:t>
            </a:r>
            <a:endParaRPr lang="en-US" sz="1050" dirty="0"/>
          </a:p>
        </p:txBody>
      </p:sp>
      <p:sp>
        <p:nvSpPr>
          <p:cNvPr id="14" name="Shape 12"/>
          <p:cNvSpPr/>
          <p:nvPr/>
        </p:nvSpPr>
        <p:spPr>
          <a:xfrm>
            <a:off x="548640" y="4407408"/>
            <a:ext cx="5532120" cy="822960"/>
          </a:xfrm>
          <a:prstGeom prst="roundRect">
            <a:avLst>
              <a:gd name="adj" fmla="val 6667"/>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15" name="Shape 13"/>
          <p:cNvSpPr/>
          <p:nvPr/>
        </p:nvSpPr>
        <p:spPr>
          <a:xfrm>
            <a:off x="548640" y="4517136"/>
            <a:ext cx="54864" cy="603504"/>
          </a:xfrm>
          <a:prstGeom prst="rect">
            <a:avLst/>
          </a:prstGeom>
          <a:solidFill>
            <a:srgbClr val="E8A33D"/>
          </a:solidFill>
          <a:ln w="12700">
            <a:solidFill>
              <a:srgbClr val="FFFFFF"/>
            </a:solidFill>
            <a:prstDash val="solid"/>
          </a:ln>
        </p:spPr>
      </p:sp>
      <p:sp>
        <p:nvSpPr>
          <p:cNvPr id="16" name="Text 14"/>
          <p:cNvSpPr/>
          <p:nvPr/>
        </p:nvSpPr>
        <p:spPr>
          <a:xfrm>
            <a:off x="777240" y="4526280"/>
            <a:ext cx="1600200" cy="256032"/>
          </a:xfrm>
          <a:prstGeom prst="rect">
            <a:avLst/>
          </a:prstGeom>
          <a:noFill/>
          <a:ln/>
        </p:spPr>
        <p:txBody>
          <a:bodyPr wrap="square" lIns="0" tIns="0" rIns="0" bIns="0" rtlCol="0" anchor="t"/>
          <a:lstStyle/>
          <a:p>
            <a:pPr marL="0" indent="0">
              <a:buNone/>
            </a:pPr>
            <a:r>
              <a:rPr lang="en-US" sz="1200" b="1" dirty="0">
                <a:solidFill>
                  <a:srgbClr val="062A3A"/>
                </a:solidFill>
                <a:latin typeface="Consolas" pitchFamily="34" charset="0"/>
                <a:ea typeface="Consolas" pitchFamily="34" charset="-122"/>
                <a:cs typeface="Consolas" pitchFamily="34" charset="-120"/>
              </a:rPr>
              <a:t>Nền tảng</a:t>
            </a:r>
            <a:endParaRPr lang="en-US" sz="1200" dirty="0"/>
          </a:p>
        </p:txBody>
      </p:sp>
      <p:sp>
        <p:nvSpPr>
          <p:cNvPr id="17" name="Text 15"/>
          <p:cNvSpPr/>
          <p:nvPr/>
        </p:nvSpPr>
        <p:spPr>
          <a:xfrm>
            <a:off x="2331720" y="4517136"/>
            <a:ext cx="3611880" cy="566928"/>
          </a:xfrm>
          <a:prstGeom prst="rect">
            <a:avLst/>
          </a:prstGeom>
          <a:noFill/>
          <a:ln/>
        </p:spPr>
        <p:txBody>
          <a:bodyPr wrap="square" lIns="0" tIns="0" rIns="0" bIns="0" rtlCol="0" anchor="t"/>
          <a:lstStyle/>
          <a:p>
            <a:pPr marL="0" indent="0">
              <a:lnSpc>
                <a:spcPct val="108000"/>
              </a:lnSpc>
              <a:buNone/>
            </a:pPr>
            <a:r>
              <a:rPr lang="en-US" sz="1050" dirty="0">
                <a:solidFill>
                  <a:srgbClr val="415A6B"/>
                </a:solidFill>
                <a:latin typeface="Segoe UI" pitchFamily="34" charset="0"/>
                <a:ea typeface="Segoe UI" pitchFamily="34" charset="-122"/>
                <a:cs typeface="Segoe UI" pitchFamily="34" charset="-120"/>
              </a:rPr>
              <a:t>Nhiều thư viện khoa học nhận và trả về mảng NumPy</a:t>
            </a:r>
            <a:endParaRPr lang="en-US" sz="1050" dirty="0"/>
          </a:p>
        </p:txBody>
      </p:sp>
      <p:sp>
        <p:nvSpPr>
          <p:cNvPr id="18" name="Shape 16"/>
          <p:cNvSpPr/>
          <p:nvPr/>
        </p:nvSpPr>
        <p:spPr>
          <a:xfrm>
            <a:off x="6400800" y="1463040"/>
            <a:ext cx="5212080" cy="1325880"/>
          </a:xfrm>
          <a:prstGeom prst="roundRect">
            <a:avLst>
              <a:gd name="adj" fmla="val 3448"/>
            </a:avLst>
          </a:prstGeom>
          <a:solidFill>
            <a:srgbClr val="0B2230"/>
          </a:solidFill>
          <a:ln w="9525">
            <a:solidFill>
              <a:srgbClr val="163B4C"/>
            </a:solidFill>
            <a:prstDash val="solid"/>
          </a:ln>
        </p:spPr>
      </p:sp>
      <p:sp>
        <p:nvSpPr>
          <p:cNvPr id="19" name="Shape 17"/>
          <p:cNvSpPr/>
          <p:nvPr/>
        </p:nvSpPr>
        <p:spPr>
          <a:xfrm>
            <a:off x="6400800" y="1463040"/>
            <a:ext cx="5212080" cy="265176"/>
          </a:xfrm>
          <a:prstGeom prst="rect">
            <a:avLst/>
          </a:prstGeom>
          <a:solidFill>
            <a:srgbClr val="103445"/>
          </a:solidFill>
          <a:ln w="12700">
            <a:solidFill>
              <a:srgbClr val="103445"/>
            </a:solidFill>
            <a:prstDash val="solid"/>
          </a:ln>
        </p:spPr>
      </p:sp>
      <p:sp>
        <p:nvSpPr>
          <p:cNvPr id="20" name="Text 18"/>
          <p:cNvSpPr/>
          <p:nvPr/>
        </p:nvSpPr>
        <p:spPr>
          <a:xfrm>
            <a:off x="6547104" y="1513332"/>
            <a:ext cx="4297680" cy="182880"/>
          </a:xfrm>
          <a:prstGeom prst="rect">
            <a:avLst/>
          </a:prstGeom>
          <a:noFill/>
          <a:ln/>
        </p:spPr>
        <p:txBody>
          <a:bodyPr wrap="square" lIns="0" tIns="0" rIns="0" bIns="0" rtlCol="0" anchor="t"/>
          <a:lstStyle/>
          <a:p>
            <a:pPr marL="0" indent="0">
              <a:buNone/>
            </a:pPr>
            <a:r>
              <a:rPr lang="en-US" sz="850" dirty="0">
                <a:solidFill>
                  <a:srgbClr val="8FB6C8"/>
                </a:solidFill>
                <a:latin typeface="Consolas" pitchFamily="34" charset="0"/>
                <a:ea typeface="Consolas" pitchFamily="34" charset="-122"/>
                <a:cs typeface="Consolas" pitchFamily="34" charset="-120"/>
              </a:rPr>
              <a:t>python</a:t>
            </a:r>
            <a:endParaRPr lang="en-US" sz="850" dirty="0"/>
          </a:p>
        </p:txBody>
      </p:sp>
      <p:sp>
        <p:nvSpPr>
          <p:cNvPr id="21" name="Shape 19"/>
          <p:cNvSpPr/>
          <p:nvPr/>
        </p:nvSpPr>
        <p:spPr>
          <a:xfrm>
            <a:off x="11045952" y="1568196"/>
            <a:ext cx="77724" cy="77724"/>
          </a:xfrm>
          <a:prstGeom prst="ellipse">
            <a:avLst/>
          </a:prstGeom>
          <a:solidFill>
            <a:srgbClr val="D96C5F"/>
          </a:solidFill>
          <a:ln w="12700">
            <a:solidFill>
              <a:srgbClr val="D96C5F"/>
            </a:solidFill>
            <a:prstDash val="solid"/>
          </a:ln>
        </p:spPr>
      </p:sp>
      <p:sp>
        <p:nvSpPr>
          <p:cNvPr id="22" name="Shape 20"/>
          <p:cNvSpPr/>
          <p:nvPr/>
        </p:nvSpPr>
        <p:spPr>
          <a:xfrm>
            <a:off x="11201400" y="1568196"/>
            <a:ext cx="77724" cy="77724"/>
          </a:xfrm>
          <a:prstGeom prst="ellipse">
            <a:avLst/>
          </a:prstGeom>
          <a:solidFill>
            <a:srgbClr val="E8A33D"/>
          </a:solidFill>
          <a:ln w="12700">
            <a:solidFill>
              <a:srgbClr val="E8A33D"/>
            </a:solidFill>
            <a:prstDash val="solid"/>
          </a:ln>
        </p:spPr>
      </p:sp>
      <p:sp>
        <p:nvSpPr>
          <p:cNvPr id="23" name="Shape 21"/>
          <p:cNvSpPr/>
          <p:nvPr/>
        </p:nvSpPr>
        <p:spPr>
          <a:xfrm>
            <a:off x="11356848" y="1568196"/>
            <a:ext cx="77724" cy="77724"/>
          </a:xfrm>
          <a:prstGeom prst="ellipse">
            <a:avLst/>
          </a:prstGeom>
          <a:solidFill>
            <a:srgbClr val="2D8C6F"/>
          </a:solidFill>
          <a:ln w="12700">
            <a:solidFill>
              <a:srgbClr val="2D8C6F"/>
            </a:solidFill>
            <a:prstDash val="solid"/>
          </a:ln>
        </p:spPr>
      </p:sp>
      <p:sp>
        <p:nvSpPr>
          <p:cNvPr id="24" name="Text 22"/>
          <p:cNvSpPr/>
          <p:nvPr/>
        </p:nvSpPr>
        <p:spPr>
          <a:xfrm>
            <a:off x="6565392" y="1810512"/>
            <a:ext cx="4919472" cy="905256"/>
          </a:xfrm>
          <a:prstGeom prst="rect">
            <a:avLst/>
          </a:prstGeom>
          <a:noFill/>
          <a:ln/>
        </p:spPr>
        <p:txBody>
          <a:bodyPr wrap="square" lIns="0" tIns="0" rIns="0" bIns="0" rtlCol="0" anchor="t"/>
          <a:lstStyle/>
          <a:p>
            <a:pPr marL="0" indent="0">
              <a:lnSpc>
                <a:spcPct val="102000"/>
              </a:lnSpc>
              <a:buNone/>
            </a:pPr>
            <a:r>
              <a:rPr lang="en-US" sz="1200" dirty="0">
                <a:solidFill>
                  <a:srgbClr val="6FD0E4"/>
                </a:solidFill>
                <a:latin typeface="Consolas" pitchFamily="34" charset="0"/>
                <a:ea typeface="Consolas" pitchFamily="34" charset="-122"/>
                <a:cs typeface="Consolas" pitchFamily="34" charset="-120"/>
              </a:rPr>
              <a:t>import</a:t>
            </a:r>
            <a:r>
              <a:rPr lang="en-US" sz="1200" dirty="0">
                <a:solidFill>
                  <a:srgbClr val="D6E6EF"/>
                </a:solidFill>
                <a:latin typeface="Consolas" pitchFamily="34" charset="0"/>
                <a:ea typeface="Consolas" pitchFamily="34" charset="-122"/>
                <a:cs typeface="Consolas" pitchFamily="34" charset="-120"/>
              </a:rPr>
              <a:t> </a:t>
            </a:r>
            <a:r>
              <a:rPr lang="en-US" sz="1200" dirty="0">
                <a:solidFill>
                  <a:srgbClr val="8AD9C0"/>
                </a:solidFill>
                <a:latin typeface="Consolas" pitchFamily="34" charset="0"/>
                <a:ea typeface="Consolas" pitchFamily="34" charset="-122"/>
                <a:cs typeface="Consolas" pitchFamily="34" charset="-120"/>
              </a:rPr>
              <a:t>numpy</a:t>
            </a:r>
            <a:r>
              <a:rPr lang="en-US" sz="1200" dirty="0">
                <a:solidFill>
                  <a:srgbClr val="D6E6EF"/>
                </a:solidFill>
                <a:latin typeface="Consolas" pitchFamily="34" charset="0"/>
                <a:ea typeface="Consolas" pitchFamily="34" charset="-122"/>
                <a:cs typeface="Consolas" pitchFamily="34" charset="-120"/>
              </a:rPr>
              <a:t> </a:t>
            </a:r>
            <a:r>
              <a:rPr lang="en-US" sz="1200" dirty="0">
                <a:solidFill>
                  <a:srgbClr val="6FD0E4"/>
                </a:solidFill>
                <a:latin typeface="Consolas" pitchFamily="34" charset="0"/>
                <a:ea typeface="Consolas" pitchFamily="34" charset="-122"/>
                <a:cs typeface="Consolas" pitchFamily="34" charset="-120"/>
              </a:rPr>
              <a:t>as</a:t>
            </a:r>
            <a:r>
              <a:rPr lang="en-US" sz="1200" dirty="0">
                <a:solidFill>
                  <a:srgbClr val="D6E6EF"/>
                </a:solidFill>
                <a:latin typeface="Consolas" pitchFamily="34" charset="0"/>
                <a:ea typeface="Consolas" pitchFamily="34" charset="-122"/>
                <a:cs typeface="Consolas" pitchFamily="34" charset="-120"/>
              </a:rPr>
              <a:t> </a:t>
            </a:r>
            <a:r>
              <a:rPr lang="en-US" sz="1200" dirty="0">
                <a:solidFill>
                  <a:srgbClr val="8AD9C0"/>
                </a:solidFill>
                <a:latin typeface="Consolas" pitchFamily="34" charset="0"/>
                <a:ea typeface="Consolas" pitchFamily="34" charset="-122"/>
                <a:cs typeface="Consolas" pitchFamily="34" charset="-120"/>
              </a:rPr>
              <a:t>np</a:t>
            </a:r>
            <a:endParaRPr lang="en-US" sz="1200" dirty="0"/>
          </a:p>
          <a:p>
            <a:pPr marL="0" indent="0">
              <a:lnSpc>
                <a:spcPct val="102000"/>
              </a:lnSpc>
              <a:buNone/>
            </a:pPr>
            <a:r>
              <a:rPr lang="en-US" sz="1200" dirty="0">
                <a:solidFill>
                  <a:srgbClr val="D6E6EF"/>
                </a:solidFill>
                <a:latin typeface="Consolas" pitchFamily="34" charset="0"/>
                <a:ea typeface="Consolas" pitchFamily="34" charset="-122"/>
                <a:cs typeface="Consolas" pitchFamily="34" charset="-120"/>
              </a:rPr>
              <a:t> </a:t>
            </a:r>
            <a:endParaRPr lang="en-US" sz="1200" dirty="0"/>
          </a:p>
          <a:p>
            <a:pPr marL="0" indent="0">
              <a:lnSpc>
                <a:spcPct val="102000"/>
              </a:lnSpc>
              <a:buNone/>
            </a:pPr>
            <a:r>
              <a:rPr lang="en-US" sz="1200" dirty="0">
                <a:solidFill>
                  <a:srgbClr val="6FD0E4"/>
                </a:solidFill>
                <a:latin typeface="Consolas" pitchFamily="34" charset="0"/>
                <a:ea typeface="Consolas" pitchFamily="34" charset="-122"/>
                <a:cs typeface="Consolas" pitchFamily="34" charset="-120"/>
              </a:rPr>
              <a:t>print</a:t>
            </a:r>
            <a:r>
              <a:rPr lang="en-US" sz="1200" dirty="0">
                <a:solidFill>
                  <a:srgbClr val="D6E6EF"/>
                </a:solidFill>
                <a:latin typeface="Consolas" pitchFamily="34" charset="0"/>
                <a:ea typeface="Consolas" pitchFamily="34" charset="-122"/>
                <a:cs typeface="Consolas" pitchFamily="34" charset="-120"/>
              </a:rPr>
              <a:t>(</a:t>
            </a:r>
            <a:r>
              <a:rPr lang="en-US" sz="1200" dirty="0">
                <a:solidFill>
                  <a:srgbClr val="8AD9C0"/>
                </a:solidFill>
                <a:latin typeface="Consolas" pitchFamily="34" charset="0"/>
                <a:ea typeface="Consolas" pitchFamily="34" charset="-122"/>
                <a:cs typeface="Consolas" pitchFamily="34" charset="-120"/>
              </a:rPr>
              <a:t>np</a:t>
            </a:r>
            <a:r>
              <a:rPr lang="en-US" sz="1200" dirty="0">
                <a:solidFill>
                  <a:srgbClr val="D6E6EF"/>
                </a:solidFill>
                <a:latin typeface="Consolas" pitchFamily="34" charset="0"/>
                <a:ea typeface="Consolas" pitchFamily="34" charset="-122"/>
                <a:cs typeface="Consolas" pitchFamily="34" charset="-120"/>
              </a:rPr>
              <a:t>.__version__)</a:t>
            </a:r>
            <a:endParaRPr lang="en-US" sz="1200" dirty="0"/>
          </a:p>
        </p:txBody>
      </p:sp>
      <p:sp>
        <p:nvSpPr>
          <p:cNvPr id="25" name="Shape 23"/>
          <p:cNvSpPr/>
          <p:nvPr/>
        </p:nvSpPr>
        <p:spPr>
          <a:xfrm>
            <a:off x="6400800" y="2926080"/>
            <a:ext cx="5212080" cy="777240"/>
          </a:xfrm>
          <a:prstGeom prst="roundRect">
            <a:avLst>
              <a:gd name="adj" fmla="val 5882"/>
            </a:avLst>
          </a:prstGeom>
          <a:solidFill>
            <a:srgbClr val="FFFFFF"/>
          </a:solidFill>
          <a:ln w="9525">
            <a:solidFill>
              <a:srgbClr val="CFE5EE"/>
            </a:solidFill>
            <a:prstDash val="solid"/>
          </a:ln>
        </p:spPr>
      </p:sp>
      <p:sp>
        <p:nvSpPr>
          <p:cNvPr id="26" name="Text 24"/>
          <p:cNvSpPr/>
          <p:nvPr/>
        </p:nvSpPr>
        <p:spPr>
          <a:xfrm>
            <a:off x="6547104" y="3017520"/>
            <a:ext cx="4937760" cy="164592"/>
          </a:xfrm>
          <a:prstGeom prst="rect">
            <a:avLst/>
          </a:prstGeom>
          <a:noFill/>
          <a:ln/>
        </p:spPr>
        <p:txBody>
          <a:bodyPr wrap="square" lIns="0" tIns="0" rIns="0" bIns="0" rtlCol="0" anchor="t"/>
          <a:lstStyle/>
          <a:p>
            <a:pPr marL="0" indent="0">
              <a:buNone/>
            </a:pPr>
            <a:r>
              <a:rPr lang="en-US" sz="800" b="1" kern="0" spc="120" dirty="0">
                <a:solidFill>
                  <a:srgbClr val="2D8C6F"/>
                </a:solidFill>
                <a:latin typeface="Segoe UI" pitchFamily="34" charset="0"/>
                <a:ea typeface="Segoe UI" pitchFamily="34" charset="-122"/>
                <a:cs typeface="Segoe UI" pitchFamily="34" charset="-120"/>
              </a:rPr>
              <a:t>KẾT QUẢ</a:t>
            </a:r>
            <a:endParaRPr lang="en-US" sz="800" dirty="0"/>
          </a:p>
        </p:txBody>
      </p:sp>
      <p:sp>
        <p:nvSpPr>
          <p:cNvPr id="27" name="Text 25"/>
          <p:cNvSpPr/>
          <p:nvPr/>
        </p:nvSpPr>
        <p:spPr>
          <a:xfrm>
            <a:off x="6547104" y="3236976"/>
            <a:ext cx="4937760" cy="393192"/>
          </a:xfrm>
          <a:prstGeom prst="rect">
            <a:avLst/>
          </a:prstGeom>
          <a:noFill/>
          <a:ln/>
        </p:spPr>
        <p:txBody>
          <a:bodyPr wrap="square" lIns="0" tIns="0" rIns="0" bIns="0" rtlCol="0" anchor="t"/>
          <a:lstStyle/>
          <a:p>
            <a:pPr marL="0" indent="0">
              <a:lnSpc>
                <a:spcPct val="102000"/>
              </a:lnSpc>
              <a:buNone/>
            </a:pPr>
            <a:r>
              <a:rPr lang="en-US" sz="1300" dirty="0">
                <a:solidFill>
                  <a:srgbClr val="062A3A"/>
                </a:solidFill>
                <a:latin typeface="Consolas" pitchFamily="34" charset="0"/>
                <a:ea typeface="Consolas" pitchFamily="34" charset="-122"/>
                <a:cs typeface="Consolas" pitchFamily="34" charset="-120"/>
              </a:rPr>
              <a:t>2.5.4</a:t>
            </a:r>
            <a:endParaRPr lang="en-US" sz="1300" dirty="0"/>
          </a:p>
        </p:txBody>
      </p:sp>
      <p:sp>
        <p:nvSpPr>
          <p:cNvPr id="28" name="Text 26"/>
          <p:cNvSpPr/>
          <p:nvPr/>
        </p:nvSpPr>
        <p:spPr>
          <a:xfrm>
            <a:off x="6400800" y="3886200"/>
            <a:ext cx="5212080" cy="274320"/>
          </a:xfrm>
          <a:prstGeom prst="rect">
            <a:avLst/>
          </a:prstGeom>
          <a:noFill/>
          <a:ln/>
        </p:spPr>
        <p:txBody>
          <a:bodyPr wrap="square" lIns="0" tIns="0" rIns="0" bIns="0" rtlCol="0" anchor="t"/>
          <a:lstStyle/>
          <a:p>
            <a:pPr marL="0" indent="0">
              <a:buNone/>
            </a:pPr>
            <a:r>
              <a:rPr lang="en-US" sz="1150" i="1" dirty="0">
                <a:solidFill>
                  <a:srgbClr val="728694"/>
                </a:solidFill>
                <a:latin typeface="Segoe UI" pitchFamily="34" charset="0"/>
                <a:ea typeface="Segoe UI" pitchFamily="34" charset="-122"/>
                <a:cs typeface="Segoe UI" pitchFamily="34" charset="-120"/>
              </a:rPr>
              <a:t>Quy ước: import numpy as np</a:t>
            </a:r>
            <a:endParaRPr lang="en-US" sz="1150" dirty="0"/>
          </a:p>
        </p:txBody>
      </p:sp>
      <p:sp>
        <p:nvSpPr>
          <p:cNvPr id="29" name="Text 27"/>
          <p:cNvSpPr/>
          <p:nvPr/>
        </p:nvSpPr>
        <p:spPr>
          <a:xfrm>
            <a:off x="6400800" y="4206240"/>
            <a:ext cx="5212080" cy="228600"/>
          </a:xfrm>
          <a:prstGeom prst="rect">
            <a:avLst/>
          </a:prstGeom>
          <a:noFill/>
          <a:ln/>
        </p:spPr>
        <p:txBody>
          <a:bodyPr wrap="square" lIns="0" tIns="0" rIns="0" bIns="0" rtlCol="0" anchor="t"/>
          <a:lstStyle/>
          <a:p>
            <a:pPr marL="0" indent="0">
              <a:buNone/>
            </a:pPr>
            <a:r>
              <a:rPr lang="en-US" sz="850" dirty="0">
                <a:solidFill>
                  <a:srgbClr val="728694"/>
                </a:solidFill>
                <a:latin typeface="Segoe UI" pitchFamily="34" charset="0"/>
                <a:ea typeface="Segoe UI" pitchFamily="34" charset="-122"/>
                <a:cs typeface="Segoe UI" pitchFamily="34" charset="-120"/>
              </a:rPr>
              <a:t>Nguồn: NumPy Documentation [1], [2]</a:t>
            </a:r>
            <a:endParaRPr lang="en-US" sz="850" dirty="0"/>
          </a:p>
        </p:txBody>
      </p:sp>
      <p:sp>
        <p:nvSpPr>
          <p:cNvPr id="30" name="Shape 28"/>
          <p:cNvSpPr/>
          <p:nvPr/>
        </p:nvSpPr>
        <p:spPr>
          <a:xfrm>
            <a:off x="548640" y="6391656"/>
            <a:ext cx="11091672" cy="9144"/>
          </a:xfrm>
          <a:prstGeom prst="rect">
            <a:avLst/>
          </a:prstGeom>
          <a:solidFill>
            <a:srgbClr val="D7E5EC"/>
          </a:solidFill>
          <a:ln w="12700">
            <a:solidFill>
              <a:srgbClr val="D7E5EC"/>
            </a:solidFill>
            <a:prstDash val="solid"/>
          </a:ln>
        </p:spPr>
      </p:sp>
      <p:sp>
        <p:nvSpPr>
          <p:cNvPr id="31" name="Text 29"/>
          <p:cNvSpPr/>
          <p:nvPr/>
        </p:nvSpPr>
        <p:spPr>
          <a:xfrm>
            <a:off x="548640" y="6473952"/>
            <a:ext cx="7772400" cy="182880"/>
          </a:xfrm>
          <a:prstGeom prst="rect">
            <a:avLst/>
          </a:prstGeom>
          <a:noFill/>
          <a:ln/>
        </p:spPr>
        <p:txBody>
          <a:bodyPr wrap="square" lIns="0" tIns="0" rIns="0" bIns="0" rtlCol="0" anchor="t"/>
          <a:lstStyle/>
          <a:p>
            <a:pPr marL="0" indent="0">
              <a:buNone/>
            </a:pPr>
            <a:r>
              <a:rPr lang="en-US" sz="850" dirty="0">
                <a:solidFill>
                  <a:srgbClr val="728694"/>
                </a:solidFill>
                <a:latin typeface="Segoe UI" pitchFamily="34" charset="0"/>
                <a:ea typeface="Segoe UI" pitchFamily="34" charset="-122"/>
                <a:cs typeface="Segoe UI" pitchFamily="34" charset="-120"/>
              </a:rPr>
              <a:t>Tìm hiểu thư viện NumPy trong Python</a:t>
            </a:r>
            <a:endParaRPr lang="en-US" sz="850" dirty="0"/>
          </a:p>
        </p:txBody>
      </p:sp>
      <p:sp>
        <p:nvSpPr>
          <p:cNvPr id="32" name="Text 30"/>
          <p:cNvSpPr/>
          <p:nvPr/>
        </p:nvSpPr>
        <p:spPr>
          <a:xfrm>
            <a:off x="10698480" y="6473952"/>
            <a:ext cx="941832" cy="182880"/>
          </a:xfrm>
          <a:prstGeom prst="rect">
            <a:avLst/>
          </a:prstGeom>
          <a:noFill/>
          <a:ln/>
        </p:spPr>
        <p:txBody>
          <a:bodyPr wrap="square" lIns="0" tIns="0" rIns="0" bIns="0" rtlCol="0" anchor="t"/>
          <a:lstStyle/>
          <a:p>
            <a:pPr marL="0" indent="0" algn="r">
              <a:buNone/>
            </a:pPr>
            <a:r>
              <a:rPr lang="en-US" sz="850" dirty="0">
                <a:solidFill>
                  <a:srgbClr val="728694"/>
                </a:solidFill>
                <a:latin typeface="Segoe UI" pitchFamily="34" charset="0"/>
                <a:ea typeface="Segoe UI" pitchFamily="34" charset="-122"/>
                <a:cs typeface="Segoe UI" pitchFamily="34" charset="-120"/>
              </a:rPr>
              <a:t>03 / 25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301752"/>
            <a:ext cx="10881360" cy="201168"/>
          </a:xfrm>
          <a:prstGeom prst="rect">
            <a:avLst/>
          </a:prstGeom>
          <a:noFill/>
          <a:ln/>
        </p:spPr>
        <p:txBody>
          <a:bodyPr wrap="square" lIns="0" tIns="0" rIns="0" bIns="0" rtlCol="0" anchor="t"/>
          <a:lstStyle/>
          <a:p>
            <a:pPr marL="0" indent="0">
              <a:buNone/>
            </a:pPr>
            <a:r>
              <a:rPr lang="en-US" sz="950" b="1" kern="0" spc="160" dirty="0">
                <a:solidFill>
                  <a:srgbClr val="1B8EA8"/>
                </a:solidFill>
                <a:latin typeface="Segoe UI" pitchFamily="34" charset="0"/>
                <a:ea typeface="Segoe UI" pitchFamily="34" charset="-122"/>
                <a:cs typeface="Segoe UI" pitchFamily="34" charset="-120"/>
              </a:rPr>
              <a:t>01 · GIỚI THIỆU</a:t>
            </a:r>
            <a:endParaRPr lang="en-US" sz="950" dirty="0"/>
          </a:p>
        </p:txBody>
      </p:sp>
      <p:sp>
        <p:nvSpPr>
          <p:cNvPr id="3" name="Text 1"/>
          <p:cNvSpPr/>
          <p:nvPr/>
        </p:nvSpPr>
        <p:spPr>
          <a:xfrm>
            <a:off x="548640" y="502920"/>
            <a:ext cx="10881360" cy="640080"/>
          </a:xfrm>
          <a:prstGeom prst="rect">
            <a:avLst/>
          </a:prstGeom>
          <a:noFill/>
          <a:ln/>
        </p:spPr>
        <p:txBody>
          <a:bodyPr wrap="square" lIns="0" tIns="0" rIns="0" bIns="0" rtlCol="0" anchor="ctr"/>
          <a:lstStyle/>
          <a:p>
            <a:pPr marL="0" indent="0">
              <a:buNone/>
            </a:pPr>
            <a:r>
              <a:rPr lang="en-US" sz="2800" b="1" dirty="0">
                <a:solidFill>
                  <a:srgbClr val="062A3A"/>
                </a:solidFill>
                <a:latin typeface="Segoe UI" pitchFamily="34" charset="0"/>
                <a:ea typeface="Segoe UI" pitchFamily="34" charset="-122"/>
                <a:cs typeface="Segoe UI" pitchFamily="34" charset="-120"/>
              </a:rPr>
              <a:t>NumPy giải quyết vấn đề gì?</a:t>
            </a:r>
            <a:endParaRPr lang="en-US" sz="2800" dirty="0"/>
          </a:p>
        </p:txBody>
      </p:sp>
      <p:sp>
        <p:nvSpPr>
          <p:cNvPr id="4" name="Shape 2"/>
          <p:cNvSpPr/>
          <p:nvPr/>
        </p:nvSpPr>
        <p:spPr>
          <a:xfrm>
            <a:off x="548640" y="1225296"/>
            <a:ext cx="868680" cy="41148"/>
          </a:xfrm>
          <a:prstGeom prst="rect">
            <a:avLst/>
          </a:prstGeom>
          <a:solidFill>
            <a:srgbClr val="1B8EA8"/>
          </a:solidFill>
          <a:ln w="12700">
            <a:solidFill>
              <a:srgbClr val="1B8EA8"/>
            </a:solidFill>
            <a:prstDash val="solid"/>
          </a:ln>
        </p:spPr>
      </p:sp>
      <p:sp>
        <p:nvSpPr>
          <p:cNvPr id="5" name="Shape 3"/>
          <p:cNvSpPr/>
          <p:nvPr/>
        </p:nvSpPr>
        <p:spPr>
          <a:xfrm>
            <a:off x="548640" y="1463040"/>
            <a:ext cx="5440680" cy="2788920"/>
          </a:xfrm>
          <a:prstGeom prst="roundRect">
            <a:avLst>
              <a:gd name="adj" fmla="val 1967"/>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6" name="Shape 4"/>
          <p:cNvSpPr/>
          <p:nvPr/>
        </p:nvSpPr>
        <p:spPr>
          <a:xfrm>
            <a:off x="777240" y="1691640"/>
            <a:ext cx="1572768" cy="329184"/>
          </a:xfrm>
          <a:prstGeom prst="roundRect">
            <a:avLst>
              <a:gd name="adj" fmla="val 111111"/>
            </a:avLst>
          </a:prstGeom>
          <a:solidFill>
            <a:srgbClr val="E8A33D"/>
          </a:solidFill>
          <a:ln w="12700">
            <a:solidFill>
              <a:srgbClr val="E8A33D"/>
            </a:solidFill>
            <a:prstDash val="solid"/>
          </a:ln>
        </p:spPr>
      </p:sp>
      <p:sp>
        <p:nvSpPr>
          <p:cNvPr id="7" name="Text 5"/>
          <p:cNvSpPr/>
          <p:nvPr/>
        </p:nvSpPr>
        <p:spPr>
          <a:xfrm>
            <a:off x="777240" y="1691640"/>
            <a:ext cx="1572768"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PYTHON LIST</a:t>
            </a:r>
            <a:endParaRPr lang="en-US" sz="950" dirty="0"/>
          </a:p>
        </p:txBody>
      </p:sp>
      <p:sp>
        <p:nvSpPr>
          <p:cNvPr id="8" name="Text 6"/>
          <p:cNvSpPr/>
          <p:nvPr/>
        </p:nvSpPr>
        <p:spPr>
          <a:xfrm>
            <a:off x="777240" y="2240280"/>
            <a:ext cx="4983480" cy="548640"/>
          </a:xfrm>
          <a:prstGeom prst="rect">
            <a:avLst/>
          </a:prstGeom>
          <a:noFill/>
          <a:ln/>
        </p:spPr>
        <p:txBody>
          <a:bodyPr wrap="square" lIns="0" tIns="0" rIns="0" bIns="0" rtlCol="0" anchor="t"/>
          <a:lstStyle/>
          <a:p>
            <a:pPr marL="0" indent="0">
              <a:buNone/>
            </a:pPr>
            <a:r>
              <a:rPr lang="en-US" sz="1200" dirty="0">
                <a:solidFill>
                  <a:srgbClr val="062A3A"/>
                </a:solidFill>
                <a:latin typeface="Consolas" pitchFamily="34" charset="0"/>
                <a:ea typeface="Consolas" pitchFamily="34" charset="-122"/>
                <a:cs typeface="Consolas" pitchFamily="34" charset="-120"/>
              </a:rPr>
              <a:t>[1, 2, 3, 4] * 2</a:t>
            </a:r>
            <a:endParaRPr lang="en-US" sz="1200" dirty="0"/>
          </a:p>
        </p:txBody>
      </p:sp>
      <p:sp>
        <p:nvSpPr>
          <p:cNvPr id="9" name="Text 7"/>
          <p:cNvSpPr/>
          <p:nvPr/>
        </p:nvSpPr>
        <p:spPr>
          <a:xfrm>
            <a:off x="777240" y="2880360"/>
            <a:ext cx="365760" cy="274320"/>
          </a:xfrm>
          <a:prstGeom prst="rect">
            <a:avLst/>
          </a:prstGeom>
          <a:noFill/>
          <a:ln/>
        </p:spPr>
        <p:txBody>
          <a:bodyPr wrap="square" lIns="0" tIns="0" rIns="0" bIns="0" rtlCol="0" anchor="t"/>
          <a:lstStyle/>
          <a:p>
            <a:pPr marL="0" indent="0">
              <a:buNone/>
            </a:pPr>
            <a:r>
              <a:rPr lang="en-US" sz="1300" dirty="0">
                <a:solidFill>
                  <a:srgbClr val="728694"/>
                </a:solidFill>
                <a:latin typeface="Segoe UI" pitchFamily="34" charset="0"/>
                <a:ea typeface="Segoe UI" pitchFamily="34" charset="-122"/>
                <a:cs typeface="Segoe UI" pitchFamily="34" charset="-120"/>
              </a:rPr>
              <a:t>→</a:t>
            </a:r>
            <a:endParaRPr lang="en-US" sz="1300" dirty="0"/>
          </a:p>
        </p:txBody>
      </p:sp>
      <p:sp>
        <p:nvSpPr>
          <p:cNvPr id="10" name="Text 8"/>
          <p:cNvSpPr/>
          <p:nvPr/>
        </p:nvSpPr>
        <p:spPr>
          <a:xfrm>
            <a:off x="1234440" y="2834640"/>
            <a:ext cx="4480560" cy="548640"/>
          </a:xfrm>
          <a:prstGeom prst="rect">
            <a:avLst/>
          </a:prstGeom>
          <a:noFill/>
          <a:ln/>
        </p:spPr>
        <p:txBody>
          <a:bodyPr wrap="square" lIns="0" tIns="0" rIns="0" bIns="0" rtlCol="0" anchor="t"/>
          <a:lstStyle/>
          <a:p>
            <a:pPr marL="0" indent="0">
              <a:buNone/>
            </a:pPr>
            <a:r>
              <a:rPr lang="en-US" sz="1200" dirty="0">
                <a:solidFill>
                  <a:srgbClr val="E8A33D"/>
                </a:solidFill>
                <a:latin typeface="Consolas" pitchFamily="34" charset="0"/>
                <a:ea typeface="Consolas" pitchFamily="34" charset="-122"/>
                <a:cs typeface="Consolas" pitchFamily="34" charset="-120"/>
              </a:rPr>
              <a:t>[1, 2, 3, 4, 1, 2, 3, 4]</a:t>
            </a:r>
            <a:endParaRPr lang="en-US" sz="1200" dirty="0"/>
          </a:p>
        </p:txBody>
      </p:sp>
      <p:sp>
        <p:nvSpPr>
          <p:cNvPr id="11" name="Text 9"/>
          <p:cNvSpPr/>
          <p:nvPr/>
        </p:nvSpPr>
        <p:spPr>
          <a:xfrm>
            <a:off x="777240" y="3611880"/>
            <a:ext cx="4983480" cy="411480"/>
          </a:xfrm>
          <a:prstGeom prst="rect">
            <a:avLst/>
          </a:prstGeom>
          <a:noFill/>
          <a:ln/>
        </p:spPr>
        <p:txBody>
          <a:bodyPr wrap="square" lIns="0" tIns="0" rIns="0" bIns="0" rtlCol="0" anchor="t"/>
          <a:lstStyle/>
          <a:p>
            <a:pPr marL="0" indent="0">
              <a:buNone/>
            </a:pPr>
            <a:r>
              <a:rPr lang="en-US" sz="1100" i="1" dirty="0">
                <a:solidFill>
                  <a:srgbClr val="415A6B"/>
                </a:solidFill>
                <a:latin typeface="Segoe UI" pitchFamily="34" charset="0"/>
                <a:ea typeface="Segoe UI" pitchFamily="34" charset="-122"/>
                <a:cs typeface="Segoe UI" pitchFamily="34" charset="-120"/>
              </a:rPr>
              <a:t>Lặp danh sách — không phải phép nhân.</a:t>
            </a:r>
            <a:endParaRPr lang="en-US" sz="1100" dirty="0"/>
          </a:p>
        </p:txBody>
      </p:sp>
      <p:sp>
        <p:nvSpPr>
          <p:cNvPr id="12" name="Shape 10"/>
          <p:cNvSpPr/>
          <p:nvPr/>
        </p:nvSpPr>
        <p:spPr>
          <a:xfrm>
            <a:off x="6199632" y="1463040"/>
            <a:ext cx="5440680" cy="2788920"/>
          </a:xfrm>
          <a:prstGeom prst="roundRect">
            <a:avLst>
              <a:gd name="adj" fmla="val 1967"/>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13" name="Shape 11"/>
          <p:cNvSpPr/>
          <p:nvPr/>
        </p:nvSpPr>
        <p:spPr>
          <a:xfrm>
            <a:off x="6428232" y="1691640"/>
            <a:ext cx="1572768" cy="329184"/>
          </a:xfrm>
          <a:prstGeom prst="roundRect">
            <a:avLst>
              <a:gd name="adj" fmla="val 111111"/>
            </a:avLst>
          </a:prstGeom>
          <a:solidFill>
            <a:srgbClr val="1B8EA8"/>
          </a:solidFill>
          <a:ln w="12700">
            <a:solidFill>
              <a:srgbClr val="1B8EA8"/>
            </a:solidFill>
            <a:prstDash val="solid"/>
          </a:ln>
        </p:spPr>
      </p:sp>
      <p:sp>
        <p:nvSpPr>
          <p:cNvPr id="14" name="Text 12"/>
          <p:cNvSpPr/>
          <p:nvPr/>
        </p:nvSpPr>
        <p:spPr>
          <a:xfrm>
            <a:off x="6428232" y="1691640"/>
            <a:ext cx="1572768"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NUMPY ARRAY</a:t>
            </a:r>
            <a:endParaRPr lang="en-US" sz="950" dirty="0"/>
          </a:p>
        </p:txBody>
      </p:sp>
      <p:sp>
        <p:nvSpPr>
          <p:cNvPr id="15" name="Text 13"/>
          <p:cNvSpPr/>
          <p:nvPr/>
        </p:nvSpPr>
        <p:spPr>
          <a:xfrm>
            <a:off x="6428232" y="2240280"/>
            <a:ext cx="4983480" cy="548640"/>
          </a:xfrm>
          <a:prstGeom prst="rect">
            <a:avLst/>
          </a:prstGeom>
          <a:noFill/>
          <a:ln/>
        </p:spPr>
        <p:txBody>
          <a:bodyPr wrap="square" lIns="0" tIns="0" rIns="0" bIns="0" rtlCol="0" anchor="t"/>
          <a:lstStyle/>
          <a:p>
            <a:pPr marL="0" indent="0">
              <a:buNone/>
            </a:pPr>
            <a:r>
              <a:rPr lang="en-US" sz="1200" dirty="0">
                <a:solidFill>
                  <a:srgbClr val="062A3A"/>
                </a:solidFill>
                <a:latin typeface="Consolas" pitchFamily="34" charset="0"/>
                <a:ea typeface="Consolas" pitchFamily="34" charset="-122"/>
                <a:cs typeface="Consolas" pitchFamily="34" charset="-120"/>
              </a:rPr>
              <a:t>np.array([1, 2, 3, 4]) * 2</a:t>
            </a:r>
            <a:endParaRPr lang="en-US" sz="1200" dirty="0"/>
          </a:p>
        </p:txBody>
      </p:sp>
      <p:sp>
        <p:nvSpPr>
          <p:cNvPr id="16" name="Text 14"/>
          <p:cNvSpPr/>
          <p:nvPr/>
        </p:nvSpPr>
        <p:spPr>
          <a:xfrm>
            <a:off x="6428232" y="2880360"/>
            <a:ext cx="365760" cy="274320"/>
          </a:xfrm>
          <a:prstGeom prst="rect">
            <a:avLst/>
          </a:prstGeom>
          <a:noFill/>
          <a:ln/>
        </p:spPr>
        <p:txBody>
          <a:bodyPr wrap="square" lIns="0" tIns="0" rIns="0" bIns="0" rtlCol="0" anchor="t"/>
          <a:lstStyle/>
          <a:p>
            <a:pPr marL="0" indent="0">
              <a:buNone/>
            </a:pPr>
            <a:r>
              <a:rPr lang="en-US" sz="1300" dirty="0">
                <a:solidFill>
                  <a:srgbClr val="728694"/>
                </a:solidFill>
                <a:latin typeface="Segoe UI" pitchFamily="34" charset="0"/>
                <a:ea typeface="Segoe UI" pitchFamily="34" charset="-122"/>
                <a:cs typeface="Segoe UI" pitchFamily="34" charset="-120"/>
              </a:rPr>
              <a:t>→</a:t>
            </a:r>
            <a:endParaRPr lang="en-US" sz="1300" dirty="0"/>
          </a:p>
        </p:txBody>
      </p:sp>
      <p:sp>
        <p:nvSpPr>
          <p:cNvPr id="17" name="Text 15"/>
          <p:cNvSpPr/>
          <p:nvPr/>
        </p:nvSpPr>
        <p:spPr>
          <a:xfrm>
            <a:off x="6885432" y="2834640"/>
            <a:ext cx="4480560" cy="548640"/>
          </a:xfrm>
          <a:prstGeom prst="rect">
            <a:avLst/>
          </a:prstGeom>
          <a:noFill/>
          <a:ln/>
        </p:spPr>
        <p:txBody>
          <a:bodyPr wrap="square" lIns="0" tIns="0" rIns="0" bIns="0" rtlCol="0" anchor="t"/>
          <a:lstStyle/>
          <a:p>
            <a:pPr marL="0" indent="0">
              <a:buNone/>
            </a:pPr>
            <a:r>
              <a:rPr lang="en-US" sz="1200" dirty="0">
                <a:solidFill>
                  <a:srgbClr val="1B8EA8"/>
                </a:solidFill>
                <a:latin typeface="Consolas" pitchFamily="34" charset="0"/>
                <a:ea typeface="Consolas" pitchFamily="34" charset="-122"/>
                <a:cs typeface="Consolas" pitchFamily="34" charset="-120"/>
              </a:rPr>
              <a:t>[2 4 6 8]</a:t>
            </a:r>
            <a:endParaRPr lang="en-US" sz="1200" dirty="0"/>
          </a:p>
        </p:txBody>
      </p:sp>
      <p:sp>
        <p:nvSpPr>
          <p:cNvPr id="18" name="Text 16"/>
          <p:cNvSpPr/>
          <p:nvPr/>
        </p:nvSpPr>
        <p:spPr>
          <a:xfrm>
            <a:off x="6428232" y="3611880"/>
            <a:ext cx="4983480" cy="411480"/>
          </a:xfrm>
          <a:prstGeom prst="rect">
            <a:avLst/>
          </a:prstGeom>
          <a:noFill/>
          <a:ln/>
        </p:spPr>
        <p:txBody>
          <a:bodyPr wrap="square" lIns="0" tIns="0" rIns="0" bIns="0" rtlCol="0" anchor="t"/>
          <a:lstStyle/>
          <a:p>
            <a:pPr marL="0" indent="0">
              <a:buNone/>
            </a:pPr>
            <a:r>
              <a:rPr lang="en-US" sz="1100" i="1" dirty="0">
                <a:solidFill>
                  <a:srgbClr val="415A6B"/>
                </a:solidFill>
                <a:latin typeface="Segoe UI" pitchFamily="34" charset="0"/>
                <a:ea typeface="Segoe UI" pitchFamily="34" charset="-122"/>
                <a:cs typeface="Segoe UI" pitchFamily="34" charset="-120"/>
              </a:rPr>
              <a:t>Nhân từng phần tử — đúng kỳ vọng toán học.</a:t>
            </a:r>
            <a:endParaRPr lang="en-US" sz="1100" dirty="0"/>
          </a:p>
        </p:txBody>
      </p:sp>
      <p:sp>
        <p:nvSpPr>
          <p:cNvPr id="19" name="Shape 17"/>
          <p:cNvSpPr/>
          <p:nvPr/>
        </p:nvSpPr>
        <p:spPr>
          <a:xfrm>
            <a:off x="548640" y="4572000"/>
            <a:ext cx="3611880" cy="777240"/>
          </a:xfrm>
          <a:prstGeom prst="roundRect">
            <a:avLst>
              <a:gd name="adj" fmla="val 7059"/>
            </a:avLst>
          </a:prstGeom>
          <a:solidFill>
            <a:srgbClr val="EAF4F8"/>
          </a:solidFill>
          <a:ln w="9525">
            <a:solidFill>
              <a:srgbClr val="CFE5EE"/>
            </a:solidFill>
            <a:prstDash val="solid"/>
          </a:ln>
        </p:spPr>
      </p:sp>
      <p:sp>
        <p:nvSpPr>
          <p:cNvPr id="20" name="Text 18"/>
          <p:cNvSpPr/>
          <p:nvPr/>
        </p:nvSpPr>
        <p:spPr>
          <a:xfrm>
            <a:off x="731520" y="4572000"/>
            <a:ext cx="365760" cy="777240"/>
          </a:xfrm>
          <a:prstGeom prst="rect">
            <a:avLst/>
          </a:prstGeom>
          <a:noFill/>
          <a:ln/>
        </p:spPr>
        <p:txBody>
          <a:bodyPr wrap="square" lIns="0" tIns="0" rIns="0" bIns="0" rtlCol="0" anchor="ctr"/>
          <a:lstStyle/>
          <a:p>
            <a:pPr marL="0" indent="0">
              <a:buNone/>
            </a:pPr>
            <a:r>
              <a:rPr lang="en-US" sz="1800" b="1" dirty="0">
                <a:solidFill>
                  <a:srgbClr val="1B8EA8"/>
                </a:solidFill>
                <a:latin typeface="Segoe UI" pitchFamily="34" charset="0"/>
                <a:ea typeface="Segoe UI" pitchFamily="34" charset="-122"/>
                <a:cs typeface="Segoe UI" pitchFamily="34" charset="-120"/>
              </a:rPr>
              <a:t>1</a:t>
            </a:r>
            <a:endParaRPr lang="en-US" sz="1800" dirty="0"/>
          </a:p>
        </p:txBody>
      </p:sp>
      <p:sp>
        <p:nvSpPr>
          <p:cNvPr id="21" name="Text 19"/>
          <p:cNvSpPr/>
          <p:nvPr/>
        </p:nvSpPr>
        <p:spPr>
          <a:xfrm>
            <a:off x="1143000" y="4572000"/>
            <a:ext cx="2834640" cy="777240"/>
          </a:xfrm>
          <a:prstGeom prst="rect">
            <a:avLst/>
          </a:prstGeom>
          <a:noFill/>
          <a:ln/>
        </p:spPr>
        <p:txBody>
          <a:bodyPr wrap="square" lIns="0" tIns="0" rIns="0" bIns="0" rtlCol="0" anchor="ctr"/>
          <a:lstStyle/>
          <a:p>
            <a:pPr marL="0" indent="0">
              <a:buNone/>
            </a:pPr>
            <a:r>
              <a:rPr lang="en-US" sz="1150" dirty="0">
                <a:solidFill>
                  <a:srgbClr val="062A3A"/>
                </a:solidFill>
                <a:latin typeface="Segoe UI" pitchFamily="34" charset="0"/>
                <a:ea typeface="Segoe UI" pitchFamily="34" charset="-122"/>
                <a:cs typeface="Segoe UI" pitchFamily="34" charset="-120"/>
              </a:rPr>
              <a:t>Dữ liệu số nhiều chiều</a:t>
            </a:r>
            <a:endParaRPr lang="en-US" sz="1150" dirty="0"/>
          </a:p>
        </p:txBody>
      </p:sp>
      <p:sp>
        <p:nvSpPr>
          <p:cNvPr id="22" name="Shape 20"/>
          <p:cNvSpPr/>
          <p:nvPr/>
        </p:nvSpPr>
        <p:spPr>
          <a:xfrm>
            <a:off x="4288536" y="4572000"/>
            <a:ext cx="3611880" cy="777240"/>
          </a:xfrm>
          <a:prstGeom prst="roundRect">
            <a:avLst>
              <a:gd name="adj" fmla="val 7059"/>
            </a:avLst>
          </a:prstGeom>
          <a:solidFill>
            <a:srgbClr val="EAF4F8"/>
          </a:solidFill>
          <a:ln w="9525">
            <a:solidFill>
              <a:srgbClr val="CFE5EE"/>
            </a:solidFill>
            <a:prstDash val="solid"/>
          </a:ln>
        </p:spPr>
      </p:sp>
      <p:sp>
        <p:nvSpPr>
          <p:cNvPr id="23" name="Text 21"/>
          <p:cNvSpPr/>
          <p:nvPr/>
        </p:nvSpPr>
        <p:spPr>
          <a:xfrm>
            <a:off x="4471416" y="4572000"/>
            <a:ext cx="365760" cy="777240"/>
          </a:xfrm>
          <a:prstGeom prst="rect">
            <a:avLst/>
          </a:prstGeom>
          <a:noFill/>
          <a:ln/>
        </p:spPr>
        <p:txBody>
          <a:bodyPr wrap="square" lIns="0" tIns="0" rIns="0" bIns="0" rtlCol="0" anchor="ctr"/>
          <a:lstStyle/>
          <a:p>
            <a:pPr marL="0" indent="0">
              <a:buNone/>
            </a:pPr>
            <a:r>
              <a:rPr lang="en-US" sz="1800" b="1" dirty="0">
                <a:solidFill>
                  <a:srgbClr val="1B8EA8"/>
                </a:solidFill>
                <a:latin typeface="Segoe UI" pitchFamily="34" charset="0"/>
                <a:ea typeface="Segoe UI" pitchFamily="34" charset="-122"/>
                <a:cs typeface="Segoe UI" pitchFamily="34" charset="-120"/>
              </a:rPr>
              <a:t>2</a:t>
            </a:r>
            <a:endParaRPr lang="en-US" sz="1800" dirty="0"/>
          </a:p>
        </p:txBody>
      </p:sp>
      <p:sp>
        <p:nvSpPr>
          <p:cNvPr id="24" name="Text 22"/>
          <p:cNvSpPr/>
          <p:nvPr/>
        </p:nvSpPr>
        <p:spPr>
          <a:xfrm>
            <a:off x="4882896" y="4572000"/>
            <a:ext cx="2834640" cy="777240"/>
          </a:xfrm>
          <a:prstGeom prst="rect">
            <a:avLst/>
          </a:prstGeom>
          <a:noFill/>
          <a:ln/>
        </p:spPr>
        <p:txBody>
          <a:bodyPr wrap="square" lIns="0" tIns="0" rIns="0" bIns="0" rtlCol="0" anchor="ctr"/>
          <a:lstStyle/>
          <a:p>
            <a:pPr marL="0" indent="0">
              <a:buNone/>
            </a:pPr>
            <a:r>
              <a:rPr lang="en-US" sz="1150" dirty="0">
                <a:solidFill>
                  <a:srgbClr val="062A3A"/>
                </a:solidFill>
                <a:latin typeface="Segoe UI" pitchFamily="34" charset="0"/>
                <a:ea typeface="Segoe UI" pitchFamily="34" charset="-122"/>
                <a:cs typeface="Segoe UI" pitchFamily="34" charset="-120"/>
              </a:rPr>
              <a:t>Code ngắn, gần ký hiệu toán</a:t>
            </a:r>
            <a:endParaRPr lang="en-US" sz="1150" dirty="0"/>
          </a:p>
        </p:txBody>
      </p:sp>
      <p:sp>
        <p:nvSpPr>
          <p:cNvPr id="25" name="Shape 23"/>
          <p:cNvSpPr/>
          <p:nvPr/>
        </p:nvSpPr>
        <p:spPr>
          <a:xfrm>
            <a:off x="8028432" y="4572000"/>
            <a:ext cx="3611880" cy="777240"/>
          </a:xfrm>
          <a:prstGeom prst="roundRect">
            <a:avLst>
              <a:gd name="adj" fmla="val 7059"/>
            </a:avLst>
          </a:prstGeom>
          <a:solidFill>
            <a:srgbClr val="EAF4F8"/>
          </a:solidFill>
          <a:ln w="9525">
            <a:solidFill>
              <a:srgbClr val="CFE5EE"/>
            </a:solidFill>
            <a:prstDash val="solid"/>
          </a:ln>
        </p:spPr>
      </p:sp>
      <p:sp>
        <p:nvSpPr>
          <p:cNvPr id="26" name="Text 24"/>
          <p:cNvSpPr/>
          <p:nvPr/>
        </p:nvSpPr>
        <p:spPr>
          <a:xfrm>
            <a:off x="8211312" y="4572000"/>
            <a:ext cx="365760" cy="777240"/>
          </a:xfrm>
          <a:prstGeom prst="rect">
            <a:avLst/>
          </a:prstGeom>
          <a:noFill/>
          <a:ln/>
        </p:spPr>
        <p:txBody>
          <a:bodyPr wrap="square" lIns="0" tIns="0" rIns="0" bIns="0" rtlCol="0" anchor="ctr"/>
          <a:lstStyle/>
          <a:p>
            <a:pPr marL="0" indent="0">
              <a:buNone/>
            </a:pPr>
            <a:r>
              <a:rPr lang="en-US" sz="1800" b="1" dirty="0">
                <a:solidFill>
                  <a:srgbClr val="1B8EA8"/>
                </a:solidFill>
                <a:latin typeface="Segoe UI" pitchFamily="34" charset="0"/>
                <a:ea typeface="Segoe UI" pitchFamily="34" charset="-122"/>
                <a:cs typeface="Segoe UI" pitchFamily="34" charset="-120"/>
              </a:rPr>
              <a:t>3</a:t>
            </a:r>
            <a:endParaRPr lang="en-US" sz="1800" dirty="0"/>
          </a:p>
        </p:txBody>
      </p:sp>
      <p:sp>
        <p:nvSpPr>
          <p:cNvPr id="27" name="Text 25"/>
          <p:cNvSpPr/>
          <p:nvPr/>
        </p:nvSpPr>
        <p:spPr>
          <a:xfrm>
            <a:off x="8622792" y="4572000"/>
            <a:ext cx="2834640" cy="777240"/>
          </a:xfrm>
          <a:prstGeom prst="rect">
            <a:avLst/>
          </a:prstGeom>
          <a:noFill/>
          <a:ln/>
        </p:spPr>
        <p:txBody>
          <a:bodyPr wrap="square" lIns="0" tIns="0" rIns="0" bIns="0" rtlCol="0" anchor="ctr"/>
          <a:lstStyle/>
          <a:p>
            <a:pPr marL="0" indent="0">
              <a:buNone/>
            </a:pPr>
            <a:r>
              <a:rPr lang="en-US" sz="1150" dirty="0">
                <a:solidFill>
                  <a:srgbClr val="062A3A"/>
                </a:solidFill>
                <a:latin typeface="Segoe UI" pitchFamily="34" charset="0"/>
                <a:ea typeface="Segoe UI" pitchFamily="34" charset="-122"/>
                <a:cs typeface="Segoe UI" pitchFamily="34" charset="-120"/>
              </a:rPr>
              <a:t>Tính toán trên toàn mảng</a:t>
            </a:r>
            <a:endParaRPr lang="en-US" sz="1150" dirty="0"/>
          </a:p>
        </p:txBody>
      </p:sp>
      <p:sp>
        <p:nvSpPr>
          <p:cNvPr id="28" name="Shape 26"/>
          <p:cNvSpPr/>
          <p:nvPr/>
        </p:nvSpPr>
        <p:spPr>
          <a:xfrm>
            <a:off x="548640" y="6391656"/>
            <a:ext cx="11091672" cy="9144"/>
          </a:xfrm>
          <a:prstGeom prst="rect">
            <a:avLst/>
          </a:prstGeom>
          <a:solidFill>
            <a:srgbClr val="D7E5EC"/>
          </a:solidFill>
          <a:ln w="12700">
            <a:solidFill>
              <a:srgbClr val="D7E5EC"/>
            </a:solidFill>
            <a:prstDash val="solid"/>
          </a:ln>
        </p:spPr>
      </p:sp>
      <p:sp>
        <p:nvSpPr>
          <p:cNvPr id="29" name="Text 27"/>
          <p:cNvSpPr/>
          <p:nvPr/>
        </p:nvSpPr>
        <p:spPr>
          <a:xfrm>
            <a:off x="548640" y="6473952"/>
            <a:ext cx="7772400" cy="182880"/>
          </a:xfrm>
          <a:prstGeom prst="rect">
            <a:avLst/>
          </a:prstGeom>
          <a:noFill/>
          <a:ln/>
        </p:spPr>
        <p:txBody>
          <a:bodyPr wrap="square" lIns="0" tIns="0" rIns="0" bIns="0" rtlCol="0" anchor="t"/>
          <a:lstStyle/>
          <a:p>
            <a:pPr marL="0" indent="0">
              <a:buNone/>
            </a:pPr>
            <a:r>
              <a:rPr lang="en-US" sz="850" dirty="0">
                <a:solidFill>
                  <a:srgbClr val="728694"/>
                </a:solidFill>
                <a:latin typeface="Segoe UI" pitchFamily="34" charset="0"/>
                <a:ea typeface="Segoe UI" pitchFamily="34" charset="-122"/>
                <a:cs typeface="Segoe UI" pitchFamily="34" charset="-120"/>
              </a:rPr>
              <a:t>Tìm hiểu thư viện NumPy trong Python</a:t>
            </a:r>
            <a:endParaRPr lang="en-US" sz="850" dirty="0"/>
          </a:p>
        </p:txBody>
      </p:sp>
      <p:sp>
        <p:nvSpPr>
          <p:cNvPr id="30" name="Text 28"/>
          <p:cNvSpPr/>
          <p:nvPr/>
        </p:nvSpPr>
        <p:spPr>
          <a:xfrm>
            <a:off x="10698480" y="6473952"/>
            <a:ext cx="941832" cy="182880"/>
          </a:xfrm>
          <a:prstGeom prst="rect">
            <a:avLst/>
          </a:prstGeom>
          <a:noFill/>
          <a:ln/>
        </p:spPr>
        <p:txBody>
          <a:bodyPr wrap="square" lIns="0" tIns="0" rIns="0" bIns="0" rtlCol="0" anchor="t"/>
          <a:lstStyle/>
          <a:p>
            <a:pPr marL="0" indent="0" algn="r">
              <a:buNone/>
            </a:pPr>
            <a:r>
              <a:rPr lang="en-US" sz="850" dirty="0">
                <a:solidFill>
                  <a:srgbClr val="728694"/>
                </a:solidFill>
                <a:latin typeface="Segoe UI" pitchFamily="34" charset="0"/>
                <a:ea typeface="Segoe UI" pitchFamily="34" charset="-122"/>
                <a:cs typeface="Segoe UI" pitchFamily="34" charset="-120"/>
              </a:rPr>
              <a:t>04 / 25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301752"/>
            <a:ext cx="10881360" cy="201168"/>
          </a:xfrm>
          <a:prstGeom prst="rect">
            <a:avLst/>
          </a:prstGeom>
          <a:noFill/>
          <a:ln/>
        </p:spPr>
        <p:txBody>
          <a:bodyPr wrap="square" lIns="0" tIns="0" rIns="0" bIns="0" rtlCol="0" anchor="t"/>
          <a:lstStyle/>
          <a:p>
            <a:pPr marL="0" indent="0">
              <a:buNone/>
            </a:pPr>
            <a:r>
              <a:rPr lang="en-US" sz="950" b="1" kern="0" spc="160" dirty="0">
                <a:solidFill>
                  <a:srgbClr val="1B8EA8"/>
                </a:solidFill>
                <a:latin typeface="Segoe UI" pitchFamily="34" charset="0"/>
                <a:ea typeface="Segoe UI" pitchFamily="34" charset="-122"/>
                <a:cs typeface="Segoe UI" pitchFamily="34" charset="-120"/>
              </a:rPr>
              <a:t>02 · CẤU TRÚC MẢNG</a:t>
            </a:r>
            <a:endParaRPr lang="en-US" sz="950" dirty="0"/>
          </a:p>
        </p:txBody>
      </p:sp>
      <p:sp>
        <p:nvSpPr>
          <p:cNvPr id="3" name="Text 1"/>
          <p:cNvSpPr/>
          <p:nvPr/>
        </p:nvSpPr>
        <p:spPr>
          <a:xfrm>
            <a:off x="548640" y="502920"/>
            <a:ext cx="10881360" cy="640080"/>
          </a:xfrm>
          <a:prstGeom prst="rect">
            <a:avLst/>
          </a:prstGeom>
          <a:noFill/>
          <a:ln/>
        </p:spPr>
        <p:txBody>
          <a:bodyPr wrap="square" lIns="0" tIns="0" rIns="0" bIns="0" rtlCol="0" anchor="ctr"/>
          <a:lstStyle/>
          <a:p>
            <a:pPr marL="0" indent="0">
              <a:buNone/>
            </a:pPr>
            <a:r>
              <a:rPr lang="en-US" sz="2800" b="1" dirty="0">
                <a:solidFill>
                  <a:srgbClr val="062A3A"/>
                </a:solidFill>
                <a:latin typeface="Segoe UI" pitchFamily="34" charset="0"/>
                <a:ea typeface="Segoe UI" pitchFamily="34" charset="-122"/>
                <a:cs typeface="Segoe UI" pitchFamily="34" charset="-120"/>
              </a:rPr>
              <a:t>ndarray — đối tượng trung tâm</a:t>
            </a:r>
            <a:endParaRPr lang="en-US" sz="2800" dirty="0"/>
          </a:p>
        </p:txBody>
      </p:sp>
      <p:sp>
        <p:nvSpPr>
          <p:cNvPr id="4" name="Shape 2"/>
          <p:cNvSpPr/>
          <p:nvPr/>
        </p:nvSpPr>
        <p:spPr>
          <a:xfrm>
            <a:off x="548640" y="1225296"/>
            <a:ext cx="868680" cy="41148"/>
          </a:xfrm>
          <a:prstGeom prst="rect">
            <a:avLst/>
          </a:prstGeom>
          <a:solidFill>
            <a:srgbClr val="1B8EA8"/>
          </a:solidFill>
          <a:ln w="12700">
            <a:solidFill>
              <a:srgbClr val="1B8EA8"/>
            </a:solidFill>
            <a:prstDash val="solid"/>
          </a:ln>
        </p:spPr>
      </p:sp>
      <p:sp>
        <p:nvSpPr>
          <p:cNvPr id="5" name="Shape 3"/>
          <p:cNvSpPr/>
          <p:nvPr/>
        </p:nvSpPr>
        <p:spPr>
          <a:xfrm>
            <a:off x="566928" y="1618488"/>
            <a:ext cx="128016" cy="128016"/>
          </a:xfrm>
          <a:prstGeom prst="ellipse">
            <a:avLst/>
          </a:prstGeom>
          <a:solidFill>
            <a:srgbClr val="1B8EA8"/>
          </a:solidFill>
          <a:ln w="12700">
            <a:solidFill>
              <a:srgbClr val="FFFFFF"/>
            </a:solidFill>
            <a:prstDash val="solid"/>
          </a:ln>
        </p:spPr>
      </p:sp>
      <p:sp>
        <p:nvSpPr>
          <p:cNvPr id="6" name="Text 4"/>
          <p:cNvSpPr/>
          <p:nvPr/>
        </p:nvSpPr>
        <p:spPr>
          <a:xfrm>
            <a:off x="853441" y="1508760"/>
            <a:ext cx="4892040" cy="566928"/>
          </a:xfrm>
          <a:prstGeom prst="rect">
            <a:avLst/>
          </a:prstGeom>
          <a:noFill/>
          <a:ln/>
        </p:spPr>
        <p:txBody>
          <a:bodyPr wrap="square" lIns="0" tIns="0" rIns="0" bIns="0" rtlCol="0" anchor="t"/>
          <a:lstStyle/>
          <a:p>
            <a:pPr marL="0" indent="0">
              <a:lnSpc>
                <a:spcPct val="112000"/>
              </a:lnSpc>
              <a:buNone/>
            </a:pPr>
            <a:r>
              <a:rPr lang="en-US" sz="1350" dirty="0">
                <a:solidFill>
                  <a:srgbClr val="062A3A"/>
                </a:solidFill>
                <a:latin typeface="Segoe UI" pitchFamily="34" charset="0"/>
                <a:ea typeface="Segoe UI" pitchFamily="34" charset="-122"/>
                <a:cs typeface="Segoe UI" pitchFamily="34" charset="-120"/>
              </a:rPr>
              <a:t>Mảng N chiều: 0-D, 1-D, 2-D hoặc nhiều hơn.</a:t>
            </a:r>
            <a:endParaRPr lang="en-US" sz="1350" dirty="0"/>
          </a:p>
        </p:txBody>
      </p:sp>
      <p:sp>
        <p:nvSpPr>
          <p:cNvPr id="7" name="Shape 5"/>
          <p:cNvSpPr/>
          <p:nvPr/>
        </p:nvSpPr>
        <p:spPr>
          <a:xfrm>
            <a:off x="566928" y="2404872"/>
            <a:ext cx="128016" cy="128016"/>
          </a:xfrm>
          <a:prstGeom prst="ellipse">
            <a:avLst/>
          </a:prstGeom>
          <a:solidFill>
            <a:srgbClr val="1B8EA8"/>
          </a:solidFill>
          <a:ln w="12700">
            <a:solidFill>
              <a:srgbClr val="FFFFFF"/>
            </a:solidFill>
            <a:prstDash val="solid"/>
          </a:ln>
        </p:spPr>
      </p:sp>
      <p:sp>
        <p:nvSpPr>
          <p:cNvPr id="8" name="Text 6"/>
          <p:cNvSpPr/>
          <p:nvPr/>
        </p:nvSpPr>
        <p:spPr>
          <a:xfrm>
            <a:off x="868680" y="2295144"/>
            <a:ext cx="4892040" cy="566928"/>
          </a:xfrm>
          <a:prstGeom prst="rect">
            <a:avLst/>
          </a:prstGeom>
          <a:noFill/>
          <a:ln/>
        </p:spPr>
        <p:txBody>
          <a:bodyPr wrap="square" lIns="0" tIns="0" rIns="0" bIns="0" rtlCol="0" anchor="t"/>
          <a:lstStyle/>
          <a:p>
            <a:pPr marL="0" indent="0">
              <a:lnSpc>
                <a:spcPct val="112000"/>
              </a:lnSpc>
              <a:buNone/>
            </a:pPr>
            <a:r>
              <a:rPr lang="en-US" sz="1350" dirty="0">
                <a:solidFill>
                  <a:srgbClr val="062A3A"/>
                </a:solidFill>
                <a:latin typeface="Segoe UI" pitchFamily="34" charset="0"/>
                <a:ea typeface="Segoe UI" pitchFamily="34" charset="-122"/>
                <a:cs typeface="Segoe UI" pitchFamily="34" charset="-120"/>
              </a:rPr>
              <a:t>Các phần tử cùng một kiểu dữ liệu (dtype).</a:t>
            </a:r>
            <a:endParaRPr lang="en-US" sz="1350" dirty="0"/>
          </a:p>
        </p:txBody>
      </p:sp>
      <p:sp>
        <p:nvSpPr>
          <p:cNvPr id="9" name="Shape 7"/>
          <p:cNvSpPr/>
          <p:nvPr/>
        </p:nvSpPr>
        <p:spPr>
          <a:xfrm>
            <a:off x="566928" y="3191256"/>
            <a:ext cx="128016" cy="128016"/>
          </a:xfrm>
          <a:prstGeom prst="ellipse">
            <a:avLst/>
          </a:prstGeom>
          <a:solidFill>
            <a:srgbClr val="1B8EA8"/>
          </a:solidFill>
          <a:ln w="12700">
            <a:solidFill>
              <a:srgbClr val="FFFFFF"/>
            </a:solidFill>
            <a:prstDash val="solid"/>
          </a:ln>
        </p:spPr>
      </p:sp>
      <p:sp>
        <p:nvSpPr>
          <p:cNvPr id="10" name="Text 8"/>
          <p:cNvSpPr/>
          <p:nvPr/>
        </p:nvSpPr>
        <p:spPr>
          <a:xfrm>
            <a:off x="868680" y="3081528"/>
            <a:ext cx="4892040" cy="566928"/>
          </a:xfrm>
          <a:prstGeom prst="rect">
            <a:avLst/>
          </a:prstGeom>
          <a:noFill/>
          <a:ln/>
        </p:spPr>
        <p:txBody>
          <a:bodyPr wrap="square" lIns="0" tIns="0" rIns="0" bIns="0" rtlCol="0" anchor="t"/>
          <a:lstStyle/>
          <a:p>
            <a:pPr marL="0" indent="0">
              <a:lnSpc>
                <a:spcPct val="112000"/>
              </a:lnSpc>
              <a:buNone/>
            </a:pPr>
            <a:r>
              <a:rPr lang="en-US" sz="1350" dirty="0">
                <a:solidFill>
                  <a:srgbClr val="062A3A"/>
                </a:solidFill>
                <a:latin typeface="Segoe UI" pitchFamily="34" charset="0"/>
                <a:ea typeface="Segoe UI" pitchFamily="34" charset="-122"/>
                <a:cs typeface="Segoe UI" pitchFamily="34" charset="-120"/>
              </a:rPr>
              <a:t>Kích thước cố định sau khi khởi tạo.</a:t>
            </a:r>
            <a:endParaRPr lang="en-US" sz="1350" dirty="0"/>
          </a:p>
        </p:txBody>
      </p:sp>
      <p:sp>
        <p:nvSpPr>
          <p:cNvPr id="11" name="Shape 9"/>
          <p:cNvSpPr/>
          <p:nvPr/>
        </p:nvSpPr>
        <p:spPr>
          <a:xfrm>
            <a:off x="566928" y="3977640"/>
            <a:ext cx="128016" cy="128016"/>
          </a:xfrm>
          <a:prstGeom prst="ellipse">
            <a:avLst/>
          </a:prstGeom>
          <a:solidFill>
            <a:srgbClr val="1B8EA8"/>
          </a:solidFill>
          <a:ln w="12700">
            <a:solidFill>
              <a:srgbClr val="FFFFFF"/>
            </a:solidFill>
            <a:prstDash val="solid"/>
          </a:ln>
        </p:spPr>
      </p:sp>
      <p:sp>
        <p:nvSpPr>
          <p:cNvPr id="12" name="Text 10"/>
          <p:cNvSpPr/>
          <p:nvPr/>
        </p:nvSpPr>
        <p:spPr>
          <a:xfrm>
            <a:off x="868680" y="3867912"/>
            <a:ext cx="4892040" cy="566928"/>
          </a:xfrm>
          <a:prstGeom prst="rect">
            <a:avLst/>
          </a:prstGeom>
          <a:noFill/>
          <a:ln/>
        </p:spPr>
        <p:txBody>
          <a:bodyPr wrap="square" lIns="0" tIns="0" rIns="0" bIns="0" rtlCol="0" anchor="t"/>
          <a:lstStyle/>
          <a:p>
            <a:pPr marL="0" indent="0">
              <a:lnSpc>
                <a:spcPct val="112000"/>
              </a:lnSpc>
              <a:buNone/>
            </a:pPr>
            <a:r>
              <a:rPr lang="en-US" sz="1350" dirty="0">
                <a:solidFill>
                  <a:srgbClr val="062A3A"/>
                </a:solidFill>
                <a:latin typeface="Segoe UI" pitchFamily="34" charset="0"/>
                <a:ea typeface="Segoe UI" pitchFamily="34" charset="-122"/>
                <a:cs typeface="Segoe UI" pitchFamily="34" charset="-120"/>
              </a:rPr>
              <a:t>Lưới chữ nhật — mọi hàng cùng số cột, không “răng cưa”.</a:t>
            </a:r>
            <a:endParaRPr lang="en-US" sz="1350" dirty="0"/>
          </a:p>
        </p:txBody>
      </p:sp>
      <p:sp>
        <p:nvSpPr>
          <p:cNvPr id="13" name="Shape 11"/>
          <p:cNvSpPr/>
          <p:nvPr/>
        </p:nvSpPr>
        <p:spPr>
          <a:xfrm>
            <a:off x="566928" y="4764024"/>
            <a:ext cx="128016" cy="128016"/>
          </a:xfrm>
          <a:prstGeom prst="ellipse">
            <a:avLst/>
          </a:prstGeom>
          <a:solidFill>
            <a:srgbClr val="E8A33D"/>
          </a:solidFill>
          <a:ln w="12700">
            <a:solidFill>
              <a:srgbClr val="FFFFFF"/>
            </a:solidFill>
            <a:prstDash val="solid"/>
          </a:ln>
        </p:spPr>
      </p:sp>
      <p:sp>
        <p:nvSpPr>
          <p:cNvPr id="14" name="Text 12"/>
          <p:cNvSpPr/>
          <p:nvPr/>
        </p:nvSpPr>
        <p:spPr>
          <a:xfrm>
            <a:off x="868680" y="4654296"/>
            <a:ext cx="4892040" cy="566928"/>
          </a:xfrm>
          <a:prstGeom prst="rect">
            <a:avLst/>
          </a:prstGeom>
          <a:noFill/>
          <a:ln/>
        </p:spPr>
        <p:txBody>
          <a:bodyPr wrap="square" lIns="0" tIns="0" rIns="0" bIns="0" rtlCol="0" anchor="t"/>
          <a:lstStyle/>
          <a:p>
            <a:pPr marL="0" indent="0">
              <a:lnSpc>
                <a:spcPct val="112000"/>
              </a:lnSpc>
              <a:buNone/>
            </a:pPr>
            <a:r>
              <a:rPr lang="en-US" sz="1350" dirty="0">
                <a:solidFill>
                  <a:srgbClr val="062A3A"/>
                </a:solidFill>
                <a:latin typeface="Segoe UI" pitchFamily="34" charset="0"/>
                <a:ea typeface="Segoe UI" pitchFamily="34" charset="-122"/>
                <a:cs typeface="Segoe UI" pitchFamily="34" charset="-120"/>
              </a:rPr>
              <a:t>Mọi hàm NumPy đều nhận hoặc trả về ndarray.</a:t>
            </a:r>
            <a:endParaRPr lang="en-US" sz="1350" dirty="0"/>
          </a:p>
        </p:txBody>
      </p:sp>
      <p:sp>
        <p:nvSpPr>
          <p:cNvPr id="15" name="Text 13"/>
          <p:cNvSpPr/>
          <p:nvPr/>
        </p:nvSpPr>
        <p:spPr>
          <a:xfrm>
            <a:off x="6446520" y="1417320"/>
            <a:ext cx="4389120" cy="274320"/>
          </a:xfrm>
          <a:prstGeom prst="rect">
            <a:avLst/>
          </a:prstGeom>
          <a:noFill/>
          <a:ln/>
        </p:spPr>
        <p:txBody>
          <a:bodyPr wrap="square" lIns="0" tIns="0" rIns="0" bIns="0" rtlCol="0" anchor="t"/>
          <a:lstStyle/>
          <a:p>
            <a:pPr marL="0" indent="0">
              <a:buNone/>
            </a:pPr>
            <a:r>
              <a:rPr lang="en-US" sz="1200" b="1" dirty="0">
                <a:solidFill>
                  <a:srgbClr val="062A3A"/>
                </a:solidFill>
                <a:latin typeface="Segoe UI" pitchFamily="34" charset="0"/>
                <a:ea typeface="Segoe UI" pitchFamily="34" charset="-122"/>
                <a:cs typeface="Segoe UI" pitchFamily="34" charset="-120"/>
              </a:rPr>
              <a:t>Một mảng 3 × 4</a:t>
            </a:r>
            <a:endParaRPr lang="en-US" sz="1200" dirty="0"/>
          </a:p>
        </p:txBody>
      </p:sp>
      <p:sp>
        <p:nvSpPr>
          <p:cNvPr id="16" name="Shape 14"/>
          <p:cNvSpPr/>
          <p:nvPr/>
        </p:nvSpPr>
        <p:spPr>
          <a:xfrm>
            <a:off x="6720840" y="1920240"/>
            <a:ext cx="868680" cy="566928"/>
          </a:xfrm>
          <a:prstGeom prst="rect">
            <a:avLst/>
          </a:prstGeom>
          <a:solidFill>
            <a:srgbClr val="EAF4F8"/>
          </a:solidFill>
          <a:ln w="9525">
            <a:solidFill>
              <a:srgbClr val="A9CDDB"/>
            </a:solidFill>
            <a:prstDash val="solid"/>
          </a:ln>
        </p:spPr>
      </p:sp>
      <p:sp>
        <p:nvSpPr>
          <p:cNvPr id="17" name="Text 15"/>
          <p:cNvSpPr/>
          <p:nvPr/>
        </p:nvSpPr>
        <p:spPr>
          <a:xfrm>
            <a:off x="6720840" y="1920240"/>
            <a:ext cx="868680" cy="566928"/>
          </a:xfrm>
          <a:prstGeom prst="rect">
            <a:avLst/>
          </a:prstGeom>
          <a:noFill/>
          <a:ln/>
        </p:spPr>
        <p:txBody>
          <a:bodyPr wrap="square" lIns="0" tIns="0" rIns="0" bIns="0" rtlCol="0" anchor="ctr"/>
          <a:lstStyle/>
          <a:p>
            <a:pPr marL="0" indent="0" algn="ctr">
              <a:buNone/>
            </a:pPr>
            <a:r>
              <a:rPr lang="en-US" sz="1300" dirty="0">
                <a:solidFill>
                  <a:srgbClr val="062A3A"/>
                </a:solidFill>
                <a:latin typeface="Consolas" pitchFamily="34" charset="0"/>
                <a:ea typeface="Consolas" pitchFamily="34" charset="-122"/>
                <a:cs typeface="Consolas" pitchFamily="34" charset="-120"/>
              </a:rPr>
              <a:t>1</a:t>
            </a:r>
            <a:endParaRPr lang="en-US" sz="1300" dirty="0"/>
          </a:p>
        </p:txBody>
      </p:sp>
      <p:sp>
        <p:nvSpPr>
          <p:cNvPr id="18" name="Shape 16"/>
          <p:cNvSpPr/>
          <p:nvPr/>
        </p:nvSpPr>
        <p:spPr>
          <a:xfrm>
            <a:off x="7589520" y="1920240"/>
            <a:ext cx="868680" cy="566928"/>
          </a:xfrm>
          <a:prstGeom prst="rect">
            <a:avLst/>
          </a:prstGeom>
          <a:solidFill>
            <a:srgbClr val="EAF4F8"/>
          </a:solidFill>
          <a:ln w="9525">
            <a:solidFill>
              <a:srgbClr val="A9CDDB"/>
            </a:solidFill>
            <a:prstDash val="solid"/>
          </a:ln>
        </p:spPr>
      </p:sp>
      <p:sp>
        <p:nvSpPr>
          <p:cNvPr id="19" name="Text 17"/>
          <p:cNvSpPr/>
          <p:nvPr/>
        </p:nvSpPr>
        <p:spPr>
          <a:xfrm>
            <a:off x="7589520" y="1920240"/>
            <a:ext cx="868680" cy="566928"/>
          </a:xfrm>
          <a:prstGeom prst="rect">
            <a:avLst/>
          </a:prstGeom>
          <a:noFill/>
          <a:ln/>
        </p:spPr>
        <p:txBody>
          <a:bodyPr wrap="square" lIns="0" tIns="0" rIns="0" bIns="0" rtlCol="0" anchor="ctr"/>
          <a:lstStyle/>
          <a:p>
            <a:pPr marL="0" indent="0" algn="ctr">
              <a:buNone/>
            </a:pPr>
            <a:r>
              <a:rPr lang="en-US" sz="1300" dirty="0">
                <a:solidFill>
                  <a:srgbClr val="062A3A"/>
                </a:solidFill>
                <a:latin typeface="Consolas" pitchFamily="34" charset="0"/>
                <a:ea typeface="Consolas" pitchFamily="34" charset="-122"/>
                <a:cs typeface="Consolas" pitchFamily="34" charset="-120"/>
              </a:rPr>
              <a:t>2</a:t>
            </a:r>
            <a:endParaRPr lang="en-US" sz="1300" dirty="0"/>
          </a:p>
        </p:txBody>
      </p:sp>
      <p:sp>
        <p:nvSpPr>
          <p:cNvPr id="20" name="Shape 18"/>
          <p:cNvSpPr/>
          <p:nvPr/>
        </p:nvSpPr>
        <p:spPr>
          <a:xfrm>
            <a:off x="8458200" y="1920240"/>
            <a:ext cx="868680" cy="566928"/>
          </a:xfrm>
          <a:prstGeom prst="rect">
            <a:avLst/>
          </a:prstGeom>
          <a:solidFill>
            <a:srgbClr val="EAF4F8"/>
          </a:solidFill>
          <a:ln w="9525">
            <a:solidFill>
              <a:srgbClr val="A9CDDB"/>
            </a:solidFill>
            <a:prstDash val="solid"/>
          </a:ln>
        </p:spPr>
      </p:sp>
      <p:sp>
        <p:nvSpPr>
          <p:cNvPr id="21" name="Text 19"/>
          <p:cNvSpPr/>
          <p:nvPr/>
        </p:nvSpPr>
        <p:spPr>
          <a:xfrm>
            <a:off x="8458200" y="1920240"/>
            <a:ext cx="868680" cy="566928"/>
          </a:xfrm>
          <a:prstGeom prst="rect">
            <a:avLst/>
          </a:prstGeom>
          <a:noFill/>
          <a:ln/>
        </p:spPr>
        <p:txBody>
          <a:bodyPr wrap="square" lIns="0" tIns="0" rIns="0" bIns="0" rtlCol="0" anchor="ctr"/>
          <a:lstStyle/>
          <a:p>
            <a:pPr marL="0" indent="0" algn="ctr">
              <a:buNone/>
            </a:pPr>
            <a:r>
              <a:rPr lang="en-US" sz="1300" dirty="0">
                <a:solidFill>
                  <a:srgbClr val="062A3A"/>
                </a:solidFill>
                <a:latin typeface="Consolas" pitchFamily="34" charset="0"/>
                <a:ea typeface="Consolas" pitchFamily="34" charset="-122"/>
                <a:cs typeface="Consolas" pitchFamily="34" charset="-120"/>
              </a:rPr>
              <a:t>3</a:t>
            </a:r>
            <a:endParaRPr lang="en-US" sz="1300" dirty="0"/>
          </a:p>
        </p:txBody>
      </p:sp>
      <p:sp>
        <p:nvSpPr>
          <p:cNvPr id="22" name="Shape 20"/>
          <p:cNvSpPr/>
          <p:nvPr/>
        </p:nvSpPr>
        <p:spPr>
          <a:xfrm>
            <a:off x="9326880" y="1920240"/>
            <a:ext cx="868680" cy="566928"/>
          </a:xfrm>
          <a:prstGeom prst="rect">
            <a:avLst/>
          </a:prstGeom>
          <a:solidFill>
            <a:srgbClr val="EAF4F8"/>
          </a:solidFill>
          <a:ln w="9525">
            <a:solidFill>
              <a:srgbClr val="A9CDDB"/>
            </a:solidFill>
            <a:prstDash val="solid"/>
          </a:ln>
        </p:spPr>
      </p:sp>
      <p:sp>
        <p:nvSpPr>
          <p:cNvPr id="23" name="Text 21"/>
          <p:cNvSpPr/>
          <p:nvPr/>
        </p:nvSpPr>
        <p:spPr>
          <a:xfrm>
            <a:off x="9326880" y="1920240"/>
            <a:ext cx="868680" cy="566928"/>
          </a:xfrm>
          <a:prstGeom prst="rect">
            <a:avLst/>
          </a:prstGeom>
          <a:noFill/>
          <a:ln/>
        </p:spPr>
        <p:txBody>
          <a:bodyPr wrap="square" lIns="0" tIns="0" rIns="0" bIns="0" rtlCol="0" anchor="ctr"/>
          <a:lstStyle/>
          <a:p>
            <a:pPr marL="0" indent="0" algn="ctr">
              <a:buNone/>
            </a:pPr>
            <a:r>
              <a:rPr lang="en-US" sz="1300" dirty="0">
                <a:solidFill>
                  <a:srgbClr val="062A3A"/>
                </a:solidFill>
                <a:latin typeface="Consolas" pitchFamily="34" charset="0"/>
                <a:ea typeface="Consolas" pitchFamily="34" charset="-122"/>
                <a:cs typeface="Consolas" pitchFamily="34" charset="-120"/>
              </a:rPr>
              <a:t>4</a:t>
            </a:r>
            <a:endParaRPr lang="en-US" sz="1300" dirty="0"/>
          </a:p>
        </p:txBody>
      </p:sp>
      <p:sp>
        <p:nvSpPr>
          <p:cNvPr id="24" name="Shape 22"/>
          <p:cNvSpPr/>
          <p:nvPr/>
        </p:nvSpPr>
        <p:spPr>
          <a:xfrm>
            <a:off x="6720840" y="2487168"/>
            <a:ext cx="868680" cy="566928"/>
          </a:xfrm>
          <a:prstGeom prst="rect">
            <a:avLst/>
          </a:prstGeom>
          <a:solidFill>
            <a:srgbClr val="EAF4F8"/>
          </a:solidFill>
          <a:ln w="9525">
            <a:solidFill>
              <a:srgbClr val="A9CDDB"/>
            </a:solidFill>
            <a:prstDash val="solid"/>
          </a:ln>
        </p:spPr>
      </p:sp>
      <p:sp>
        <p:nvSpPr>
          <p:cNvPr id="25" name="Text 23"/>
          <p:cNvSpPr/>
          <p:nvPr/>
        </p:nvSpPr>
        <p:spPr>
          <a:xfrm>
            <a:off x="6720840" y="2487168"/>
            <a:ext cx="868680" cy="566928"/>
          </a:xfrm>
          <a:prstGeom prst="rect">
            <a:avLst/>
          </a:prstGeom>
          <a:noFill/>
          <a:ln/>
        </p:spPr>
        <p:txBody>
          <a:bodyPr wrap="square" lIns="0" tIns="0" rIns="0" bIns="0" rtlCol="0" anchor="ctr"/>
          <a:lstStyle/>
          <a:p>
            <a:pPr marL="0" indent="0" algn="ctr">
              <a:buNone/>
            </a:pPr>
            <a:r>
              <a:rPr lang="en-US" sz="1300" dirty="0">
                <a:solidFill>
                  <a:srgbClr val="062A3A"/>
                </a:solidFill>
                <a:latin typeface="Consolas" pitchFamily="34" charset="0"/>
                <a:ea typeface="Consolas" pitchFamily="34" charset="-122"/>
                <a:cs typeface="Consolas" pitchFamily="34" charset="-120"/>
              </a:rPr>
              <a:t>5</a:t>
            </a:r>
            <a:endParaRPr lang="en-US" sz="1300" dirty="0"/>
          </a:p>
        </p:txBody>
      </p:sp>
      <p:sp>
        <p:nvSpPr>
          <p:cNvPr id="26" name="Shape 24"/>
          <p:cNvSpPr/>
          <p:nvPr/>
        </p:nvSpPr>
        <p:spPr>
          <a:xfrm>
            <a:off x="7589520" y="2487168"/>
            <a:ext cx="868680" cy="566928"/>
          </a:xfrm>
          <a:prstGeom prst="rect">
            <a:avLst/>
          </a:prstGeom>
          <a:solidFill>
            <a:srgbClr val="EAF4F8"/>
          </a:solidFill>
          <a:ln w="9525">
            <a:solidFill>
              <a:srgbClr val="A9CDDB"/>
            </a:solidFill>
            <a:prstDash val="solid"/>
          </a:ln>
        </p:spPr>
      </p:sp>
      <p:sp>
        <p:nvSpPr>
          <p:cNvPr id="27" name="Text 25"/>
          <p:cNvSpPr/>
          <p:nvPr/>
        </p:nvSpPr>
        <p:spPr>
          <a:xfrm>
            <a:off x="7589520" y="2487168"/>
            <a:ext cx="868680" cy="566928"/>
          </a:xfrm>
          <a:prstGeom prst="rect">
            <a:avLst/>
          </a:prstGeom>
          <a:noFill/>
          <a:ln/>
        </p:spPr>
        <p:txBody>
          <a:bodyPr wrap="square" lIns="0" tIns="0" rIns="0" bIns="0" rtlCol="0" anchor="ctr"/>
          <a:lstStyle/>
          <a:p>
            <a:pPr marL="0" indent="0" algn="ctr">
              <a:buNone/>
            </a:pPr>
            <a:r>
              <a:rPr lang="en-US" sz="1300" dirty="0">
                <a:solidFill>
                  <a:srgbClr val="062A3A"/>
                </a:solidFill>
                <a:latin typeface="Consolas" pitchFamily="34" charset="0"/>
                <a:ea typeface="Consolas" pitchFamily="34" charset="-122"/>
                <a:cs typeface="Consolas" pitchFamily="34" charset="-120"/>
              </a:rPr>
              <a:t>6</a:t>
            </a:r>
            <a:endParaRPr lang="en-US" sz="1300" dirty="0"/>
          </a:p>
        </p:txBody>
      </p:sp>
      <p:sp>
        <p:nvSpPr>
          <p:cNvPr id="28" name="Shape 26"/>
          <p:cNvSpPr/>
          <p:nvPr/>
        </p:nvSpPr>
        <p:spPr>
          <a:xfrm>
            <a:off x="8458200" y="2487168"/>
            <a:ext cx="868680" cy="566928"/>
          </a:xfrm>
          <a:prstGeom prst="rect">
            <a:avLst/>
          </a:prstGeom>
          <a:solidFill>
            <a:srgbClr val="EAF4F8"/>
          </a:solidFill>
          <a:ln w="9525">
            <a:solidFill>
              <a:srgbClr val="A9CDDB"/>
            </a:solidFill>
            <a:prstDash val="solid"/>
          </a:ln>
        </p:spPr>
      </p:sp>
      <p:sp>
        <p:nvSpPr>
          <p:cNvPr id="29" name="Text 27"/>
          <p:cNvSpPr/>
          <p:nvPr/>
        </p:nvSpPr>
        <p:spPr>
          <a:xfrm>
            <a:off x="8458200" y="2487168"/>
            <a:ext cx="868680" cy="566928"/>
          </a:xfrm>
          <a:prstGeom prst="rect">
            <a:avLst/>
          </a:prstGeom>
          <a:noFill/>
          <a:ln/>
        </p:spPr>
        <p:txBody>
          <a:bodyPr wrap="square" lIns="0" tIns="0" rIns="0" bIns="0" rtlCol="0" anchor="ctr"/>
          <a:lstStyle/>
          <a:p>
            <a:pPr marL="0" indent="0" algn="ctr">
              <a:buNone/>
            </a:pPr>
            <a:r>
              <a:rPr lang="en-US" sz="1300" dirty="0">
                <a:solidFill>
                  <a:srgbClr val="062A3A"/>
                </a:solidFill>
                <a:latin typeface="Consolas" pitchFamily="34" charset="0"/>
                <a:ea typeface="Consolas" pitchFamily="34" charset="-122"/>
                <a:cs typeface="Consolas" pitchFamily="34" charset="-120"/>
              </a:rPr>
              <a:t>7</a:t>
            </a:r>
            <a:endParaRPr lang="en-US" sz="1300" dirty="0"/>
          </a:p>
        </p:txBody>
      </p:sp>
      <p:sp>
        <p:nvSpPr>
          <p:cNvPr id="30" name="Shape 28"/>
          <p:cNvSpPr/>
          <p:nvPr/>
        </p:nvSpPr>
        <p:spPr>
          <a:xfrm>
            <a:off x="9326880" y="2487168"/>
            <a:ext cx="868680" cy="566928"/>
          </a:xfrm>
          <a:prstGeom prst="rect">
            <a:avLst/>
          </a:prstGeom>
          <a:solidFill>
            <a:srgbClr val="EAF4F8"/>
          </a:solidFill>
          <a:ln w="9525">
            <a:solidFill>
              <a:srgbClr val="A9CDDB"/>
            </a:solidFill>
            <a:prstDash val="solid"/>
          </a:ln>
        </p:spPr>
      </p:sp>
      <p:sp>
        <p:nvSpPr>
          <p:cNvPr id="31" name="Text 29"/>
          <p:cNvSpPr/>
          <p:nvPr/>
        </p:nvSpPr>
        <p:spPr>
          <a:xfrm>
            <a:off x="9326880" y="2487168"/>
            <a:ext cx="868680" cy="566928"/>
          </a:xfrm>
          <a:prstGeom prst="rect">
            <a:avLst/>
          </a:prstGeom>
          <a:noFill/>
          <a:ln/>
        </p:spPr>
        <p:txBody>
          <a:bodyPr wrap="square" lIns="0" tIns="0" rIns="0" bIns="0" rtlCol="0" anchor="ctr"/>
          <a:lstStyle/>
          <a:p>
            <a:pPr marL="0" indent="0" algn="ctr">
              <a:buNone/>
            </a:pPr>
            <a:r>
              <a:rPr lang="en-US" sz="1300" dirty="0">
                <a:solidFill>
                  <a:srgbClr val="062A3A"/>
                </a:solidFill>
                <a:latin typeface="Consolas" pitchFamily="34" charset="0"/>
                <a:ea typeface="Consolas" pitchFamily="34" charset="-122"/>
                <a:cs typeface="Consolas" pitchFamily="34" charset="-120"/>
              </a:rPr>
              <a:t>8</a:t>
            </a:r>
            <a:endParaRPr lang="en-US" sz="1300" dirty="0"/>
          </a:p>
        </p:txBody>
      </p:sp>
      <p:sp>
        <p:nvSpPr>
          <p:cNvPr id="32" name="Shape 30"/>
          <p:cNvSpPr/>
          <p:nvPr/>
        </p:nvSpPr>
        <p:spPr>
          <a:xfrm>
            <a:off x="6720840" y="3054096"/>
            <a:ext cx="868680" cy="566928"/>
          </a:xfrm>
          <a:prstGeom prst="rect">
            <a:avLst/>
          </a:prstGeom>
          <a:solidFill>
            <a:srgbClr val="EAF4F8"/>
          </a:solidFill>
          <a:ln w="9525">
            <a:solidFill>
              <a:srgbClr val="A9CDDB"/>
            </a:solidFill>
            <a:prstDash val="solid"/>
          </a:ln>
        </p:spPr>
      </p:sp>
      <p:sp>
        <p:nvSpPr>
          <p:cNvPr id="33" name="Text 31"/>
          <p:cNvSpPr/>
          <p:nvPr/>
        </p:nvSpPr>
        <p:spPr>
          <a:xfrm>
            <a:off x="6720840" y="3054096"/>
            <a:ext cx="868680" cy="566928"/>
          </a:xfrm>
          <a:prstGeom prst="rect">
            <a:avLst/>
          </a:prstGeom>
          <a:noFill/>
          <a:ln/>
        </p:spPr>
        <p:txBody>
          <a:bodyPr wrap="square" lIns="0" tIns="0" rIns="0" bIns="0" rtlCol="0" anchor="ctr"/>
          <a:lstStyle/>
          <a:p>
            <a:pPr marL="0" indent="0" algn="ctr">
              <a:buNone/>
            </a:pPr>
            <a:r>
              <a:rPr lang="en-US" sz="1300" dirty="0">
                <a:solidFill>
                  <a:srgbClr val="062A3A"/>
                </a:solidFill>
                <a:latin typeface="Consolas" pitchFamily="34" charset="0"/>
                <a:ea typeface="Consolas" pitchFamily="34" charset="-122"/>
                <a:cs typeface="Consolas" pitchFamily="34" charset="-120"/>
              </a:rPr>
              <a:t>9</a:t>
            </a:r>
            <a:endParaRPr lang="en-US" sz="1300" dirty="0"/>
          </a:p>
        </p:txBody>
      </p:sp>
      <p:sp>
        <p:nvSpPr>
          <p:cNvPr id="34" name="Shape 32"/>
          <p:cNvSpPr/>
          <p:nvPr/>
        </p:nvSpPr>
        <p:spPr>
          <a:xfrm>
            <a:off x="7589520" y="3054096"/>
            <a:ext cx="868680" cy="566928"/>
          </a:xfrm>
          <a:prstGeom prst="rect">
            <a:avLst/>
          </a:prstGeom>
          <a:solidFill>
            <a:srgbClr val="EAF4F8"/>
          </a:solidFill>
          <a:ln w="9525">
            <a:solidFill>
              <a:srgbClr val="A9CDDB"/>
            </a:solidFill>
            <a:prstDash val="solid"/>
          </a:ln>
        </p:spPr>
      </p:sp>
      <p:sp>
        <p:nvSpPr>
          <p:cNvPr id="35" name="Text 33"/>
          <p:cNvSpPr/>
          <p:nvPr/>
        </p:nvSpPr>
        <p:spPr>
          <a:xfrm>
            <a:off x="7589520" y="3054096"/>
            <a:ext cx="868680" cy="566928"/>
          </a:xfrm>
          <a:prstGeom prst="rect">
            <a:avLst/>
          </a:prstGeom>
          <a:noFill/>
          <a:ln/>
        </p:spPr>
        <p:txBody>
          <a:bodyPr wrap="square" lIns="0" tIns="0" rIns="0" bIns="0" rtlCol="0" anchor="ctr"/>
          <a:lstStyle/>
          <a:p>
            <a:pPr marL="0" indent="0" algn="ctr">
              <a:buNone/>
            </a:pPr>
            <a:r>
              <a:rPr lang="en-US" sz="1300" dirty="0">
                <a:solidFill>
                  <a:srgbClr val="062A3A"/>
                </a:solidFill>
                <a:latin typeface="Consolas" pitchFamily="34" charset="0"/>
                <a:ea typeface="Consolas" pitchFamily="34" charset="-122"/>
                <a:cs typeface="Consolas" pitchFamily="34" charset="-120"/>
              </a:rPr>
              <a:t>10</a:t>
            </a:r>
            <a:endParaRPr lang="en-US" sz="1300" dirty="0"/>
          </a:p>
        </p:txBody>
      </p:sp>
      <p:sp>
        <p:nvSpPr>
          <p:cNvPr id="36" name="Shape 34"/>
          <p:cNvSpPr/>
          <p:nvPr/>
        </p:nvSpPr>
        <p:spPr>
          <a:xfrm>
            <a:off x="8458200" y="3054096"/>
            <a:ext cx="868680" cy="566928"/>
          </a:xfrm>
          <a:prstGeom prst="rect">
            <a:avLst/>
          </a:prstGeom>
          <a:solidFill>
            <a:srgbClr val="EAF4F8"/>
          </a:solidFill>
          <a:ln w="9525">
            <a:solidFill>
              <a:srgbClr val="A9CDDB"/>
            </a:solidFill>
            <a:prstDash val="solid"/>
          </a:ln>
        </p:spPr>
      </p:sp>
      <p:sp>
        <p:nvSpPr>
          <p:cNvPr id="37" name="Text 35"/>
          <p:cNvSpPr/>
          <p:nvPr/>
        </p:nvSpPr>
        <p:spPr>
          <a:xfrm>
            <a:off x="8458200" y="3054096"/>
            <a:ext cx="868680" cy="566928"/>
          </a:xfrm>
          <a:prstGeom prst="rect">
            <a:avLst/>
          </a:prstGeom>
          <a:noFill/>
          <a:ln/>
        </p:spPr>
        <p:txBody>
          <a:bodyPr wrap="square" lIns="0" tIns="0" rIns="0" bIns="0" rtlCol="0" anchor="ctr"/>
          <a:lstStyle/>
          <a:p>
            <a:pPr marL="0" indent="0" algn="ctr">
              <a:buNone/>
            </a:pPr>
            <a:r>
              <a:rPr lang="en-US" sz="1300" dirty="0">
                <a:solidFill>
                  <a:srgbClr val="062A3A"/>
                </a:solidFill>
                <a:latin typeface="Consolas" pitchFamily="34" charset="0"/>
                <a:ea typeface="Consolas" pitchFamily="34" charset="-122"/>
                <a:cs typeface="Consolas" pitchFamily="34" charset="-120"/>
              </a:rPr>
              <a:t>11</a:t>
            </a:r>
            <a:endParaRPr lang="en-US" sz="1300" dirty="0"/>
          </a:p>
        </p:txBody>
      </p:sp>
      <p:sp>
        <p:nvSpPr>
          <p:cNvPr id="38" name="Shape 36"/>
          <p:cNvSpPr/>
          <p:nvPr/>
        </p:nvSpPr>
        <p:spPr>
          <a:xfrm>
            <a:off x="9326880" y="3054096"/>
            <a:ext cx="868680" cy="566928"/>
          </a:xfrm>
          <a:prstGeom prst="rect">
            <a:avLst/>
          </a:prstGeom>
          <a:solidFill>
            <a:srgbClr val="EAF4F8"/>
          </a:solidFill>
          <a:ln w="9525">
            <a:solidFill>
              <a:srgbClr val="A9CDDB"/>
            </a:solidFill>
            <a:prstDash val="solid"/>
          </a:ln>
        </p:spPr>
      </p:sp>
      <p:sp>
        <p:nvSpPr>
          <p:cNvPr id="39" name="Text 37"/>
          <p:cNvSpPr/>
          <p:nvPr/>
        </p:nvSpPr>
        <p:spPr>
          <a:xfrm>
            <a:off x="9326880" y="3054096"/>
            <a:ext cx="868680" cy="566928"/>
          </a:xfrm>
          <a:prstGeom prst="rect">
            <a:avLst/>
          </a:prstGeom>
          <a:noFill/>
          <a:ln/>
        </p:spPr>
        <p:txBody>
          <a:bodyPr wrap="square" lIns="0" tIns="0" rIns="0" bIns="0" rtlCol="0" anchor="ctr"/>
          <a:lstStyle/>
          <a:p>
            <a:pPr marL="0" indent="0" algn="ctr">
              <a:buNone/>
            </a:pPr>
            <a:r>
              <a:rPr lang="en-US" sz="1300" dirty="0">
                <a:solidFill>
                  <a:srgbClr val="062A3A"/>
                </a:solidFill>
                <a:latin typeface="Consolas" pitchFamily="34" charset="0"/>
                <a:ea typeface="Consolas" pitchFamily="34" charset="-122"/>
                <a:cs typeface="Consolas" pitchFamily="34" charset="-120"/>
              </a:rPr>
              <a:t>12</a:t>
            </a:r>
            <a:endParaRPr lang="en-US" sz="1300" dirty="0"/>
          </a:p>
        </p:txBody>
      </p:sp>
      <p:sp>
        <p:nvSpPr>
          <p:cNvPr id="40" name="Text 38"/>
          <p:cNvSpPr/>
          <p:nvPr/>
        </p:nvSpPr>
        <p:spPr>
          <a:xfrm>
            <a:off x="6720840" y="1673352"/>
            <a:ext cx="3474720" cy="201168"/>
          </a:xfrm>
          <a:prstGeom prst="rect">
            <a:avLst/>
          </a:prstGeom>
          <a:noFill/>
          <a:ln/>
        </p:spPr>
        <p:txBody>
          <a:bodyPr wrap="square" lIns="0" tIns="0" rIns="0" bIns="0" rtlCol="0" anchor="t"/>
          <a:lstStyle/>
          <a:p>
            <a:pPr marL="0" indent="0" algn="r">
              <a:buNone/>
            </a:pPr>
            <a:r>
              <a:rPr lang="en-US" sz="950" dirty="0">
                <a:solidFill>
                  <a:srgbClr val="728694"/>
                </a:solidFill>
                <a:latin typeface="Segoe UI" pitchFamily="34" charset="0"/>
                <a:ea typeface="Segoe UI" pitchFamily="34" charset="-122"/>
                <a:cs typeface="Segoe UI" pitchFamily="34" charset="-120"/>
              </a:rPr>
              <a:t>trục 1  →</a:t>
            </a:r>
            <a:endParaRPr lang="en-US" sz="950" dirty="0"/>
          </a:p>
        </p:txBody>
      </p:sp>
      <p:sp>
        <p:nvSpPr>
          <p:cNvPr id="41" name="Text 39"/>
          <p:cNvSpPr/>
          <p:nvPr/>
        </p:nvSpPr>
        <p:spPr>
          <a:xfrm>
            <a:off x="5961888" y="1920240"/>
            <a:ext cx="640080" cy="1700784"/>
          </a:xfrm>
          <a:prstGeom prst="rect">
            <a:avLst/>
          </a:prstGeom>
          <a:noFill/>
          <a:ln/>
        </p:spPr>
        <p:txBody>
          <a:bodyPr wrap="square" lIns="0" tIns="0" rIns="0" bIns="0" rtlCol="0" anchor="ctr"/>
          <a:lstStyle/>
          <a:p>
            <a:pPr marL="0" indent="0" algn="ctr">
              <a:buNone/>
            </a:pPr>
            <a:r>
              <a:rPr lang="en-US" sz="850" dirty="0">
                <a:solidFill>
                  <a:srgbClr val="728694"/>
                </a:solidFill>
                <a:latin typeface="Segoe UI" pitchFamily="34" charset="0"/>
                <a:ea typeface="Segoe UI" pitchFamily="34" charset="-122"/>
                <a:cs typeface="Segoe UI" pitchFamily="34" charset="-120"/>
              </a:rPr>
              <a:t>trục 0</a:t>
            </a:r>
            <a:endParaRPr lang="en-US" sz="850" dirty="0"/>
          </a:p>
        </p:txBody>
      </p:sp>
      <p:sp>
        <p:nvSpPr>
          <p:cNvPr id="42" name="Shape 40"/>
          <p:cNvSpPr/>
          <p:nvPr/>
        </p:nvSpPr>
        <p:spPr>
          <a:xfrm>
            <a:off x="6720840" y="3886200"/>
            <a:ext cx="3474720" cy="384048"/>
          </a:xfrm>
          <a:prstGeom prst="roundRect">
            <a:avLst>
              <a:gd name="adj" fmla="val 119048"/>
            </a:avLst>
          </a:prstGeom>
          <a:solidFill>
            <a:srgbClr val="EAF4F8"/>
          </a:solidFill>
          <a:ln w="9525">
            <a:solidFill>
              <a:srgbClr val="CFE5EE"/>
            </a:solidFill>
            <a:prstDash val="solid"/>
          </a:ln>
        </p:spPr>
      </p:sp>
      <p:sp>
        <p:nvSpPr>
          <p:cNvPr id="43" name="Text 41"/>
          <p:cNvSpPr/>
          <p:nvPr/>
        </p:nvSpPr>
        <p:spPr>
          <a:xfrm>
            <a:off x="6720840" y="3886200"/>
            <a:ext cx="3474720" cy="384048"/>
          </a:xfrm>
          <a:prstGeom prst="rect">
            <a:avLst/>
          </a:prstGeom>
          <a:noFill/>
          <a:ln/>
        </p:spPr>
        <p:txBody>
          <a:bodyPr wrap="square" lIns="0" tIns="0" rIns="0" bIns="0" rtlCol="0" anchor="ctr"/>
          <a:lstStyle/>
          <a:p>
            <a:pPr marL="0" indent="0" algn="ctr">
              <a:buNone/>
            </a:pPr>
            <a:r>
              <a:rPr lang="en-US" sz="1100" b="1" dirty="0">
                <a:solidFill>
                  <a:srgbClr val="1B8EA8"/>
                </a:solidFill>
                <a:latin typeface="Segoe UI" pitchFamily="34" charset="0"/>
                <a:ea typeface="Segoe UI" pitchFamily="34" charset="-122"/>
                <a:cs typeface="Segoe UI" pitchFamily="34" charset="-120"/>
              </a:rPr>
              <a:t>shape (3, 4)   ·   dtype int64</a:t>
            </a:r>
            <a:endParaRPr lang="en-US" sz="1100" dirty="0"/>
          </a:p>
        </p:txBody>
      </p:sp>
      <p:sp>
        <p:nvSpPr>
          <p:cNvPr id="44" name="Text 42"/>
          <p:cNvSpPr/>
          <p:nvPr/>
        </p:nvSpPr>
        <p:spPr>
          <a:xfrm>
            <a:off x="6446520" y="4526280"/>
            <a:ext cx="5029200" cy="457200"/>
          </a:xfrm>
          <a:prstGeom prst="rect">
            <a:avLst/>
          </a:prstGeom>
          <a:noFill/>
          <a:ln/>
        </p:spPr>
        <p:txBody>
          <a:bodyPr wrap="square" lIns="0" tIns="0" rIns="0" bIns="0" rtlCol="0" anchor="t"/>
          <a:lstStyle/>
          <a:p>
            <a:pPr marL="0" indent="0">
              <a:buNone/>
            </a:pPr>
            <a:r>
              <a:rPr lang="en-US" sz="1150" i="1" dirty="0">
                <a:solidFill>
                  <a:srgbClr val="415A6B"/>
                </a:solidFill>
                <a:latin typeface="Segoe UI" pitchFamily="34" charset="0"/>
                <a:ea typeface="Segoe UI" pitchFamily="34" charset="-122"/>
                <a:cs typeface="Segoe UI" pitchFamily="34" charset="-120"/>
              </a:rPr>
              <a:t>Cùng một dtype cho mọi ô — đây là điều kiện để vector hóa.</a:t>
            </a:r>
            <a:endParaRPr lang="en-US" sz="1150" dirty="0"/>
          </a:p>
        </p:txBody>
      </p:sp>
      <p:sp>
        <p:nvSpPr>
          <p:cNvPr id="45" name="Text 43"/>
          <p:cNvSpPr/>
          <p:nvPr/>
        </p:nvSpPr>
        <p:spPr>
          <a:xfrm>
            <a:off x="6446520" y="5074920"/>
            <a:ext cx="4937760" cy="228600"/>
          </a:xfrm>
          <a:prstGeom prst="rect">
            <a:avLst/>
          </a:prstGeom>
          <a:noFill/>
          <a:ln/>
        </p:spPr>
        <p:txBody>
          <a:bodyPr wrap="square" lIns="0" tIns="0" rIns="0" bIns="0" rtlCol="0" anchor="t"/>
          <a:lstStyle/>
          <a:p>
            <a:pPr marL="0" indent="0">
              <a:buNone/>
            </a:pPr>
            <a:r>
              <a:rPr lang="en-US" sz="850" dirty="0">
                <a:solidFill>
                  <a:srgbClr val="728694"/>
                </a:solidFill>
                <a:latin typeface="Segoe UI" pitchFamily="34" charset="0"/>
                <a:ea typeface="Segoe UI" pitchFamily="34" charset="-122"/>
                <a:cs typeface="Segoe UI" pitchFamily="34" charset="-120"/>
              </a:rPr>
              <a:t>Nguồn: NumPy Documentation [1], [2]</a:t>
            </a:r>
            <a:endParaRPr lang="en-US" sz="850" dirty="0"/>
          </a:p>
        </p:txBody>
      </p:sp>
      <p:sp>
        <p:nvSpPr>
          <p:cNvPr id="46" name="Shape 44"/>
          <p:cNvSpPr/>
          <p:nvPr/>
        </p:nvSpPr>
        <p:spPr>
          <a:xfrm>
            <a:off x="548640" y="6391656"/>
            <a:ext cx="11091672" cy="9144"/>
          </a:xfrm>
          <a:prstGeom prst="rect">
            <a:avLst/>
          </a:prstGeom>
          <a:solidFill>
            <a:srgbClr val="D7E5EC"/>
          </a:solidFill>
          <a:ln w="12700">
            <a:solidFill>
              <a:srgbClr val="D7E5EC"/>
            </a:solidFill>
            <a:prstDash val="solid"/>
          </a:ln>
        </p:spPr>
      </p:sp>
      <p:sp>
        <p:nvSpPr>
          <p:cNvPr id="47" name="Text 45"/>
          <p:cNvSpPr/>
          <p:nvPr/>
        </p:nvSpPr>
        <p:spPr>
          <a:xfrm>
            <a:off x="548640" y="6473952"/>
            <a:ext cx="7772400" cy="182880"/>
          </a:xfrm>
          <a:prstGeom prst="rect">
            <a:avLst/>
          </a:prstGeom>
          <a:noFill/>
          <a:ln/>
        </p:spPr>
        <p:txBody>
          <a:bodyPr wrap="square" lIns="0" tIns="0" rIns="0" bIns="0" rtlCol="0" anchor="t"/>
          <a:lstStyle/>
          <a:p>
            <a:pPr marL="0" indent="0">
              <a:buNone/>
            </a:pPr>
            <a:r>
              <a:rPr lang="en-US" sz="850" dirty="0">
                <a:solidFill>
                  <a:srgbClr val="728694"/>
                </a:solidFill>
                <a:latin typeface="Segoe UI" pitchFamily="34" charset="0"/>
                <a:ea typeface="Segoe UI" pitchFamily="34" charset="-122"/>
                <a:cs typeface="Segoe UI" pitchFamily="34" charset="-120"/>
              </a:rPr>
              <a:t>Tìm hiểu thư viện NumPy trong Python</a:t>
            </a:r>
            <a:endParaRPr lang="en-US" sz="850" dirty="0"/>
          </a:p>
        </p:txBody>
      </p:sp>
      <p:sp>
        <p:nvSpPr>
          <p:cNvPr id="48" name="Text 46"/>
          <p:cNvSpPr/>
          <p:nvPr/>
        </p:nvSpPr>
        <p:spPr>
          <a:xfrm>
            <a:off x="10698480" y="6473952"/>
            <a:ext cx="941832" cy="182880"/>
          </a:xfrm>
          <a:prstGeom prst="rect">
            <a:avLst/>
          </a:prstGeom>
          <a:noFill/>
          <a:ln/>
        </p:spPr>
        <p:txBody>
          <a:bodyPr wrap="square" lIns="0" tIns="0" rIns="0" bIns="0" rtlCol="0" anchor="t"/>
          <a:lstStyle/>
          <a:p>
            <a:pPr marL="0" indent="0" algn="r">
              <a:buNone/>
            </a:pPr>
            <a:r>
              <a:rPr lang="en-US" sz="850" dirty="0">
                <a:solidFill>
                  <a:srgbClr val="728694"/>
                </a:solidFill>
                <a:latin typeface="Segoe UI" pitchFamily="34" charset="0"/>
                <a:ea typeface="Segoe UI" pitchFamily="34" charset="-122"/>
                <a:cs typeface="Segoe UI" pitchFamily="34" charset="-120"/>
              </a:rPr>
              <a:t>05 / 25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301752"/>
            <a:ext cx="10881360" cy="201168"/>
          </a:xfrm>
          <a:prstGeom prst="rect">
            <a:avLst/>
          </a:prstGeom>
          <a:noFill/>
          <a:ln/>
        </p:spPr>
        <p:txBody>
          <a:bodyPr wrap="square" lIns="0" tIns="0" rIns="0" bIns="0" rtlCol="0" anchor="t"/>
          <a:lstStyle/>
          <a:p>
            <a:pPr marL="0" indent="0">
              <a:buNone/>
            </a:pPr>
            <a:r>
              <a:rPr lang="en-US" sz="950" b="1" kern="0" spc="160" dirty="0">
                <a:solidFill>
                  <a:srgbClr val="1B8EA8"/>
                </a:solidFill>
                <a:latin typeface="Segoe UI" pitchFamily="34" charset="0"/>
                <a:ea typeface="Segoe UI" pitchFamily="34" charset="-122"/>
                <a:cs typeface="Segoe UI" pitchFamily="34" charset="-120"/>
              </a:rPr>
              <a:t>01 · GIỚI THIỆU</a:t>
            </a:r>
            <a:endParaRPr lang="en-US" sz="950" dirty="0"/>
          </a:p>
        </p:txBody>
      </p:sp>
      <p:sp>
        <p:nvSpPr>
          <p:cNvPr id="3" name="Text 1"/>
          <p:cNvSpPr/>
          <p:nvPr/>
        </p:nvSpPr>
        <p:spPr>
          <a:xfrm>
            <a:off x="548640" y="502920"/>
            <a:ext cx="10881360" cy="640080"/>
          </a:xfrm>
          <a:prstGeom prst="rect">
            <a:avLst/>
          </a:prstGeom>
          <a:noFill/>
          <a:ln/>
        </p:spPr>
        <p:txBody>
          <a:bodyPr wrap="square" lIns="0" tIns="0" rIns="0" bIns="0" rtlCol="0" anchor="ctr"/>
          <a:lstStyle/>
          <a:p>
            <a:pPr marL="0" indent="0">
              <a:buNone/>
            </a:pPr>
            <a:r>
              <a:rPr lang="en-US" sz="2800" b="1" dirty="0">
                <a:solidFill>
                  <a:srgbClr val="062A3A"/>
                </a:solidFill>
                <a:latin typeface="Segoe UI" pitchFamily="34" charset="0"/>
                <a:ea typeface="Segoe UI" pitchFamily="34" charset="-122"/>
                <a:cs typeface="Segoe UI" pitchFamily="34" charset="-120"/>
              </a:rPr>
              <a:t>Ưu điểm và giới hạn</a:t>
            </a:r>
            <a:endParaRPr lang="en-US" sz="2800" dirty="0"/>
          </a:p>
        </p:txBody>
      </p:sp>
      <p:sp>
        <p:nvSpPr>
          <p:cNvPr id="4" name="Shape 2"/>
          <p:cNvSpPr/>
          <p:nvPr/>
        </p:nvSpPr>
        <p:spPr>
          <a:xfrm>
            <a:off x="548640" y="1225296"/>
            <a:ext cx="868680" cy="41148"/>
          </a:xfrm>
          <a:prstGeom prst="rect">
            <a:avLst/>
          </a:prstGeom>
          <a:solidFill>
            <a:srgbClr val="1B8EA8"/>
          </a:solidFill>
          <a:ln w="12700">
            <a:solidFill>
              <a:srgbClr val="1B8EA8"/>
            </a:solidFill>
            <a:prstDash val="solid"/>
          </a:ln>
        </p:spPr>
      </p:sp>
      <p:sp>
        <p:nvSpPr>
          <p:cNvPr id="5" name="Shape 3"/>
          <p:cNvSpPr/>
          <p:nvPr/>
        </p:nvSpPr>
        <p:spPr>
          <a:xfrm>
            <a:off x="548640" y="1463040"/>
            <a:ext cx="5440680" cy="3886200"/>
          </a:xfrm>
          <a:prstGeom prst="roundRect">
            <a:avLst>
              <a:gd name="adj" fmla="val 1412"/>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6" name="Shape 4"/>
          <p:cNvSpPr/>
          <p:nvPr/>
        </p:nvSpPr>
        <p:spPr>
          <a:xfrm>
            <a:off x="548640" y="1463040"/>
            <a:ext cx="5440680" cy="73152"/>
          </a:xfrm>
          <a:prstGeom prst="rect">
            <a:avLst/>
          </a:prstGeom>
          <a:solidFill>
            <a:srgbClr val="1B8EA8"/>
          </a:solidFill>
          <a:ln w="12700">
            <a:solidFill>
              <a:srgbClr val="1B8EA8"/>
            </a:solidFill>
            <a:prstDash val="solid"/>
          </a:ln>
        </p:spPr>
      </p:sp>
      <p:sp>
        <p:nvSpPr>
          <p:cNvPr id="7" name="Text 5"/>
          <p:cNvSpPr/>
          <p:nvPr/>
        </p:nvSpPr>
        <p:spPr>
          <a:xfrm>
            <a:off x="822960" y="1691640"/>
            <a:ext cx="4114800" cy="365760"/>
          </a:xfrm>
          <a:prstGeom prst="rect">
            <a:avLst/>
          </a:prstGeom>
          <a:noFill/>
          <a:ln/>
        </p:spPr>
        <p:txBody>
          <a:bodyPr wrap="square" lIns="0" tIns="0" rIns="0" bIns="0" rtlCol="0" anchor="t"/>
          <a:lstStyle/>
          <a:p>
            <a:pPr marL="0" indent="0">
              <a:buNone/>
            </a:pPr>
            <a:r>
              <a:rPr lang="en-US" sz="1700" b="1" dirty="0">
                <a:solidFill>
                  <a:srgbClr val="062A3A"/>
                </a:solidFill>
                <a:latin typeface="Segoe UI" pitchFamily="34" charset="0"/>
                <a:ea typeface="Segoe UI" pitchFamily="34" charset="-122"/>
                <a:cs typeface="Segoe UI" pitchFamily="34" charset="-120"/>
              </a:rPr>
              <a:t>Ưu điểm</a:t>
            </a:r>
            <a:endParaRPr lang="en-US" sz="1700" dirty="0"/>
          </a:p>
        </p:txBody>
      </p:sp>
      <p:sp>
        <p:nvSpPr>
          <p:cNvPr id="8" name="Text 6"/>
          <p:cNvSpPr/>
          <p:nvPr/>
        </p:nvSpPr>
        <p:spPr>
          <a:xfrm>
            <a:off x="841248" y="2212848"/>
            <a:ext cx="274320" cy="274320"/>
          </a:xfrm>
          <a:prstGeom prst="rect">
            <a:avLst/>
          </a:prstGeom>
          <a:noFill/>
          <a:ln/>
        </p:spPr>
        <p:txBody>
          <a:bodyPr wrap="square" lIns="0" tIns="0" rIns="0" bIns="0" rtlCol="0" anchor="t"/>
          <a:lstStyle/>
          <a:p>
            <a:pPr marL="0" indent="0">
              <a:buNone/>
            </a:pPr>
            <a:r>
              <a:rPr lang="en-US" sz="1300" b="1" dirty="0">
                <a:solidFill>
                  <a:srgbClr val="1B8EA8"/>
                </a:solidFill>
                <a:latin typeface="Segoe UI" pitchFamily="34" charset="0"/>
                <a:ea typeface="Segoe UI" pitchFamily="34" charset="-122"/>
                <a:cs typeface="Segoe UI" pitchFamily="34" charset="-120"/>
              </a:rPr>
              <a:t>✓</a:t>
            </a:r>
            <a:endParaRPr lang="en-US" sz="1300" dirty="0"/>
          </a:p>
        </p:txBody>
      </p:sp>
      <p:sp>
        <p:nvSpPr>
          <p:cNvPr id="9" name="Text 7"/>
          <p:cNvSpPr/>
          <p:nvPr/>
        </p:nvSpPr>
        <p:spPr>
          <a:xfrm>
            <a:off x="1170432" y="2194560"/>
            <a:ext cx="4526280" cy="475488"/>
          </a:xfrm>
          <a:prstGeom prst="rect">
            <a:avLst/>
          </a:prstGeom>
          <a:noFill/>
          <a:ln/>
        </p:spPr>
        <p:txBody>
          <a:bodyPr wrap="square" lIns="0" tIns="0" rIns="0" bIns="0" rtlCol="0" anchor="t"/>
          <a:lstStyle/>
          <a:p>
            <a:pPr marL="0" indent="0">
              <a:lnSpc>
                <a:spcPct val="105000"/>
              </a:lnSpc>
              <a:buNone/>
            </a:pPr>
            <a:r>
              <a:rPr lang="en-US" sz="1150" dirty="0">
                <a:solidFill>
                  <a:srgbClr val="415A6B"/>
                </a:solidFill>
                <a:latin typeface="Segoe UI" pitchFamily="34" charset="0"/>
                <a:ea typeface="Segoe UI" pitchFamily="34" charset="-122"/>
                <a:cs typeface="Segoe UI" pitchFamily="34" charset="-120"/>
              </a:rPr>
              <a:t>Vector hóa — viết phép toán trên cả mảng, không cần vòng lặp hiển ngôn.</a:t>
            </a:r>
            <a:endParaRPr lang="en-US" sz="1150" dirty="0"/>
          </a:p>
        </p:txBody>
      </p:sp>
      <p:sp>
        <p:nvSpPr>
          <p:cNvPr id="10" name="Text 8"/>
          <p:cNvSpPr/>
          <p:nvPr/>
        </p:nvSpPr>
        <p:spPr>
          <a:xfrm>
            <a:off x="841248" y="2816352"/>
            <a:ext cx="274320" cy="274320"/>
          </a:xfrm>
          <a:prstGeom prst="rect">
            <a:avLst/>
          </a:prstGeom>
          <a:noFill/>
          <a:ln/>
        </p:spPr>
        <p:txBody>
          <a:bodyPr wrap="square" lIns="0" tIns="0" rIns="0" bIns="0" rtlCol="0" anchor="t"/>
          <a:lstStyle/>
          <a:p>
            <a:pPr marL="0" indent="0">
              <a:buNone/>
            </a:pPr>
            <a:r>
              <a:rPr lang="en-US" sz="1300" b="1" dirty="0">
                <a:solidFill>
                  <a:srgbClr val="1B8EA8"/>
                </a:solidFill>
                <a:latin typeface="Segoe UI" pitchFamily="34" charset="0"/>
                <a:ea typeface="Segoe UI" pitchFamily="34" charset="-122"/>
                <a:cs typeface="Segoe UI" pitchFamily="34" charset="-120"/>
              </a:rPr>
              <a:t>✓</a:t>
            </a:r>
            <a:endParaRPr lang="en-US" sz="1300" dirty="0"/>
          </a:p>
        </p:txBody>
      </p:sp>
      <p:sp>
        <p:nvSpPr>
          <p:cNvPr id="11" name="Text 9"/>
          <p:cNvSpPr/>
          <p:nvPr/>
        </p:nvSpPr>
        <p:spPr>
          <a:xfrm>
            <a:off x="1170432" y="2798064"/>
            <a:ext cx="4526280" cy="475488"/>
          </a:xfrm>
          <a:prstGeom prst="rect">
            <a:avLst/>
          </a:prstGeom>
          <a:noFill/>
          <a:ln/>
        </p:spPr>
        <p:txBody>
          <a:bodyPr wrap="square" lIns="0" tIns="0" rIns="0" bIns="0" rtlCol="0" anchor="t"/>
          <a:lstStyle/>
          <a:p>
            <a:pPr marL="0" indent="0">
              <a:lnSpc>
                <a:spcPct val="105000"/>
              </a:lnSpc>
              <a:buNone/>
            </a:pPr>
            <a:r>
              <a:rPr lang="en-US" sz="1150" dirty="0">
                <a:solidFill>
                  <a:srgbClr val="415A6B"/>
                </a:solidFill>
                <a:latin typeface="Segoe UI" pitchFamily="34" charset="0"/>
                <a:ea typeface="Segoe UI" pitchFamily="34" charset="-122"/>
                <a:cs typeface="Segoe UI" pitchFamily="34" charset="-120"/>
              </a:rPr>
              <a:t>Broadcasting — tính giữa các shape khác nhau mà không sao chép thủ công.</a:t>
            </a:r>
            <a:endParaRPr lang="en-US" sz="1150" dirty="0"/>
          </a:p>
        </p:txBody>
      </p:sp>
      <p:sp>
        <p:nvSpPr>
          <p:cNvPr id="12" name="Text 10"/>
          <p:cNvSpPr/>
          <p:nvPr/>
        </p:nvSpPr>
        <p:spPr>
          <a:xfrm>
            <a:off x="841248" y="3419856"/>
            <a:ext cx="274320" cy="274320"/>
          </a:xfrm>
          <a:prstGeom prst="rect">
            <a:avLst/>
          </a:prstGeom>
          <a:noFill/>
          <a:ln/>
        </p:spPr>
        <p:txBody>
          <a:bodyPr wrap="square" lIns="0" tIns="0" rIns="0" bIns="0" rtlCol="0" anchor="t"/>
          <a:lstStyle/>
          <a:p>
            <a:pPr marL="0" indent="0">
              <a:buNone/>
            </a:pPr>
            <a:r>
              <a:rPr lang="en-US" sz="1300" b="1" dirty="0">
                <a:solidFill>
                  <a:srgbClr val="1B8EA8"/>
                </a:solidFill>
                <a:latin typeface="Segoe UI" pitchFamily="34" charset="0"/>
                <a:ea typeface="Segoe UI" pitchFamily="34" charset="-122"/>
                <a:cs typeface="Segoe UI" pitchFamily="34" charset="-120"/>
              </a:rPr>
              <a:t>✓</a:t>
            </a:r>
            <a:endParaRPr lang="en-US" sz="1300" dirty="0"/>
          </a:p>
        </p:txBody>
      </p:sp>
      <p:sp>
        <p:nvSpPr>
          <p:cNvPr id="13" name="Text 11"/>
          <p:cNvSpPr/>
          <p:nvPr/>
        </p:nvSpPr>
        <p:spPr>
          <a:xfrm>
            <a:off x="1170432" y="3401568"/>
            <a:ext cx="4526280" cy="475488"/>
          </a:xfrm>
          <a:prstGeom prst="rect">
            <a:avLst/>
          </a:prstGeom>
          <a:noFill/>
          <a:ln/>
        </p:spPr>
        <p:txBody>
          <a:bodyPr wrap="square" lIns="0" tIns="0" rIns="0" bIns="0" rtlCol="0" anchor="t"/>
          <a:lstStyle/>
          <a:p>
            <a:pPr marL="0" indent="0">
              <a:lnSpc>
                <a:spcPct val="105000"/>
              </a:lnSpc>
              <a:buNone/>
            </a:pPr>
            <a:r>
              <a:rPr lang="en-US" sz="1150" dirty="0">
                <a:solidFill>
                  <a:srgbClr val="415A6B"/>
                </a:solidFill>
                <a:latin typeface="Segoe UI" pitchFamily="34" charset="0"/>
                <a:ea typeface="Segoe UI" pitchFamily="34" charset="-122"/>
                <a:cs typeface="Segoe UI" pitchFamily="34" charset="-120"/>
              </a:rPr>
              <a:t>Kho hàm phong phú: toán học, thống kê, đại số tuyến tính, sắp xếp.</a:t>
            </a:r>
            <a:endParaRPr lang="en-US" sz="1150" dirty="0"/>
          </a:p>
        </p:txBody>
      </p:sp>
      <p:sp>
        <p:nvSpPr>
          <p:cNvPr id="14" name="Text 12"/>
          <p:cNvSpPr/>
          <p:nvPr/>
        </p:nvSpPr>
        <p:spPr>
          <a:xfrm>
            <a:off x="841248" y="4023360"/>
            <a:ext cx="274320" cy="274320"/>
          </a:xfrm>
          <a:prstGeom prst="rect">
            <a:avLst/>
          </a:prstGeom>
          <a:noFill/>
          <a:ln/>
        </p:spPr>
        <p:txBody>
          <a:bodyPr wrap="square" lIns="0" tIns="0" rIns="0" bIns="0" rtlCol="0" anchor="t"/>
          <a:lstStyle/>
          <a:p>
            <a:pPr marL="0" indent="0">
              <a:buNone/>
            </a:pPr>
            <a:r>
              <a:rPr lang="en-US" sz="1300" b="1" dirty="0">
                <a:solidFill>
                  <a:srgbClr val="1B8EA8"/>
                </a:solidFill>
                <a:latin typeface="Segoe UI" pitchFamily="34" charset="0"/>
                <a:ea typeface="Segoe UI" pitchFamily="34" charset="-122"/>
                <a:cs typeface="Segoe UI" pitchFamily="34" charset="-120"/>
              </a:rPr>
              <a:t>✓</a:t>
            </a:r>
            <a:endParaRPr lang="en-US" sz="1300" dirty="0"/>
          </a:p>
        </p:txBody>
      </p:sp>
      <p:sp>
        <p:nvSpPr>
          <p:cNvPr id="15" name="Text 13"/>
          <p:cNvSpPr/>
          <p:nvPr/>
        </p:nvSpPr>
        <p:spPr>
          <a:xfrm>
            <a:off x="1170432" y="4005072"/>
            <a:ext cx="4526280" cy="475488"/>
          </a:xfrm>
          <a:prstGeom prst="rect">
            <a:avLst/>
          </a:prstGeom>
          <a:noFill/>
          <a:ln/>
        </p:spPr>
        <p:txBody>
          <a:bodyPr wrap="square" lIns="0" tIns="0" rIns="0" bIns="0" rtlCol="0" anchor="t"/>
          <a:lstStyle/>
          <a:p>
            <a:pPr marL="0" indent="0">
              <a:lnSpc>
                <a:spcPct val="105000"/>
              </a:lnSpc>
              <a:buNone/>
            </a:pPr>
            <a:r>
              <a:rPr lang="en-US" sz="1150" dirty="0">
                <a:solidFill>
                  <a:srgbClr val="415A6B"/>
                </a:solidFill>
                <a:latin typeface="Segoe UI" pitchFamily="34" charset="0"/>
                <a:ea typeface="Segoe UI" pitchFamily="34" charset="-122"/>
                <a:cs typeface="Segoe UI" pitchFamily="34" charset="-120"/>
              </a:rPr>
              <a:t>Nền tảng hệ sinh thái khoa học; cú pháp gần với công thức toán.</a:t>
            </a:r>
            <a:endParaRPr lang="en-US" sz="1150" dirty="0"/>
          </a:p>
        </p:txBody>
      </p:sp>
      <p:sp>
        <p:nvSpPr>
          <p:cNvPr id="16" name="Shape 14"/>
          <p:cNvSpPr/>
          <p:nvPr/>
        </p:nvSpPr>
        <p:spPr>
          <a:xfrm>
            <a:off x="6199632" y="1463040"/>
            <a:ext cx="5440680" cy="3886200"/>
          </a:xfrm>
          <a:prstGeom prst="roundRect">
            <a:avLst>
              <a:gd name="adj" fmla="val 1412"/>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17" name="Shape 15"/>
          <p:cNvSpPr/>
          <p:nvPr/>
        </p:nvSpPr>
        <p:spPr>
          <a:xfrm>
            <a:off x="6199632" y="1463040"/>
            <a:ext cx="5440680" cy="73152"/>
          </a:xfrm>
          <a:prstGeom prst="rect">
            <a:avLst/>
          </a:prstGeom>
          <a:solidFill>
            <a:srgbClr val="D96C5F"/>
          </a:solidFill>
          <a:ln w="12700">
            <a:solidFill>
              <a:srgbClr val="D96C5F"/>
            </a:solidFill>
            <a:prstDash val="solid"/>
          </a:ln>
        </p:spPr>
      </p:sp>
      <p:sp>
        <p:nvSpPr>
          <p:cNvPr id="18" name="Text 16"/>
          <p:cNvSpPr/>
          <p:nvPr/>
        </p:nvSpPr>
        <p:spPr>
          <a:xfrm>
            <a:off x="6473952" y="1691640"/>
            <a:ext cx="4114800" cy="365760"/>
          </a:xfrm>
          <a:prstGeom prst="rect">
            <a:avLst/>
          </a:prstGeom>
          <a:noFill/>
          <a:ln/>
        </p:spPr>
        <p:txBody>
          <a:bodyPr wrap="square" lIns="0" tIns="0" rIns="0" bIns="0" rtlCol="0" anchor="t"/>
          <a:lstStyle/>
          <a:p>
            <a:pPr marL="0" indent="0">
              <a:buNone/>
            </a:pPr>
            <a:r>
              <a:rPr lang="en-US" sz="1700" b="1" dirty="0">
                <a:solidFill>
                  <a:srgbClr val="062A3A"/>
                </a:solidFill>
                <a:latin typeface="Segoe UI" pitchFamily="34" charset="0"/>
                <a:ea typeface="Segoe UI" pitchFamily="34" charset="-122"/>
                <a:cs typeface="Segoe UI" pitchFamily="34" charset="-120"/>
              </a:rPr>
              <a:t>Giới hạn</a:t>
            </a:r>
            <a:endParaRPr lang="en-US" sz="1700" dirty="0"/>
          </a:p>
        </p:txBody>
      </p:sp>
      <p:sp>
        <p:nvSpPr>
          <p:cNvPr id="19" name="Text 17"/>
          <p:cNvSpPr/>
          <p:nvPr/>
        </p:nvSpPr>
        <p:spPr>
          <a:xfrm>
            <a:off x="6492240" y="2212848"/>
            <a:ext cx="274320" cy="274320"/>
          </a:xfrm>
          <a:prstGeom prst="rect">
            <a:avLst/>
          </a:prstGeom>
          <a:noFill/>
          <a:ln/>
        </p:spPr>
        <p:txBody>
          <a:bodyPr wrap="square" lIns="0" tIns="0" rIns="0" bIns="0" rtlCol="0" anchor="t"/>
          <a:lstStyle/>
          <a:p>
            <a:pPr marL="0" indent="0">
              <a:buNone/>
            </a:pPr>
            <a:r>
              <a:rPr lang="en-US" sz="1300" b="1" dirty="0">
                <a:solidFill>
                  <a:srgbClr val="D96C5F"/>
                </a:solidFill>
                <a:latin typeface="Segoe UI" pitchFamily="34" charset="0"/>
                <a:ea typeface="Segoe UI" pitchFamily="34" charset="-122"/>
                <a:cs typeface="Segoe UI" pitchFamily="34" charset="-120"/>
              </a:rPr>
              <a:t>!</a:t>
            </a:r>
            <a:endParaRPr lang="en-US" sz="1300" dirty="0"/>
          </a:p>
        </p:txBody>
      </p:sp>
      <p:sp>
        <p:nvSpPr>
          <p:cNvPr id="20" name="Text 18"/>
          <p:cNvSpPr/>
          <p:nvPr/>
        </p:nvSpPr>
        <p:spPr>
          <a:xfrm>
            <a:off x="6821424" y="2194560"/>
            <a:ext cx="4526280" cy="475488"/>
          </a:xfrm>
          <a:prstGeom prst="rect">
            <a:avLst/>
          </a:prstGeom>
          <a:noFill/>
          <a:ln/>
        </p:spPr>
        <p:txBody>
          <a:bodyPr wrap="square" lIns="0" tIns="0" rIns="0" bIns="0" rtlCol="0" anchor="t"/>
          <a:lstStyle/>
          <a:p>
            <a:pPr marL="0" indent="0">
              <a:lnSpc>
                <a:spcPct val="105000"/>
              </a:lnSpc>
              <a:buNone/>
            </a:pPr>
            <a:r>
              <a:rPr lang="en-US" sz="1150" dirty="0">
                <a:solidFill>
                  <a:srgbClr val="415A6B"/>
                </a:solidFill>
                <a:latin typeface="Segoe UI" pitchFamily="34" charset="0"/>
                <a:ea typeface="Segoe UI" pitchFamily="34" charset="-122"/>
                <a:cs typeface="Segoe UI" pitchFamily="34" charset="-120"/>
              </a:rPr>
              <a:t>Dữ liệu phải đồng nhất kiểu — bảng có cột chữ, số, ngày không phù hợp trực tiếp.</a:t>
            </a:r>
            <a:endParaRPr lang="en-US" sz="1150" dirty="0"/>
          </a:p>
        </p:txBody>
      </p:sp>
      <p:sp>
        <p:nvSpPr>
          <p:cNvPr id="21" name="Text 19"/>
          <p:cNvSpPr/>
          <p:nvPr/>
        </p:nvSpPr>
        <p:spPr>
          <a:xfrm>
            <a:off x="6492240" y="2816352"/>
            <a:ext cx="274320" cy="274320"/>
          </a:xfrm>
          <a:prstGeom prst="rect">
            <a:avLst/>
          </a:prstGeom>
          <a:noFill/>
          <a:ln/>
        </p:spPr>
        <p:txBody>
          <a:bodyPr wrap="square" lIns="0" tIns="0" rIns="0" bIns="0" rtlCol="0" anchor="t"/>
          <a:lstStyle/>
          <a:p>
            <a:pPr marL="0" indent="0">
              <a:buNone/>
            </a:pPr>
            <a:r>
              <a:rPr lang="en-US" sz="1300" b="1" dirty="0">
                <a:solidFill>
                  <a:srgbClr val="D96C5F"/>
                </a:solidFill>
                <a:latin typeface="Segoe UI" pitchFamily="34" charset="0"/>
                <a:ea typeface="Segoe UI" pitchFamily="34" charset="-122"/>
                <a:cs typeface="Segoe UI" pitchFamily="34" charset="-120"/>
              </a:rPr>
              <a:t>!</a:t>
            </a:r>
            <a:endParaRPr lang="en-US" sz="1300" dirty="0"/>
          </a:p>
        </p:txBody>
      </p:sp>
      <p:sp>
        <p:nvSpPr>
          <p:cNvPr id="22" name="Text 20"/>
          <p:cNvSpPr/>
          <p:nvPr/>
        </p:nvSpPr>
        <p:spPr>
          <a:xfrm>
            <a:off x="6821424" y="2798064"/>
            <a:ext cx="4526280" cy="475488"/>
          </a:xfrm>
          <a:prstGeom prst="rect">
            <a:avLst/>
          </a:prstGeom>
          <a:noFill/>
          <a:ln/>
        </p:spPr>
        <p:txBody>
          <a:bodyPr wrap="square" lIns="0" tIns="0" rIns="0" bIns="0" rtlCol="0" anchor="t"/>
          <a:lstStyle/>
          <a:p>
            <a:pPr marL="0" indent="0">
              <a:lnSpc>
                <a:spcPct val="105000"/>
              </a:lnSpc>
              <a:buNone/>
            </a:pPr>
            <a:r>
              <a:rPr lang="en-US" sz="1150" dirty="0">
                <a:solidFill>
                  <a:srgbClr val="415A6B"/>
                </a:solidFill>
                <a:latin typeface="Segoe UI" pitchFamily="34" charset="0"/>
                <a:ea typeface="Segoe UI" pitchFamily="34" charset="-122"/>
                <a:cs typeface="Segoe UI" pitchFamily="34" charset="-120"/>
              </a:rPr>
              <a:t>Kích thước cố định — thêm hoặc bớt phần tử phải tạo mảng mới.</a:t>
            </a:r>
            <a:endParaRPr lang="en-US" sz="1150" dirty="0"/>
          </a:p>
        </p:txBody>
      </p:sp>
      <p:sp>
        <p:nvSpPr>
          <p:cNvPr id="23" name="Text 21"/>
          <p:cNvSpPr/>
          <p:nvPr/>
        </p:nvSpPr>
        <p:spPr>
          <a:xfrm>
            <a:off x="6492240" y="3419856"/>
            <a:ext cx="274320" cy="274320"/>
          </a:xfrm>
          <a:prstGeom prst="rect">
            <a:avLst/>
          </a:prstGeom>
          <a:noFill/>
          <a:ln/>
        </p:spPr>
        <p:txBody>
          <a:bodyPr wrap="square" lIns="0" tIns="0" rIns="0" bIns="0" rtlCol="0" anchor="t"/>
          <a:lstStyle/>
          <a:p>
            <a:pPr marL="0" indent="0">
              <a:buNone/>
            </a:pPr>
            <a:r>
              <a:rPr lang="en-US" sz="1300" b="1" dirty="0">
                <a:solidFill>
                  <a:srgbClr val="D96C5F"/>
                </a:solidFill>
                <a:latin typeface="Segoe UI" pitchFamily="34" charset="0"/>
                <a:ea typeface="Segoe UI" pitchFamily="34" charset="-122"/>
                <a:cs typeface="Segoe UI" pitchFamily="34" charset="-120"/>
              </a:rPr>
              <a:t>!</a:t>
            </a:r>
            <a:endParaRPr lang="en-US" sz="1300" dirty="0"/>
          </a:p>
        </p:txBody>
      </p:sp>
      <p:sp>
        <p:nvSpPr>
          <p:cNvPr id="24" name="Text 22"/>
          <p:cNvSpPr/>
          <p:nvPr/>
        </p:nvSpPr>
        <p:spPr>
          <a:xfrm>
            <a:off x="6821424" y="3401568"/>
            <a:ext cx="4526280" cy="475488"/>
          </a:xfrm>
          <a:prstGeom prst="rect">
            <a:avLst/>
          </a:prstGeom>
          <a:noFill/>
          <a:ln/>
        </p:spPr>
        <p:txBody>
          <a:bodyPr wrap="square" lIns="0" tIns="0" rIns="0" bIns="0" rtlCol="0" anchor="t"/>
          <a:lstStyle/>
          <a:p>
            <a:pPr marL="0" indent="0">
              <a:lnSpc>
                <a:spcPct val="105000"/>
              </a:lnSpc>
              <a:buNone/>
            </a:pPr>
            <a:r>
              <a:rPr lang="en-US" sz="1150" dirty="0">
                <a:solidFill>
                  <a:srgbClr val="415A6B"/>
                </a:solidFill>
                <a:latin typeface="Segoe UI" pitchFamily="34" charset="0"/>
                <a:ea typeface="Segoe UI" pitchFamily="34" charset="-122"/>
                <a:cs typeface="Segoe UI" pitchFamily="34" charset="-120"/>
              </a:rPr>
              <a:t>Không có nhãn cột, nhãn hàng như DataFrame.</a:t>
            </a:r>
            <a:endParaRPr lang="en-US" sz="1150" dirty="0"/>
          </a:p>
        </p:txBody>
      </p:sp>
      <p:sp>
        <p:nvSpPr>
          <p:cNvPr id="25" name="Text 23"/>
          <p:cNvSpPr/>
          <p:nvPr/>
        </p:nvSpPr>
        <p:spPr>
          <a:xfrm>
            <a:off x="6492240" y="4023360"/>
            <a:ext cx="274320" cy="274320"/>
          </a:xfrm>
          <a:prstGeom prst="rect">
            <a:avLst/>
          </a:prstGeom>
          <a:noFill/>
          <a:ln/>
        </p:spPr>
        <p:txBody>
          <a:bodyPr wrap="square" lIns="0" tIns="0" rIns="0" bIns="0" rtlCol="0" anchor="t"/>
          <a:lstStyle/>
          <a:p>
            <a:pPr marL="0" indent="0">
              <a:buNone/>
            </a:pPr>
            <a:r>
              <a:rPr lang="en-US" sz="1300" b="1" dirty="0">
                <a:solidFill>
                  <a:srgbClr val="D96C5F"/>
                </a:solidFill>
                <a:latin typeface="Segoe UI" pitchFamily="34" charset="0"/>
                <a:ea typeface="Segoe UI" pitchFamily="34" charset="-122"/>
                <a:cs typeface="Segoe UI" pitchFamily="34" charset="-120"/>
              </a:rPr>
              <a:t>!</a:t>
            </a:r>
            <a:endParaRPr lang="en-US" sz="1300" dirty="0"/>
          </a:p>
        </p:txBody>
      </p:sp>
      <p:sp>
        <p:nvSpPr>
          <p:cNvPr id="26" name="Text 24"/>
          <p:cNvSpPr/>
          <p:nvPr/>
        </p:nvSpPr>
        <p:spPr>
          <a:xfrm>
            <a:off x="6821424" y="4005072"/>
            <a:ext cx="4526280" cy="475488"/>
          </a:xfrm>
          <a:prstGeom prst="rect">
            <a:avLst/>
          </a:prstGeom>
          <a:noFill/>
          <a:ln/>
        </p:spPr>
        <p:txBody>
          <a:bodyPr wrap="square" lIns="0" tIns="0" rIns="0" bIns="0" rtlCol="0" anchor="t"/>
          <a:lstStyle/>
          <a:p>
            <a:pPr marL="0" indent="0">
              <a:lnSpc>
                <a:spcPct val="105000"/>
              </a:lnSpc>
              <a:buNone/>
            </a:pPr>
            <a:r>
              <a:rPr lang="en-US" sz="1150" dirty="0">
                <a:solidFill>
                  <a:srgbClr val="415A6B"/>
                </a:solidFill>
                <a:latin typeface="Segoe UI" pitchFamily="34" charset="0"/>
                <a:ea typeface="Segoe UI" pitchFamily="34" charset="-122"/>
                <a:cs typeface="Segoe UI" pitchFamily="34" charset="-120"/>
              </a:rPr>
              <a:t>Với mảng rất nhỏ, chi phí gọi hàm có thể lớn hơn lợi ích.</a:t>
            </a:r>
            <a:endParaRPr lang="en-US" sz="1150" dirty="0"/>
          </a:p>
        </p:txBody>
      </p:sp>
      <p:sp>
        <p:nvSpPr>
          <p:cNvPr id="27" name="Text 25"/>
          <p:cNvSpPr/>
          <p:nvPr/>
        </p:nvSpPr>
        <p:spPr>
          <a:xfrm>
            <a:off x="548640" y="5532120"/>
            <a:ext cx="11064240" cy="274320"/>
          </a:xfrm>
          <a:prstGeom prst="rect">
            <a:avLst/>
          </a:prstGeom>
          <a:noFill/>
          <a:ln/>
        </p:spPr>
        <p:txBody>
          <a:bodyPr wrap="square" lIns="0" tIns="0" rIns="0" bIns="0" rtlCol="0" anchor="t"/>
          <a:lstStyle/>
          <a:p>
            <a:pPr marL="0" indent="0">
              <a:buNone/>
            </a:pPr>
            <a:r>
              <a:rPr lang="en-US" sz="1000" i="1" dirty="0">
                <a:solidFill>
                  <a:srgbClr val="728694"/>
                </a:solidFill>
                <a:latin typeface="Segoe UI" pitchFamily="34" charset="0"/>
                <a:ea typeface="Segoe UI" pitchFamily="34" charset="-122"/>
                <a:cs typeface="Segoe UI" pitchFamily="34" charset="-120"/>
              </a:rPr>
              <a:t>Đây là nhận định tổng quát dựa trên đặc điểm thư viện, không phải kết quả đo hiệu năng.</a:t>
            </a:r>
            <a:endParaRPr lang="en-US" sz="1000" dirty="0"/>
          </a:p>
        </p:txBody>
      </p:sp>
      <p:sp>
        <p:nvSpPr>
          <p:cNvPr id="28" name="Shape 26"/>
          <p:cNvSpPr/>
          <p:nvPr/>
        </p:nvSpPr>
        <p:spPr>
          <a:xfrm>
            <a:off x="548640" y="6391656"/>
            <a:ext cx="11091672" cy="9144"/>
          </a:xfrm>
          <a:prstGeom prst="rect">
            <a:avLst/>
          </a:prstGeom>
          <a:solidFill>
            <a:srgbClr val="D7E5EC"/>
          </a:solidFill>
          <a:ln w="12700">
            <a:solidFill>
              <a:srgbClr val="D7E5EC"/>
            </a:solidFill>
            <a:prstDash val="solid"/>
          </a:ln>
        </p:spPr>
      </p:sp>
      <p:sp>
        <p:nvSpPr>
          <p:cNvPr id="29" name="Text 27"/>
          <p:cNvSpPr/>
          <p:nvPr/>
        </p:nvSpPr>
        <p:spPr>
          <a:xfrm>
            <a:off x="548640" y="6473952"/>
            <a:ext cx="7772400" cy="182880"/>
          </a:xfrm>
          <a:prstGeom prst="rect">
            <a:avLst/>
          </a:prstGeom>
          <a:noFill/>
          <a:ln/>
        </p:spPr>
        <p:txBody>
          <a:bodyPr wrap="square" lIns="0" tIns="0" rIns="0" bIns="0" rtlCol="0" anchor="t"/>
          <a:lstStyle/>
          <a:p>
            <a:pPr marL="0" indent="0">
              <a:buNone/>
            </a:pPr>
            <a:r>
              <a:rPr lang="en-US" sz="850" dirty="0">
                <a:solidFill>
                  <a:srgbClr val="728694"/>
                </a:solidFill>
                <a:latin typeface="Segoe UI" pitchFamily="34" charset="0"/>
                <a:ea typeface="Segoe UI" pitchFamily="34" charset="-122"/>
                <a:cs typeface="Segoe UI" pitchFamily="34" charset="-120"/>
              </a:rPr>
              <a:t>Tìm hiểu thư viện NumPy trong Python</a:t>
            </a:r>
            <a:endParaRPr lang="en-US" sz="850" dirty="0"/>
          </a:p>
        </p:txBody>
      </p:sp>
      <p:sp>
        <p:nvSpPr>
          <p:cNvPr id="30" name="Text 28"/>
          <p:cNvSpPr/>
          <p:nvPr/>
        </p:nvSpPr>
        <p:spPr>
          <a:xfrm>
            <a:off x="10698480" y="6473952"/>
            <a:ext cx="941832" cy="182880"/>
          </a:xfrm>
          <a:prstGeom prst="rect">
            <a:avLst/>
          </a:prstGeom>
          <a:noFill/>
          <a:ln/>
        </p:spPr>
        <p:txBody>
          <a:bodyPr wrap="square" lIns="0" tIns="0" rIns="0" bIns="0" rtlCol="0" anchor="t"/>
          <a:lstStyle/>
          <a:p>
            <a:pPr marL="0" indent="0" algn="r">
              <a:buNone/>
            </a:pPr>
            <a:r>
              <a:rPr lang="en-US" sz="850" dirty="0">
                <a:solidFill>
                  <a:srgbClr val="728694"/>
                </a:solidFill>
                <a:latin typeface="Segoe UI" pitchFamily="34" charset="0"/>
                <a:ea typeface="Segoe UI" pitchFamily="34" charset="-122"/>
                <a:cs typeface="Segoe UI" pitchFamily="34" charset="-120"/>
              </a:rPr>
              <a:t>06 / 25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301752"/>
            <a:ext cx="10881360" cy="201168"/>
          </a:xfrm>
          <a:prstGeom prst="rect">
            <a:avLst/>
          </a:prstGeom>
          <a:noFill/>
          <a:ln/>
        </p:spPr>
        <p:txBody>
          <a:bodyPr wrap="square" lIns="0" tIns="0" rIns="0" bIns="0" rtlCol="0" anchor="t"/>
          <a:lstStyle/>
          <a:p>
            <a:pPr marL="0" indent="0">
              <a:buNone/>
            </a:pPr>
            <a:r>
              <a:rPr lang="en-US" sz="950" b="1" kern="0" spc="160" dirty="0">
                <a:solidFill>
                  <a:srgbClr val="1B8EA8"/>
                </a:solidFill>
                <a:latin typeface="Segoe UI" pitchFamily="34" charset="0"/>
                <a:ea typeface="Segoe UI" pitchFamily="34" charset="-122"/>
                <a:cs typeface="Segoe UI" pitchFamily="34" charset="-120"/>
              </a:rPr>
              <a:t>01 · GIỚI THIỆU</a:t>
            </a:r>
            <a:endParaRPr lang="en-US" sz="950" dirty="0"/>
          </a:p>
        </p:txBody>
      </p:sp>
      <p:sp>
        <p:nvSpPr>
          <p:cNvPr id="3" name="Text 1"/>
          <p:cNvSpPr/>
          <p:nvPr/>
        </p:nvSpPr>
        <p:spPr>
          <a:xfrm>
            <a:off x="548640" y="502920"/>
            <a:ext cx="10881360" cy="640080"/>
          </a:xfrm>
          <a:prstGeom prst="rect">
            <a:avLst/>
          </a:prstGeom>
          <a:noFill/>
          <a:ln/>
        </p:spPr>
        <p:txBody>
          <a:bodyPr wrap="square" lIns="0" tIns="0" rIns="0" bIns="0" rtlCol="0" anchor="ctr"/>
          <a:lstStyle/>
          <a:p>
            <a:pPr marL="0" indent="0">
              <a:buNone/>
            </a:pPr>
            <a:r>
              <a:rPr lang="en-US" sz="2800" b="1" dirty="0">
                <a:solidFill>
                  <a:srgbClr val="062A3A"/>
                </a:solidFill>
                <a:latin typeface="Segoe UI" pitchFamily="34" charset="0"/>
                <a:ea typeface="Segoe UI" pitchFamily="34" charset="-122"/>
                <a:cs typeface="Segoe UI" pitchFamily="34" charset="-120"/>
              </a:rPr>
              <a:t>Ứng dụng thực tế</a:t>
            </a:r>
            <a:endParaRPr lang="en-US" sz="2800" dirty="0"/>
          </a:p>
        </p:txBody>
      </p:sp>
      <p:sp>
        <p:nvSpPr>
          <p:cNvPr id="4" name="Shape 2"/>
          <p:cNvSpPr/>
          <p:nvPr/>
        </p:nvSpPr>
        <p:spPr>
          <a:xfrm>
            <a:off x="548640" y="1225296"/>
            <a:ext cx="868680" cy="41148"/>
          </a:xfrm>
          <a:prstGeom prst="rect">
            <a:avLst/>
          </a:prstGeom>
          <a:solidFill>
            <a:srgbClr val="1B8EA8"/>
          </a:solidFill>
          <a:ln w="12700">
            <a:solidFill>
              <a:srgbClr val="1B8EA8"/>
            </a:solidFill>
            <a:prstDash val="solid"/>
          </a:ln>
        </p:spPr>
      </p:sp>
      <p:sp>
        <p:nvSpPr>
          <p:cNvPr id="5" name="Shape 3"/>
          <p:cNvSpPr/>
          <p:nvPr/>
        </p:nvSpPr>
        <p:spPr>
          <a:xfrm>
            <a:off x="548640" y="1554480"/>
            <a:ext cx="3547872" cy="1783080"/>
          </a:xfrm>
          <a:prstGeom prst="roundRect">
            <a:avLst>
              <a:gd name="adj" fmla="val 3077"/>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txBody>
          <a:bodyPr/>
          <a:lstStyle/>
          <a:p>
            <a:endParaRPr lang="vi-VN" dirty="0"/>
          </a:p>
        </p:txBody>
      </p:sp>
      <p:sp>
        <p:nvSpPr>
          <p:cNvPr id="6" name="Shape 4"/>
          <p:cNvSpPr/>
          <p:nvPr/>
        </p:nvSpPr>
        <p:spPr>
          <a:xfrm>
            <a:off x="786384" y="1783080"/>
            <a:ext cx="420624" cy="420624"/>
          </a:xfrm>
          <a:prstGeom prst="roundRect">
            <a:avLst>
              <a:gd name="adj" fmla="val 26087"/>
            </a:avLst>
          </a:prstGeom>
          <a:solidFill>
            <a:srgbClr val="D6EEF5"/>
          </a:solidFill>
          <a:ln w="9525">
            <a:solidFill>
              <a:srgbClr val="BFDFE9"/>
            </a:solidFill>
            <a:prstDash val="solid"/>
          </a:ln>
        </p:spPr>
      </p:sp>
      <p:sp>
        <p:nvSpPr>
          <p:cNvPr id="7" name="Text 5"/>
          <p:cNvSpPr/>
          <p:nvPr/>
        </p:nvSpPr>
        <p:spPr>
          <a:xfrm>
            <a:off x="786384" y="1783080"/>
            <a:ext cx="420624" cy="420624"/>
          </a:xfrm>
          <a:prstGeom prst="rect">
            <a:avLst/>
          </a:prstGeom>
          <a:noFill/>
          <a:ln/>
        </p:spPr>
        <p:txBody>
          <a:bodyPr wrap="square" lIns="0" tIns="0" rIns="0" bIns="0" rtlCol="0" anchor="ctr"/>
          <a:lstStyle/>
          <a:p>
            <a:pPr marL="0" indent="0" algn="ctr">
              <a:buNone/>
            </a:pPr>
            <a:r>
              <a:rPr lang="en-US" sz="1300" b="1" dirty="0">
                <a:solidFill>
                  <a:srgbClr val="1B8EA8"/>
                </a:solidFill>
                <a:latin typeface="Consolas" pitchFamily="34" charset="0"/>
                <a:ea typeface="Consolas" pitchFamily="34" charset="-122"/>
                <a:cs typeface="Consolas" pitchFamily="34" charset="-120"/>
              </a:rPr>
              <a:t>1</a:t>
            </a:r>
            <a:endParaRPr lang="en-US" sz="1300" dirty="0"/>
          </a:p>
        </p:txBody>
      </p:sp>
      <p:sp>
        <p:nvSpPr>
          <p:cNvPr id="8" name="Text 6"/>
          <p:cNvSpPr/>
          <p:nvPr/>
        </p:nvSpPr>
        <p:spPr>
          <a:xfrm>
            <a:off x="1335024" y="1810512"/>
            <a:ext cx="2560320" cy="384048"/>
          </a:xfrm>
          <a:prstGeom prst="rect">
            <a:avLst/>
          </a:prstGeom>
          <a:noFill/>
          <a:ln/>
        </p:spPr>
        <p:txBody>
          <a:bodyPr wrap="square" lIns="0" tIns="0" rIns="0" bIns="0" rtlCol="0" anchor="t"/>
          <a:lstStyle/>
          <a:p>
            <a:pPr marL="0" indent="0">
              <a:buNone/>
            </a:pPr>
            <a:r>
              <a:rPr lang="en-US" sz="1400" b="1" dirty="0">
                <a:solidFill>
                  <a:srgbClr val="062A3A"/>
                </a:solidFill>
                <a:latin typeface="Segoe UI" pitchFamily="34" charset="0"/>
                <a:ea typeface="Segoe UI" pitchFamily="34" charset="-122"/>
                <a:cs typeface="Segoe UI" pitchFamily="34" charset="-120"/>
              </a:rPr>
              <a:t>Khoa học &amp; kỹ thuật</a:t>
            </a:r>
            <a:endParaRPr lang="en-US" sz="1400" dirty="0"/>
          </a:p>
        </p:txBody>
      </p:sp>
      <p:sp>
        <p:nvSpPr>
          <p:cNvPr id="9" name="Text 7"/>
          <p:cNvSpPr/>
          <p:nvPr/>
        </p:nvSpPr>
        <p:spPr>
          <a:xfrm>
            <a:off x="786384" y="2395728"/>
            <a:ext cx="3108960" cy="731520"/>
          </a:xfrm>
          <a:prstGeom prst="rect">
            <a:avLst/>
          </a:prstGeom>
          <a:noFill/>
          <a:ln/>
        </p:spPr>
        <p:txBody>
          <a:bodyPr wrap="square" lIns="0" tIns="0" rIns="0" bIns="0" rtlCol="0" anchor="t"/>
          <a:lstStyle/>
          <a:p>
            <a:pPr marL="0" indent="0">
              <a:lnSpc>
                <a:spcPct val="112000"/>
              </a:lnSpc>
              <a:buNone/>
            </a:pPr>
            <a:r>
              <a:rPr lang="en-US" sz="1100" dirty="0">
                <a:solidFill>
                  <a:srgbClr val="415A6B"/>
                </a:solidFill>
                <a:latin typeface="Segoe UI" pitchFamily="34" charset="0"/>
                <a:ea typeface="Segoe UI" pitchFamily="34" charset="-122"/>
                <a:cs typeface="Segoe UI" pitchFamily="34" charset="-120"/>
              </a:rPr>
              <a:t>Tính toán số, mô phỏng, xử lý tín hiệu.</a:t>
            </a:r>
            <a:endParaRPr lang="en-US" sz="1100" dirty="0"/>
          </a:p>
        </p:txBody>
      </p:sp>
      <p:sp>
        <p:nvSpPr>
          <p:cNvPr id="10" name="Shape 8"/>
          <p:cNvSpPr/>
          <p:nvPr/>
        </p:nvSpPr>
        <p:spPr>
          <a:xfrm>
            <a:off x="4315968" y="1554480"/>
            <a:ext cx="3547872" cy="1783080"/>
          </a:xfrm>
          <a:prstGeom prst="roundRect">
            <a:avLst>
              <a:gd name="adj" fmla="val 3077"/>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11" name="Shape 9"/>
          <p:cNvSpPr/>
          <p:nvPr/>
        </p:nvSpPr>
        <p:spPr>
          <a:xfrm>
            <a:off x="4553712" y="1783080"/>
            <a:ext cx="420624" cy="420624"/>
          </a:xfrm>
          <a:prstGeom prst="roundRect">
            <a:avLst>
              <a:gd name="adj" fmla="val 26087"/>
            </a:avLst>
          </a:prstGeom>
          <a:solidFill>
            <a:srgbClr val="EAF4F8"/>
          </a:solidFill>
          <a:ln w="9525">
            <a:solidFill>
              <a:srgbClr val="BFDFE9"/>
            </a:solidFill>
            <a:prstDash val="solid"/>
          </a:ln>
        </p:spPr>
      </p:sp>
      <p:sp>
        <p:nvSpPr>
          <p:cNvPr id="12" name="Text 10"/>
          <p:cNvSpPr/>
          <p:nvPr/>
        </p:nvSpPr>
        <p:spPr>
          <a:xfrm>
            <a:off x="4553712" y="1783080"/>
            <a:ext cx="420624" cy="420624"/>
          </a:xfrm>
          <a:prstGeom prst="rect">
            <a:avLst/>
          </a:prstGeom>
          <a:noFill/>
          <a:ln/>
        </p:spPr>
        <p:txBody>
          <a:bodyPr wrap="square" lIns="0" tIns="0" rIns="0" bIns="0" rtlCol="0" anchor="ctr"/>
          <a:lstStyle/>
          <a:p>
            <a:pPr marL="0" indent="0" algn="ctr">
              <a:buNone/>
            </a:pPr>
            <a:r>
              <a:rPr lang="en-US" sz="1300" b="1" dirty="0">
                <a:solidFill>
                  <a:srgbClr val="1B8EA8"/>
                </a:solidFill>
                <a:latin typeface="Consolas" pitchFamily="34" charset="0"/>
                <a:ea typeface="Consolas" pitchFamily="34" charset="-122"/>
                <a:cs typeface="Consolas" pitchFamily="34" charset="-120"/>
              </a:rPr>
              <a:t>2</a:t>
            </a:r>
            <a:endParaRPr lang="en-US" sz="1300" dirty="0"/>
          </a:p>
        </p:txBody>
      </p:sp>
      <p:sp>
        <p:nvSpPr>
          <p:cNvPr id="13" name="Text 11"/>
          <p:cNvSpPr/>
          <p:nvPr/>
        </p:nvSpPr>
        <p:spPr>
          <a:xfrm>
            <a:off x="5102352" y="1810512"/>
            <a:ext cx="2560320" cy="384048"/>
          </a:xfrm>
          <a:prstGeom prst="rect">
            <a:avLst/>
          </a:prstGeom>
          <a:noFill/>
          <a:ln/>
        </p:spPr>
        <p:txBody>
          <a:bodyPr wrap="square" lIns="0" tIns="0" rIns="0" bIns="0" rtlCol="0" anchor="t"/>
          <a:lstStyle/>
          <a:p>
            <a:pPr marL="0" indent="0">
              <a:buNone/>
            </a:pPr>
            <a:r>
              <a:rPr lang="en-US" sz="1400" b="1" dirty="0">
                <a:solidFill>
                  <a:srgbClr val="062A3A"/>
                </a:solidFill>
                <a:latin typeface="Segoe UI" pitchFamily="34" charset="0"/>
                <a:ea typeface="Segoe UI" pitchFamily="34" charset="-122"/>
                <a:cs typeface="Segoe UI" pitchFamily="34" charset="-120"/>
              </a:rPr>
              <a:t>Xử lý ảnh</a:t>
            </a:r>
            <a:endParaRPr lang="en-US" sz="1400" dirty="0"/>
          </a:p>
        </p:txBody>
      </p:sp>
      <p:sp>
        <p:nvSpPr>
          <p:cNvPr id="14" name="Text 12"/>
          <p:cNvSpPr/>
          <p:nvPr/>
        </p:nvSpPr>
        <p:spPr>
          <a:xfrm>
            <a:off x="4553712" y="2395728"/>
            <a:ext cx="3108960" cy="731520"/>
          </a:xfrm>
          <a:prstGeom prst="rect">
            <a:avLst/>
          </a:prstGeom>
          <a:noFill/>
          <a:ln/>
        </p:spPr>
        <p:txBody>
          <a:bodyPr wrap="square" lIns="0" tIns="0" rIns="0" bIns="0" rtlCol="0" anchor="t"/>
          <a:lstStyle/>
          <a:p>
            <a:pPr marL="0" indent="0">
              <a:lnSpc>
                <a:spcPct val="112000"/>
              </a:lnSpc>
              <a:buNone/>
            </a:pPr>
            <a:r>
              <a:rPr lang="en-US" sz="1100" dirty="0">
                <a:solidFill>
                  <a:srgbClr val="415A6B"/>
                </a:solidFill>
                <a:latin typeface="Segoe UI" pitchFamily="34" charset="0"/>
                <a:ea typeface="Segoe UI" pitchFamily="34" charset="-122"/>
                <a:cs typeface="Segoe UI" pitchFamily="34" charset="-120"/>
              </a:rPr>
              <a:t>Ảnh là ma trận điểm ảnh; phép toán áp lên toàn ảnh.</a:t>
            </a:r>
            <a:endParaRPr lang="en-US" sz="1100" dirty="0"/>
          </a:p>
        </p:txBody>
      </p:sp>
      <p:sp>
        <p:nvSpPr>
          <p:cNvPr id="15" name="Shape 13"/>
          <p:cNvSpPr/>
          <p:nvPr/>
        </p:nvSpPr>
        <p:spPr>
          <a:xfrm>
            <a:off x="8083296" y="1554480"/>
            <a:ext cx="3547872" cy="1783080"/>
          </a:xfrm>
          <a:prstGeom prst="roundRect">
            <a:avLst>
              <a:gd name="adj" fmla="val 3077"/>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16" name="Shape 14"/>
          <p:cNvSpPr/>
          <p:nvPr/>
        </p:nvSpPr>
        <p:spPr>
          <a:xfrm>
            <a:off x="8321040" y="1783080"/>
            <a:ext cx="420624" cy="420624"/>
          </a:xfrm>
          <a:prstGeom prst="roundRect">
            <a:avLst>
              <a:gd name="adj" fmla="val 26087"/>
            </a:avLst>
          </a:prstGeom>
          <a:solidFill>
            <a:srgbClr val="D6EEF5"/>
          </a:solidFill>
          <a:ln w="9525">
            <a:solidFill>
              <a:srgbClr val="BFDFE9"/>
            </a:solidFill>
            <a:prstDash val="solid"/>
          </a:ln>
        </p:spPr>
      </p:sp>
      <p:sp>
        <p:nvSpPr>
          <p:cNvPr id="17" name="Text 15"/>
          <p:cNvSpPr/>
          <p:nvPr/>
        </p:nvSpPr>
        <p:spPr>
          <a:xfrm>
            <a:off x="8321040" y="1783080"/>
            <a:ext cx="420624" cy="420624"/>
          </a:xfrm>
          <a:prstGeom prst="rect">
            <a:avLst/>
          </a:prstGeom>
          <a:noFill/>
          <a:ln/>
        </p:spPr>
        <p:txBody>
          <a:bodyPr wrap="square" lIns="0" tIns="0" rIns="0" bIns="0" rtlCol="0" anchor="ctr"/>
          <a:lstStyle/>
          <a:p>
            <a:pPr marL="0" indent="0" algn="ctr">
              <a:buNone/>
            </a:pPr>
            <a:r>
              <a:rPr lang="en-US" sz="1300" b="1" dirty="0">
                <a:solidFill>
                  <a:srgbClr val="1B8EA8"/>
                </a:solidFill>
                <a:latin typeface="Consolas" pitchFamily="34" charset="0"/>
                <a:ea typeface="Consolas" pitchFamily="34" charset="-122"/>
                <a:cs typeface="Consolas" pitchFamily="34" charset="-120"/>
              </a:rPr>
              <a:t>3</a:t>
            </a:r>
            <a:endParaRPr lang="en-US" sz="1300" dirty="0"/>
          </a:p>
        </p:txBody>
      </p:sp>
      <p:sp>
        <p:nvSpPr>
          <p:cNvPr id="18" name="Text 16"/>
          <p:cNvSpPr/>
          <p:nvPr/>
        </p:nvSpPr>
        <p:spPr>
          <a:xfrm>
            <a:off x="8869680" y="1810512"/>
            <a:ext cx="2560320" cy="384048"/>
          </a:xfrm>
          <a:prstGeom prst="rect">
            <a:avLst/>
          </a:prstGeom>
          <a:noFill/>
          <a:ln/>
        </p:spPr>
        <p:txBody>
          <a:bodyPr wrap="square" lIns="0" tIns="0" rIns="0" bIns="0" rtlCol="0" anchor="t"/>
          <a:lstStyle/>
          <a:p>
            <a:pPr marL="0" indent="0">
              <a:buNone/>
            </a:pPr>
            <a:r>
              <a:rPr lang="en-US" sz="1400" b="1" dirty="0">
                <a:solidFill>
                  <a:srgbClr val="062A3A"/>
                </a:solidFill>
                <a:latin typeface="Segoe UI" pitchFamily="34" charset="0"/>
                <a:ea typeface="Segoe UI" pitchFamily="34" charset="-122"/>
                <a:cs typeface="Segoe UI" pitchFamily="34" charset="-120"/>
              </a:rPr>
              <a:t>Thống kê &amp; dữ liệu</a:t>
            </a:r>
            <a:endParaRPr lang="en-US" sz="1400" dirty="0"/>
          </a:p>
        </p:txBody>
      </p:sp>
      <p:sp>
        <p:nvSpPr>
          <p:cNvPr id="19" name="Text 17"/>
          <p:cNvSpPr/>
          <p:nvPr/>
        </p:nvSpPr>
        <p:spPr>
          <a:xfrm>
            <a:off x="8321040" y="2395728"/>
            <a:ext cx="3108960" cy="731520"/>
          </a:xfrm>
          <a:prstGeom prst="rect">
            <a:avLst/>
          </a:prstGeom>
          <a:noFill/>
          <a:ln/>
        </p:spPr>
        <p:txBody>
          <a:bodyPr wrap="square" lIns="0" tIns="0" rIns="0" bIns="0" rtlCol="0" anchor="t"/>
          <a:lstStyle/>
          <a:p>
            <a:pPr marL="0" indent="0">
              <a:lnSpc>
                <a:spcPct val="112000"/>
              </a:lnSpc>
              <a:buNone/>
            </a:pPr>
            <a:r>
              <a:rPr lang="en-US" sz="1100" dirty="0">
                <a:solidFill>
                  <a:srgbClr val="415A6B"/>
                </a:solidFill>
                <a:latin typeface="Segoe UI" pitchFamily="34" charset="0"/>
                <a:ea typeface="Segoe UI" pitchFamily="34" charset="-122"/>
                <a:cs typeface="Segoe UI" pitchFamily="34" charset="-120"/>
              </a:rPr>
              <a:t>Trung bình, độ lệch chuẩn, tương quan trên mảng lớn.</a:t>
            </a:r>
            <a:endParaRPr lang="en-US" sz="1100" dirty="0"/>
          </a:p>
        </p:txBody>
      </p:sp>
      <p:sp>
        <p:nvSpPr>
          <p:cNvPr id="20" name="Shape 18"/>
          <p:cNvSpPr/>
          <p:nvPr/>
        </p:nvSpPr>
        <p:spPr>
          <a:xfrm>
            <a:off x="2432304" y="3611880"/>
            <a:ext cx="3547872" cy="1783080"/>
          </a:xfrm>
          <a:prstGeom prst="roundRect">
            <a:avLst>
              <a:gd name="adj" fmla="val 3077"/>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21" name="Shape 19"/>
          <p:cNvSpPr/>
          <p:nvPr/>
        </p:nvSpPr>
        <p:spPr>
          <a:xfrm>
            <a:off x="2670048" y="3840480"/>
            <a:ext cx="420624" cy="420624"/>
          </a:xfrm>
          <a:prstGeom prst="roundRect">
            <a:avLst>
              <a:gd name="adj" fmla="val 26087"/>
            </a:avLst>
          </a:prstGeom>
          <a:solidFill>
            <a:srgbClr val="EAF4F8"/>
          </a:solidFill>
          <a:ln w="9525">
            <a:solidFill>
              <a:srgbClr val="BFDFE9"/>
            </a:solidFill>
            <a:prstDash val="solid"/>
          </a:ln>
        </p:spPr>
      </p:sp>
      <p:sp>
        <p:nvSpPr>
          <p:cNvPr id="22" name="Text 20"/>
          <p:cNvSpPr/>
          <p:nvPr/>
        </p:nvSpPr>
        <p:spPr>
          <a:xfrm>
            <a:off x="2670048" y="3840480"/>
            <a:ext cx="420624" cy="420624"/>
          </a:xfrm>
          <a:prstGeom prst="rect">
            <a:avLst/>
          </a:prstGeom>
          <a:noFill/>
          <a:ln/>
        </p:spPr>
        <p:txBody>
          <a:bodyPr wrap="square" lIns="0" tIns="0" rIns="0" bIns="0" rtlCol="0" anchor="ctr"/>
          <a:lstStyle/>
          <a:p>
            <a:pPr marL="0" indent="0" algn="ctr">
              <a:buNone/>
            </a:pPr>
            <a:r>
              <a:rPr lang="en-US" sz="1300" b="1" dirty="0">
                <a:solidFill>
                  <a:srgbClr val="1B8EA8"/>
                </a:solidFill>
                <a:latin typeface="Consolas" pitchFamily="34" charset="0"/>
                <a:ea typeface="Consolas" pitchFamily="34" charset="-122"/>
                <a:cs typeface="Consolas" pitchFamily="34" charset="-120"/>
              </a:rPr>
              <a:t>4</a:t>
            </a:r>
            <a:endParaRPr lang="en-US" sz="1300" dirty="0"/>
          </a:p>
        </p:txBody>
      </p:sp>
      <p:sp>
        <p:nvSpPr>
          <p:cNvPr id="23" name="Text 21"/>
          <p:cNvSpPr/>
          <p:nvPr/>
        </p:nvSpPr>
        <p:spPr>
          <a:xfrm>
            <a:off x="3218688" y="3867912"/>
            <a:ext cx="2560320" cy="384048"/>
          </a:xfrm>
          <a:prstGeom prst="rect">
            <a:avLst/>
          </a:prstGeom>
          <a:noFill/>
          <a:ln/>
        </p:spPr>
        <p:txBody>
          <a:bodyPr wrap="square" lIns="0" tIns="0" rIns="0" bIns="0" rtlCol="0" anchor="t"/>
          <a:lstStyle/>
          <a:p>
            <a:pPr marL="0" indent="0">
              <a:buNone/>
            </a:pPr>
            <a:r>
              <a:rPr lang="en-US" sz="1400" b="1" dirty="0">
                <a:solidFill>
                  <a:srgbClr val="062A3A"/>
                </a:solidFill>
                <a:latin typeface="Segoe UI" pitchFamily="34" charset="0"/>
                <a:ea typeface="Segoe UI" pitchFamily="34" charset="-122"/>
                <a:cs typeface="Segoe UI" pitchFamily="34" charset="-120"/>
              </a:rPr>
              <a:t>Học máy</a:t>
            </a:r>
            <a:endParaRPr lang="en-US" sz="1400" dirty="0"/>
          </a:p>
        </p:txBody>
      </p:sp>
      <p:sp>
        <p:nvSpPr>
          <p:cNvPr id="24" name="Text 22"/>
          <p:cNvSpPr/>
          <p:nvPr/>
        </p:nvSpPr>
        <p:spPr>
          <a:xfrm>
            <a:off x="2670048" y="4453128"/>
            <a:ext cx="3108960" cy="731520"/>
          </a:xfrm>
          <a:prstGeom prst="rect">
            <a:avLst/>
          </a:prstGeom>
          <a:noFill/>
          <a:ln/>
        </p:spPr>
        <p:txBody>
          <a:bodyPr wrap="square" lIns="0" tIns="0" rIns="0" bIns="0" rtlCol="0" anchor="t"/>
          <a:lstStyle/>
          <a:p>
            <a:pPr marL="0" indent="0">
              <a:lnSpc>
                <a:spcPct val="112000"/>
              </a:lnSpc>
              <a:buNone/>
            </a:pPr>
            <a:r>
              <a:rPr lang="en-US" sz="1100" dirty="0">
                <a:solidFill>
                  <a:srgbClr val="415A6B"/>
                </a:solidFill>
                <a:latin typeface="Segoe UI" pitchFamily="34" charset="0"/>
                <a:ea typeface="Segoe UI" pitchFamily="34" charset="-122"/>
                <a:cs typeface="Segoe UI" pitchFamily="34" charset="-120"/>
              </a:rPr>
              <a:t>Đặc trưng, trọng số và gradient là các mảng số.</a:t>
            </a:r>
            <a:endParaRPr lang="en-US" sz="1100" dirty="0"/>
          </a:p>
        </p:txBody>
      </p:sp>
      <p:sp>
        <p:nvSpPr>
          <p:cNvPr id="25" name="Shape 23"/>
          <p:cNvSpPr/>
          <p:nvPr/>
        </p:nvSpPr>
        <p:spPr>
          <a:xfrm>
            <a:off x="6199632" y="3611880"/>
            <a:ext cx="3547872" cy="1783080"/>
          </a:xfrm>
          <a:prstGeom prst="roundRect">
            <a:avLst>
              <a:gd name="adj" fmla="val 3077"/>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26" name="Shape 24"/>
          <p:cNvSpPr/>
          <p:nvPr/>
        </p:nvSpPr>
        <p:spPr>
          <a:xfrm>
            <a:off x="6437376" y="3840480"/>
            <a:ext cx="420624" cy="420624"/>
          </a:xfrm>
          <a:prstGeom prst="roundRect">
            <a:avLst>
              <a:gd name="adj" fmla="val 26087"/>
            </a:avLst>
          </a:prstGeom>
          <a:solidFill>
            <a:srgbClr val="D6EEF5"/>
          </a:solidFill>
          <a:ln w="9525">
            <a:solidFill>
              <a:srgbClr val="BFDFE9"/>
            </a:solidFill>
            <a:prstDash val="solid"/>
          </a:ln>
        </p:spPr>
      </p:sp>
      <p:sp>
        <p:nvSpPr>
          <p:cNvPr id="27" name="Text 25"/>
          <p:cNvSpPr/>
          <p:nvPr/>
        </p:nvSpPr>
        <p:spPr>
          <a:xfrm>
            <a:off x="6437376" y="3840480"/>
            <a:ext cx="420624" cy="420624"/>
          </a:xfrm>
          <a:prstGeom prst="rect">
            <a:avLst/>
          </a:prstGeom>
          <a:noFill/>
          <a:ln/>
        </p:spPr>
        <p:txBody>
          <a:bodyPr wrap="square" lIns="0" tIns="0" rIns="0" bIns="0" rtlCol="0" anchor="ctr"/>
          <a:lstStyle/>
          <a:p>
            <a:pPr marL="0" indent="0" algn="ctr">
              <a:buNone/>
            </a:pPr>
            <a:r>
              <a:rPr lang="en-US" sz="1300" b="1" dirty="0">
                <a:solidFill>
                  <a:srgbClr val="1B8EA8"/>
                </a:solidFill>
                <a:latin typeface="Consolas" pitchFamily="34" charset="0"/>
                <a:ea typeface="Consolas" pitchFamily="34" charset="-122"/>
                <a:cs typeface="Consolas" pitchFamily="34" charset="-120"/>
              </a:rPr>
              <a:t>5</a:t>
            </a:r>
            <a:endParaRPr lang="en-US" sz="1300" dirty="0"/>
          </a:p>
        </p:txBody>
      </p:sp>
      <p:sp>
        <p:nvSpPr>
          <p:cNvPr id="28" name="Text 26"/>
          <p:cNvSpPr/>
          <p:nvPr/>
        </p:nvSpPr>
        <p:spPr>
          <a:xfrm>
            <a:off x="6986016" y="3867912"/>
            <a:ext cx="2560320" cy="384048"/>
          </a:xfrm>
          <a:prstGeom prst="rect">
            <a:avLst/>
          </a:prstGeom>
          <a:noFill/>
          <a:ln/>
        </p:spPr>
        <p:txBody>
          <a:bodyPr wrap="square" lIns="0" tIns="0" rIns="0" bIns="0" rtlCol="0" anchor="t"/>
          <a:lstStyle/>
          <a:p>
            <a:pPr marL="0" indent="0">
              <a:buNone/>
            </a:pPr>
            <a:r>
              <a:rPr lang="en-US" sz="1400" b="1" dirty="0">
                <a:solidFill>
                  <a:srgbClr val="062A3A"/>
                </a:solidFill>
                <a:latin typeface="Segoe UI" pitchFamily="34" charset="0"/>
                <a:ea typeface="Segoe UI" pitchFamily="34" charset="-122"/>
                <a:cs typeface="Segoe UI" pitchFamily="34" charset="-120"/>
              </a:rPr>
              <a:t>Mô phỏng số</a:t>
            </a:r>
            <a:endParaRPr lang="en-US" sz="1400" dirty="0"/>
          </a:p>
        </p:txBody>
      </p:sp>
      <p:sp>
        <p:nvSpPr>
          <p:cNvPr id="29" name="Text 27"/>
          <p:cNvSpPr/>
          <p:nvPr/>
        </p:nvSpPr>
        <p:spPr>
          <a:xfrm>
            <a:off x="6437376" y="4453128"/>
            <a:ext cx="3108960" cy="731520"/>
          </a:xfrm>
          <a:prstGeom prst="rect">
            <a:avLst/>
          </a:prstGeom>
          <a:noFill/>
          <a:ln/>
        </p:spPr>
        <p:txBody>
          <a:bodyPr wrap="square" lIns="0" tIns="0" rIns="0" bIns="0" rtlCol="0" anchor="t"/>
          <a:lstStyle/>
          <a:p>
            <a:pPr marL="0" indent="0">
              <a:lnSpc>
                <a:spcPct val="112000"/>
              </a:lnSpc>
              <a:buNone/>
            </a:pPr>
            <a:r>
              <a:rPr lang="en-US" sz="1100" dirty="0">
                <a:solidFill>
                  <a:srgbClr val="415A6B"/>
                </a:solidFill>
                <a:latin typeface="Segoe UI" pitchFamily="34" charset="0"/>
                <a:ea typeface="Segoe UI" pitchFamily="34" charset="-122"/>
                <a:cs typeface="Segoe UI" pitchFamily="34" charset="-120"/>
              </a:rPr>
              <a:t>Tính trên lưới không gian, thời gian rời rạc.</a:t>
            </a:r>
            <a:endParaRPr lang="en-US" sz="1100" dirty="0"/>
          </a:p>
        </p:txBody>
      </p:sp>
      <p:sp>
        <p:nvSpPr>
          <p:cNvPr id="30" name="Shape 28"/>
          <p:cNvSpPr/>
          <p:nvPr/>
        </p:nvSpPr>
        <p:spPr>
          <a:xfrm>
            <a:off x="548640" y="5468112"/>
            <a:ext cx="11091672" cy="438912"/>
          </a:xfrm>
          <a:prstGeom prst="roundRect">
            <a:avLst>
              <a:gd name="adj" fmla="val 12500"/>
            </a:avLst>
          </a:prstGeom>
          <a:solidFill>
            <a:srgbClr val="EAF4F8"/>
          </a:solidFill>
          <a:ln w="9525">
            <a:solidFill>
              <a:srgbClr val="CFE5EE"/>
            </a:solidFill>
            <a:prstDash val="solid"/>
          </a:ln>
        </p:spPr>
      </p:sp>
      <p:sp>
        <p:nvSpPr>
          <p:cNvPr id="31" name="Text 29"/>
          <p:cNvSpPr/>
          <p:nvPr/>
        </p:nvSpPr>
        <p:spPr>
          <a:xfrm>
            <a:off x="777240" y="5468112"/>
            <a:ext cx="10607040" cy="438912"/>
          </a:xfrm>
          <a:prstGeom prst="rect">
            <a:avLst/>
          </a:prstGeom>
          <a:noFill/>
          <a:ln/>
        </p:spPr>
        <p:txBody>
          <a:bodyPr wrap="square" lIns="0" tIns="0" rIns="0" bIns="0" rtlCol="0" anchor="ctr"/>
          <a:lstStyle/>
          <a:p>
            <a:pPr marL="0" indent="0">
              <a:buNone/>
            </a:pPr>
            <a:r>
              <a:rPr lang="en-US" sz="1050" b="1" dirty="0">
                <a:solidFill>
                  <a:srgbClr val="1B8EA8"/>
                </a:solidFill>
                <a:latin typeface="Segoe UI" pitchFamily="34" charset="0"/>
                <a:ea typeface="Segoe UI" pitchFamily="34" charset="-122"/>
                <a:cs typeface="Segoe UI" pitchFamily="34" charset="-120"/>
              </a:rPr>
              <a:t>Điểm chung: dữ liệu số, đồng nhất kiểu, kích thước lớn — nơi NumPy phát huy lợi thế.</a:t>
            </a:r>
            <a:endParaRPr lang="en-US" sz="1050" dirty="0"/>
          </a:p>
        </p:txBody>
      </p:sp>
      <p:sp>
        <p:nvSpPr>
          <p:cNvPr id="32" name="Text 30"/>
          <p:cNvSpPr/>
          <p:nvPr/>
        </p:nvSpPr>
        <p:spPr>
          <a:xfrm>
            <a:off x="548640" y="5989320"/>
            <a:ext cx="4572000" cy="228600"/>
          </a:xfrm>
          <a:prstGeom prst="rect">
            <a:avLst/>
          </a:prstGeom>
          <a:noFill/>
          <a:ln/>
        </p:spPr>
        <p:txBody>
          <a:bodyPr wrap="square" lIns="0" tIns="0" rIns="0" bIns="0" rtlCol="0" anchor="t"/>
          <a:lstStyle/>
          <a:p>
            <a:pPr marL="0" indent="0">
              <a:buNone/>
            </a:pPr>
            <a:r>
              <a:rPr lang="en-US" sz="850" dirty="0">
                <a:solidFill>
                  <a:srgbClr val="728694"/>
                </a:solidFill>
                <a:latin typeface="Segoe UI" pitchFamily="34" charset="0"/>
                <a:ea typeface="Segoe UI" pitchFamily="34" charset="-122"/>
                <a:cs typeface="Segoe UI" pitchFamily="34" charset="-120"/>
              </a:rPr>
              <a:t>Nguồn: NumPy Documentation [1]</a:t>
            </a:r>
            <a:endParaRPr lang="en-US" sz="850" dirty="0"/>
          </a:p>
        </p:txBody>
      </p:sp>
      <p:sp>
        <p:nvSpPr>
          <p:cNvPr id="33" name="Shape 31"/>
          <p:cNvSpPr/>
          <p:nvPr/>
        </p:nvSpPr>
        <p:spPr>
          <a:xfrm>
            <a:off x="548640" y="6391656"/>
            <a:ext cx="11091672" cy="9144"/>
          </a:xfrm>
          <a:prstGeom prst="rect">
            <a:avLst/>
          </a:prstGeom>
          <a:solidFill>
            <a:srgbClr val="D7E5EC"/>
          </a:solidFill>
          <a:ln w="12700">
            <a:solidFill>
              <a:srgbClr val="D7E5EC"/>
            </a:solidFill>
            <a:prstDash val="solid"/>
          </a:ln>
        </p:spPr>
      </p:sp>
      <p:sp>
        <p:nvSpPr>
          <p:cNvPr id="34" name="Text 32"/>
          <p:cNvSpPr/>
          <p:nvPr/>
        </p:nvSpPr>
        <p:spPr>
          <a:xfrm>
            <a:off x="548640" y="6473952"/>
            <a:ext cx="7772400" cy="182880"/>
          </a:xfrm>
          <a:prstGeom prst="rect">
            <a:avLst/>
          </a:prstGeom>
          <a:noFill/>
          <a:ln/>
        </p:spPr>
        <p:txBody>
          <a:bodyPr wrap="square" lIns="0" tIns="0" rIns="0" bIns="0" rtlCol="0" anchor="t"/>
          <a:lstStyle/>
          <a:p>
            <a:pPr marL="0" indent="0">
              <a:buNone/>
            </a:pPr>
            <a:r>
              <a:rPr lang="en-US" sz="850" dirty="0">
                <a:solidFill>
                  <a:srgbClr val="728694"/>
                </a:solidFill>
                <a:latin typeface="Segoe UI" pitchFamily="34" charset="0"/>
                <a:ea typeface="Segoe UI" pitchFamily="34" charset="-122"/>
                <a:cs typeface="Segoe UI" pitchFamily="34" charset="-120"/>
              </a:rPr>
              <a:t>Tìm hiểu thư viện NumPy trong Python</a:t>
            </a:r>
            <a:endParaRPr lang="en-US" sz="850" dirty="0"/>
          </a:p>
        </p:txBody>
      </p:sp>
      <p:sp>
        <p:nvSpPr>
          <p:cNvPr id="35" name="Text 33"/>
          <p:cNvSpPr/>
          <p:nvPr/>
        </p:nvSpPr>
        <p:spPr>
          <a:xfrm>
            <a:off x="10698480" y="6473952"/>
            <a:ext cx="941832" cy="182880"/>
          </a:xfrm>
          <a:prstGeom prst="rect">
            <a:avLst/>
          </a:prstGeom>
          <a:noFill/>
          <a:ln/>
        </p:spPr>
        <p:txBody>
          <a:bodyPr wrap="square" lIns="0" tIns="0" rIns="0" bIns="0" rtlCol="0" anchor="t"/>
          <a:lstStyle/>
          <a:p>
            <a:pPr marL="0" indent="0" algn="r">
              <a:buNone/>
            </a:pPr>
            <a:r>
              <a:rPr lang="en-US" sz="850" dirty="0">
                <a:solidFill>
                  <a:srgbClr val="728694"/>
                </a:solidFill>
                <a:latin typeface="Segoe UI" pitchFamily="34" charset="0"/>
                <a:ea typeface="Segoe UI" pitchFamily="34" charset="-122"/>
                <a:cs typeface="Segoe UI" pitchFamily="34" charset="-120"/>
              </a:rPr>
              <a:t>07 / 25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301752"/>
            <a:ext cx="10881360" cy="201168"/>
          </a:xfrm>
          <a:prstGeom prst="rect">
            <a:avLst/>
          </a:prstGeom>
          <a:noFill/>
          <a:ln/>
        </p:spPr>
        <p:txBody>
          <a:bodyPr wrap="square" lIns="0" tIns="0" rIns="0" bIns="0" rtlCol="0" anchor="t"/>
          <a:lstStyle/>
          <a:p>
            <a:pPr marL="0" indent="0">
              <a:buNone/>
            </a:pPr>
            <a:r>
              <a:rPr lang="en-US" sz="950" b="1" kern="0" spc="160" dirty="0">
                <a:solidFill>
                  <a:srgbClr val="1B8EA8"/>
                </a:solidFill>
                <a:latin typeface="Segoe UI" pitchFamily="34" charset="0"/>
                <a:ea typeface="Segoe UI" pitchFamily="34" charset="-122"/>
                <a:cs typeface="Segoe UI" pitchFamily="34" charset="-120"/>
              </a:rPr>
              <a:t>01 · GIỚI THIỆU</a:t>
            </a:r>
            <a:endParaRPr lang="en-US" sz="950" dirty="0"/>
          </a:p>
        </p:txBody>
      </p:sp>
      <p:sp>
        <p:nvSpPr>
          <p:cNvPr id="3" name="Text 1"/>
          <p:cNvSpPr/>
          <p:nvPr/>
        </p:nvSpPr>
        <p:spPr>
          <a:xfrm>
            <a:off x="548640" y="502920"/>
            <a:ext cx="10881360" cy="640080"/>
          </a:xfrm>
          <a:prstGeom prst="rect">
            <a:avLst/>
          </a:prstGeom>
          <a:noFill/>
          <a:ln/>
        </p:spPr>
        <p:txBody>
          <a:bodyPr wrap="square" lIns="0" tIns="0" rIns="0" bIns="0" rtlCol="0" anchor="ctr"/>
          <a:lstStyle/>
          <a:p>
            <a:pPr marL="0" indent="0">
              <a:buNone/>
            </a:pPr>
            <a:r>
              <a:rPr lang="en-US" sz="2800" b="1" dirty="0">
                <a:solidFill>
                  <a:srgbClr val="062A3A"/>
                </a:solidFill>
                <a:latin typeface="Segoe UI" pitchFamily="34" charset="0"/>
                <a:ea typeface="Segoe UI" pitchFamily="34" charset="-122"/>
                <a:cs typeface="Segoe UI" pitchFamily="34" charset="-120"/>
              </a:rPr>
              <a:t>Python list và NumPy array</a:t>
            </a:r>
            <a:endParaRPr lang="en-US" sz="2800" dirty="0"/>
          </a:p>
        </p:txBody>
      </p:sp>
      <p:sp>
        <p:nvSpPr>
          <p:cNvPr id="4" name="Shape 2"/>
          <p:cNvSpPr/>
          <p:nvPr/>
        </p:nvSpPr>
        <p:spPr>
          <a:xfrm>
            <a:off x="548640" y="1225296"/>
            <a:ext cx="868680" cy="41148"/>
          </a:xfrm>
          <a:prstGeom prst="rect">
            <a:avLst/>
          </a:prstGeom>
          <a:solidFill>
            <a:srgbClr val="1B8EA8"/>
          </a:solidFill>
          <a:ln w="12700">
            <a:solidFill>
              <a:srgbClr val="1B8EA8"/>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760720" cy="3218688"/>
        </p:xfrm>
        <a:graphic>
          <a:graphicData uri="http://schemas.openxmlformats.org/drawingml/2006/table">
            <a:tbl>
              <a:tblPr/>
              <a:tblGrid>
                <a:gridCol w="123444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365760">
                <a:tc>
                  <a:txBody>
                    <a:bodyPr/>
                    <a:lstStyle/>
                    <a:p>
                      <a:pPr marL="0" indent="0">
                        <a:buNone/>
                      </a:pPr>
                      <a:r>
                        <a:rPr lang="en-US" sz="1050" b="1" dirty="0">
                          <a:solidFill>
                            <a:srgbClr val="FFFFFF"/>
                          </a:solidFill>
                          <a:latin typeface="Segoe UI" pitchFamily="34" charset="0"/>
                          <a:ea typeface="Segoe UI" pitchFamily="34" charset="-122"/>
                          <a:cs typeface="Segoe UI" pitchFamily="34" charset="-120"/>
                        </a:rPr>
                        <a:t>Tiêu chí</a:t>
                      </a:r>
                      <a:endParaRPr lang="en-US" sz="1050" dirty="0">
                        <a:latin typeface="Segoe UI" charset="0"/>
                        <a:ea typeface="Segoe UI" charset="0"/>
                        <a:cs typeface="Segoe UI" charset="0"/>
                      </a:endParaRPr>
                    </a:p>
                  </a:txBody>
                  <a:tcPr marL="63500" marR="63500" marT="63500" marB="635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tc>
                  <a:txBody>
                    <a:bodyPr/>
                    <a:lstStyle/>
                    <a:p>
                      <a:pPr marL="0" indent="0">
                        <a:buNone/>
                      </a:pPr>
                      <a:r>
                        <a:rPr lang="en-US" sz="1050" b="1" dirty="0">
                          <a:solidFill>
                            <a:srgbClr val="FFFFFF"/>
                          </a:solidFill>
                          <a:latin typeface="Segoe UI" pitchFamily="34" charset="0"/>
                          <a:ea typeface="Segoe UI" pitchFamily="34" charset="-122"/>
                          <a:cs typeface="Segoe UI" pitchFamily="34" charset="-120"/>
                        </a:rPr>
                        <a:t>Python list</a:t>
                      </a:r>
                      <a:endParaRPr lang="en-US" sz="1050" dirty="0">
                        <a:latin typeface="Segoe UI" charset="0"/>
                        <a:ea typeface="Segoe UI" charset="0"/>
                        <a:cs typeface="Segoe UI" charset="0"/>
                      </a:endParaRPr>
                    </a:p>
                  </a:txBody>
                  <a:tcPr marL="63500" marR="63500" marT="63500" marB="635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tc>
                  <a:txBody>
                    <a:bodyPr/>
                    <a:lstStyle/>
                    <a:p>
                      <a:pPr marL="0" indent="0">
                        <a:buNone/>
                      </a:pPr>
                      <a:r>
                        <a:rPr lang="en-US" sz="1050" b="1" dirty="0">
                          <a:solidFill>
                            <a:srgbClr val="FFFFFF"/>
                          </a:solidFill>
                          <a:latin typeface="Segoe UI" pitchFamily="34" charset="0"/>
                          <a:ea typeface="Segoe UI" pitchFamily="34" charset="-122"/>
                          <a:cs typeface="Segoe UI" pitchFamily="34" charset="-120"/>
                        </a:rPr>
                        <a:t>NumPy array</a:t>
                      </a:r>
                      <a:endParaRPr lang="en-US" sz="1050" dirty="0">
                        <a:latin typeface="Segoe UI" charset="0"/>
                        <a:ea typeface="Segoe UI" charset="0"/>
                        <a:cs typeface="Segoe UI" charset="0"/>
                      </a:endParaRPr>
                    </a:p>
                  </a:txBody>
                  <a:tcPr marL="63500" marR="63500" marT="63500" marB="635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extLst>
                  <a:ext uri="{0D108BD9-81ED-4DB2-BD59-A6C34878D82A}">
                    <a16:rowId xmlns:a16="http://schemas.microsoft.com/office/drawing/2014/main" val="10000"/>
                  </a:ext>
                </a:extLst>
              </a:tr>
              <a:tr h="457200">
                <a:tc>
                  <a:txBody>
                    <a:bodyPr/>
                    <a:lstStyle/>
                    <a:p>
                      <a:pPr marL="0" indent="0">
                        <a:buNone/>
                      </a:pPr>
                      <a:r>
                        <a:rPr lang="en-US" sz="1000" b="1" dirty="0">
                          <a:solidFill>
                            <a:srgbClr val="415A6B"/>
                          </a:solidFill>
                          <a:latin typeface="Segoe UI" pitchFamily="34" charset="0"/>
                          <a:ea typeface="Segoe UI" pitchFamily="34" charset="-122"/>
                          <a:cs typeface="Segoe UI" pitchFamily="34" charset="-120"/>
                        </a:rPr>
                        <a:t>Kiểu dữ liệu</a:t>
                      </a:r>
                      <a:endParaRPr lang="en-US" sz="1000" dirty="0">
                        <a:latin typeface="Segoe UI" charset="0"/>
                        <a:ea typeface="Segoe UI" charset="0"/>
                        <a:cs typeface="Segoe UI" charset="0"/>
                      </a:endParaRPr>
                    </a:p>
                  </a:txBody>
                  <a:tcPr marL="63500" marR="63500" marT="63500" marB="635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marL="0" indent="0">
                        <a:buNone/>
                      </a:pPr>
                      <a:r>
                        <a:rPr lang="en-US" sz="1000" dirty="0">
                          <a:solidFill>
                            <a:srgbClr val="415A6B"/>
                          </a:solidFill>
                          <a:latin typeface="Segoe UI" pitchFamily="34" charset="0"/>
                          <a:ea typeface="Segoe UI" pitchFamily="34" charset="-122"/>
                          <a:cs typeface="Segoe UI" pitchFamily="34" charset="-120"/>
                        </a:rPr>
                        <a:t>Hỗn hợp</a:t>
                      </a:r>
                      <a:endParaRPr lang="en-US" sz="1000" dirty="0">
                        <a:latin typeface="Segoe UI" charset="0"/>
                        <a:ea typeface="Segoe UI" charset="0"/>
                        <a:cs typeface="Segoe UI" charset="0"/>
                      </a:endParaRPr>
                    </a:p>
                  </a:txBody>
                  <a:tcPr marL="63500" marR="63500" marT="63500" marB="635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marL="0" indent="0">
                        <a:buNone/>
                      </a:pPr>
                      <a:r>
                        <a:rPr lang="en-US" sz="1000" dirty="0">
                          <a:solidFill>
                            <a:srgbClr val="062A3A"/>
                          </a:solidFill>
                          <a:latin typeface="Segoe UI" pitchFamily="34" charset="0"/>
                          <a:ea typeface="Segoe UI" pitchFamily="34" charset="-122"/>
                          <a:cs typeface="Segoe UI" pitchFamily="34" charset="-120"/>
                        </a:rPr>
                        <a:t>Đồng nhất, một dtype</a:t>
                      </a:r>
                      <a:endParaRPr lang="en-US" sz="1000" dirty="0">
                        <a:latin typeface="Segoe UI" charset="0"/>
                        <a:ea typeface="Segoe UI" charset="0"/>
                        <a:cs typeface="Segoe UI" charset="0"/>
                      </a:endParaRPr>
                    </a:p>
                  </a:txBody>
                  <a:tcPr marL="63500" marR="63500" marT="63500" marB="635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000" b="1" dirty="0">
                          <a:solidFill>
                            <a:srgbClr val="415A6B"/>
                          </a:solidFill>
                          <a:latin typeface="Segoe UI" pitchFamily="34" charset="0"/>
                          <a:ea typeface="Segoe UI" pitchFamily="34" charset="-122"/>
                          <a:cs typeface="Segoe UI" pitchFamily="34" charset="-120"/>
                        </a:rPr>
                        <a:t>Phép * 2</a:t>
                      </a:r>
                      <a:endParaRPr lang="en-US" sz="1000" dirty="0">
                        <a:latin typeface="Segoe UI" charset="0"/>
                        <a:ea typeface="Segoe UI" charset="0"/>
                        <a:cs typeface="Segoe UI" charset="0"/>
                      </a:endParaRPr>
                    </a:p>
                  </a:txBody>
                  <a:tcPr marL="63500" marR="63500" marT="63500" marB="635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marL="0" indent="0">
                        <a:buNone/>
                      </a:pPr>
                      <a:r>
                        <a:rPr lang="en-US" sz="1000" dirty="0">
                          <a:solidFill>
                            <a:srgbClr val="415A6B"/>
                          </a:solidFill>
                          <a:latin typeface="Segoe UI" pitchFamily="34" charset="0"/>
                          <a:ea typeface="Segoe UI" pitchFamily="34" charset="-122"/>
                          <a:cs typeface="Segoe UI" pitchFamily="34" charset="-120"/>
                        </a:rPr>
                        <a:t>Lặp danh sách</a:t>
                      </a:r>
                      <a:endParaRPr lang="en-US" sz="1000" dirty="0">
                        <a:latin typeface="Segoe UI" charset="0"/>
                        <a:ea typeface="Segoe UI" charset="0"/>
                        <a:cs typeface="Segoe UI" charset="0"/>
                      </a:endParaRPr>
                    </a:p>
                  </a:txBody>
                  <a:tcPr marL="63500" marR="63500" marT="63500" marB="635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marL="0" indent="0">
                        <a:buNone/>
                      </a:pPr>
                      <a:r>
                        <a:rPr lang="en-US" sz="1000" b="1" dirty="0">
                          <a:solidFill>
                            <a:srgbClr val="062A3A"/>
                          </a:solidFill>
                          <a:latin typeface="Segoe UI" pitchFamily="34" charset="0"/>
                          <a:ea typeface="Segoe UI" pitchFamily="34" charset="-122"/>
                          <a:cs typeface="Segoe UI" pitchFamily="34" charset="-120"/>
                        </a:rPr>
                        <a:t>Nhân từng phần tử</a:t>
                      </a:r>
                      <a:endParaRPr lang="en-US" sz="1000" dirty="0">
                        <a:latin typeface="Segoe UI" charset="0"/>
                        <a:ea typeface="Segoe UI" charset="0"/>
                        <a:cs typeface="Segoe UI" charset="0"/>
                      </a:endParaRPr>
                    </a:p>
                  </a:txBody>
                  <a:tcPr marL="63500" marR="63500" marT="63500" marB="635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extLst>
                  <a:ext uri="{0D108BD9-81ED-4DB2-BD59-A6C34878D82A}">
                    <a16:rowId xmlns:a16="http://schemas.microsoft.com/office/drawing/2014/main" val="10002"/>
                  </a:ext>
                </a:extLst>
              </a:tr>
              <a:tr h="566928">
                <a:tc>
                  <a:txBody>
                    <a:bodyPr/>
                    <a:lstStyle/>
                    <a:p>
                      <a:pPr marL="0" indent="0">
                        <a:buNone/>
                      </a:pPr>
                      <a:r>
                        <a:rPr lang="en-US" sz="1000" b="1" dirty="0">
                          <a:solidFill>
                            <a:srgbClr val="415A6B"/>
                          </a:solidFill>
                          <a:latin typeface="Segoe UI" pitchFamily="34" charset="0"/>
                          <a:ea typeface="Segoe UI" pitchFamily="34" charset="-122"/>
                          <a:cs typeface="Segoe UI" pitchFamily="34" charset="-120"/>
                        </a:rPr>
                        <a:t>Nhiều chiều</a:t>
                      </a:r>
                      <a:endParaRPr lang="en-US" sz="1000" dirty="0">
                        <a:latin typeface="Segoe UI" charset="0"/>
                        <a:ea typeface="Segoe UI" charset="0"/>
                        <a:cs typeface="Segoe UI" charset="0"/>
                      </a:endParaRPr>
                    </a:p>
                  </a:txBody>
                  <a:tcPr marL="63500" marR="63500" marT="63500" marB="635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marL="0" indent="0">
                        <a:buNone/>
                      </a:pPr>
                      <a:r>
                        <a:rPr lang="en-US" sz="1000" dirty="0">
                          <a:solidFill>
                            <a:srgbClr val="415A6B"/>
                          </a:solidFill>
                          <a:latin typeface="Segoe UI" pitchFamily="34" charset="0"/>
                          <a:ea typeface="Segoe UI" pitchFamily="34" charset="-122"/>
                          <a:cs typeface="Segoe UI" pitchFamily="34" charset="-120"/>
                        </a:rPr>
                        <a:t>List lồng nhau, có thể “răng cưa”</a:t>
                      </a:r>
                      <a:endParaRPr lang="en-US" sz="1000" dirty="0">
                        <a:latin typeface="Segoe UI" charset="0"/>
                        <a:ea typeface="Segoe UI" charset="0"/>
                        <a:cs typeface="Segoe UI" charset="0"/>
                      </a:endParaRPr>
                    </a:p>
                  </a:txBody>
                  <a:tcPr marL="63500" marR="63500" marT="63500" marB="635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marL="0" indent="0">
                        <a:buNone/>
                      </a:pPr>
                      <a:r>
                        <a:rPr lang="en-US" sz="1000" dirty="0">
                          <a:solidFill>
                            <a:srgbClr val="062A3A"/>
                          </a:solidFill>
                          <a:latin typeface="Segoe UI" pitchFamily="34" charset="0"/>
                          <a:ea typeface="Segoe UI" pitchFamily="34" charset="-122"/>
                          <a:cs typeface="Segoe UI" pitchFamily="34" charset="-120"/>
                        </a:rPr>
                        <a:t>Mảng N chiều xác định</a:t>
                      </a:r>
                      <a:endParaRPr lang="en-US" sz="1000" dirty="0">
                        <a:latin typeface="Segoe UI" charset="0"/>
                        <a:ea typeface="Segoe UI" charset="0"/>
                        <a:cs typeface="Segoe UI" charset="0"/>
                      </a:endParaRPr>
                    </a:p>
                  </a:txBody>
                  <a:tcPr marL="63500" marR="63500" marT="63500" marB="635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000" b="1" dirty="0">
                          <a:solidFill>
                            <a:srgbClr val="415A6B"/>
                          </a:solidFill>
                          <a:latin typeface="Segoe UI" pitchFamily="34" charset="0"/>
                          <a:ea typeface="Segoe UI" pitchFamily="34" charset="-122"/>
                          <a:cs typeface="Segoe UI" pitchFamily="34" charset="-120"/>
                        </a:rPr>
                        <a:t>Bộ nhớ</a:t>
                      </a:r>
                      <a:endParaRPr lang="en-US" sz="1000" dirty="0">
                        <a:latin typeface="Segoe UI" charset="0"/>
                        <a:ea typeface="Segoe UI" charset="0"/>
                        <a:cs typeface="Segoe UI" charset="0"/>
                      </a:endParaRPr>
                    </a:p>
                  </a:txBody>
                  <a:tcPr marL="63500" marR="63500" marT="63500" marB="635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marL="0" indent="0">
                        <a:buNone/>
                      </a:pPr>
                      <a:r>
                        <a:rPr lang="en-US" sz="1000" dirty="0">
                          <a:solidFill>
                            <a:srgbClr val="415A6B"/>
                          </a:solidFill>
                          <a:latin typeface="Segoe UI" pitchFamily="34" charset="0"/>
                          <a:ea typeface="Segoe UI" pitchFamily="34" charset="-122"/>
                          <a:cs typeface="Segoe UI" pitchFamily="34" charset="-120"/>
                        </a:rPr>
                        <a:t>Các object Python rời rạc</a:t>
                      </a:r>
                      <a:endParaRPr lang="en-US" sz="1000" dirty="0">
                        <a:latin typeface="Segoe UI" charset="0"/>
                        <a:ea typeface="Segoe UI" charset="0"/>
                        <a:cs typeface="Segoe UI" charset="0"/>
                      </a:endParaRPr>
                    </a:p>
                  </a:txBody>
                  <a:tcPr marL="63500" marR="63500" marT="63500" marB="635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marL="0" indent="0">
                        <a:buNone/>
                      </a:pPr>
                      <a:r>
                        <a:rPr lang="en-US" sz="1000" dirty="0">
                          <a:solidFill>
                            <a:srgbClr val="062A3A"/>
                          </a:solidFill>
                          <a:latin typeface="Segoe UI" pitchFamily="34" charset="0"/>
                          <a:ea typeface="Segoe UI" pitchFamily="34" charset="-122"/>
                          <a:cs typeface="Segoe UI" pitchFamily="34" charset="-120"/>
                        </a:rPr>
                        <a:t>Khối dữ liệu đồng nhất</a:t>
                      </a:r>
                      <a:endParaRPr lang="en-US" sz="1000" dirty="0">
                        <a:latin typeface="Segoe UI" charset="0"/>
                        <a:ea typeface="Segoe UI" charset="0"/>
                        <a:cs typeface="Segoe UI" charset="0"/>
                      </a:endParaRPr>
                    </a:p>
                  </a:txBody>
                  <a:tcPr marL="63500" marR="63500" marT="63500" marB="635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extLst>
                  <a:ext uri="{0D108BD9-81ED-4DB2-BD59-A6C34878D82A}">
                    <a16:rowId xmlns:a16="http://schemas.microsoft.com/office/drawing/2014/main" val="10004"/>
                  </a:ext>
                </a:extLst>
              </a:tr>
              <a:tr h="457200">
                <a:tc>
                  <a:txBody>
                    <a:bodyPr/>
                    <a:lstStyle/>
                    <a:p>
                      <a:pPr marL="0" indent="0">
                        <a:buNone/>
                      </a:pPr>
                      <a:r>
                        <a:rPr lang="en-US" sz="1000" b="1" dirty="0">
                          <a:solidFill>
                            <a:srgbClr val="415A6B"/>
                          </a:solidFill>
                          <a:latin typeface="Segoe UI" pitchFamily="34" charset="0"/>
                          <a:ea typeface="Segoe UI" pitchFamily="34" charset="-122"/>
                          <a:cs typeface="Segoe UI" pitchFamily="34" charset="-120"/>
                        </a:rPr>
                        <a:t>Hiệu năng</a:t>
                      </a:r>
                      <a:endParaRPr lang="en-US" sz="1000" dirty="0">
                        <a:latin typeface="Segoe UI" charset="0"/>
                        <a:ea typeface="Segoe UI" charset="0"/>
                        <a:cs typeface="Segoe UI" charset="0"/>
                      </a:endParaRPr>
                    </a:p>
                  </a:txBody>
                  <a:tcPr marL="63500" marR="63500" marT="63500" marB="635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marL="0" indent="0">
                        <a:buNone/>
                      </a:pPr>
                      <a:r>
                        <a:rPr lang="en-US" sz="1000" dirty="0">
                          <a:solidFill>
                            <a:srgbClr val="415A6B"/>
                          </a:solidFill>
                          <a:latin typeface="Segoe UI" pitchFamily="34" charset="0"/>
                          <a:ea typeface="Segoe UI" pitchFamily="34" charset="-122"/>
                          <a:cs typeface="Segoe UI" pitchFamily="34" charset="-120"/>
                        </a:rPr>
                        <a:t>Vòng lặp Python</a:t>
                      </a:r>
                      <a:endParaRPr lang="en-US" sz="1000" dirty="0">
                        <a:latin typeface="Segoe UI" charset="0"/>
                        <a:ea typeface="Segoe UI" charset="0"/>
                        <a:cs typeface="Segoe UI" charset="0"/>
                      </a:endParaRPr>
                    </a:p>
                  </a:txBody>
                  <a:tcPr marL="63500" marR="63500" marT="63500" marB="635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marL="0" indent="0">
                        <a:buNone/>
                      </a:pPr>
                      <a:r>
                        <a:rPr lang="en-US" sz="1000" dirty="0">
                          <a:solidFill>
                            <a:srgbClr val="062A3A"/>
                          </a:solidFill>
                          <a:latin typeface="Segoe UI" pitchFamily="34" charset="0"/>
                          <a:ea typeface="Segoe UI" pitchFamily="34" charset="-122"/>
                          <a:cs typeface="Segoe UI" pitchFamily="34" charset="-120"/>
                        </a:rPr>
                        <a:t>Vector hóa trong code C</a:t>
                      </a:r>
                      <a:endParaRPr lang="en-US" sz="1000" dirty="0">
                        <a:latin typeface="Segoe UI" charset="0"/>
                        <a:ea typeface="Segoe UI" charset="0"/>
                        <a:cs typeface="Segoe UI" charset="0"/>
                      </a:endParaRPr>
                    </a:p>
                  </a:txBody>
                  <a:tcPr marL="63500" marR="63500" marT="63500" marB="635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000" b="1" dirty="0">
                          <a:solidFill>
                            <a:srgbClr val="415A6B"/>
                          </a:solidFill>
                          <a:latin typeface="Segoe UI" pitchFamily="34" charset="0"/>
                          <a:ea typeface="Segoe UI" pitchFamily="34" charset="-122"/>
                          <a:cs typeface="Segoe UI" pitchFamily="34" charset="-120"/>
                        </a:rPr>
                        <a:t>Kích thước</a:t>
                      </a:r>
                      <a:endParaRPr lang="en-US" sz="1000" dirty="0">
                        <a:latin typeface="Segoe UI" charset="0"/>
                        <a:ea typeface="Segoe UI" charset="0"/>
                        <a:cs typeface="Segoe UI" charset="0"/>
                      </a:endParaRPr>
                    </a:p>
                  </a:txBody>
                  <a:tcPr marL="63500" marR="63500" marT="63500" marB="635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marL="0" indent="0">
                        <a:buNone/>
                      </a:pPr>
                      <a:r>
                        <a:rPr lang="en-US" sz="1000" dirty="0">
                          <a:solidFill>
                            <a:srgbClr val="415A6B"/>
                          </a:solidFill>
                          <a:latin typeface="Segoe UI" pitchFamily="34" charset="0"/>
                          <a:ea typeface="Segoe UI" pitchFamily="34" charset="-122"/>
                          <a:cs typeface="Segoe UI" pitchFamily="34" charset="-120"/>
                        </a:rPr>
                        <a:t>Linh hoạt</a:t>
                      </a:r>
                      <a:endParaRPr lang="en-US" sz="1000" dirty="0">
                        <a:latin typeface="Segoe UI" charset="0"/>
                        <a:ea typeface="Segoe UI" charset="0"/>
                        <a:cs typeface="Segoe UI" charset="0"/>
                      </a:endParaRPr>
                    </a:p>
                  </a:txBody>
                  <a:tcPr marL="63500" marR="63500" marT="63500" marB="635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marL="0" indent="0">
                        <a:buNone/>
                      </a:pPr>
                      <a:r>
                        <a:rPr lang="en-US" sz="1000" dirty="0">
                          <a:solidFill>
                            <a:srgbClr val="062A3A"/>
                          </a:solidFill>
                          <a:latin typeface="Segoe UI" pitchFamily="34" charset="0"/>
                          <a:ea typeface="Segoe UI" pitchFamily="34" charset="-122"/>
                          <a:cs typeface="Segoe UI" pitchFamily="34" charset="-120"/>
                        </a:rPr>
                        <a:t>Cố định sau khi tạo</a:t>
                      </a:r>
                      <a:endParaRPr lang="en-US" sz="1000" dirty="0">
                        <a:latin typeface="Segoe UI" charset="0"/>
                        <a:ea typeface="Segoe UI" charset="0"/>
                        <a:cs typeface="Segoe UI" charset="0"/>
                      </a:endParaRPr>
                    </a:p>
                  </a:txBody>
                  <a:tcPr marL="63500" marR="63500" marT="63500" marB="635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extLst>
                  <a:ext uri="{0D108BD9-81ED-4DB2-BD59-A6C34878D82A}">
                    <a16:rowId xmlns:a16="http://schemas.microsoft.com/office/drawing/2014/main" val="10006"/>
                  </a:ext>
                </a:extLst>
              </a:tr>
            </a:tbl>
          </a:graphicData>
        </a:graphic>
      </p:graphicFrame>
      <p:sp>
        <p:nvSpPr>
          <p:cNvPr id="6" name="Shape 3"/>
          <p:cNvSpPr/>
          <p:nvPr/>
        </p:nvSpPr>
        <p:spPr>
          <a:xfrm>
            <a:off x="6537960" y="1463040"/>
            <a:ext cx="5074920" cy="1508760"/>
          </a:xfrm>
          <a:prstGeom prst="roundRect">
            <a:avLst>
              <a:gd name="adj" fmla="val 3030"/>
            </a:avLst>
          </a:prstGeom>
          <a:solidFill>
            <a:srgbClr val="0B2230"/>
          </a:solidFill>
          <a:ln w="9525">
            <a:solidFill>
              <a:srgbClr val="163B4C"/>
            </a:solidFill>
            <a:prstDash val="solid"/>
          </a:ln>
        </p:spPr>
      </p:sp>
      <p:sp>
        <p:nvSpPr>
          <p:cNvPr id="7" name="Shape 4"/>
          <p:cNvSpPr/>
          <p:nvPr/>
        </p:nvSpPr>
        <p:spPr>
          <a:xfrm>
            <a:off x="6537960" y="1463040"/>
            <a:ext cx="5074920" cy="265176"/>
          </a:xfrm>
          <a:prstGeom prst="rect">
            <a:avLst/>
          </a:prstGeom>
          <a:solidFill>
            <a:srgbClr val="103445"/>
          </a:solidFill>
          <a:ln w="12700">
            <a:solidFill>
              <a:srgbClr val="103445"/>
            </a:solidFill>
            <a:prstDash val="solid"/>
          </a:ln>
        </p:spPr>
      </p:sp>
      <p:sp>
        <p:nvSpPr>
          <p:cNvPr id="8" name="Text 5"/>
          <p:cNvSpPr/>
          <p:nvPr/>
        </p:nvSpPr>
        <p:spPr>
          <a:xfrm>
            <a:off x="6684264" y="1513332"/>
            <a:ext cx="4160520" cy="182880"/>
          </a:xfrm>
          <a:prstGeom prst="rect">
            <a:avLst/>
          </a:prstGeom>
          <a:noFill/>
          <a:ln/>
        </p:spPr>
        <p:txBody>
          <a:bodyPr wrap="square" lIns="0" tIns="0" rIns="0" bIns="0" rtlCol="0" anchor="t"/>
          <a:lstStyle/>
          <a:p>
            <a:pPr marL="0" indent="0">
              <a:buNone/>
            </a:pPr>
            <a:r>
              <a:rPr lang="en-US" sz="850" dirty="0">
                <a:solidFill>
                  <a:srgbClr val="8FB6C8"/>
                </a:solidFill>
                <a:latin typeface="Consolas" pitchFamily="34" charset="0"/>
                <a:ea typeface="Consolas" pitchFamily="34" charset="-122"/>
                <a:cs typeface="Consolas" pitchFamily="34" charset="-120"/>
              </a:rPr>
              <a:t>python</a:t>
            </a:r>
            <a:endParaRPr lang="en-US" sz="850" dirty="0"/>
          </a:p>
        </p:txBody>
      </p:sp>
      <p:sp>
        <p:nvSpPr>
          <p:cNvPr id="5" name="Shape 6"/>
          <p:cNvSpPr/>
          <p:nvPr/>
        </p:nvSpPr>
        <p:spPr>
          <a:xfrm>
            <a:off x="11045952" y="1568196"/>
            <a:ext cx="77724" cy="77724"/>
          </a:xfrm>
          <a:prstGeom prst="ellipse">
            <a:avLst/>
          </a:prstGeom>
          <a:solidFill>
            <a:srgbClr val="D96C5F"/>
          </a:solidFill>
          <a:ln w="12700">
            <a:solidFill>
              <a:srgbClr val="D96C5F"/>
            </a:solidFill>
            <a:prstDash val="solid"/>
          </a:ln>
        </p:spPr>
      </p:sp>
      <p:sp>
        <p:nvSpPr>
          <p:cNvPr id="10" name="Shape 7"/>
          <p:cNvSpPr/>
          <p:nvPr/>
        </p:nvSpPr>
        <p:spPr>
          <a:xfrm>
            <a:off x="11201400" y="1568196"/>
            <a:ext cx="77724" cy="77724"/>
          </a:xfrm>
          <a:prstGeom prst="ellipse">
            <a:avLst/>
          </a:prstGeom>
          <a:solidFill>
            <a:srgbClr val="E8A33D"/>
          </a:solidFill>
          <a:ln w="12700">
            <a:solidFill>
              <a:srgbClr val="E8A33D"/>
            </a:solidFill>
            <a:prstDash val="solid"/>
          </a:ln>
        </p:spPr>
      </p:sp>
      <p:sp>
        <p:nvSpPr>
          <p:cNvPr id="11" name="Shape 8"/>
          <p:cNvSpPr/>
          <p:nvPr/>
        </p:nvSpPr>
        <p:spPr>
          <a:xfrm>
            <a:off x="11356848" y="1568196"/>
            <a:ext cx="77724" cy="77724"/>
          </a:xfrm>
          <a:prstGeom prst="ellipse">
            <a:avLst/>
          </a:prstGeom>
          <a:solidFill>
            <a:srgbClr val="2D8C6F"/>
          </a:solidFill>
          <a:ln w="12700">
            <a:solidFill>
              <a:srgbClr val="2D8C6F"/>
            </a:solidFill>
            <a:prstDash val="solid"/>
          </a:ln>
        </p:spPr>
      </p:sp>
      <p:sp>
        <p:nvSpPr>
          <p:cNvPr id="12" name="Text 9"/>
          <p:cNvSpPr/>
          <p:nvPr/>
        </p:nvSpPr>
        <p:spPr>
          <a:xfrm>
            <a:off x="6702552" y="1810512"/>
            <a:ext cx="4782312" cy="1088136"/>
          </a:xfrm>
          <a:prstGeom prst="rect">
            <a:avLst/>
          </a:prstGeom>
          <a:noFill/>
          <a:ln/>
        </p:spPr>
        <p:txBody>
          <a:bodyPr wrap="square" lIns="0" tIns="0" rIns="0" bIns="0" rtlCol="0" anchor="t"/>
          <a:lstStyle/>
          <a:p>
            <a:pPr marL="0" indent="0">
              <a:lnSpc>
                <a:spcPct val="102000"/>
              </a:lnSpc>
              <a:buNone/>
            </a:pPr>
            <a:r>
              <a:rPr lang="en-US" sz="1100" dirty="0">
                <a:solidFill>
                  <a:srgbClr val="6FD0E4"/>
                </a:solidFill>
                <a:latin typeface="Consolas" pitchFamily="34" charset="0"/>
                <a:ea typeface="Consolas" pitchFamily="34" charset="-122"/>
                <a:cs typeface="Consolas" pitchFamily="34" charset="-120"/>
              </a:rPr>
              <a:t>print</a:t>
            </a:r>
            <a:r>
              <a:rPr lang="en-US" sz="1100" dirty="0">
                <a:solidFill>
                  <a:srgbClr val="D6E6EF"/>
                </a:solidFill>
                <a:latin typeface="Consolas" pitchFamily="34" charset="0"/>
                <a:ea typeface="Consolas" pitchFamily="34" charset="-122"/>
                <a:cs typeface="Consolas" pitchFamily="34" charset="-120"/>
              </a:rPr>
              <a:t>([</a:t>
            </a:r>
            <a:r>
              <a:rPr lang="en-US" sz="1100" dirty="0">
                <a:solidFill>
                  <a:srgbClr val="F08A7C"/>
                </a:solidFill>
                <a:latin typeface="Consolas" pitchFamily="34" charset="0"/>
                <a:ea typeface="Consolas" pitchFamily="34" charset="-122"/>
                <a:cs typeface="Consolas" pitchFamily="34" charset="-120"/>
              </a:rPr>
              <a:t>1</a:t>
            </a:r>
            <a:r>
              <a:rPr lang="en-US" sz="1100" dirty="0">
                <a:solidFill>
                  <a:srgbClr val="D6E6EF"/>
                </a:solidFill>
                <a:latin typeface="Consolas" pitchFamily="34" charset="0"/>
                <a:ea typeface="Consolas" pitchFamily="34" charset="-122"/>
                <a:cs typeface="Consolas" pitchFamily="34" charset="-120"/>
              </a:rPr>
              <a:t>, </a:t>
            </a:r>
            <a:r>
              <a:rPr lang="en-US" sz="1100" dirty="0">
                <a:solidFill>
                  <a:srgbClr val="F08A7C"/>
                </a:solidFill>
                <a:latin typeface="Consolas" pitchFamily="34" charset="0"/>
                <a:ea typeface="Consolas" pitchFamily="34" charset="-122"/>
                <a:cs typeface="Consolas" pitchFamily="34" charset="-120"/>
              </a:rPr>
              <a:t>2</a:t>
            </a:r>
            <a:r>
              <a:rPr lang="en-US" sz="1100" dirty="0">
                <a:solidFill>
                  <a:srgbClr val="D6E6EF"/>
                </a:solidFill>
                <a:latin typeface="Consolas" pitchFamily="34" charset="0"/>
                <a:ea typeface="Consolas" pitchFamily="34" charset="-122"/>
                <a:cs typeface="Consolas" pitchFamily="34" charset="-120"/>
              </a:rPr>
              <a:t>, </a:t>
            </a:r>
            <a:r>
              <a:rPr lang="en-US" sz="1100" dirty="0">
                <a:solidFill>
                  <a:srgbClr val="F08A7C"/>
                </a:solidFill>
                <a:latin typeface="Consolas" pitchFamily="34" charset="0"/>
                <a:ea typeface="Consolas" pitchFamily="34" charset="-122"/>
                <a:cs typeface="Consolas" pitchFamily="34" charset="-120"/>
              </a:rPr>
              <a:t>3</a:t>
            </a:r>
            <a:r>
              <a:rPr lang="en-US" sz="1100" dirty="0">
                <a:solidFill>
                  <a:srgbClr val="D6E6EF"/>
                </a:solidFill>
                <a:latin typeface="Consolas" pitchFamily="34" charset="0"/>
                <a:ea typeface="Consolas" pitchFamily="34" charset="-122"/>
                <a:cs typeface="Consolas" pitchFamily="34" charset="-120"/>
              </a:rPr>
              <a:t>, </a:t>
            </a:r>
            <a:r>
              <a:rPr lang="en-US" sz="1100" dirty="0">
                <a:solidFill>
                  <a:srgbClr val="F08A7C"/>
                </a:solidFill>
                <a:latin typeface="Consolas" pitchFamily="34" charset="0"/>
                <a:ea typeface="Consolas" pitchFamily="34" charset="-122"/>
                <a:cs typeface="Consolas" pitchFamily="34" charset="-120"/>
              </a:rPr>
              <a:t>4</a:t>
            </a:r>
            <a:r>
              <a:rPr lang="en-US" sz="1100" dirty="0">
                <a:solidFill>
                  <a:srgbClr val="D6E6EF"/>
                </a:solidFill>
                <a:latin typeface="Consolas" pitchFamily="34" charset="0"/>
                <a:ea typeface="Consolas" pitchFamily="34" charset="-122"/>
                <a:cs typeface="Consolas" pitchFamily="34" charset="-120"/>
              </a:rPr>
              <a:t>] * </a:t>
            </a:r>
            <a:r>
              <a:rPr lang="en-US" sz="1100" dirty="0">
                <a:solidFill>
                  <a:srgbClr val="F08A7C"/>
                </a:solidFill>
                <a:latin typeface="Consolas" pitchFamily="34" charset="0"/>
                <a:ea typeface="Consolas" pitchFamily="34" charset="-122"/>
                <a:cs typeface="Consolas" pitchFamily="34" charset="-120"/>
              </a:rPr>
              <a:t>2</a:t>
            </a:r>
            <a:r>
              <a:rPr lang="en-US" sz="1100" dirty="0">
                <a:solidFill>
                  <a:srgbClr val="D6E6EF"/>
                </a:solidFill>
                <a:latin typeface="Consolas" pitchFamily="34" charset="0"/>
                <a:ea typeface="Consolas" pitchFamily="34" charset="-122"/>
                <a:cs typeface="Consolas" pitchFamily="34" charset="-120"/>
              </a:rPr>
              <a:t>)</a:t>
            </a:r>
            <a:endParaRPr lang="en-US" sz="1100" dirty="0"/>
          </a:p>
          <a:p>
            <a:pPr marL="0" indent="0">
              <a:lnSpc>
                <a:spcPct val="102000"/>
              </a:lnSpc>
              <a:buNone/>
            </a:pPr>
            <a:r>
              <a:rPr lang="en-US" sz="1100" dirty="0">
                <a:solidFill>
                  <a:srgbClr val="6FD0E4"/>
                </a:solidFill>
                <a:latin typeface="Consolas" pitchFamily="34" charset="0"/>
                <a:ea typeface="Consolas" pitchFamily="34" charset="-122"/>
                <a:cs typeface="Consolas" pitchFamily="34" charset="-120"/>
              </a:rPr>
              <a:t>print</a:t>
            </a:r>
            <a:r>
              <a:rPr lang="en-US" sz="1100" dirty="0">
                <a:solidFill>
                  <a:srgbClr val="D6E6EF"/>
                </a:solidFill>
                <a:latin typeface="Consolas" pitchFamily="34" charset="0"/>
                <a:ea typeface="Consolas" pitchFamily="34" charset="-122"/>
                <a:cs typeface="Consolas" pitchFamily="34" charset="-120"/>
              </a:rPr>
              <a:t>(</a:t>
            </a:r>
            <a:r>
              <a:rPr lang="en-US" sz="1100" dirty="0">
                <a:solidFill>
                  <a:srgbClr val="8AD9C0"/>
                </a:solidFill>
                <a:latin typeface="Consolas" pitchFamily="34" charset="0"/>
                <a:ea typeface="Consolas" pitchFamily="34" charset="-122"/>
                <a:cs typeface="Consolas" pitchFamily="34" charset="-120"/>
              </a:rPr>
              <a:t>np</a:t>
            </a:r>
            <a:r>
              <a:rPr lang="en-US" sz="1100" dirty="0">
                <a:solidFill>
                  <a:srgbClr val="D6E6EF"/>
                </a:solidFill>
                <a:latin typeface="Consolas" pitchFamily="34" charset="0"/>
                <a:ea typeface="Consolas" pitchFamily="34" charset="-122"/>
                <a:cs typeface="Consolas" pitchFamily="34" charset="-120"/>
              </a:rPr>
              <a:t>.array([</a:t>
            </a:r>
            <a:r>
              <a:rPr lang="en-US" sz="1100" dirty="0">
                <a:solidFill>
                  <a:srgbClr val="F08A7C"/>
                </a:solidFill>
                <a:latin typeface="Consolas" pitchFamily="34" charset="0"/>
                <a:ea typeface="Consolas" pitchFamily="34" charset="-122"/>
                <a:cs typeface="Consolas" pitchFamily="34" charset="-120"/>
              </a:rPr>
              <a:t>1</a:t>
            </a:r>
            <a:r>
              <a:rPr lang="en-US" sz="1100" dirty="0">
                <a:solidFill>
                  <a:srgbClr val="D6E6EF"/>
                </a:solidFill>
                <a:latin typeface="Consolas" pitchFamily="34" charset="0"/>
                <a:ea typeface="Consolas" pitchFamily="34" charset="-122"/>
                <a:cs typeface="Consolas" pitchFamily="34" charset="-120"/>
              </a:rPr>
              <a:t>, </a:t>
            </a:r>
            <a:r>
              <a:rPr lang="en-US" sz="1100" dirty="0">
                <a:solidFill>
                  <a:srgbClr val="F08A7C"/>
                </a:solidFill>
                <a:latin typeface="Consolas" pitchFamily="34" charset="0"/>
                <a:ea typeface="Consolas" pitchFamily="34" charset="-122"/>
                <a:cs typeface="Consolas" pitchFamily="34" charset="-120"/>
              </a:rPr>
              <a:t>2</a:t>
            </a:r>
            <a:r>
              <a:rPr lang="en-US" sz="1100" dirty="0">
                <a:solidFill>
                  <a:srgbClr val="D6E6EF"/>
                </a:solidFill>
                <a:latin typeface="Consolas" pitchFamily="34" charset="0"/>
                <a:ea typeface="Consolas" pitchFamily="34" charset="-122"/>
                <a:cs typeface="Consolas" pitchFamily="34" charset="-120"/>
              </a:rPr>
              <a:t>, </a:t>
            </a:r>
            <a:r>
              <a:rPr lang="en-US" sz="1100" dirty="0">
                <a:solidFill>
                  <a:srgbClr val="F08A7C"/>
                </a:solidFill>
                <a:latin typeface="Consolas" pitchFamily="34" charset="0"/>
                <a:ea typeface="Consolas" pitchFamily="34" charset="-122"/>
                <a:cs typeface="Consolas" pitchFamily="34" charset="-120"/>
              </a:rPr>
              <a:t>3</a:t>
            </a:r>
            <a:r>
              <a:rPr lang="en-US" sz="1100" dirty="0">
                <a:solidFill>
                  <a:srgbClr val="D6E6EF"/>
                </a:solidFill>
                <a:latin typeface="Consolas" pitchFamily="34" charset="0"/>
                <a:ea typeface="Consolas" pitchFamily="34" charset="-122"/>
                <a:cs typeface="Consolas" pitchFamily="34" charset="-120"/>
              </a:rPr>
              <a:t>, </a:t>
            </a:r>
            <a:r>
              <a:rPr lang="en-US" sz="1100" dirty="0">
                <a:solidFill>
                  <a:srgbClr val="F08A7C"/>
                </a:solidFill>
                <a:latin typeface="Consolas" pitchFamily="34" charset="0"/>
                <a:ea typeface="Consolas" pitchFamily="34" charset="-122"/>
                <a:cs typeface="Consolas" pitchFamily="34" charset="-120"/>
              </a:rPr>
              <a:t>4</a:t>
            </a:r>
            <a:r>
              <a:rPr lang="en-US" sz="1100" dirty="0">
                <a:solidFill>
                  <a:srgbClr val="D6E6EF"/>
                </a:solidFill>
                <a:latin typeface="Consolas" pitchFamily="34" charset="0"/>
                <a:ea typeface="Consolas" pitchFamily="34" charset="-122"/>
                <a:cs typeface="Consolas" pitchFamily="34" charset="-120"/>
              </a:rPr>
              <a:t>]) * </a:t>
            </a:r>
            <a:r>
              <a:rPr lang="en-US" sz="1100" dirty="0">
                <a:solidFill>
                  <a:srgbClr val="F08A7C"/>
                </a:solidFill>
                <a:latin typeface="Consolas" pitchFamily="34" charset="0"/>
                <a:ea typeface="Consolas" pitchFamily="34" charset="-122"/>
                <a:cs typeface="Consolas" pitchFamily="34" charset="-120"/>
              </a:rPr>
              <a:t>2</a:t>
            </a:r>
            <a:r>
              <a:rPr lang="en-US" sz="1100" dirty="0">
                <a:solidFill>
                  <a:srgbClr val="D6E6EF"/>
                </a:solidFill>
                <a:latin typeface="Consolas" pitchFamily="34" charset="0"/>
                <a:ea typeface="Consolas" pitchFamily="34" charset="-122"/>
                <a:cs typeface="Consolas" pitchFamily="34" charset="-120"/>
              </a:rPr>
              <a:t>)</a:t>
            </a:r>
            <a:endParaRPr lang="en-US" sz="1100" dirty="0"/>
          </a:p>
        </p:txBody>
      </p:sp>
      <p:sp>
        <p:nvSpPr>
          <p:cNvPr id="13" name="Shape 10"/>
          <p:cNvSpPr/>
          <p:nvPr/>
        </p:nvSpPr>
        <p:spPr>
          <a:xfrm>
            <a:off x="6537960" y="3108960"/>
            <a:ext cx="5074920" cy="1234440"/>
          </a:xfrm>
          <a:prstGeom prst="roundRect">
            <a:avLst>
              <a:gd name="adj" fmla="val 3704"/>
            </a:avLst>
          </a:prstGeom>
          <a:solidFill>
            <a:srgbClr val="FFFFFF"/>
          </a:solidFill>
          <a:ln w="9525">
            <a:solidFill>
              <a:srgbClr val="CFE5EE"/>
            </a:solidFill>
            <a:prstDash val="solid"/>
          </a:ln>
        </p:spPr>
      </p:sp>
      <p:sp>
        <p:nvSpPr>
          <p:cNvPr id="14" name="Text 11"/>
          <p:cNvSpPr/>
          <p:nvPr/>
        </p:nvSpPr>
        <p:spPr>
          <a:xfrm>
            <a:off x="6684264" y="3200400"/>
            <a:ext cx="4800600" cy="164592"/>
          </a:xfrm>
          <a:prstGeom prst="rect">
            <a:avLst/>
          </a:prstGeom>
          <a:noFill/>
          <a:ln/>
        </p:spPr>
        <p:txBody>
          <a:bodyPr wrap="square" lIns="0" tIns="0" rIns="0" bIns="0" rtlCol="0" anchor="t"/>
          <a:lstStyle/>
          <a:p>
            <a:pPr marL="0" indent="0">
              <a:buNone/>
            </a:pPr>
            <a:r>
              <a:rPr lang="en-US" sz="800" b="1" kern="0" spc="120" dirty="0">
                <a:solidFill>
                  <a:srgbClr val="2D8C6F"/>
                </a:solidFill>
                <a:latin typeface="Segoe UI" pitchFamily="34" charset="0"/>
                <a:ea typeface="Segoe UI" pitchFamily="34" charset="-122"/>
                <a:cs typeface="Segoe UI" pitchFamily="34" charset="-120"/>
              </a:rPr>
              <a:t>KẾT QUẢ</a:t>
            </a:r>
            <a:endParaRPr lang="en-US" sz="800" dirty="0"/>
          </a:p>
        </p:txBody>
      </p:sp>
      <p:sp>
        <p:nvSpPr>
          <p:cNvPr id="15" name="Text 12"/>
          <p:cNvSpPr/>
          <p:nvPr/>
        </p:nvSpPr>
        <p:spPr>
          <a:xfrm>
            <a:off x="6684264" y="3419856"/>
            <a:ext cx="4800600" cy="850392"/>
          </a:xfrm>
          <a:prstGeom prst="rect">
            <a:avLst/>
          </a:prstGeom>
          <a:noFill/>
          <a:ln/>
        </p:spPr>
        <p:txBody>
          <a:bodyPr wrap="square" lIns="0" tIns="0" rIns="0" bIns="0" rtlCol="0" anchor="t"/>
          <a:lstStyle/>
          <a:p>
            <a:pPr marL="0" indent="0">
              <a:lnSpc>
                <a:spcPct val="102000"/>
              </a:lnSpc>
              <a:buNone/>
            </a:pPr>
            <a:r>
              <a:rPr lang="en-US" sz="1050" dirty="0">
                <a:solidFill>
                  <a:srgbClr val="062A3A"/>
                </a:solidFill>
                <a:latin typeface="Consolas" pitchFamily="34" charset="0"/>
                <a:ea typeface="Consolas" pitchFamily="34" charset="-122"/>
                <a:cs typeface="Consolas" pitchFamily="34" charset="-120"/>
              </a:rPr>
              <a:t>[1, 2, 3, 4, 1, 2, 3, 4]</a:t>
            </a:r>
            <a:endParaRPr lang="en-US" sz="1050" dirty="0"/>
          </a:p>
          <a:p>
            <a:pPr marL="0" indent="0">
              <a:lnSpc>
                <a:spcPct val="102000"/>
              </a:lnSpc>
              <a:buNone/>
            </a:pPr>
            <a:r>
              <a:rPr lang="en-US" sz="1050" dirty="0">
                <a:solidFill>
                  <a:srgbClr val="062A3A"/>
                </a:solidFill>
                <a:latin typeface="Consolas" pitchFamily="34" charset="0"/>
                <a:ea typeface="Consolas" pitchFamily="34" charset="-122"/>
                <a:cs typeface="Consolas" pitchFamily="34" charset="-120"/>
              </a:rPr>
              <a:t>[2 4 6 8]</a:t>
            </a:r>
            <a:endParaRPr lang="en-US" sz="1050" dirty="0"/>
          </a:p>
        </p:txBody>
      </p:sp>
      <p:sp>
        <p:nvSpPr>
          <p:cNvPr id="16" name="Shape 13"/>
          <p:cNvSpPr/>
          <p:nvPr/>
        </p:nvSpPr>
        <p:spPr>
          <a:xfrm>
            <a:off x="6537960" y="4526280"/>
            <a:ext cx="5074920" cy="822960"/>
          </a:xfrm>
          <a:prstGeom prst="roundRect">
            <a:avLst>
              <a:gd name="adj" fmla="val 6667"/>
            </a:avLst>
          </a:prstGeom>
          <a:solidFill>
            <a:srgbClr val="FFF6E7"/>
          </a:solidFill>
          <a:ln w="9525">
            <a:solidFill>
              <a:srgbClr val="F0D8B4"/>
            </a:solidFill>
            <a:prstDash val="solid"/>
          </a:ln>
        </p:spPr>
      </p:sp>
      <p:sp>
        <p:nvSpPr>
          <p:cNvPr id="17" name="Text 14"/>
          <p:cNvSpPr/>
          <p:nvPr/>
        </p:nvSpPr>
        <p:spPr>
          <a:xfrm>
            <a:off x="6702552" y="4526280"/>
            <a:ext cx="4754880" cy="822960"/>
          </a:xfrm>
          <a:prstGeom prst="rect">
            <a:avLst/>
          </a:prstGeom>
          <a:noFill/>
          <a:ln/>
        </p:spPr>
        <p:txBody>
          <a:bodyPr wrap="square" lIns="0" tIns="0" rIns="0" bIns="0" rtlCol="0" anchor="ctr"/>
          <a:lstStyle/>
          <a:p>
            <a:pPr marL="0" indent="0">
              <a:buNone/>
            </a:pPr>
            <a:r>
              <a:rPr lang="en-US" sz="1150" b="1" dirty="0">
                <a:solidFill>
                  <a:srgbClr val="9A6412"/>
                </a:solidFill>
                <a:latin typeface="Segoe UI" pitchFamily="34" charset="0"/>
                <a:ea typeface="Segoe UI" pitchFamily="34" charset="-122"/>
                <a:cs typeface="Segoe UI" pitchFamily="34" charset="-120"/>
              </a:rPr>
              <a:t>Cùng một toán tử * — hai ngữ nghĩa hoàn toàn khác.</a:t>
            </a:r>
            <a:endParaRPr lang="en-US" sz="1150" dirty="0"/>
          </a:p>
        </p:txBody>
      </p:sp>
      <p:sp>
        <p:nvSpPr>
          <p:cNvPr id="18" name="Shape 15"/>
          <p:cNvSpPr/>
          <p:nvPr/>
        </p:nvSpPr>
        <p:spPr>
          <a:xfrm>
            <a:off x="548640" y="5029200"/>
            <a:ext cx="5760720" cy="914400"/>
          </a:xfrm>
          <a:prstGeom prst="roundRect">
            <a:avLst>
              <a:gd name="adj" fmla="val 6000"/>
            </a:avLst>
          </a:prstGeom>
          <a:solidFill>
            <a:srgbClr val="EAF4F8"/>
          </a:solidFill>
          <a:ln w="9525">
            <a:solidFill>
              <a:srgbClr val="CFE5EE"/>
            </a:solidFill>
            <a:prstDash val="solid"/>
          </a:ln>
        </p:spPr>
      </p:sp>
      <p:sp>
        <p:nvSpPr>
          <p:cNvPr id="19" name="Text 16"/>
          <p:cNvSpPr/>
          <p:nvPr/>
        </p:nvSpPr>
        <p:spPr>
          <a:xfrm>
            <a:off x="749808" y="5029200"/>
            <a:ext cx="5394960" cy="914400"/>
          </a:xfrm>
          <a:prstGeom prst="rect">
            <a:avLst/>
          </a:prstGeom>
          <a:noFill/>
          <a:ln/>
        </p:spPr>
        <p:txBody>
          <a:bodyPr wrap="square" lIns="0" tIns="0" rIns="0" bIns="0" rtlCol="0" anchor="ctr"/>
          <a:lstStyle/>
          <a:p>
            <a:pPr marL="0" indent="0">
              <a:lnSpc>
                <a:spcPct val="112000"/>
              </a:lnSpc>
              <a:buNone/>
            </a:pPr>
            <a:r>
              <a:rPr lang="en-US" sz="980" dirty="0">
                <a:solidFill>
                  <a:srgbClr val="415A6B"/>
                </a:solidFill>
                <a:latin typeface="Segoe UI" pitchFamily="34" charset="0"/>
                <a:ea typeface="Segoe UI" pitchFamily="34" charset="-122"/>
                <a:cs typeface="Segoe UI" pitchFamily="34" charset="-120"/>
              </a:rPr>
              <a:t>Chọn cấu trúc dữ liệu theo phép toán cần làm, không chỉ theo cách lưu: list linh hoạt, ndarray tối ưu cho tính toán số.</a:t>
            </a:r>
            <a:endParaRPr lang="en-US" sz="980" dirty="0"/>
          </a:p>
        </p:txBody>
      </p:sp>
      <p:sp>
        <p:nvSpPr>
          <p:cNvPr id="20" name="Shape 17"/>
          <p:cNvSpPr/>
          <p:nvPr/>
        </p:nvSpPr>
        <p:spPr>
          <a:xfrm>
            <a:off x="548640" y="6391656"/>
            <a:ext cx="11091672" cy="9144"/>
          </a:xfrm>
          <a:prstGeom prst="rect">
            <a:avLst/>
          </a:prstGeom>
          <a:solidFill>
            <a:srgbClr val="D7E5EC"/>
          </a:solidFill>
          <a:ln w="12700">
            <a:solidFill>
              <a:srgbClr val="D7E5EC"/>
            </a:solidFill>
            <a:prstDash val="solid"/>
          </a:ln>
        </p:spPr>
      </p:sp>
      <p:sp>
        <p:nvSpPr>
          <p:cNvPr id="21" name="Text 18"/>
          <p:cNvSpPr/>
          <p:nvPr/>
        </p:nvSpPr>
        <p:spPr>
          <a:xfrm>
            <a:off x="548640" y="6473952"/>
            <a:ext cx="7772400" cy="182880"/>
          </a:xfrm>
          <a:prstGeom prst="rect">
            <a:avLst/>
          </a:prstGeom>
          <a:noFill/>
          <a:ln/>
        </p:spPr>
        <p:txBody>
          <a:bodyPr wrap="square" lIns="0" tIns="0" rIns="0" bIns="0" rtlCol="0" anchor="t"/>
          <a:lstStyle/>
          <a:p>
            <a:pPr marL="0" indent="0">
              <a:buNone/>
            </a:pPr>
            <a:r>
              <a:rPr lang="en-US" sz="850" dirty="0">
                <a:solidFill>
                  <a:srgbClr val="728694"/>
                </a:solidFill>
                <a:latin typeface="Segoe UI" pitchFamily="34" charset="0"/>
                <a:ea typeface="Segoe UI" pitchFamily="34" charset="-122"/>
                <a:cs typeface="Segoe UI" pitchFamily="34" charset="-120"/>
              </a:rPr>
              <a:t>Tìm hiểu thư viện NumPy trong Python</a:t>
            </a:r>
            <a:endParaRPr lang="en-US" sz="850" dirty="0"/>
          </a:p>
        </p:txBody>
      </p:sp>
      <p:sp>
        <p:nvSpPr>
          <p:cNvPr id="22" name="Text 19"/>
          <p:cNvSpPr/>
          <p:nvPr/>
        </p:nvSpPr>
        <p:spPr>
          <a:xfrm>
            <a:off x="10698480" y="6473952"/>
            <a:ext cx="941832" cy="182880"/>
          </a:xfrm>
          <a:prstGeom prst="rect">
            <a:avLst/>
          </a:prstGeom>
          <a:noFill/>
          <a:ln/>
        </p:spPr>
        <p:txBody>
          <a:bodyPr wrap="square" lIns="0" tIns="0" rIns="0" bIns="0" rtlCol="0" anchor="t"/>
          <a:lstStyle/>
          <a:p>
            <a:pPr marL="0" indent="0" algn="r">
              <a:buNone/>
            </a:pPr>
            <a:r>
              <a:rPr lang="en-US" sz="850" dirty="0">
                <a:solidFill>
                  <a:srgbClr val="728694"/>
                </a:solidFill>
                <a:latin typeface="Segoe UI" pitchFamily="34" charset="0"/>
                <a:ea typeface="Segoe UI" pitchFamily="34" charset="-122"/>
                <a:cs typeface="Segoe UI" pitchFamily="34" charset="-120"/>
              </a:rPr>
              <a:t>08 / 25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301752"/>
            <a:ext cx="10881360" cy="201168"/>
          </a:xfrm>
          <a:prstGeom prst="rect">
            <a:avLst/>
          </a:prstGeom>
          <a:noFill/>
          <a:ln/>
        </p:spPr>
        <p:txBody>
          <a:bodyPr wrap="square" lIns="0" tIns="0" rIns="0" bIns="0" rtlCol="0" anchor="t"/>
          <a:lstStyle/>
          <a:p>
            <a:pPr marL="0" indent="0">
              <a:buNone/>
            </a:pPr>
            <a:r>
              <a:rPr lang="en-US" sz="950" b="1" kern="0" spc="160" dirty="0">
                <a:solidFill>
                  <a:srgbClr val="1B8EA8"/>
                </a:solidFill>
                <a:latin typeface="Segoe UI" pitchFamily="34" charset="0"/>
                <a:ea typeface="Segoe UI" pitchFamily="34" charset="-122"/>
                <a:cs typeface="Segoe UI" pitchFamily="34" charset="-120"/>
              </a:rPr>
              <a:t>02 · CẤU TRÚC MẢNG</a:t>
            </a:r>
            <a:endParaRPr lang="en-US" sz="950" dirty="0"/>
          </a:p>
        </p:txBody>
      </p:sp>
      <p:sp>
        <p:nvSpPr>
          <p:cNvPr id="3" name="Text 1"/>
          <p:cNvSpPr/>
          <p:nvPr/>
        </p:nvSpPr>
        <p:spPr>
          <a:xfrm>
            <a:off x="548640" y="502920"/>
            <a:ext cx="10881360" cy="640080"/>
          </a:xfrm>
          <a:prstGeom prst="rect">
            <a:avLst/>
          </a:prstGeom>
          <a:noFill/>
          <a:ln/>
        </p:spPr>
        <p:txBody>
          <a:bodyPr wrap="square" lIns="0" tIns="0" rIns="0" bIns="0" rtlCol="0" anchor="ctr"/>
          <a:lstStyle/>
          <a:p>
            <a:pPr marL="0" indent="0">
              <a:buNone/>
            </a:pPr>
            <a:r>
              <a:rPr lang="en-US" sz="2800" b="1" dirty="0">
                <a:solidFill>
                  <a:srgbClr val="062A3A"/>
                </a:solidFill>
                <a:latin typeface="Segoe UI" pitchFamily="34" charset="0"/>
                <a:ea typeface="Segoe UI" pitchFamily="34" charset="-122"/>
                <a:cs typeface="Segoe UI" pitchFamily="34" charset="-120"/>
              </a:rPr>
              <a:t>0-D, 1-D, 2-D và nhiều chiều</a:t>
            </a:r>
            <a:endParaRPr lang="en-US" sz="2800" dirty="0"/>
          </a:p>
        </p:txBody>
      </p:sp>
      <p:sp>
        <p:nvSpPr>
          <p:cNvPr id="4" name="Shape 2"/>
          <p:cNvSpPr/>
          <p:nvPr/>
        </p:nvSpPr>
        <p:spPr>
          <a:xfrm>
            <a:off x="548640" y="1225296"/>
            <a:ext cx="868680" cy="41148"/>
          </a:xfrm>
          <a:prstGeom prst="rect">
            <a:avLst/>
          </a:prstGeom>
          <a:solidFill>
            <a:srgbClr val="1B8EA8"/>
          </a:solidFill>
          <a:ln w="12700">
            <a:solidFill>
              <a:srgbClr val="1B8EA8"/>
            </a:solidFill>
            <a:prstDash val="solid"/>
          </a:ln>
        </p:spPr>
      </p:sp>
      <p:sp>
        <p:nvSpPr>
          <p:cNvPr id="5" name="Shape 3"/>
          <p:cNvSpPr/>
          <p:nvPr/>
        </p:nvSpPr>
        <p:spPr>
          <a:xfrm>
            <a:off x="548640" y="1463040"/>
            <a:ext cx="2670048" cy="2423160"/>
          </a:xfrm>
          <a:prstGeom prst="roundRect">
            <a:avLst>
              <a:gd name="adj" fmla="val 2264"/>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6" name="Text 4"/>
          <p:cNvSpPr/>
          <p:nvPr/>
        </p:nvSpPr>
        <p:spPr>
          <a:xfrm>
            <a:off x="749808" y="1600200"/>
            <a:ext cx="914400" cy="292608"/>
          </a:xfrm>
          <a:prstGeom prst="rect">
            <a:avLst/>
          </a:prstGeom>
          <a:noFill/>
          <a:ln/>
        </p:spPr>
        <p:txBody>
          <a:bodyPr wrap="square" lIns="0" tIns="0" rIns="0" bIns="0" rtlCol="0" anchor="t"/>
          <a:lstStyle/>
          <a:p>
            <a:pPr marL="0" indent="0">
              <a:buNone/>
            </a:pPr>
            <a:r>
              <a:rPr lang="en-US" sz="1500" b="1" dirty="0">
                <a:solidFill>
                  <a:srgbClr val="1B8EA8"/>
                </a:solidFill>
                <a:latin typeface="Consolas" pitchFamily="34" charset="0"/>
                <a:ea typeface="Consolas" pitchFamily="34" charset="-122"/>
                <a:cs typeface="Consolas" pitchFamily="34" charset="-120"/>
              </a:rPr>
              <a:t>0-D</a:t>
            </a:r>
            <a:endParaRPr lang="en-US" sz="1500" dirty="0"/>
          </a:p>
        </p:txBody>
      </p:sp>
      <p:sp>
        <p:nvSpPr>
          <p:cNvPr id="7" name="Text 5"/>
          <p:cNvSpPr/>
          <p:nvPr/>
        </p:nvSpPr>
        <p:spPr>
          <a:xfrm>
            <a:off x="1417320" y="1627632"/>
            <a:ext cx="1645920" cy="256032"/>
          </a:xfrm>
          <a:prstGeom prst="rect">
            <a:avLst/>
          </a:prstGeom>
          <a:noFill/>
          <a:ln/>
        </p:spPr>
        <p:txBody>
          <a:bodyPr wrap="square" lIns="0" tIns="0" rIns="0" bIns="0" rtlCol="0" anchor="t"/>
          <a:lstStyle/>
          <a:p>
            <a:pPr marL="0" indent="0">
              <a:buNone/>
            </a:pPr>
            <a:r>
              <a:rPr lang="en-US" sz="1000" dirty="0">
                <a:solidFill>
                  <a:srgbClr val="728694"/>
                </a:solidFill>
                <a:latin typeface="Segoe UI" pitchFamily="34" charset="0"/>
                <a:ea typeface="Segoe UI" pitchFamily="34" charset="-122"/>
                <a:cs typeface="Segoe UI" pitchFamily="34" charset="-120"/>
              </a:rPr>
              <a:t>Một giá trị</a:t>
            </a:r>
            <a:endParaRPr lang="en-US" sz="1000" dirty="0"/>
          </a:p>
        </p:txBody>
      </p:sp>
      <p:sp>
        <p:nvSpPr>
          <p:cNvPr id="8" name="Shape 6"/>
          <p:cNvSpPr/>
          <p:nvPr/>
        </p:nvSpPr>
        <p:spPr>
          <a:xfrm>
            <a:off x="1554480" y="2377440"/>
            <a:ext cx="384048" cy="384048"/>
          </a:xfrm>
          <a:prstGeom prst="rect">
            <a:avLst/>
          </a:prstGeom>
          <a:solidFill>
            <a:srgbClr val="4DB8D4"/>
          </a:solidFill>
          <a:ln w="12700">
            <a:solidFill>
              <a:srgbClr val="FFFFFF"/>
            </a:solidFill>
            <a:prstDash val="solid"/>
          </a:ln>
        </p:spPr>
      </p:sp>
      <p:sp>
        <p:nvSpPr>
          <p:cNvPr id="9" name="Text 7"/>
          <p:cNvSpPr/>
          <p:nvPr/>
        </p:nvSpPr>
        <p:spPr>
          <a:xfrm>
            <a:off x="1554480" y="237744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onsolas" pitchFamily="34" charset="0"/>
                <a:ea typeface="Consolas" pitchFamily="34" charset="-122"/>
                <a:cs typeface="Consolas" pitchFamily="34" charset="-120"/>
              </a:rPr>
              <a:t>7</a:t>
            </a:r>
            <a:endParaRPr lang="en-US" sz="1200" dirty="0"/>
          </a:p>
        </p:txBody>
      </p:sp>
      <p:sp>
        <p:nvSpPr>
          <p:cNvPr id="10" name="Text 8"/>
          <p:cNvSpPr/>
          <p:nvPr/>
        </p:nvSpPr>
        <p:spPr>
          <a:xfrm>
            <a:off x="749808" y="3246120"/>
            <a:ext cx="2286000" cy="274320"/>
          </a:xfrm>
          <a:prstGeom prst="rect">
            <a:avLst/>
          </a:prstGeom>
          <a:noFill/>
          <a:ln/>
        </p:spPr>
        <p:txBody>
          <a:bodyPr wrap="square" lIns="0" tIns="0" rIns="0" bIns="0" rtlCol="0" anchor="t"/>
          <a:lstStyle/>
          <a:p>
            <a:pPr marL="0" indent="0">
              <a:buNone/>
            </a:pPr>
            <a:r>
              <a:rPr lang="en-US" sz="1100" b="1" dirty="0">
                <a:solidFill>
                  <a:srgbClr val="062A3A"/>
                </a:solidFill>
                <a:latin typeface="Consolas" pitchFamily="34" charset="0"/>
                <a:ea typeface="Consolas" pitchFamily="34" charset="-122"/>
                <a:cs typeface="Consolas" pitchFamily="34" charset="-120"/>
              </a:rPr>
              <a:t>shape ()</a:t>
            </a:r>
            <a:endParaRPr lang="en-US" sz="1100" dirty="0"/>
          </a:p>
        </p:txBody>
      </p:sp>
      <p:sp>
        <p:nvSpPr>
          <p:cNvPr id="11" name="Shape 9"/>
          <p:cNvSpPr/>
          <p:nvPr/>
        </p:nvSpPr>
        <p:spPr>
          <a:xfrm>
            <a:off x="3355848" y="1463040"/>
            <a:ext cx="2670048" cy="2423160"/>
          </a:xfrm>
          <a:prstGeom prst="roundRect">
            <a:avLst>
              <a:gd name="adj" fmla="val 2264"/>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12" name="Text 10"/>
          <p:cNvSpPr/>
          <p:nvPr/>
        </p:nvSpPr>
        <p:spPr>
          <a:xfrm>
            <a:off x="3557016" y="1600200"/>
            <a:ext cx="914400" cy="292608"/>
          </a:xfrm>
          <a:prstGeom prst="rect">
            <a:avLst/>
          </a:prstGeom>
          <a:noFill/>
          <a:ln/>
        </p:spPr>
        <p:txBody>
          <a:bodyPr wrap="square" lIns="0" tIns="0" rIns="0" bIns="0" rtlCol="0" anchor="t"/>
          <a:lstStyle/>
          <a:p>
            <a:pPr marL="0" indent="0">
              <a:buNone/>
            </a:pPr>
            <a:r>
              <a:rPr lang="en-US" sz="1500" b="1" dirty="0">
                <a:solidFill>
                  <a:srgbClr val="1B8EA8"/>
                </a:solidFill>
                <a:latin typeface="Consolas" pitchFamily="34" charset="0"/>
                <a:ea typeface="Consolas" pitchFamily="34" charset="-122"/>
                <a:cs typeface="Consolas" pitchFamily="34" charset="-120"/>
              </a:rPr>
              <a:t>1-D</a:t>
            </a:r>
            <a:endParaRPr lang="en-US" sz="1500" dirty="0"/>
          </a:p>
        </p:txBody>
      </p:sp>
      <p:sp>
        <p:nvSpPr>
          <p:cNvPr id="13" name="Text 11"/>
          <p:cNvSpPr/>
          <p:nvPr/>
        </p:nvSpPr>
        <p:spPr>
          <a:xfrm>
            <a:off x="4224528" y="1627632"/>
            <a:ext cx="1645920" cy="256032"/>
          </a:xfrm>
          <a:prstGeom prst="rect">
            <a:avLst/>
          </a:prstGeom>
          <a:noFill/>
          <a:ln/>
        </p:spPr>
        <p:txBody>
          <a:bodyPr wrap="square" lIns="0" tIns="0" rIns="0" bIns="0" rtlCol="0" anchor="t"/>
          <a:lstStyle/>
          <a:p>
            <a:pPr marL="0" indent="0">
              <a:buNone/>
            </a:pPr>
            <a:r>
              <a:rPr lang="en-US" sz="1000" dirty="0">
                <a:solidFill>
                  <a:srgbClr val="728694"/>
                </a:solidFill>
                <a:latin typeface="Segoe UI" pitchFamily="34" charset="0"/>
                <a:ea typeface="Segoe UI" pitchFamily="34" charset="-122"/>
                <a:cs typeface="Segoe UI" pitchFamily="34" charset="-120"/>
              </a:rPr>
              <a:t>Một dãy</a:t>
            </a:r>
            <a:endParaRPr lang="en-US" sz="1000" dirty="0"/>
          </a:p>
        </p:txBody>
      </p:sp>
      <p:sp>
        <p:nvSpPr>
          <p:cNvPr id="14" name="Shape 12"/>
          <p:cNvSpPr/>
          <p:nvPr/>
        </p:nvSpPr>
        <p:spPr>
          <a:xfrm>
            <a:off x="3995928" y="2377440"/>
            <a:ext cx="310896" cy="384048"/>
          </a:xfrm>
          <a:prstGeom prst="rect">
            <a:avLst/>
          </a:prstGeom>
          <a:solidFill>
            <a:srgbClr val="EAF4F8"/>
          </a:solidFill>
          <a:ln w="9525">
            <a:solidFill>
              <a:srgbClr val="A9CDDB"/>
            </a:solidFill>
            <a:prstDash val="solid"/>
          </a:ln>
        </p:spPr>
      </p:sp>
      <p:sp>
        <p:nvSpPr>
          <p:cNvPr id="15" name="Text 13"/>
          <p:cNvSpPr/>
          <p:nvPr/>
        </p:nvSpPr>
        <p:spPr>
          <a:xfrm>
            <a:off x="3995928" y="2377440"/>
            <a:ext cx="310896" cy="384048"/>
          </a:xfrm>
          <a:prstGeom prst="rect">
            <a:avLst/>
          </a:prstGeom>
          <a:noFill/>
          <a:ln/>
        </p:spPr>
        <p:txBody>
          <a:bodyPr wrap="square" lIns="0" tIns="0" rIns="0" bIns="0" rtlCol="0" anchor="ctr"/>
          <a:lstStyle/>
          <a:p>
            <a:pPr marL="0" indent="0" algn="ctr">
              <a:buNone/>
            </a:pPr>
            <a:r>
              <a:rPr lang="en-US" sz="1000" dirty="0">
                <a:solidFill>
                  <a:srgbClr val="062A3A"/>
                </a:solidFill>
                <a:latin typeface="Consolas" pitchFamily="34" charset="0"/>
                <a:ea typeface="Consolas" pitchFamily="34" charset="-122"/>
                <a:cs typeface="Consolas" pitchFamily="34" charset="-120"/>
              </a:rPr>
              <a:t>1</a:t>
            </a:r>
            <a:endParaRPr lang="en-US" sz="1000" dirty="0"/>
          </a:p>
        </p:txBody>
      </p:sp>
      <p:sp>
        <p:nvSpPr>
          <p:cNvPr id="16" name="Shape 14"/>
          <p:cNvSpPr/>
          <p:nvPr/>
        </p:nvSpPr>
        <p:spPr>
          <a:xfrm>
            <a:off x="4306824" y="2377440"/>
            <a:ext cx="310896" cy="384048"/>
          </a:xfrm>
          <a:prstGeom prst="rect">
            <a:avLst/>
          </a:prstGeom>
          <a:solidFill>
            <a:srgbClr val="EAF4F8"/>
          </a:solidFill>
          <a:ln w="9525">
            <a:solidFill>
              <a:srgbClr val="A9CDDB"/>
            </a:solidFill>
            <a:prstDash val="solid"/>
          </a:ln>
        </p:spPr>
      </p:sp>
      <p:sp>
        <p:nvSpPr>
          <p:cNvPr id="17" name="Text 15"/>
          <p:cNvSpPr/>
          <p:nvPr/>
        </p:nvSpPr>
        <p:spPr>
          <a:xfrm>
            <a:off x="4306824" y="2377440"/>
            <a:ext cx="310896" cy="384048"/>
          </a:xfrm>
          <a:prstGeom prst="rect">
            <a:avLst/>
          </a:prstGeom>
          <a:noFill/>
          <a:ln/>
        </p:spPr>
        <p:txBody>
          <a:bodyPr wrap="square" lIns="0" tIns="0" rIns="0" bIns="0" rtlCol="0" anchor="ctr"/>
          <a:lstStyle/>
          <a:p>
            <a:pPr marL="0" indent="0" algn="ctr">
              <a:buNone/>
            </a:pPr>
            <a:r>
              <a:rPr lang="en-US" sz="1000" dirty="0">
                <a:solidFill>
                  <a:srgbClr val="062A3A"/>
                </a:solidFill>
                <a:latin typeface="Consolas" pitchFamily="34" charset="0"/>
                <a:ea typeface="Consolas" pitchFamily="34" charset="-122"/>
                <a:cs typeface="Consolas" pitchFamily="34" charset="-120"/>
              </a:rPr>
              <a:t>2</a:t>
            </a:r>
            <a:endParaRPr lang="en-US" sz="1000" dirty="0"/>
          </a:p>
        </p:txBody>
      </p:sp>
      <p:sp>
        <p:nvSpPr>
          <p:cNvPr id="18" name="Shape 16"/>
          <p:cNvSpPr/>
          <p:nvPr/>
        </p:nvSpPr>
        <p:spPr>
          <a:xfrm>
            <a:off x="4617720" y="2377440"/>
            <a:ext cx="310896" cy="384048"/>
          </a:xfrm>
          <a:prstGeom prst="rect">
            <a:avLst/>
          </a:prstGeom>
          <a:solidFill>
            <a:srgbClr val="EAF4F8"/>
          </a:solidFill>
          <a:ln w="9525">
            <a:solidFill>
              <a:srgbClr val="A9CDDB"/>
            </a:solidFill>
            <a:prstDash val="solid"/>
          </a:ln>
        </p:spPr>
      </p:sp>
      <p:sp>
        <p:nvSpPr>
          <p:cNvPr id="19" name="Text 17"/>
          <p:cNvSpPr/>
          <p:nvPr/>
        </p:nvSpPr>
        <p:spPr>
          <a:xfrm>
            <a:off x="4617720" y="2377440"/>
            <a:ext cx="310896" cy="384048"/>
          </a:xfrm>
          <a:prstGeom prst="rect">
            <a:avLst/>
          </a:prstGeom>
          <a:noFill/>
          <a:ln/>
        </p:spPr>
        <p:txBody>
          <a:bodyPr wrap="square" lIns="0" tIns="0" rIns="0" bIns="0" rtlCol="0" anchor="ctr"/>
          <a:lstStyle/>
          <a:p>
            <a:pPr marL="0" indent="0" algn="ctr">
              <a:buNone/>
            </a:pPr>
            <a:r>
              <a:rPr lang="en-US" sz="1000" dirty="0">
                <a:solidFill>
                  <a:srgbClr val="062A3A"/>
                </a:solidFill>
                <a:latin typeface="Consolas" pitchFamily="34" charset="0"/>
                <a:ea typeface="Consolas" pitchFamily="34" charset="-122"/>
                <a:cs typeface="Consolas" pitchFamily="34" charset="-120"/>
              </a:rPr>
              <a:t>3</a:t>
            </a:r>
            <a:endParaRPr lang="en-US" sz="1000" dirty="0"/>
          </a:p>
        </p:txBody>
      </p:sp>
      <p:sp>
        <p:nvSpPr>
          <p:cNvPr id="20" name="Text 18"/>
          <p:cNvSpPr/>
          <p:nvPr/>
        </p:nvSpPr>
        <p:spPr>
          <a:xfrm>
            <a:off x="3557016" y="3246120"/>
            <a:ext cx="2286000" cy="274320"/>
          </a:xfrm>
          <a:prstGeom prst="rect">
            <a:avLst/>
          </a:prstGeom>
          <a:noFill/>
          <a:ln/>
        </p:spPr>
        <p:txBody>
          <a:bodyPr wrap="square" lIns="0" tIns="0" rIns="0" bIns="0" rtlCol="0" anchor="t"/>
          <a:lstStyle/>
          <a:p>
            <a:pPr marL="0" indent="0">
              <a:buNone/>
            </a:pPr>
            <a:r>
              <a:rPr lang="en-US" sz="1100" b="1" dirty="0">
                <a:solidFill>
                  <a:srgbClr val="062A3A"/>
                </a:solidFill>
                <a:latin typeface="Consolas" pitchFamily="34" charset="0"/>
                <a:ea typeface="Consolas" pitchFamily="34" charset="-122"/>
                <a:cs typeface="Consolas" pitchFamily="34" charset="-120"/>
              </a:rPr>
              <a:t>shape (3,)</a:t>
            </a:r>
            <a:endParaRPr lang="en-US" sz="1100" dirty="0"/>
          </a:p>
        </p:txBody>
      </p:sp>
      <p:sp>
        <p:nvSpPr>
          <p:cNvPr id="21" name="Shape 19"/>
          <p:cNvSpPr/>
          <p:nvPr/>
        </p:nvSpPr>
        <p:spPr>
          <a:xfrm>
            <a:off x="6163056" y="1463040"/>
            <a:ext cx="2670048" cy="2423160"/>
          </a:xfrm>
          <a:prstGeom prst="roundRect">
            <a:avLst>
              <a:gd name="adj" fmla="val 2264"/>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22" name="Text 20"/>
          <p:cNvSpPr/>
          <p:nvPr/>
        </p:nvSpPr>
        <p:spPr>
          <a:xfrm>
            <a:off x="6364224" y="1600200"/>
            <a:ext cx="914400" cy="292608"/>
          </a:xfrm>
          <a:prstGeom prst="rect">
            <a:avLst/>
          </a:prstGeom>
          <a:noFill/>
          <a:ln/>
        </p:spPr>
        <p:txBody>
          <a:bodyPr wrap="square" lIns="0" tIns="0" rIns="0" bIns="0" rtlCol="0" anchor="t"/>
          <a:lstStyle/>
          <a:p>
            <a:pPr marL="0" indent="0">
              <a:buNone/>
            </a:pPr>
            <a:r>
              <a:rPr lang="en-US" sz="1500" b="1" dirty="0">
                <a:solidFill>
                  <a:srgbClr val="1B8EA8"/>
                </a:solidFill>
                <a:latin typeface="Consolas" pitchFamily="34" charset="0"/>
                <a:ea typeface="Consolas" pitchFamily="34" charset="-122"/>
                <a:cs typeface="Consolas" pitchFamily="34" charset="-120"/>
              </a:rPr>
              <a:t>2-D</a:t>
            </a:r>
            <a:endParaRPr lang="en-US" sz="1500" dirty="0"/>
          </a:p>
        </p:txBody>
      </p:sp>
      <p:sp>
        <p:nvSpPr>
          <p:cNvPr id="23" name="Text 21"/>
          <p:cNvSpPr/>
          <p:nvPr/>
        </p:nvSpPr>
        <p:spPr>
          <a:xfrm>
            <a:off x="7031736" y="1627632"/>
            <a:ext cx="1645920" cy="256032"/>
          </a:xfrm>
          <a:prstGeom prst="rect">
            <a:avLst/>
          </a:prstGeom>
          <a:noFill/>
          <a:ln/>
        </p:spPr>
        <p:txBody>
          <a:bodyPr wrap="square" lIns="0" tIns="0" rIns="0" bIns="0" rtlCol="0" anchor="t"/>
          <a:lstStyle/>
          <a:p>
            <a:pPr marL="0" indent="0">
              <a:buNone/>
            </a:pPr>
            <a:r>
              <a:rPr lang="en-US" sz="1000" dirty="0">
                <a:solidFill>
                  <a:srgbClr val="728694"/>
                </a:solidFill>
                <a:latin typeface="Segoe UI" pitchFamily="34" charset="0"/>
                <a:ea typeface="Segoe UI" pitchFamily="34" charset="-122"/>
                <a:cs typeface="Segoe UI" pitchFamily="34" charset="-120"/>
              </a:rPr>
              <a:t>Một bảng</a:t>
            </a:r>
            <a:endParaRPr lang="en-US" sz="1000" dirty="0"/>
          </a:p>
        </p:txBody>
      </p:sp>
      <p:sp>
        <p:nvSpPr>
          <p:cNvPr id="24" name="Shape 22"/>
          <p:cNvSpPr/>
          <p:nvPr/>
        </p:nvSpPr>
        <p:spPr>
          <a:xfrm>
            <a:off x="6711696" y="2258568"/>
            <a:ext cx="329184" cy="347472"/>
          </a:xfrm>
          <a:prstGeom prst="rect">
            <a:avLst/>
          </a:prstGeom>
          <a:solidFill>
            <a:srgbClr val="EAF4F8"/>
          </a:solidFill>
          <a:ln w="9525">
            <a:solidFill>
              <a:srgbClr val="A9CDDB"/>
            </a:solidFill>
            <a:prstDash val="solid"/>
          </a:ln>
        </p:spPr>
      </p:sp>
      <p:sp>
        <p:nvSpPr>
          <p:cNvPr id="25" name="Text 23"/>
          <p:cNvSpPr/>
          <p:nvPr/>
        </p:nvSpPr>
        <p:spPr>
          <a:xfrm>
            <a:off x="6711696" y="2258568"/>
            <a:ext cx="329184" cy="347472"/>
          </a:xfrm>
          <a:prstGeom prst="rect">
            <a:avLst/>
          </a:prstGeom>
          <a:noFill/>
          <a:ln/>
        </p:spPr>
        <p:txBody>
          <a:bodyPr wrap="square" lIns="0" tIns="0" rIns="0" bIns="0" rtlCol="0" anchor="ctr"/>
          <a:lstStyle/>
          <a:p>
            <a:pPr marL="0" indent="0" algn="ctr">
              <a:buNone/>
            </a:pPr>
            <a:r>
              <a:rPr lang="en-US" sz="900" dirty="0">
                <a:solidFill>
                  <a:srgbClr val="062A3A"/>
                </a:solidFill>
                <a:latin typeface="Consolas" pitchFamily="34" charset="0"/>
                <a:ea typeface="Consolas" pitchFamily="34" charset="-122"/>
                <a:cs typeface="Consolas" pitchFamily="34" charset="-120"/>
              </a:rPr>
              <a:t>1</a:t>
            </a:r>
            <a:endParaRPr lang="en-US" sz="900" dirty="0"/>
          </a:p>
        </p:txBody>
      </p:sp>
      <p:sp>
        <p:nvSpPr>
          <p:cNvPr id="26" name="Shape 24"/>
          <p:cNvSpPr/>
          <p:nvPr/>
        </p:nvSpPr>
        <p:spPr>
          <a:xfrm>
            <a:off x="7040880" y="2258568"/>
            <a:ext cx="329184" cy="347472"/>
          </a:xfrm>
          <a:prstGeom prst="rect">
            <a:avLst/>
          </a:prstGeom>
          <a:solidFill>
            <a:srgbClr val="EAF4F8"/>
          </a:solidFill>
          <a:ln w="9525">
            <a:solidFill>
              <a:srgbClr val="A9CDDB"/>
            </a:solidFill>
            <a:prstDash val="solid"/>
          </a:ln>
        </p:spPr>
      </p:sp>
      <p:sp>
        <p:nvSpPr>
          <p:cNvPr id="27" name="Text 25"/>
          <p:cNvSpPr/>
          <p:nvPr/>
        </p:nvSpPr>
        <p:spPr>
          <a:xfrm>
            <a:off x="7040880" y="2258568"/>
            <a:ext cx="329184" cy="347472"/>
          </a:xfrm>
          <a:prstGeom prst="rect">
            <a:avLst/>
          </a:prstGeom>
          <a:noFill/>
          <a:ln/>
        </p:spPr>
        <p:txBody>
          <a:bodyPr wrap="square" lIns="0" tIns="0" rIns="0" bIns="0" rtlCol="0" anchor="ctr"/>
          <a:lstStyle/>
          <a:p>
            <a:pPr marL="0" indent="0" algn="ctr">
              <a:buNone/>
            </a:pPr>
            <a:r>
              <a:rPr lang="en-US" sz="900" dirty="0">
                <a:solidFill>
                  <a:srgbClr val="062A3A"/>
                </a:solidFill>
                <a:latin typeface="Consolas" pitchFamily="34" charset="0"/>
                <a:ea typeface="Consolas" pitchFamily="34" charset="-122"/>
                <a:cs typeface="Consolas" pitchFamily="34" charset="-120"/>
              </a:rPr>
              <a:t>2</a:t>
            </a:r>
            <a:endParaRPr lang="en-US" sz="900" dirty="0"/>
          </a:p>
        </p:txBody>
      </p:sp>
      <p:sp>
        <p:nvSpPr>
          <p:cNvPr id="28" name="Shape 26"/>
          <p:cNvSpPr/>
          <p:nvPr/>
        </p:nvSpPr>
        <p:spPr>
          <a:xfrm>
            <a:off x="7370064" y="2258568"/>
            <a:ext cx="329184" cy="347472"/>
          </a:xfrm>
          <a:prstGeom prst="rect">
            <a:avLst/>
          </a:prstGeom>
          <a:solidFill>
            <a:srgbClr val="EAF4F8"/>
          </a:solidFill>
          <a:ln w="9525">
            <a:solidFill>
              <a:srgbClr val="A9CDDB"/>
            </a:solidFill>
            <a:prstDash val="solid"/>
          </a:ln>
        </p:spPr>
      </p:sp>
      <p:sp>
        <p:nvSpPr>
          <p:cNvPr id="29" name="Text 27"/>
          <p:cNvSpPr/>
          <p:nvPr/>
        </p:nvSpPr>
        <p:spPr>
          <a:xfrm>
            <a:off x="7370064" y="2258568"/>
            <a:ext cx="329184" cy="347472"/>
          </a:xfrm>
          <a:prstGeom prst="rect">
            <a:avLst/>
          </a:prstGeom>
          <a:noFill/>
          <a:ln/>
        </p:spPr>
        <p:txBody>
          <a:bodyPr wrap="square" lIns="0" tIns="0" rIns="0" bIns="0" rtlCol="0" anchor="ctr"/>
          <a:lstStyle/>
          <a:p>
            <a:pPr marL="0" indent="0" algn="ctr">
              <a:buNone/>
            </a:pPr>
            <a:r>
              <a:rPr lang="en-US" sz="900" dirty="0">
                <a:solidFill>
                  <a:srgbClr val="062A3A"/>
                </a:solidFill>
                <a:latin typeface="Consolas" pitchFamily="34" charset="0"/>
                <a:ea typeface="Consolas" pitchFamily="34" charset="-122"/>
                <a:cs typeface="Consolas" pitchFamily="34" charset="-120"/>
              </a:rPr>
              <a:t>3</a:t>
            </a:r>
            <a:endParaRPr lang="en-US" sz="900" dirty="0"/>
          </a:p>
        </p:txBody>
      </p:sp>
      <p:sp>
        <p:nvSpPr>
          <p:cNvPr id="30" name="Shape 28"/>
          <p:cNvSpPr/>
          <p:nvPr/>
        </p:nvSpPr>
        <p:spPr>
          <a:xfrm>
            <a:off x="6711696" y="2606040"/>
            <a:ext cx="329184" cy="347472"/>
          </a:xfrm>
          <a:prstGeom prst="rect">
            <a:avLst/>
          </a:prstGeom>
          <a:solidFill>
            <a:srgbClr val="EAF4F8"/>
          </a:solidFill>
          <a:ln w="9525">
            <a:solidFill>
              <a:srgbClr val="A9CDDB"/>
            </a:solidFill>
            <a:prstDash val="solid"/>
          </a:ln>
        </p:spPr>
      </p:sp>
      <p:sp>
        <p:nvSpPr>
          <p:cNvPr id="31" name="Text 29"/>
          <p:cNvSpPr/>
          <p:nvPr/>
        </p:nvSpPr>
        <p:spPr>
          <a:xfrm>
            <a:off x="6711696" y="2606040"/>
            <a:ext cx="329184" cy="347472"/>
          </a:xfrm>
          <a:prstGeom prst="rect">
            <a:avLst/>
          </a:prstGeom>
          <a:noFill/>
          <a:ln/>
        </p:spPr>
        <p:txBody>
          <a:bodyPr wrap="square" lIns="0" tIns="0" rIns="0" bIns="0" rtlCol="0" anchor="ctr"/>
          <a:lstStyle/>
          <a:p>
            <a:pPr marL="0" indent="0" algn="ctr">
              <a:buNone/>
            </a:pPr>
            <a:r>
              <a:rPr lang="en-US" sz="900" dirty="0">
                <a:solidFill>
                  <a:srgbClr val="062A3A"/>
                </a:solidFill>
                <a:latin typeface="Consolas" pitchFamily="34" charset="0"/>
                <a:ea typeface="Consolas" pitchFamily="34" charset="-122"/>
                <a:cs typeface="Consolas" pitchFamily="34" charset="-120"/>
              </a:rPr>
              <a:t>4</a:t>
            </a:r>
            <a:endParaRPr lang="en-US" sz="900" dirty="0"/>
          </a:p>
        </p:txBody>
      </p:sp>
      <p:sp>
        <p:nvSpPr>
          <p:cNvPr id="32" name="Shape 30"/>
          <p:cNvSpPr/>
          <p:nvPr/>
        </p:nvSpPr>
        <p:spPr>
          <a:xfrm>
            <a:off x="7040880" y="2606040"/>
            <a:ext cx="329184" cy="347472"/>
          </a:xfrm>
          <a:prstGeom prst="rect">
            <a:avLst/>
          </a:prstGeom>
          <a:solidFill>
            <a:srgbClr val="EAF4F8"/>
          </a:solidFill>
          <a:ln w="9525">
            <a:solidFill>
              <a:srgbClr val="A9CDDB"/>
            </a:solidFill>
            <a:prstDash val="solid"/>
          </a:ln>
        </p:spPr>
      </p:sp>
      <p:sp>
        <p:nvSpPr>
          <p:cNvPr id="33" name="Text 31"/>
          <p:cNvSpPr/>
          <p:nvPr/>
        </p:nvSpPr>
        <p:spPr>
          <a:xfrm>
            <a:off x="7040880" y="2606040"/>
            <a:ext cx="329184" cy="347472"/>
          </a:xfrm>
          <a:prstGeom prst="rect">
            <a:avLst/>
          </a:prstGeom>
          <a:noFill/>
          <a:ln/>
        </p:spPr>
        <p:txBody>
          <a:bodyPr wrap="square" lIns="0" tIns="0" rIns="0" bIns="0" rtlCol="0" anchor="ctr"/>
          <a:lstStyle/>
          <a:p>
            <a:pPr marL="0" indent="0" algn="ctr">
              <a:buNone/>
            </a:pPr>
            <a:r>
              <a:rPr lang="en-US" sz="900" dirty="0">
                <a:solidFill>
                  <a:srgbClr val="062A3A"/>
                </a:solidFill>
                <a:latin typeface="Consolas" pitchFamily="34" charset="0"/>
                <a:ea typeface="Consolas" pitchFamily="34" charset="-122"/>
                <a:cs typeface="Consolas" pitchFamily="34" charset="-120"/>
              </a:rPr>
              <a:t>5</a:t>
            </a:r>
            <a:endParaRPr lang="en-US" sz="900" dirty="0"/>
          </a:p>
        </p:txBody>
      </p:sp>
      <p:sp>
        <p:nvSpPr>
          <p:cNvPr id="34" name="Shape 32"/>
          <p:cNvSpPr/>
          <p:nvPr/>
        </p:nvSpPr>
        <p:spPr>
          <a:xfrm>
            <a:off x="7370064" y="2606040"/>
            <a:ext cx="329184" cy="347472"/>
          </a:xfrm>
          <a:prstGeom prst="rect">
            <a:avLst/>
          </a:prstGeom>
          <a:solidFill>
            <a:srgbClr val="EAF4F8"/>
          </a:solidFill>
          <a:ln w="9525">
            <a:solidFill>
              <a:srgbClr val="A9CDDB"/>
            </a:solidFill>
            <a:prstDash val="solid"/>
          </a:ln>
        </p:spPr>
      </p:sp>
      <p:sp>
        <p:nvSpPr>
          <p:cNvPr id="35" name="Text 33"/>
          <p:cNvSpPr/>
          <p:nvPr/>
        </p:nvSpPr>
        <p:spPr>
          <a:xfrm>
            <a:off x="7370064" y="2606040"/>
            <a:ext cx="329184" cy="347472"/>
          </a:xfrm>
          <a:prstGeom prst="rect">
            <a:avLst/>
          </a:prstGeom>
          <a:noFill/>
          <a:ln/>
        </p:spPr>
        <p:txBody>
          <a:bodyPr wrap="square" lIns="0" tIns="0" rIns="0" bIns="0" rtlCol="0" anchor="ctr"/>
          <a:lstStyle/>
          <a:p>
            <a:pPr marL="0" indent="0" algn="ctr">
              <a:buNone/>
            </a:pPr>
            <a:r>
              <a:rPr lang="en-US" sz="900" dirty="0">
                <a:solidFill>
                  <a:srgbClr val="062A3A"/>
                </a:solidFill>
                <a:latin typeface="Consolas" pitchFamily="34" charset="0"/>
                <a:ea typeface="Consolas" pitchFamily="34" charset="-122"/>
                <a:cs typeface="Consolas" pitchFamily="34" charset="-120"/>
              </a:rPr>
              <a:t>6</a:t>
            </a:r>
            <a:endParaRPr lang="en-US" sz="900" dirty="0"/>
          </a:p>
        </p:txBody>
      </p:sp>
      <p:sp>
        <p:nvSpPr>
          <p:cNvPr id="36" name="Text 34"/>
          <p:cNvSpPr/>
          <p:nvPr/>
        </p:nvSpPr>
        <p:spPr>
          <a:xfrm>
            <a:off x="6364224" y="3246120"/>
            <a:ext cx="2286000" cy="274320"/>
          </a:xfrm>
          <a:prstGeom prst="rect">
            <a:avLst/>
          </a:prstGeom>
          <a:noFill/>
          <a:ln/>
        </p:spPr>
        <p:txBody>
          <a:bodyPr wrap="square" lIns="0" tIns="0" rIns="0" bIns="0" rtlCol="0" anchor="t"/>
          <a:lstStyle/>
          <a:p>
            <a:pPr marL="0" indent="0">
              <a:buNone/>
            </a:pPr>
            <a:r>
              <a:rPr lang="en-US" sz="1100" b="1" dirty="0">
                <a:solidFill>
                  <a:srgbClr val="062A3A"/>
                </a:solidFill>
                <a:latin typeface="Consolas" pitchFamily="34" charset="0"/>
                <a:ea typeface="Consolas" pitchFamily="34" charset="-122"/>
                <a:cs typeface="Consolas" pitchFamily="34" charset="-120"/>
              </a:rPr>
              <a:t>shape (2, 3)</a:t>
            </a:r>
            <a:endParaRPr lang="en-US" sz="1100" dirty="0"/>
          </a:p>
        </p:txBody>
      </p:sp>
      <p:sp>
        <p:nvSpPr>
          <p:cNvPr id="37" name="Shape 35"/>
          <p:cNvSpPr/>
          <p:nvPr/>
        </p:nvSpPr>
        <p:spPr>
          <a:xfrm>
            <a:off x="8970264" y="1463040"/>
            <a:ext cx="2670048" cy="2423160"/>
          </a:xfrm>
          <a:prstGeom prst="roundRect">
            <a:avLst>
              <a:gd name="adj" fmla="val 2264"/>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38" name="Text 36"/>
          <p:cNvSpPr/>
          <p:nvPr/>
        </p:nvSpPr>
        <p:spPr>
          <a:xfrm>
            <a:off x="9171432" y="1600200"/>
            <a:ext cx="914400" cy="292608"/>
          </a:xfrm>
          <a:prstGeom prst="rect">
            <a:avLst/>
          </a:prstGeom>
          <a:noFill/>
          <a:ln/>
        </p:spPr>
        <p:txBody>
          <a:bodyPr wrap="square" lIns="0" tIns="0" rIns="0" bIns="0" rtlCol="0" anchor="t"/>
          <a:lstStyle/>
          <a:p>
            <a:pPr marL="0" indent="0">
              <a:buNone/>
            </a:pPr>
            <a:r>
              <a:rPr lang="en-US" sz="1500" b="1" dirty="0">
                <a:solidFill>
                  <a:srgbClr val="1B8EA8"/>
                </a:solidFill>
                <a:latin typeface="Consolas" pitchFamily="34" charset="0"/>
                <a:ea typeface="Consolas" pitchFamily="34" charset="-122"/>
                <a:cs typeface="Consolas" pitchFamily="34" charset="-120"/>
              </a:rPr>
              <a:t>3-D</a:t>
            </a:r>
            <a:endParaRPr lang="en-US" sz="1500" dirty="0"/>
          </a:p>
        </p:txBody>
      </p:sp>
      <p:sp>
        <p:nvSpPr>
          <p:cNvPr id="39" name="Text 37"/>
          <p:cNvSpPr/>
          <p:nvPr/>
        </p:nvSpPr>
        <p:spPr>
          <a:xfrm>
            <a:off x="9838944" y="1627632"/>
            <a:ext cx="1645920" cy="256032"/>
          </a:xfrm>
          <a:prstGeom prst="rect">
            <a:avLst/>
          </a:prstGeom>
          <a:noFill/>
          <a:ln/>
        </p:spPr>
        <p:txBody>
          <a:bodyPr wrap="square" lIns="0" tIns="0" rIns="0" bIns="0" rtlCol="0" anchor="t"/>
          <a:lstStyle/>
          <a:p>
            <a:pPr marL="0" indent="0">
              <a:buNone/>
            </a:pPr>
            <a:r>
              <a:rPr lang="en-US" sz="1000" dirty="0">
                <a:solidFill>
                  <a:srgbClr val="728694"/>
                </a:solidFill>
                <a:latin typeface="Segoe UI" pitchFamily="34" charset="0"/>
                <a:ea typeface="Segoe UI" pitchFamily="34" charset="-122"/>
                <a:cs typeface="Segoe UI" pitchFamily="34" charset="-120"/>
              </a:rPr>
              <a:t>Chồng bảng</a:t>
            </a:r>
            <a:endParaRPr lang="en-US" sz="1000" dirty="0"/>
          </a:p>
        </p:txBody>
      </p:sp>
      <p:sp>
        <p:nvSpPr>
          <p:cNvPr id="40" name="Shape 38"/>
          <p:cNvSpPr/>
          <p:nvPr/>
        </p:nvSpPr>
        <p:spPr>
          <a:xfrm>
            <a:off x="9793224" y="2194560"/>
            <a:ext cx="868680" cy="502920"/>
          </a:xfrm>
          <a:prstGeom prst="rect">
            <a:avLst/>
          </a:prstGeom>
          <a:solidFill>
            <a:srgbClr val="EAF4F8"/>
          </a:solidFill>
          <a:ln w="9525">
            <a:solidFill>
              <a:srgbClr val="A9CDDB"/>
            </a:solidFill>
            <a:prstDash val="solid"/>
          </a:ln>
        </p:spPr>
      </p:sp>
      <p:sp>
        <p:nvSpPr>
          <p:cNvPr id="41" name="Shape 39"/>
          <p:cNvSpPr/>
          <p:nvPr/>
        </p:nvSpPr>
        <p:spPr>
          <a:xfrm>
            <a:off x="9683496" y="2286000"/>
            <a:ext cx="868680" cy="502920"/>
          </a:xfrm>
          <a:prstGeom prst="rect">
            <a:avLst/>
          </a:prstGeom>
          <a:solidFill>
            <a:srgbClr val="BFE6F1"/>
          </a:solidFill>
          <a:ln w="9525">
            <a:solidFill>
              <a:srgbClr val="A9CDDB"/>
            </a:solidFill>
            <a:prstDash val="solid"/>
          </a:ln>
        </p:spPr>
      </p:sp>
      <p:sp>
        <p:nvSpPr>
          <p:cNvPr id="42" name="Text 40"/>
          <p:cNvSpPr/>
          <p:nvPr/>
        </p:nvSpPr>
        <p:spPr>
          <a:xfrm>
            <a:off x="9518904" y="2880360"/>
            <a:ext cx="1371600" cy="201168"/>
          </a:xfrm>
          <a:prstGeom prst="rect">
            <a:avLst/>
          </a:prstGeom>
          <a:noFill/>
          <a:ln/>
        </p:spPr>
        <p:txBody>
          <a:bodyPr wrap="square" lIns="0" tIns="0" rIns="0" bIns="0" rtlCol="0" anchor="t"/>
          <a:lstStyle/>
          <a:p>
            <a:pPr marL="0" indent="0" algn="ctr">
              <a:buNone/>
            </a:pPr>
            <a:r>
              <a:rPr lang="en-US" sz="850" dirty="0">
                <a:solidFill>
                  <a:srgbClr val="728694"/>
                </a:solidFill>
                <a:latin typeface="Segoe UI" pitchFamily="34" charset="0"/>
                <a:ea typeface="Segoe UI" pitchFamily="34" charset="-122"/>
                <a:cs typeface="Segoe UI" pitchFamily="34" charset="-120"/>
              </a:rPr>
              <a:t>2 lớp · 3 × 4</a:t>
            </a:r>
            <a:endParaRPr lang="en-US" sz="850" dirty="0"/>
          </a:p>
        </p:txBody>
      </p:sp>
      <p:sp>
        <p:nvSpPr>
          <p:cNvPr id="43" name="Text 41"/>
          <p:cNvSpPr/>
          <p:nvPr/>
        </p:nvSpPr>
        <p:spPr>
          <a:xfrm>
            <a:off x="9171432" y="3246120"/>
            <a:ext cx="2286000" cy="274320"/>
          </a:xfrm>
          <a:prstGeom prst="rect">
            <a:avLst/>
          </a:prstGeom>
          <a:noFill/>
          <a:ln/>
        </p:spPr>
        <p:txBody>
          <a:bodyPr wrap="square" lIns="0" tIns="0" rIns="0" bIns="0" rtlCol="0" anchor="t"/>
          <a:lstStyle/>
          <a:p>
            <a:pPr marL="0" indent="0">
              <a:buNone/>
            </a:pPr>
            <a:r>
              <a:rPr lang="en-US" sz="1100" b="1" dirty="0">
                <a:solidFill>
                  <a:srgbClr val="062A3A"/>
                </a:solidFill>
                <a:latin typeface="Consolas" pitchFamily="34" charset="0"/>
                <a:ea typeface="Consolas" pitchFamily="34" charset="-122"/>
                <a:cs typeface="Consolas" pitchFamily="34" charset="-120"/>
              </a:rPr>
              <a:t>shape (2, 3, 4)</a:t>
            </a:r>
            <a:endParaRPr lang="en-US" sz="1100" dirty="0"/>
          </a:p>
        </p:txBody>
      </p:sp>
      <p:sp>
        <p:nvSpPr>
          <p:cNvPr id="44" name="Shape 42"/>
          <p:cNvSpPr/>
          <p:nvPr/>
        </p:nvSpPr>
        <p:spPr>
          <a:xfrm>
            <a:off x="548640" y="4114800"/>
            <a:ext cx="6903720" cy="1783080"/>
          </a:xfrm>
          <a:prstGeom prst="roundRect">
            <a:avLst>
              <a:gd name="adj" fmla="val 2564"/>
            </a:avLst>
          </a:prstGeom>
          <a:solidFill>
            <a:srgbClr val="0B2230"/>
          </a:solidFill>
          <a:ln w="9525">
            <a:solidFill>
              <a:srgbClr val="163B4C"/>
            </a:solidFill>
            <a:prstDash val="solid"/>
          </a:ln>
        </p:spPr>
      </p:sp>
      <p:sp>
        <p:nvSpPr>
          <p:cNvPr id="45" name="Shape 43"/>
          <p:cNvSpPr/>
          <p:nvPr/>
        </p:nvSpPr>
        <p:spPr>
          <a:xfrm>
            <a:off x="548640" y="4114800"/>
            <a:ext cx="6903720" cy="265176"/>
          </a:xfrm>
          <a:prstGeom prst="rect">
            <a:avLst/>
          </a:prstGeom>
          <a:solidFill>
            <a:srgbClr val="103445"/>
          </a:solidFill>
          <a:ln w="12700">
            <a:solidFill>
              <a:srgbClr val="103445"/>
            </a:solidFill>
            <a:prstDash val="solid"/>
          </a:ln>
        </p:spPr>
      </p:sp>
      <p:sp>
        <p:nvSpPr>
          <p:cNvPr id="46" name="Text 44"/>
          <p:cNvSpPr/>
          <p:nvPr/>
        </p:nvSpPr>
        <p:spPr>
          <a:xfrm>
            <a:off x="694944" y="4165092"/>
            <a:ext cx="5989320" cy="182880"/>
          </a:xfrm>
          <a:prstGeom prst="rect">
            <a:avLst/>
          </a:prstGeom>
          <a:noFill/>
          <a:ln/>
        </p:spPr>
        <p:txBody>
          <a:bodyPr wrap="square" lIns="0" tIns="0" rIns="0" bIns="0" rtlCol="0" anchor="t"/>
          <a:lstStyle/>
          <a:p>
            <a:pPr marL="0" indent="0">
              <a:buNone/>
            </a:pPr>
            <a:r>
              <a:rPr lang="en-US" sz="850" dirty="0">
                <a:solidFill>
                  <a:srgbClr val="8FB6C8"/>
                </a:solidFill>
                <a:latin typeface="Consolas" pitchFamily="34" charset="0"/>
                <a:ea typeface="Consolas" pitchFamily="34" charset="-122"/>
                <a:cs typeface="Consolas" pitchFamily="34" charset="-120"/>
              </a:rPr>
              <a:t>python</a:t>
            </a:r>
            <a:endParaRPr lang="en-US" sz="850" dirty="0"/>
          </a:p>
        </p:txBody>
      </p:sp>
      <p:sp>
        <p:nvSpPr>
          <p:cNvPr id="47" name="Shape 45"/>
          <p:cNvSpPr/>
          <p:nvPr/>
        </p:nvSpPr>
        <p:spPr>
          <a:xfrm>
            <a:off x="6885432" y="4219956"/>
            <a:ext cx="77724" cy="77724"/>
          </a:xfrm>
          <a:prstGeom prst="ellipse">
            <a:avLst/>
          </a:prstGeom>
          <a:solidFill>
            <a:srgbClr val="D96C5F"/>
          </a:solidFill>
          <a:ln w="12700">
            <a:solidFill>
              <a:srgbClr val="D96C5F"/>
            </a:solidFill>
            <a:prstDash val="solid"/>
          </a:ln>
        </p:spPr>
      </p:sp>
      <p:sp>
        <p:nvSpPr>
          <p:cNvPr id="48" name="Shape 46"/>
          <p:cNvSpPr/>
          <p:nvPr/>
        </p:nvSpPr>
        <p:spPr>
          <a:xfrm>
            <a:off x="7040880" y="4219956"/>
            <a:ext cx="77724" cy="77724"/>
          </a:xfrm>
          <a:prstGeom prst="ellipse">
            <a:avLst/>
          </a:prstGeom>
          <a:solidFill>
            <a:srgbClr val="E8A33D"/>
          </a:solidFill>
          <a:ln w="12700">
            <a:solidFill>
              <a:srgbClr val="E8A33D"/>
            </a:solidFill>
            <a:prstDash val="solid"/>
          </a:ln>
        </p:spPr>
      </p:sp>
      <p:sp>
        <p:nvSpPr>
          <p:cNvPr id="49" name="Shape 47"/>
          <p:cNvSpPr/>
          <p:nvPr/>
        </p:nvSpPr>
        <p:spPr>
          <a:xfrm>
            <a:off x="7196328" y="4219956"/>
            <a:ext cx="77724" cy="77724"/>
          </a:xfrm>
          <a:prstGeom prst="ellipse">
            <a:avLst/>
          </a:prstGeom>
          <a:solidFill>
            <a:srgbClr val="2D8C6F"/>
          </a:solidFill>
          <a:ln w="12700">
            <a:solidFill>
              <a:srgbClr val="2D8C6F"/>
            </a:solidFill>
            <a:prstDash val="solid"/>
          </a:ln>
        </p:spPr>
      </p:sp>
      <p:sp>
        <p:nvSpPr>
          <p:cNvPr id="50" name="Text 48"/>
          <p:cNvSpPr/>
          <p:nvPr/>
        </p:nvSpPr>
        <p:spPr>
          <a:xfrm>
            <a:off x="713232" y="4462272"/>
            <a:ext cx="6611112" cy="1362456"/>
          </a:xfrm>
          <a:prstGeom prst="rect">
            <a:avLst/>
          </a:prstGeom>
          <a:noFill/>
          <a:ln/>
        </p:spPr>
        <p:txBody>
          <a:bodyPr wrap="square" lIns="0" tIns="0" rIns="0" bIns="0" rtlCol="0" anchor="t"/>
          <a:lstStyle/>
          <a:p>
            <a:pPr marL="0" indent="0">
              <a:lnSpc>
                <a:spcPct val="102000"/>
              </a:lnSpc>
              <a:buNone/>
            </a:pPr>
            <a:r>
              <a:rPr lang="en-US" sz="1050" dirty="0">
                <a:solidFill>
                  <a:srgbClr val="6FD0E4"/>
                </a:solidFill>
                <a:latin typeface="Consolas" pitchFamily="34" charset="0"/>
                <a:ea typeface="Consolas" pitchFamily="34" charset="-122"/>
                <a:cs typeface="Consolas" pitchFamily="34" charset="-120"/>
              </a:rPr>
              <a:t>print</a:t>
            </a:r>
            <a:r>
              <a:rPr lang="en-US" sz="1050" dirty="0">
                <a:solidFill>
                  <a:srgbClr val="D6E6EF"/>
                </a:solidFill>
                <a:latin typeface="Consolas" pitchFamily="34" charset="0"/>
                <a:ea typeface="Consolas" pitchFamily="34" charset="-122"/>
                <a:cs typeface="Consolas" pitchFamily="34" charset="-120"/>
              </a:rPr>
              <a:t>(</a:t>
            </a:r>
            <a:r>
              <a:rPr lang="en-US" sz="1050" dirty="0">
                <a:solidFill>
                  <a:srgbClr val="8AD9C0"/>
                </a:solidFill>
                <a:latin typeface="Consolas" pitchFamily="34" charset="0"/>
                <a:ea typeface="Consolas" pitchFamily="34" charset="-122"/>
                <a:cs typeface="Consolas" pitchFamily="34" charset="-120"/>
              </a:rPr>
              <a:t>np</a:t>
            </a:r>
            <a:r>
              <a:rPr lang="en-US" sz="1050" dirty="0">
                <a:solidFill>
                  <a:srgbClr val="D6E6EF"/>
                </a:solidFill>
                <a:latin typeface="Consolas" pitchFamily="34" charset="0"/>
                <a:ea typeface="Consolas" pitchFamily="34" charset="-122"/>
                <a:cs typeface="Consolas" pitchFamily="34" charset="-120"/>
              </a:rPr>
              <a:t>.array(</a:t>
            </a:r>
            <a:r>
              <a:rPr lang="en-US" sz="1050" dirty="0">
                <a:solidFill>
                  <a:srgbClr val="F08A7C"/>
                </a:solidFill>
                <a:latin typeface="Consolas" pitchFamily="34" charset="0"/>
                <a:ea typeface="Consolas" pitchFamily="34" charset="-122"/>
                <a:cs typeface="Consolas" pitchFamily="34" charset="-120"/>
              </a:rPr>
              <a:t>7</a:t>
            </a:r>
            <a:r>
              <a:rPr lang="en-US" sz="1050" dirty="0">
                <a:solidFill>
                  <a:srgbClr val="D6E6EF"/>
                </a:solidFill>
                <a:latin typeface="Consolas" pitchFamily="34" charset="0"/>
                <a:ea typeface="Consolas" pitchFamily="34" charset="-122"/>
                <a:cs typeface="Consolas" pitchFamily="34" charset="-120"/>
              </a:rPr>
              <a:t>).shape)</a:t>
            </a:r>
            <a:endParaRPr lang="en-US" sz="1050" dirty="0"/>
          </a:p>
          <a:p>
            <a:pPr marL="0" indent="0">
              <a:lnSpc>
                <a:spcPct val="102000"/>
              </a:lnSpc>
              <a:buNone/>
            </a:pPr>
            <a:r>
              <a:rPr lang="en-US" sz="1050" dirty="0">
                <a:solidFill>
                  <a:srgbClr val="6FD0E4"/>
                </a:solidFill>
                <a:latin typeface="Consolas" pitchFamily="34" charset="0"/>
                <a:ea typeface="Consolas" pitchFamily="34" charset="-122"/>
                <a:cs typeface="Consolas" pitchFamily="34" charset="-120"/>
              </a:rPr>
              <a:t>print</a:t>
            </a:r>
            <a:r>
              <a:rPr lang="en-US" sz="1050" dirty="0">
                <a:solidFill>
                  <a:srgbClr val="D6E6EF"/>
                </a:solidFill>
                <a:latin typeface="Consolas" pitchFamily="34" charset="0"/>
                <a:ea typeface="Consolas" pitchFamily="34" charset="-122"/>
                <a:cs typeface="Consolas" pitchFamily="34" charset="-120"/>
              </a:rPr>
              <a:t>(</a:t>
            </a:r>
            <a:r>
              <a:rPr lang="en-US" sz="1050" dirty="0">
                <a:solidFill>
                  <a:srgbClr val="8AD9C0"/>
                </a:solidFill>
                <a:latin typeface="Consolas" pitchFamily="34" charset="0"/>
                <a:ea typeface="Consolas" pitchFamily="34" charset="-122"/>
                <a:cs typeface="Consolas" pitchFamily="34" charset="-120"/>
              </a:rPr>
              <a:t>np</a:t>
            </a:r>
            <a:r>
              <a:rPr lang="en-US" sz="1050" dirty="0">
                <a:solidFill>
                  <a:srgbClr val="D6E6EF"/>
                </a:solidFill>
                <a:latin typeface="Consolas" pitchFamily="34" charset="0"/>
                <a:ea typeface="Consolas" pitchFamily="34" charset="-122"/>
                <a:cs typeface="Consolas" pitchFamily="34" charset="-120"/>
              </a:rPr>
              <a:t>.array([</a:t>
            </a:r>
            <a:r>
              <a:rPr lang="en-US" sz="1050" dirty="0">
                <a:solidFill>
                  <a:srgbClr val="F08A7C"/>
                </a:solidFill>
                <a:latin typeface="Consolas" pitchFamily="34" charset="0"/>
                <a:ea typeface="Consolas" pitchFamily="34" charset="-122"/>
                <a:cs typeface="Consolas" pitchFamily="34" charset="-120"/>
              </a:rPr>
              <a:t>1</a:t>
            </a:r>
            <a:r>
              <a:rPr lang="en-US" sz="1050" dirty="0">
                <a:solidFill>
                  <a:srgbClr val="D6E6EF"/>
                </a:solidFill>
                <a:latin typeface="Consolas" pitchFamily="34" charset="0"/>
                <a:ea typeface="Consolas" pitchFamily="34" charset="-122"/>
                <a:cs typeface="Consolas" pitchFamily="34" charset="-120"/>
              </a:rPr>
              <a:t>, </a:t>
            </a:r>
            <a:r>
              <a:rPr lang="en-US" sz="1050" dirty="0">
                <a:solidFill>
                  <a:srgbClr val="F08A7C"/>
                </a:solidFill>
                <a:latin typeface="Consolas" pitchFamily="34" charset="0"/>
                <a:ea typeface="Consolas" pitchFamily="34" charset="-122"/>
                <a:cs typeface="Consolas" pitchFamily="34" charset="-120"/>
              </a:rPr>
              <a:t>2</a:t>
            </a:r>
            <a:r>
              <a:rPr lang="en-US" sz="1050" dirty="0">
                <a:solidFill>
                  <a:srgbClr val="D6E6EF"/>
                </a:solidFill>
                <a:latin typeface="Consolas" pitchFamily="34" charset="0"/>
                <a:ea typeface="Consolas" pitchFamily="34" charset="-122"/>
                <a:cs typeface="Consolas" pitchFamily="34" charset="-120"/>
              </a:rPr>
              <a:t>, </a:t>
            </a:r>
            <a:r>
              <a:rPr lang="en-US" sz="1050" dirty="0">
                <a:solidFill>
                  <a:srgbClr val="F08A7C"/>
                </a:solidFill>
                <a:latin typeface="Consolas" pitchFamily="34" charset="0"/>
                <a:ea typeface="Consolas" pitchFamily="34" charset="-122"/>
                <a:cs typeface="Consolas" pitchFamily="34" charset="-120"/>
              </a:rPr>
              <a:t>3</a:t>
            </a:r>
            <a:r>
              <a:rPr lang="en-US" sz="1050" dirty="0">
                <a:solidFill>
                  <a:srgbClr val="D6E6EF"/>
                </a:solidFill>
                <a:latin typeface="Consolas" pitchFamily="34" charset="0"/>
                <a:ea typeface="Consolas" pitchFamily="34" charset="-122"/>
                <a:cs typeface="Consolas" pitchFamily="34" charset="-120"/>
              </a:rPr>
              <a:t>]).shape)</a:t>
            </a:r>
            <a:endParaRPr lang="en-US" sz="1050" dirty="0"/>
          </a:p>
          <a:p>
            <a:pPr marL="0" indent="0">
              <a:lnSpc>
                <a:spcPct val="102000"/>
              </a:lnSpc>
              <a:buNone/>
            </a:pPr>
            <a:r>
              <a:rPr lang="en-US" sz="1050" dirty="0">
                <a:solidFill>
                  <a:srgbClr val="6FD0E4"/>
                </a:solidFill>
                <a:latin typeface="Consolas" pitchFamily="34" charset="0"/>
                <a:ea typeface="Consolas" pitchFamily="34" charset="-122"/>
                <a:cs typeface="Consolas" pitchFamily="34" charset="-120"/>
              </a:rPr>
              <a:t>print</a:t>
            </a:r>
            <a:r>
              <a:rPr lang="en-US" sz="1050" dirty="0">
                <a:solidFill>
                  <a:srgbClr val="D6E6EF"/>
                </a:solidFill>
                <a:latin typeface="Consolas" pitchFamily="34" charset="0"/>
                <a:ea typeface="Consolas" pitchFamily="34" charset="-122"/>
                <a:cs typeface="Consolas" pitchFamily="34" charset="-120"/>
              </a:rPr>
              <a:t>(</a:t>
            </a:r>
            <a:r>
              <a:rPr lang="en-US" sz="1050" dirty="0">
                <a:solidFill>
                  <a:srgbClr val="8AD9C0"/>
                </a:solidFill>
                <a:latin typeface="Consolas" pitchFamily="34" charset="0"/>
                <a:ea typeface="Consolas" pitchFamily="34" charset="-122"/>
                <a:cs typeface="Consolas" pitchFamily="34" charset="-120"/>
              </a:rPr>
              <a:t>np</a:t>
            </a:r>
            <a:r>
              <a:rPr lang="en-US" sz="1050" dirty="0">
                <a:solidFill>
                  <a:srgbClr val="D6E6EF"/>
                </a:solidFill>
                <a:latin typeface="Consolas" pitchFamily="34" charset="0"/>
                <a:ea typeface="Consolas" pitchFamily="34" charset="-122"/>
                <a:cs typeface="Consolas" pitchFamily="34" charset="-120"/>
              </a:rPr>
              <a:t>.array([[</a:t>
            </a:r>
            <a:r>
              <a:rPr lang="en-US" sz="1050" dirty="0">
                <a:solidFill>
                  <a:srgbClr val="F08A7C"/>
                </a:solidFill>
                <a:latin typeface="Consolas" pitchFamily="34" charset="0"/>
                <a:ea typeface="Consolas" pitchFamily="34" charset="-122"/>
                <a:cs typeface="Consolas" pitchFamily="34" charset="-120"/>
              </a:rPr>
              <a:t>1</a:t>
            </a:r>
            <a:r>
              <a:rPr lang="en-US" sz="1050" dirty="0">
                <a:solidFill>
                  <a:srgbClr val="D6E6EF"/>
                </a:solidFill>
                <a:latin typeface="Consolas" pitchFamily="34" charset="0"/>
                <a:ea typeface="Consolas" pitchFamily="34" charset="-122"/>
                <a:cs typeface="Consolas" pitchFamily="34" charset="-120"/>
              </a:rPr>
              <a:t>, </a:t>
            </a:r>
            <a:r>
              <a:rPr lang="en-US" sz="1050" dirty="0">
                <a:solidFill>
                  <a:srgbClr val="F08A7C"/>
                </a:solidFill>
                <a:latin typeface="Consolas" pitchFamily="34" charset="0"/>
                <a:ea typeface="Consolas" pitchFamily="34" charset="-122"/>
                <a:cs typeface="Consolas" pitchFamily="34" charset="-120"/>
              </a:rPr>
              <a:t>2</a:t>
            </a:r>
            <a:r>
              <a:rPr lang="en-US" sz="1050" dirty="0">
                <a:solidFill>
                  <a:srgbClr val="D6E6EF"/>
                </a:solidFill>
                <a:latin typeface="Consolas" pitchFamily="34" charset="0"/>
                <a:ea typeface="Consolas" pitchFamily="34" charset="-122"/>
                <a:cs typeface="Consolas" pitchFamily="34" charset="-120"/>
              </a:rPr>
              <a:t>, </a:t>
            </a:r>
            <a:r>
              <a:rPr lang="en-US" sz="1050" dirty="0">
                <a:solidFill>
                  <a:srgbClr val="F08A7C"/>
                </a:solidFill>
                <a:latin typeface="Consolas" pitchFamily="34" charset="0"/>
                <a:ea typeface="Consolas" pitchFamily="34" charset="-122"/>
                <a:cs typeface="Consolas" pitchFamily="34" charset="-120"/>
              </a:rPr>
              <a:t>3</a:t>
            </a:r>
            <a:r>
              <a:rPr lang="en-US" sz="1050" dirty="0">
                <a:solidFill>
                  <a:srgbClr val="D6E6EF"/>
                </a:solidFill>
                <a:latin typeface="Consolas" pitchFamily="34" charset="0"/>
                <a:ea typeface="Consolas" pitchFamily="34" charset="-122"/>
                <a:cs typeface="Consolas" pitchFamily="34" charset="-120"/>
              </a:rPr>
              <a:t>], [</a:t>
            </a:r>
            <a:r>
              <a:rPr lang="en-US" sz="1050" dirty="0">
                <a:solidFill>
                  <a:srgbClr val="F08A7C"/>
                </a:solidFill>
                <a:latin typeface="Consolas" pitchFamily="34" charset="0"/>
                <a:ea typeface="Consolas" pitchFamily="34" charset="-122"/>
                <a:cs typeface="Consolas" pitchFamily="34" charset="-120"/>
              </a:rPr>
              <a:t>4</a:t>
            </a:r>
            <a:r>
              <a:rPr lang="en-US" sz="1050" dirty="0">
                <a:solidFill>
                  <a:srgbClr val="D6E6EF"/>
                </a:solidFill>
                <a:latin typeface="Consolas" pitchFamily="34" charset="0"/>
                <a:ea typeface="Consolas" pitchFamily="34" charset="-122"/>
                <a:cs typeface="Consolas" pitchFamily="34" charset="-120"/>
              </a:rPr>
              <a:t>, </a:t>
            </a:r>
            <a:r>
              <a:rPr lang="en-US" sz="1050" dirty="0">
                <a:solidFill>
                  <a:srgbClr val="F08A7C"/>
                </a:solidFill>
                <a:latin typeface="Consolas" pitchFamily="34" charset="0"/>
                <a:ea typeface="Consolas" pitchFamily="34" charset="-122"/>
                <a:cs typeface="Consolas" pitchFamily="34" charset="-120"/>
              </a:rPr>
              <a:t>5</a:t>
            </a:r>
            <a:r>
              <a:rPr lang="en-US" sz="1050" dirty="0">
                <a:solidFill>
                  <a:srgbClr val="D6E6EF"/>
                </a:solidFill>
                <a:latin typeface="Consolas" pitchFamily="34" charset="0"/>
                <a:ea typeface="Consolas" pitchFamily="34" charset="-122"/>
                <a:cs typeface="Consolas" pitchFamily="34" charset="-120"/>
              </a:rPr>
              <a:t>, </a:t>
            </a:r>
            <a:r>
              <a:rPr lang="en-US" sz="1050" dirty="0">
                <a:solidFill>
                  <a:srgbClr val="F08A7C"/>
                </a:solidFill>
                <a:latin typeface="Consolas" pitchFamily="34" charset="0"/>
                <a:ea typeface="Consolas" pitchFamily="34" charset="-122"/>
                <a:cs typeface="Consolas" pitchFamily="34" charset="-120"/>
              </a:rPr>
              <a:t>6</a:t>
            </a:r>
            <a:r>
              <a:rPr lang="en-US" sz="1050" dirty="0">
                <a:solidFill>
                  <a:srgbClr val="D6E6EF"/>
                </a:solidFill>
                <a:latin typeface="Consolas" pitchFamily="34" charset="0"/>
                <a:ea typeface="Consolas" pitchFamily="34" charset="-122"/>
                <a:cs typeface="Consolas" pitchFamily="34" charset="-120"/>
              </a:rPr>
              <a:t>]]).shape)</a:t>
            </a:r>
            <a:endParaRPr lang="en-US" sz="1050" dirty="0"/>
          </a:p>
          <a:p>
            <a:pPr marL="0" indent="0">
              <a:lnSpc>
                <a:spcPct val="102000"/>
              </a:lnSpc>
              <a:buNone/>
            </a:pPr>
            <a:r>
              <a:rPr lang="en-US" sz="1050" dirty="0">
                <a:solidFill>
                  <a:srgbClr val="6FD0E4"/>
                </a:solidFill>
                <a:latin typeface="Consolas" pitchFamily="34" charset="0"/>
                <a:ea typeface="Consolas" pitchFamily="34" charset="-122"/>
                <a:cs typeface="Consolas" pitchFamily="34" charset="-120"/>
              </a:rPr>
              <a:t>print</a:t>
            </a:r>
            <a:r>
              <a:rPr lang="en-US" sz="1050" dirty="0">
                <a:solidFill>
                  <a:srgbClr val="D6E6EF"/>
                </a:solidFill>
                <a:latin typeface="Consolas" pitchFamily="34" charset="0"/>
                <a:ea typeface="Consolas" pitchFamily="34" charset="-122"/>
                <a:cs typeface="Consolas" pitchFamily="34" charset="-120"/>
              </a:rPr>
              <a:t>(</a:t>
            </a:r>
            <a:r>
              <a:rPr lang="en-US" sz="1050" dirty="0">
                <a:solidFill>
                  <a:srgbClr val="8AD9C0"/>
                </a:solidFill>
                <a:latin typeface="Consolas" pitchFamily="34" charset="0"/>
                <a:ea typeface="Consolas" pitchFamily="34" charset="-122"/>
                <a:cs typeface="Consolas" pitchFamily="34" charset="-120"/>
              </a:rPr>
              <a:t>np</a:t>
            </a:r>
            <a:r>
              <a:rPr lang="en-US" sz="1050" dirty="0">
                <a:solidFill>
                  <a:srgbClr val="D6E6EF"/>
                </a:solidFill>
                <a:latin typeface="Consolas" pitchFamily="34" charset="0"/>
                <a:ea typeface="Consolas" pitchFamily="34" charset="-122"/>
                <a:cs typeface="Consolas" pitchFamily="34" charset="-120"/>
              </a:rPr>
              <a:t>.zeros((</a:t>
            </a:r>
            <a:r>
              <a:rPr lang="en-US" sz="1050" dirty="0">
                <a:solidFill>
                  <a:srgbClr val="F08A7C"/>
                </a:solidFill>
                <a:latin typeface="Consolas" pitchFamily="34" charset="0"/>
                <a:ea typeface="Consolas" pitchFamily="34" charset="-122"/>
                <a:cs typeface="Consolas" pitchFamily="34" charset="-120"/>
              </a:rPr>
              <a:t>2</a:t>
            </a:r>
            <a:r>
              <a:rPr lang="en-US" sz="1050" dirty="0">
                <a:solidFill>
                  <a:srgbClr val="D6E6EF"/>
                </a:solidFill>
                <a:latin typeface="Consolas" pitchFamily="34" charset="0"/>
                <a:ea typeface="Consolas" pitchFamily="34" charset="-122"/>
                <a:cs typeface="Consolas" pitchFamily="34" charset="-120"/>
              </a:rPr>
              <a:t>, </a:t>
            </a:r>
            <a:r>
              <a:rPr lang="en-US" sz="1050" dirty="0">
                <a:solidFill>
                  <a:srgbClr val="F08A7C"/>
                </a:solidFill>
                <a:latin typeface="Consolas" pitchFamily="34" charset="0"/>
                <a:ea typeface="Consolas" pitchFamily="34" charset="-122"/>
                <a:cs typeface="Consolas" pitchFamily="34" charset="-120"/>
              </a:rPr>
              <a:t>3</a:t>
            </a:r>
            <a:r>
              <a:rPr lang="en-US" sz="1050" dirty="0">
                <a:solidFill>
                  <a:srgbClr val="D6E6EF"/>
                </a:solidFill>
                <a:latin typeface="Consolas" pitchFamily="34" charset="0"/>
                <a:ea typeface="Consolas" pitchFamily="34" charset="-122"/>
                <a:cs typeface="Consolas" pitchFamily="34" charset="-120"/>
              </a:rPr>
              <a:t>, </a:t>
            </a:r>
            <a:r>
              <a:rPr lang="en-US" sz="1050" dirty="0">
                <a:solidFill>
                  <a:srgbClr val="F08A7C"/>
                </a:solidFill>
                <a:latin typeface="Consolas" pitchFamily="34" charset="0"/>
                <a:ea typeface="Consolas" pitchFamily="34" charset="-122"/>
                <a:cs typeface="Consolas" pitchFamily="34" charset="-120"/>
              </a:rPr>
              <a:t>4</a:t>
            </a:r>
            <a:r>
              <a:rPr lang="en-US" sz="1050" dirty="0">
                <a:solidFill>
                  <a:srgbClr val="D6E6EF"/>
                </a:solidFill>
                <a:latin typeface="Consolas" pitchFamily="34" charset="0"/>
                <a:ea typeface="Consolas" pitchFamily="34" charset="-122"/>
                <a:cs typeface="Consolas" pitchFamily="34" charset="-120"/>
              </a:rPr>
              <a:t>)).shape)</a:t>
            </a:r>
            <a:endParaRPr lang="en-US" sz="1050" dirty="0"/>
          </a:p>
        </p:txBody>
      </p:sp>
      <p:sp>
        <p:nvSpPr>
          <p:cNvPr id="51" name="Shape 49"/>
          <p:cNvSpPr/>
          <p:nvPr/>
        </p:nvSpPr>
        <p:spPr>
          <a:xfrm>
            <a:off x="7635240" y="4114800"/>
            <a:ext cx="3977640" cy="1783080"/>
          </a:xfrm>
          <a:prstGeom prst="roundRect">
            <a:avLst>
              <a:gd name="adj" fmla="val 2564"/>
            </a:avLst>
          </a:prstGeom>
          <a:solidFill>
            <a:srgbClr val="FFFFFF"/>
          </a:solidFill>
          <a:ln w="9525">
            <a:solidFill>
              <a:srgbClr val="CFE5EE"/>
            </a:solidFill>
            <a:prstDash val="solid"/>
          </a:ln>
        </p:spPr>
      </p:sp>
      <p:sp>
        <p:nvSpPr>
          <p:cNvPr id="52" name="Text 50"/>
          <p:cNvSpPr/>
          <p:nvPr/>
        </p:nvSpPr>
        <p:spPr>
          <a:xfrm>
            <a:off x="7781544" y="4206240"/>
            <a:ext cx="3703320" cy="164592"/>
          </a:xfrm>
          <a:prstGeom prst="rect">
            <a:avLst/>
          </a:prstGeom>
          <a:noFill/>
          <a:ln/>
        </p:spPr>
        <p:txBody>
          <a:bodyPr wrap="square" lIns="0" tIns="0" rIns="0" bIns="0" rtlCol="0" anchor="t"/>
          <a:lstStyle/>
          <a:p>
            <a:pPr marL="0" indent="0">
              <a:buNone/>
            </a:pPr>
            <a:r>
              <a:rPr lang="en-US" sz="800" b="1" kern="0" spc="120" dirty="0">
                <a:solidFill>
                  <a:srgbClr val="2D8C6F"/>
                </a:solidFill>
                <a:latin typeface="Segoe UI" pitchFamily="34" charset="0"/>
                <a:ea typeface="Segoe UI" pitchFamily="34" charset="-122"/>
                <a:cs typeface="Segoe UI" pitchFamily="34" charset="-120"/>
              </a:rPr>
              <a:t>KẾT QUẢ</a:t>
            </a:r>
            <a:endParaRPr lang="en-US" sz="800" dirty="0"/>
          </a:p>
        </p:txBody>
      </p:sp>
      <p:sp>
        <p:nvSpPr>
          <p:cNvPr id="53" name="Text 51"/>
          <p:cNvSpPr/>
          <p:nvPr/>
        </p:nvSpPr>
        <p:spPr>
          <a:xfrm>
            <a:off x="7781544" y="4425696"/>
            <a:ext cx="3703320" cy="1399032"/>
          </a:xfrm>
          <a:prstGeom prst="rect">
            <a:avLst/>
          </a:prstGeom>
          <a:noFill/>
          <a:ln/>
        </p:spPr>
        <p:txBody>
          <a:bodyPr wrap="square" lIns="0" tIns="0" rIns="0" bIns="0" rtlCol="0" anchor="t"/>
          <a:lstStyle/>
          <a:p>
            <a:pPr marL="0" indent="0">
              <a:lnSpc>
                <a:spcPct val="102000"/>
              </a:lnSpc>
              <a:buNone/>
            </a:pPr>
            <a:r>
              <a:rPr lang="en-US" sz="1050" dirty="0">
                <a:solidFill>
                  <a:srgbClr val="062A3A"/>
                </a:solidFill>
                <a:latin typeface="Consolas" pitchFamily="34" charset="0"/>
                <a:ea typeface="Consolas" pitchFamily="34" charset="-122"/>
                <a:cs typeface="Consolas" pitchFamily="34" charset="-120"/>
              </a:rPr>
              <a:t>()</a:t>
            </a:r>
            <a:endParaRPr lang="en-US" sz="1050" dirty="0"/>
          </a:p>
          <a:p>
            <a:pPr marL="0" indent="0">
              <a:lnSpc>
                <a:spcPct val="102000"/>
              </a:lnSpc>
              <a:buNone/>
            </a:pPr>
            <a:r>
              <a:rPr lang="en-US" sz="1050" dirty="0">
                <a:solidFill>
                  <a:srgbClr val="062A3A"/>
                </a:solidFill>
                <a:latin typeface="Consolas" pitchFamily="34" charset="0"/>
                <a:ea typeface="Consolas" pitchFamily="34" charset="-122"/>
                <a:cs typeface="Consolas" pitchFamily="34" charset="-120"/>
              </a:rPr>
              <a:t>(3,)</a:t>
            </a:r>
            <a:endParaRPr lang="en-US" sz="1050" dirty="0"/>
          </a:p>
          <a:p>
            <a:pPr marL="0" indent="0">
              <a:lnSpc>
                <a:spcPct val="102000"/>
              </a:lnSpc>
              <a:buNone/>
            </a:pPr>
            <a:r>
              <a:rPr lang="en-US" sz="1050" dirty="0">
                <a:solidFill>
                  <a:srgbClr val="062A3A"/>
                </a:solidFill>
                <a:latin typeface="Consolas" pitchFamily="34" charset="0"/>
                <a:ea typeface="Consolas" pitchFamily="34" charset="-122"/>
                <a:cs typeface="Consolas" pitchFamily="34" charset="-120"/>
              </a:rPr>
              <a:t>(2, 3)</a:t>
            </a:r>
            <a:endParaRPr lang="en-US" sz="1050" dirty="0"/>
          </a:p>
          <a:p>
            <a:pPr marL="0" indent="0">
              <a:lnSpc>
                <a:spcPct val="102000"/>
              </a:lnSpc>
              <a:buNone/>
            </a:pPr>
            <a:r>
              <a:rPr lang="en-US" sz="1050" dirty="0">
                <a:solidFill>
                  <a:srgbClr val="062A3A"/>
                </a:solidFill>
                <a:latin typeface="Consolas" pitchFamily="34" charset="0"/>
                <a:ea typeface="Consolas" pitchFamily="34" charset="-122"/>
                <a:cs typeface="Consolas" pitchFamily="34" charset="-120"/>
              </a:rPr>
              <a:t>(2, 3, 4)</a:t>
            </a:r>
            <a:endParaRPr lang="en-US" sz="1050" dirty="0"/>
          </a:p>
        </p:txBody>
      </p:sp>
      <p:sp>
        <p:nvSpPr>
          <p:cNvPr id="54" name="Text 52"/>
          <p:cNvSpPr/>
          <p:nvPr/>
        </p:nvSpPr>
        <p:spPr>
          <a:xfrm>
            <a:off x="548640" y="5989320"/>
            <a:ext cx="10881360" cy="228600"/>
          </a:xfrm>
          <a:prstGeom prst="rect">
            <a:avLst/>
          </a:prstGeom>
          <a:noFill/>
          <a:ln/>
        </p:spPr>
        <p:txBody>
          <a:bodyPr wrap="square" lIns="0" tIns="0" rIns="0" bIns="0" rtlCol="0" anchor="t"/>
          <a:lstStyle/>
          <a:p>
            <a:pPr marL="0" indent="0">
              <a:buNone/>
            </a:pPr>
            <a:r>
              <a:rPr lang="en-US" sz="950" i="1" dirty="0">
                <a:solidFill>
                  <a:srgbClr val="728694"/>
                </a:solidFill>
                <a:latin typeface="Segoe UI" pitchFamily="34" charset="0"/>
                <a:ea typeface="Segoe UI" pitchFamily="34" charset="-122"/>
                <a:cs typeface="Segoe UI" pitchFamily="34" charset="-120"/>
              </a:rPr>
              <a:t>Cú pháp (3,) cần dấu phẩy để Python hiểu là tuple một phần tử.</a:t>
            </a:r>
            <a:endParaRPr lang="en-US" sz="950" dirty="0"/>
          </a:p>
        </p:txBody>
      </p:sp>
      <p:sp>
        <p:nvSpPr>
          <p:cNvPr id="55" name="Shape 53"/>
          <p:cNvSpPr/>
          <p:nvPr/>
        </p:nvSpPr>
        <p:spPr>
          <a:xfrm>
            <a:off x="548640" y="6391656"/>
            <a:ext cx="11091672" cy="9144"/>
          </a:xfrm>
          <a:prstGeom prst="rect">
            <a:avLst/>
          </a:prstGeom>
          <a:solidFill>
            <a:srgbClr val="D7E5EC"/>
          </a:solidFill>
          <a:ln w="12700">
            <a:solidFill>
              <a:srgbClr val="D7E5EC"/>
            </a:solidFill>
            <a:prstDash val="solid"/>
          </a:ln>
        </p:spPr>
      </p:sp>
      <p:sp>
        <p:nvSpPr>
          <p:cNvPr id="56" name="Text 54"/>
          <p:cNvSpPr/>
          <p:nvPr/>
        </p:nvSpPr>
        <p:spPr>
          <a:xfrm>
            <a:off x="548640" y="6473952"/>
            <a:ext cx="7772400" cy="182880"/>
          </a:xfrm>
          <a:prstGeom prst="rect">
            <a:avLst/>
          </a:prstGeom>
          <a:noFill/>
          <a:ln/>
        </p:spPr>
        <p:txBody>
          <a:bodyPr wrap="square" lIns="0" tIns="0" rIns="0" bIns="0" rtlCol="0" anchor="t"/>
          <a:lstStyle/>
          <a:p>
            <a:pPr marL="0" indent="0">
              <a:buNone/>
            </a:pPr>
            <a:r>
              <a:rPr lang="en-US" sz="850" dirty="0">
                <a:solidFill>
                  <a:srgbClr val="728694"/>
                </a:solidFill>
                <a:latin typeface="Segoe UI" pitchFamily="34" charset="0"/>
                <a:ea typeface="Segoe UI" pitchFamily="34" charset="-122"/>
                <a:cs typeface="Segoe UI" pitchFamily="34" charset="-120"/>
              </a:rPr>
              <a:t>Tìm hiểu thư viện NumPy trong Python</a:t>
            </a:r>
            <a:endParaRPr lang="en-US" sz="850" dirty="0"/>
          </a:p>
        </p:txBody>
      </p:sp>
      <p:sp>
        <p:nvSpPr>
          <p:cNvPr id="57" name="Text 55"/>
          <p:cNvSpPr/>
          <p:nvPr/>
        </p:nvSpPr>
        <p:spPr>
          <a:xfrm>
            <a:off x="10698480" y="6473952"/>
            <a:ext cx="941832" cy="182880"/>
          </a:xfrm>
          <a:prstGeom prst="rect">
            <a:avLst/>
          </a:prstGeom>
          <a:noFill/>
          <a:ln/>
        </p:spPr>
        <p:txBody>
          <a:bodyPr wrap="square" lIns="0" tIns="0" rIns="0" bIns="0" rtlCol="0" anchor="t"/>
          <a:lstStyle/>
          <a:p>
            <a:pPr marL="0" indent="0" algn="r">
              <a:buNone/>
            </a:pPr>
            <a:r>
              <a:rPr lang="en-US" sz="850" dirty="0">
                <a:solidFill>
                  <a:srgbClr val="728694"/>
                </a:solidFill>
                <a:latin typeface="Segoe UI" pitchFamily="34" charset="0"/>
                <a:ea typeface="Segoe UI" pitchFamily="34" charset="-122"/>
                <a:cs typeface="Segoe UI" pitchFamily="34" charset="-120"/>
              </a:rPr>
              <a:t>09 / 25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301752"/>
            <a:ext cx="10881360" cy="201168"/>
          </a:xfrm>
          <a:prstGeom prst="rect">
            <a:avLst/>
          </a:prstGeom>
          <a:noFill/>
          <a:ln/>
        </p:spPr>
        <p:txBody>
          <a:bodyPr wrap="square" lIns="0" tIns="0" rIns="0" bIns="0" rtlCol="0" anchor="t"/>
          <a:lstStyle/>
          <a:p>
            <a:pPr marL="0" indent="0">
              <a:buNone/>
            </a:pPr>
            <a:r>
              <a:rPr lang="en-US" sz="950" b="1" kern="0" spc="160" dirty="0">
                <a:solidFill>
                  <a:srgbClr val="1B8EA8"/>
                </a:solidFill>
                <a:latin typeface="Segoe UI" pitchFamily="34" charset="0"/>
                <a:ea typeface="Segoe UI" pitchFamily="34" charset="-122"/>
                <a:cs typeface="Segoe UI" pitchFamily="34" charset="-120"/>
              </a:rPr>
              <a:t>02 · CẤU TRÚC MẢNG</a:t>
            </a:r>
            <a:endParaRPr lang="en-US" sz="950" dirty="0"/>
          </a:p>
        </p:txBody>
      </p:sp>
      <p:sp>
        <p:nvSpPr>
          <p:cNvPr id="3" name="Text 1"/>
          <p:cNvSpPr/>
          <p:nvPr/>
        </p:nvSpPr>
        <p:spPr>
          <a:xfrm>
            <a:off x="548640" y="502920"/>
            <a:ext cx="10881360" cy="640080"/>
          </a:xfrm>
          <a:prstGeom prst="rect">
            <a:avLst/>
          </a:prstGeom>
          <a:noFill/>
          <a:ln/>
        </p:spPr>
        <p:txBody>
          <a:bodyPr wrap="square" lIns="0" tIns="0" rIns="0" bIns="0" rtlCol="0" anchor="ctr"/>
          <a:lstStyle/>
          <a:p>
            <a:pPr marL="0" indent="0">
              <a:buNone/>
            </a:pPr>
            <a:r>
              <a:rPr lang="en-US" sz="2800" b="1" dirty="0">
                <a:solidFill>
                  <a:srgbClr val="062A3A"/>
                </a:solidFill>
                <a:latin typeface="Segoe UI" pitchFamily="34" charset="0"/>
                <a:ea typeface="Segoe UI" pitchFamily="34" charset="-122"/>
                <a:cs typeface="Segoe UI" pitchFamily="34" charset="-120"/>
              </a:rPr>
              <a:t>Bốn thuộc tính quan trọng</a:t>
            </a:r>
            <a:endParaRPr lang="en-US" sz="2800" dirty="0"/>
          </a:p>
        </p:txBody>
      </p:sp>
      <p:sp>
        <p:nvSpPr>
          <p:cNvPr id="4" name="Shape 2"/>
          <p:cNvSpPr/>
          <p:nvPr/>
        </p:nvSpPr>
        <p:spPr>
          <a:xfrm>
            <a:off x="548640" y="1225296"/>
            <a:ext cx="868680" cy="41148"/>
          </a:xfrm>
          <a:prstGeom prst="rect">
            <a:avLst/>
          </a:prstGeom>
          <a:solidFill>
            <a:srgbClr val="1B8EA8"/>
          </a:solidFill>
          <a:ln w="12700">
            <a:solidFill>
              <a:srgbClr val="1B8EA8"/>
            </a:solidFill>
            <a:prstDash val="solid"/>
          </a:ln>
        </p:spPr>
      </p:sp>
      <p:sp>
        <p:nvSpPr>
          <p:cNvPr id="5" name="Shape 3"/>
          <p:cNvSpPr/>
          <p:nvPr/>
        </p:nvSpPr>
        <p:spPr>
          <a:xfrm>
            <a:off x="548640" y="1463040"/>
            <a:ext cx="4343400" cy="3154680"/>
          </a:xfrm>
          <a:prstGeom prst="roundRect">
            <a:avLst>
              <a:gd name="adj" fmla="val 1739"/>
            </a:avLst>
          </a:prstGeom>
          <a:solidFill>
            <a:srgbClr val="062A3A"/>
          </a:solidFill>
          <a:ln w="9525">
            <a:solidFill>
              <a:srgbClr val="062A3A"/>
            </a:solidFill>
            <a:prstDash val="solid"/>
          </a:ln>
          <a:effectLst>
            <a:outerShdw blurRad="63500" dist="12700" dir="5400000" algn="bl" rotWithShape="0">
              <a:srgbClr val="062A3A">
                <a:alpha val="7000"/>
              </a:srgbClr>
            </a:outerShdw>
          </a:effectLst>
        </p:spPr>
      </p:sp>
      <p:sp>
        <p:nvSpPr>
          <p:cNvPr id="6" name="Text 4"/>
          <p:cNvSpPr/>
          <p:nvPr/>
        </p:nvSpPr>
        <p:spPr>
          <a:xfrm>
            <a:off x="822960" y="1645920"/>
            <a:ext cx="3749040" cy="228600"/>
          </a:xfrm>
          <a:prstGeom prst="rect">
            <a:avLst/>
          </a:prstGeom>
          <a:noFill/>
          <a:ln/>
        </p:spPr>
        <p:txBody>
          <a:bodyPr wrap="square" lIns="0" tIns="0" rIns="0" bIns="0" rtlCol="0" anchor="t"/>
          <a:lstStyle/>
          <a:p>
            <a:pPr marL="0" indent="0">
              <a:buNone/>
            </a:pPr>
            <a:r>
              <a:rPr lang="en-US" sz="900" b="1" kern="0" spc="180" dirty="0">
                <a:solidFill>
                  <a:srgbClr val="4DB8D4"/>
                </a:solidFill>
                <a:latin typeface="Segoe UI" pitchFamily="34" charset="0"/>
                <a:ea typeface="Segoe UI" pitchFamily="34" charset="-122"/>
                <a:cs typeface="Segoe UI" pitchFamily="34" charset="-120"/>
              </a:rPr>
              <a:t>HỘ CHIẾU MẢNG</a:t>
            </a:r>
            <a:endParaRPr lang="en-US" sz="900" dirty="0"/>
          </a:p>
        </p:txBody>
      </p:sp>
      <p:sp>
        <p:nvSpPr>
          <p:cNvPr id="7" name="Text 5"/>
          <p:cNvSpPr/>
          <p:nvPr/>
        </p:nvSpPr>
        <p:spPr>
          <a:xfrm>
            <a:off x="822960" y="1901952"/>
            <a:ext cx="3840480" cy="320040"/>
          </a:xfrm>
          <a:prstGeom prst="rect">
            <a:avLst/>
          </a:prstGeom>
          <a:noFill/>
          <a:ln/>
        </p:spPr>
        <p:txBody>
          <a:bodyPr wrap="square" lIns="0" tIns="0" rIns="0" bIns="0" rtlCol="0" anchor="t"/>
          <a:lstStyle/>
          <a:p>
            <a:pPr marL="0" indent="0">
              <a:buNone/>
            </a:pPr>
            <a:r>
              <a:rPr lang="en-US" sz="1500" b="1" dirty="0">
                <a:solidFill>
                  <a:srgbClr val="FFFFFF"/>
                </a:solidFill>
                <a:latin typeface="Consolas" pitchFamily="34" charset="0"/>
                <a:ea typeface="Consolas" pitchFamily="34" charset="-122"/>
                <a:cs typeface="Consolas" pitchFamily="34" charset="-120"/>
              </a:rPr>
              <a:t>ndarray  ·  (2, 3)</a:t>
            </a:r>
            <a:endParaRPr lang="en-US" sz="1500" dirty="0"/>
          </a:p>
        </p:txBody>
      </p:sp>
      <p:sp>
        <p:nvSpPr>
          <p:cNvPr id="8" name="Shape 6"/>
          <p:cNvSpPr/>
          <p:nvPr/>
        </p:nvSpPr>
        <p:spPr>
          <a:xfrm>
            <a:off x="822960" y="2816352"/>
            <a:ext cx="3749040" cy="9144"/>
          </a:xfrm>
          <a:prstGeom prst="rect">
            <a:avLst/>
          </a:prstGeom>
          <a:solidFill>
            <a:srgbClr val="1D4657"/>
          </a:solidFill>
          <a:ln w="12700">
            <a:solidFill>
              <a:srgbClr val="1D4657"/>
            </a:solidFill>
            <a:prstDash val="solid"/>
          </a:ln>
        </p:spPr>
      </p:sp>
      <p:sp>
        <p:nvSpPr>
          <p:cNvPr id="9" name="Text 7"/>
          <p:cNvSpPr/>
          <p:nvPr/>
        </p:nvSpPr>
        <p:spPr>
          <a:xfrm>
            <a:off x="822960" y="2377440"/>
            <a:ext cx="731520" cy="274320"/>
          </a:xfrm>
          <a:prstGeom prst="rect">
            <a:avLst/>
          </a:prstGeom>
          <a:noFill/>
          <a:ln/>
        </p:spPr>
        <p:txBody>
          <a:bodyPr wrap="square" lIns="0" tIns="0" rIns="0" bIns="0" rtlCol="0" anchor="t"/>
          <a:lstStyle/>
          <a:p>
            <a:pPr marL="0" indent="0">
              <a:buNone/>
            </a:pPr>
            <a:r>
              <a:rPr lang="en-US" sz="1100" dirty="0">
                <a:solidFill>
                  <a:srgbClr val="4DB8D4"/>
                </a:solidFill>
                <a:latin typeface="Consolas" pitchFamily="34" charset="0"/>
                <a:ea typeface="Consolas" pitchFamily="34" charset="-122"/>
                <a:cs typeface="Consolas" pitchFamily="34" charset="-120"/>
              </a:rPr>
              <a:t>ndim</a:t>
            </a:r>
            <a:endParaRPr lang="en-US" sz="1100" dirty="0"/>
          </a:p>
        </p:txBody>
      </p:sp>
      <p:sp>
        <p:nvSpPr>
          <p:cNvPr id="10" name="Text 8"/>
          <p:cNvSpPr/>
          <p:nvPr/>
        </p:nvSpPr>
        <p:spPr>
          <a:xfrm>
            <a:off x="1600200" y="2359152"/>
            <a:ext cx="1325880" cy="292608"/>
          </a:xfrm>
          <a:prstGeom prst="rect">
            <a:avLst/>
          </a:prstGeom>
          <a:noFill/>
          <a:ln/>
        </p:spPr>
        <p:txBody>
          <a:bodyPr wrap="square" lIns="0" tIns="0" rIns="0" bIns="0" rtlCol="0" anchor="t"/>
          <a:lstStyle/>
          <a:p>
            <a:pPr marL="0" indent="0">
              <a:buNone/>
            </a:pPr>
            <a:r>
              <a:rPr lang="en-US" sz="1300" b="1" dirty="0">
                <a:solidFill>
                  <a:srgbClr val="FFFFFF"/>
                </a:solidFill>
                <a:latin typeface="Consolas" pitchFamily="34" charset="0"/>
                <a:ea typeface="Consolas" pitchFamily="34" charset="-122"/>
                <a:cs typeface="Consolas" pitchFamily="34" charset="-120"/>
              </a:rPr>
              <a:t>2</a:t>
            </a:r>
            <a:endParaRPr lang="en-US" sz="1300" dirty="0"/>
          </a:p>
        </p:txBody>
      </p:sp>
      <p:sp>
        <p:nvSpPr>
          <p:cNvPr id="11" name="Text 9"/>
          <p:cNvSpPr/>
          <p:nvPr/>
        </p:nvSpPr>
        <p:spPr>
          <a:xfrm>
            <a:off x="2926080" y="2404872"/>
            <a:ext cx="1645920" cy="237744"/>
          </a:xfrm>
          <a:prstGeom prst="rect">
            <a:avLst/>
          </a:prstGeom>
          <a:noFill/>
          <a:ln/>
        </p:spPr>
        <p:txBody>
          <a:bodyPr wrap="square" lIns="0" tIns="0" rIns="0" bIns="0" rtlCol="0" anchor="t"/>
          <a:lstStyle/>
          <a:p>
            <a:pPr marL="0" indent="0" algn="r">
              <a:buNone/>
            </a:pPr>
            <a:r>
              <a:rPr lang="en-US" sz="850" dirty="0">
                <a:solidFill>
                  <a:srgbClr val="8FB0BF"/>
                </a:solidFill>
                <a:latin typeface="Segoe UI" pitchFamily="34" charset="0"/>
                <a:ea typeface="Segoe UI" pitchFamily="34" charset="-122"/>
                <a:cs typeface="Segoe UI" pitchFamily="34" charset="-120"/>
              </a:rPr>
              <a:t>số chiều</a:t>
            </a:r>
            <a:endParaRPr lang="en-US" sz="850" dirty="0"/>
          </a:p>
        </p:txBody>
      </p:sp>
      <p:sp>
        <p:nvSpPr>
          <p:cNvPr id="12" name="Shape 10"/>
          <p:cNvSpPr/>
          <p:nvPr/>
        </p:nvSpPr>
        <p:spPr>
          <a:xfrm>
            <a:off x="822960" y="3337560"/>
            <a:ext cx="3749040" cy="9144"/>
          </a:xfrm>
          <a:prstGeom prst="rect">
            <a:avLst/>
          </a:prstGeom>
          <a:solidFill>
            <a:srgbClr val="1D4657"/>
          </a:solidFill>
          <a:ln w="12700">
            <a:solidFill>
              <a:srgbClr val="1D4657"/>
            </a:solidFill>
            <a:prstDash val="solid"/>
          </a:ln>
        </p:spPr>
      </p:sp>
      <p:sp>
        <p:nvSpPr>
          <p:cNvPr id="13" name="Text 11"/>
          <p:cNvSpPr/>
          <p:nvPr/>
        </p:nvSpPr>
        <p:spPr>
          <a:xfrm>
            <a:off x="822960" y="2898648"/>
            <a:ext cx="731520" cy="274320"/>
          </a:xfrm>
          <a:prstGeom prst="rect">
            <a:avLst/>
          </a:prstGeom>
          <a:noFill/>
          <a:ln/>
        </p:spPr>
        <p:txBody>
          <a:bodyPr wrap="square" lIns="0" tIns="0" rIns="0" bIns="0" rtlCol="0" anchor="t"/>
          <a:lstStyle/>
          <a:p>
            <a:pPr marL="0" indent="0">
              <a:buNone/>
            </a:pPr>
            <a:r>
              <a:rPr lang="en-US" sz="1100" dirty="0">
                <a:solidFill>
                  <a:srgbClr val="4DB8D4"/>
                </a:solidFill>
                <a:latin typeface="Consolas" pitchFamily="34" charset="0"/>
                <a:ea typeface="Consolas" pitchFamily="34" charset="-122"/>
                <a:cs typeface="Consolas" pitchFamily="34" charset="-120"/>
              </a:rPr>
              <a:t>shape</a:t>
            </a:r>
            <a:endParaRPr lang="en-US" sz="1100" dirty="0"/>
          </a:p>
        </p:txBody>
      </p:sp>
      <p:sp>
        <p:nvSpPr>
          <p:cNvPr id="14" name="Text 12"/>
          <p:cNvSpPr/>
          <p:nvPr/>
        </p:nvSpPr>
        <p:spPr>
          <a:xfrm>
            <a:off x="1600200" y="2880360"/>
            <a:ext cx="1325880" cy="292608"/>
          </a:xfrm>
          <a:prstGeom prst="rect">
            <a:avLst/>
          </a:prstGeom>
          <a:noFill/>
          <a:ln/>
        </p:spPr>
        <p:txBody>
          <a:bodyPr wrap="square" lIns="0" tIns="0" rIns="0" bIns="0" rtlCol="0" anchor="t"/>
          <a:lstStyle/>
          <a:p>
            <a:pPr marL="0" indent="0">
              <a:buNone/>
            </a:pPr>
            <a:r>
              <a:rPr lang="en-US" sz="1300" b="1" dirty="0">
                <a:solidFill>
                  <a:srgbClr val="FFFFFF"/>
                </a:solidFill>
                <a:latin typeface="Consolas" pitchFamily="34" charset="0"/>
                <a:ea typeface="Consolas" pitchFamily="34" charset="-122"/>
                <a:cs typeface="Consolas" pitchFamily="34" charset="-120"/>
              </a:rPr>
              <a:t>(2, 3)</a:t>
            </a:r>
            <a:endParaRPr lang="en-US" sz="1300" dirty="0"/>
          </a:p>
        </p:txBody>
      </p:sp>
      <p:sp>
        <p:nvSpPr>
          <p:cNvPr id="15" name="Text 13"/>
          <p:cNvSpPr/>
          <p:nvPr/>
        </p:nvSpPr>
        <p:spPr>
          <a:xfrm>
            <a:off x="2926080" y="2926080"/>
            <a:ext cx="1645920" cy="237744"/>
          </a:xfrm>
          <a:prstGeom prst="rect">
            <a:avLst/>
          </a:prstGeom>
          <a:noFill/>
          <a:ln/>
        </p:spPr>
        <p:txBody>
          <a:bodyPr wrap="square" lIns="0" tIns="0" rIns="0" bIns="0" rtlCol="0" anchor="t"/>
          <a:lstStyle/>
          <a:p>
            <a:pPr marL="0" indent="0" algn="r">
              <a:buNone/>
            </a:pPr>
            <a:r>
              <a:rPr lang="en-US" sz="850" dirty="0">
                <a:solidFill>
                  <a:srgbClr val="8FB0BF"/>
                </a:solidFill>
                <a:latin typeface="Segoe UI" pitchFamily="34" charset="0"/>
                <a:ea typeface="Segoe UI" pitchFamily="34" charset="-122"/>
                <a:cs typeface="Segoe UI" pitchFamily="34" charset="-120"/>
              </a:rPr>
              <a:t>kích thước từng chiều</a:t>
            </a:r>
            <a:endParaRPr lang="en-US" sz="850" dirty="0"/>
          </a:p>
        </p:txBody>
      </p:sp>
      <p:sp>
        <p:nvSpPr>
          <p:cNvPr id="16" name="Shape 14"/>
          <p:cNvSpPr/>
          <p:nvPr/>
        </p:nvSpPr>
        <p:spPr>
          <a:xfrm>
            <a:off x="822960" y="3858768"/>
            <a:ext cx="3749040" cy="9144"/>
          </a:xfrm>
          <a:prstGeom prst="rect">
            <a:avLst/>
          </a:prstGeom>
          <a:solidFill>
            <a:srgbClr val="1D4657"/>
          </a:solidFill>
          <a:ln w="12700">
            <a:solidFill>
              <a:srgbClr val="1D4657"/>
            </a:solidFill>
            <a:prstDash val="solid"/>
          </a:ln>
        </p:spPr>
      </p:sp>
      <p:sp>
        <p:nvSpPr>
          <p:cNvPr id="17" name="Text 15"/>
          <p:cNvSpPr/>
          <p:nvPr/>
        </p:nvSpPr>
        <p:spPr>
          <a:xfrm>
            <a:off x="822960" y="3419856"/>
            <a:ext cx="731520" cy="274320"/>
          </a:xfrm>
          <a:prstGeom prst="rect">
            <a:avLst/>
          </a:prstGeom>
          <a:noFill/>
          <a:ln/>
        </p:spPr>
        <p:txBody>
          <a:bodyPr wrap="square" lIns="0" tIns="0" rIns="0" bIns="0" rtlCol="0" anchor="t"/>
          <a:lstStyle/>
          <a:p>
            <a:pPr marL="0" indent="0">
              <a:buNone/>
            </a:pPr>
            <a:r>
              <a:rPr lang="en-US" sz="1100" dirty="0">
                <a:solidFill>
                  <a:srgbClr val="4DB8D4"/>
                </a:solidFill>
                <a:latin typeface="Consolas" pitchFamily="34" charset="0"/>
                <a:ea typeface="Consolas" pitchFamily="34" charset="-122"/>
                <a:cs typeface="Consolas" pitchFamily="34" charset="-120"/>
              </a:rPr>
              <a:t>size</a:t>
            </a:r>
            <a:endParaRPr lang="en-US" sz="1100" dirty="0"/>
          </a:p>
        </p:txBody>
      </p:sp>
      <p:sp>
        <p:nvSpPr>
          <p:cNvPr id="18" name="Text 16"/>
          <p:cNvSpPr/>
          <p:nvPr/>
        </p:nvSpPr>
        <p:spPr>
          <a:xfrm>
            <a:off x="1600200" y="3401568"/>
            <a:ext cx="1325880" cy="292608"/>
          </a:xfrm>
          <a:prstGeom prst="rect">
            <a:avLst/>
          </a:prstGeom>
          <a:noFill/>
          <a:ln/>
        </p:spPr>
        <p:txBody>
          <a:bodyPr wrap="square" lIns="0" tIns="0" rIns="0" bIns="0" rtlCol="0" anchor="t"/>
          <a:lstStyle/>
          <a:p>
            <a:pPr marL="0" indent="0">
              <a:buNone/>
            </a:pPr>
            <a:r>
              <a:rPr lang="en-US" sz="1300" b="1" dirty="0">
                <a:solidFill>
                  <a:srgbClr val="FFFFFF"/>
                </a:solidFill>
                <a:latin typeface="Consolas" pitchFamily="34" charset="0"/>
                <a:ea typeface="Consolas" pitchFamily="34" charset="-122"/>
                <a:cs typeface="Consolas" pitchFamily="34" charset="-120"/>
              </a:rPr>
              <a:t>6</a:t>
            </a:r>
            <a:endParaRPr lang="en-US" sz="1300" dirty="0"/>
          </a:p>
        </p:txBody>
      </p:sp>
      <p:sp>
        <p:nvSpPr>
          <p:cNvPr id="19" name="Text 17"/>
          <p:cNvSpPr/>
          <p:nvPr/>
        </p:nvSpPr>
        <p:spPr>
          <a:xfrm>
            <a:off x="2926080" y="3447288"/>
            <a:ext cx="1645920" cy="237744"/>
          </a:xfrm>
          <a:prstGeom prst="rect">
            <a:avLst/>
          </a:prstGeom>
          <a:noFill/>
          <a:ln/>
        </p:spPr>
        <p:txBody>
          <a:bodyPr wrap="square" lIns="0" tIns="0" rIns="0" bIns="0" rtlCol="0" anchor="t"/>
          <a:lstStyle/>
          <a:p>
            <a:pPr marL="0" indent="0" algn="r">
              <a:buNone/>
            </a:pPr>
            <a:r>
              <a:rPr lang="en-US" sz="850" dirty="0">
                <a:solidFill>
                  <a:srgbClr val="8FB0BF"/>
                </a:solidFill>
                <a:latin typeface="Segoe UI" pitchFamily="34" charset="0"/>
                <a:ea typeface="Segoe UI" pitchFamily="34" charset="-122"/>
                <a:cs typeface="Segoe UI" pitchFamily="34" charset="-120"/>
              </a:rPr>
              <a:t>tổng số phần tử</a:t>
            </a:r>
            <a:endParaRPr lang="en-US" sz="850" dirty="0"/>
          </a:p>
        </p:txBody>
      </p:sp>
      <p:sp>
        <p:nvSpPr>
          <p:cNvPr id="20" name="Shape 18"/>
          <p:cNvSpPr/>
          <p:nvPr/>
        </p:nvSpPr>
        <p:spPr>
          <a:xfrm>
            <a:off x="822960" y="4379976"/>
            <a:ext cx="3749040" cy="9144"/>
          </a:xfrm>
          <a:prstGeom prst="rect">
            <a:avLst/>
          </a:prstGeom>
          <a:solidFill>
            <a:srgbClr val="1D4657"/>
          </a:solidFill>
          <a:ln w="12700">
            <a:solidFill>
              <a:srgbClr val="1D4657"/>
            </a:solidFill>
            <a:prstDash val="solid"/>
          </a:ln>
        </p:spPr>
      </p:sp>
      <p:sp>
        <p:nvSpPr>
          <p:cNvPr id="21" name="Text 19"/>
          <p:cNvSpPr/>
          <p:nvPr/>
        </p:nvSpPr>
        <p:spPr>
          <a:xfrm>
            <a:off x="822960" y="3941064"/>
            <a:ext cx="731520" cy="274320"/>
          </a:xfrm>
          <a:prstGeom prst="rect">
            <a:avLst/>
          </a:prstGeom>
          <a:noFill/>
          <a:ln/>
        </p:spPr>
        <p:txBody>
          <a:bodyPr wrap="square" lIns="0" tIns="0" rIns="0" bIns="0" rtlCol="0" anchor="t"/>
          <a:lstStyle/>
          <a:p>
            <a:pPr marL="0" indent="0">
              <a:buNone/>
            </a:pPr>
            <a:r>
              <a:rPr lang="en-US" sz="1100" dirty="0">
                <a:solidFill>
                  <a:srgbClr val="4DB8D4"/>
                </a:solidFill>
                <a:latin typeface="Consolas" pitchFamily="34" charset="0"/>
                <a:ea typeface="Consolas" pitchFamily="34" charset="-122"/>
                <a:cs typeface="Consolas" pitchFamily="34" charset="-120"/>
              </a:rPr>
              <a:t>dtype</a:t>
            </a:r>
            <a:endParaRPr lang="en-US" sz="1100" dirty="0"/>
          </a:p>
        </p:txBody>
      </p:sp>
      <p:sp>
        <p:nvSpPr>
          <p:cNvPr id="22" name="Text 20"/>
          <p:cNvSpPr/>
          <p:nvPr/>
        </p:nvSpPr>
        <p:spPr>
          <a:xfrm>
            <a:off x="1600200" y="3922776"/>
            <a:ext cx="1325880" cy="292608"/>
          </a:xfrm>
          <a:prstGeom prst="rect">
            <a:avLst/>
          </a:prstGeom>
          <a:noFill/>
          <a:ln/>
        </p:spPr>
        <p:txBody>
          <a:bodyPr wrap="square" lIns="0" tIns="0" rIns="0" bIns="0" rtlCol="0" anchor="t"/>
          <a:lstStyle/>
          <a:p>
            <a:pPr marL="0" indent="0">
              <a:buNone/>
            </a:pPr>
            <a:r>
              <a:rPr lang="en-US" sz="1300" b="1" dirty="0">
                <a:solidFill>
                  <a:srgbClr val="FFFFFF"/>
                </a:solidFill>
                <a:latin typeface="Consolas" pitchFamily="34" charset="0"/>
                <a:ea typeface="Consolas" pitchFamily="34" charset="-122"/>
                <a:cs typeface="Consolas" pitchFamily="34" charset="-120"/>
              </a:rPr>
              <a:t>int64</a:t>
            </a:r>
            <a:endParaRPr lang="en-US" sz="1300" dirty="0"/>
          </a:p>
        </p:txBody>
      </p:sp>
      <p:sp>
        <p:nvSpPr>
          <p:cNvPr id="23" name="Text 21"/>
          <p:cNvSpPr/>
          <p:nvPr/>
        </p:nvSpPr>
        <p:spPr>
          <a:xfrm>
            <a:off x="2926080" y="3968496"/>
            <a:ext cx="1645920" cy="237744"/>
          </a:xfrm>
          <a:prstGeom prst="rect">
            <a:avLst/>
          </a:prstGeom>
          <a:noFill/>
          <a:ln/>
        </p:spPr>
        <p:txBody>
          <a:bodyPr wrap="square" lIns="0" tIns="0" rIns="0" bIns="0" rtlCol="0" anchor="t"/>
          <a:lstStyle/>
          <a:p>
            <a:pPr marL="0" indent="0" algn="r">
              <a:buNone/>
            </a:pPr>
            <a:r>
              <a:rPr lang="en-US" sz="850" dirty="0">
                <a:solidFill>
                  <a:srgbClr val="8FB0BF"/>
                </a:solidFill>
                <a:latin typeface="Segoe UI" pitchFamily="34" charset="0"/>
                <a:ea typeface="Segoe UI" pitchFamily="34" charset="-122"/>
                <a:cs typeface="Segoe UI" pitchFamily="34" charset="-120"/>
              </a:rPr>
              <a:t>kiểu dữ liệu</a:t>
            </a:r>
            <a:endParaRPr lang="en-US" sz="850" dirty="0"/>
          </a:p>
        </p:txBody>
      </p:sp>
      <p:sp>
        <p:nvSpPr>
          <p:cNvPr id="24" name="Shape 22"/>
          <p:cNvSpPr/>
          <p:nvPr/>
        </p:nvSpPr>
        <p:spPr>
          <a:xfrm>
            <a:off x="5212080" y="1463040"/>
            <a:ext cx="6400800" cy="1691640"/>
          </a:xfrm>
          <a:prstGeom prst="roundRect">
            <a:avLst>
              <a:gd name="adj" fmla="val 2703"/>
            </a:avLst>
          </a:prstGeom>
          <a:solidFill>
            <a:srgbClr val="0B2230"/>
          </a:solidFill>
          <a:ln w="9525">
            <a:solidFill>
              <a:srgbClr val="163B4C"/>
            </a:solidFill>
            <a:prstDash val="solid"/>
          </a:ln>
        </p:spPr>
      </p:sp>
      <p:sp>
        <p:nvSpPr>
          <p:cNvPr id="25" name="Shape 23"/>
          <p:cNvSpPr/>
          <p:nvPr/>
        </p:nvSpPr>
        <p:spPr>
          <a:xfrm>
            <a:off x="5212080" y="1463040"/>
            <a:ext cx="6400800" cy="265176"/>
          </a:xfrm>
          <a:prstGeom prst="rect">
            <a:avLst/>
          </a:prstGeom>
          <a:solidFill>
            <a:srgbClr val="103445"/>
          </a:solidFill>
          <a:ln w="12700">
            <a:solidFill>
              <a:srgbClr val="103445"/>
            </a:solidFill>
            <a:prstDash val="solid"/>
          </a:ln>
        </p:spPr>
      </p:sp>
      <p:sp>
        <p:nvSpPr>
          <p:cNvPr id="26" name="Text 24"/>
          <p:cNvSpPr/>
          <p:nvPr/>
        </p:nvSpPr>
        <p:spPr>
          <a:xfrm>
            <a:off x="5358384" y="1513332"/>
            <a:ext cx="5486400" cy="182880"/>
          </a:xfrm>
          <a:prstGeom prst="rect">
            <a:avLst/>
          </a:prstGeom>
          <a:noFill/>
          <a:ln/>
        </p:spPr>
        <p:txBody>
          <a:bodyPr wrap="square" lIns="0" tIns="0" rIns="0" bIns="0" rtlCol="0" anchor="t"/>
          <a:lstStyle/>
          <a:p>
            <a:pPr marL="0" indent="0">
              <a:buNone/>
            </a:pPr>
            <a:r>
              <a:rPr lang="en-US" sz="850" dirty="0">
                <a:solidFill>
                  <a:srgbClr val="8FB6C8"/>
                </a:solidFill>
                <a:latin typeface="Consolas" pitchFamily="34" charset="0"/>
                <a:ea typeface="Consolas" pitchFamily="34" charset="-122"/>
                <a:cs typeface="Consolas" pitchFamily="34" charset="-120"/>
              </a:rPr>
              <a:t>python</a:t>
            </a:r>
            <a:endParaRPr lang="en-US" sz="850" dirty="0"/>
          </a:p>
        </p:txBody>
      </p:sp>
      <p:sp>
        <p:nvSpPr>
          <p:cNvPr id="27" name="Shape 25"/>
          <p:cNvSpPr/>
          <p:nvPr/>
        </p:nvSpPr>
        <p:spPr>
          <a:xfrm>
            <a:off x="11045952" y="1568196"/>
            <a:ext cx="77724" cy="77724"/>
          </a:xfrm>
          <a:prstGeom prst="ellipse">
            <a:avLst/>
          </a:prstGeom>
          <a:solidFill>
            <a:srgbClr val="D96C5F"/>
          </a:solidFill>
          <a:ln w="12700">
            <a:solidFill>
              <a:srgbClr val="D96C5F"/>
            </a:solidFill>
            <a:prstDash val="solid"/>
          </a:ln>
        </p:spPr>
      </p:sp>
      <p:sp>
        <p:nvSpPr>
          <p:cNvPr id="28" name="Shape 26"/>
          <p:cNvSpPr/>
          <p:nvPr/>
        </p:nvSpPr>
        <p:spPr>
          <a:xfrm>
            <a:off x="11201400" y="1568196"/>
            <a:ext cx="77724" cy="77724"/>
          </a:xfrm>
          <a:prstGeom prst="ellipse">
            <a:avLst/>
          </a:prstGeom>
          <a:solidFill>
            <a:srgbClr val="E8A33D"/>
          </a:solidFill>
          <a:ln w="12700">
            <a:solidFill>
              <a:srgbClr val="E8A33D"/>
            </a:solidFill>
            <a:prstDash val="solid"/>
          </a:ln>
        </p:spPr>
      </p:sp>
      <p:sp>
        <p:nvSpPr>
          <p:cNvPr id="29" name="Shape 27"/>
          <p:cNvSpPr/>
          <p:nvPr/>
        </p:nvSpPr>
        <p:spPr>
          <a:xfrm>
            <a:off x="11356848" y="1568196"/>
            <a:ext cx="77724" cy="77724"/>
          </a:xfrm>
          <a:prstGeom prst="ellipse">
            <a:avLst/>
          </a:prstGeom>
          <a:solidFill>
            <a:srgbClr val="2D8C6F"/>
          </a:solidFill>
          <a:ln w="12700">
            <a:solidFill>
              <a:srgbClr val="2D8C6F"/>
            </a:solidFill>
            <a:prstDash val="solid"/>
          </a:ln>
        </p:spPr>
      </p:sp>
      <p:sp>
        <p:nvSpPr>
          <p:cNvPr id="30" name="Text 28"/>
          <p:cNvSpPr/>
          <p:nvPr/>
        </p:nvSpPr>
        <p:spPr>
          <a:xfrm>
            <a:off x="5376672" y="1810512"/>
            <a:ext cx="6108192" cy="1271016"/>
          </a:xfrm>
          <a:prstGeom prst="rect">
            <a:avLst/>
          </a:prstGeom>
          <a:noFill/>
          <a:ln/>
        </p:spPr>
        <p:txBody>
          <a:bodyPr wrap="square" lIns="0" tIns="0" rIns="0" bIns="0" rtlCol="0" anchor="t"/>
          <a:lstStyle/>
          <a:p>
            <a:pPr marL="0" indent="0">
              <a:lnSpc>
                <a:spcPct val="102000"/>
              </a:lnSpc>
              <a:buNone/>
            </a:pPr>
            <a:r>
              <a:rPr lang="en-US" sz="1100" dirty="0">
                <a:solidFill>
                  <a:srgbClr val="D6E6EF"/>
                </a:solidFill>
                <a:latin typeface="Consolas" pitchFamily="34" charset="0"/>
                <a:ea typeface="Consolas" pitchFamily="34" charset="-122"/>
                <a:cs typeface="Consolas" pitchFamily="34" charset="-120"/>
              </a:rPr>
              <a:t>a = </a:t>
            </a:r>
            <a:r>
              <a:rPr lang="en-US" sz="1100" dirty="0">
                <a:solidFill>
                  <a:srgbClr val="8AD9C0"/>
                </a:solidFill>
                <a:latin typeface="Consolas" pitchFamily="34" charset="0"/>
                <a:ea typeface="Consolas" pitchFamily="34" charset="-122"/>
                <a:cs typeface="Consolas" pitchFamily="34" charset="-120"/>
              </a:rPr>
              <a:t>np</a:t>
            </a:r>
            <a:r>
              <a:rPr lang="en-US" sz="1100" dirty="0">
                <a:solidFill>
                  <a:srgbClr val="D6E6EF"/>
                </a:solidFill>
                <a:latin typeface="Consolas" pitchFamily="34" charset="0"/>
                <a:ea typeface="Consolas" pitchFamily="34" charset="-122"/>
                <a:cs typeface="Consolas" pitchFamily="34" charset="-120"/>
              </a:rPr>
              <a:t>.array([[</a:t>
            </a:r>
            <a:r>
              <a:rPr lang="en-US" sz="1100" dirty="0">
                <a:solidFill>
                  <a:srgbClr val="F08A7C"/>
                </a:solidFill>
                <a:latin typeface="Consolas" pitchFamily="34" charset="0"/>
                <a:ea typeface="Consolas" pitchFamily="34" charset="-122"/>
                <a:cs typeface="Consolas" pitchFamily="34" charset="-120"/>
              </a:rPr>
              <a:t>1</a:t>
            </a:r>
            <a:r>
              <a:rPr lang="en-US" sz="1100" dirty="0">
                <a:solidFill>
                  <a:srgbClr val="D6E6EF"/>
                </a:solidFill>
                <a:latin typeface="Consolas" pitchFamily="34" charset="0"/>
                <a:ea typeface="Consolas" pitchFamily="34" charset="-122"/>
                <a:cs typeface="Consolas" pitchFamily="34" charset="-120"/>
              </a:rPr>
              <a:t>, </a:t>
            </a:r>
            <a:r>
              <a:rPr lang="en-US" sz="1100" dirty="0">
                <a:solidFill>
                  <a:srgbClr val="F08A7C"/>
                </a:solidFill>
                <a:latin typeface="Consolas" pitchFamily="34" charset="0"/>
                <a:ea typeface="Consolas" pitchFamily="34" charset="-122"/>
                <a:cs typeface="Consolas" pitchFamily="34" charset="-120"/>
              </a:rPr>
              <a:t>2</a:t>
            </a:r>
            <a:r>
              <a:rPr lang="en-US" sz="1100" dirty="0">
                <a:solidFill>
                  <a:srgbClr val="D6E6EF"/>
                </a:solidFill>
                <a:latin typeface="Consolas" pitchFamily="34" charset="0"/>
                <a:ea typeface="Consolas" pitchFamily="34" charset="-122"/>
                <a:cs typeface="Consolas" pitchFamily="34" charset="-120"/>
              </a:rPr>
              <a:t>, </a:t>
            </a:r>
            <a:r>
              <a:rPr lang="en-US" sz="1100" dirty="0">
                <a:solidFill>
                  <a:srgbClr val="F08A7C"/>
                </a:solidFill>
                <a:latin typeface="Consolas" pitchFamily="34" charset="0"/>
                <a:ea typeface="Consolas" pitchFamily="34" charset="-122"/>
                <a:cs typeface="Consolas" pitchFamily="34" charset="-120"/>
              </a:rPr>
              <a:t>3</a:t>
            </a:r>
            <a:r>
              <a:rPr lang="en-US" sz="1100" dirty="0">
                <a:solidFill>
                  <a:srgbClr val="D6E6EF"/>
                </a:solidFill>
                <a:latin typeface="Consolas" pitchFamily="34" charset="0"/>
                <a:ea typeface="Consolas" pitchFamily="34" charset="-122"/>
                <a:cs typeface="Consolas" pitchFamily="34" charset="-120"/>
              </a:rPr>
              <a:t>],</a:t>
            </a:r>
            <a:endParaRPr lang="en-US" sz="1100" dirty="0"/>
          </a:p>
          <a:p>
            <a:pPr marL="0" indent="0">
              <a:lnSpc>
                <a:spcPct val="102000"/>
              </a:lnSpc>
              <a:buNone/>
            </a:pPr>
            <a:r>
              <a:rPr lang="en-US" sz="1100" dirty="0">
                <a:solidFill>
                  <a:srgbClr val="D6E6EF"/>
                </a:solidFill>
                <a:latin typeface="Consolas" pitchFamily="34" charset="0"/>
                <a:ea typeface="Consolas" pitchFamily="34" charset="-122"/>
                <a:cs typeface="Consolas" pitchFamily="34" charset="-120"/>
              </a:rPr>
              <a:t>              [</a:t>
            </a:r>
            <a:r>
              <a:rPr lang="en-US" sz="1100" dirty="0">
                <a:solidFill>
                  <a:srgbClr val="F08A7C"/>
                </a:solidFill>
                <a:latin typeface="Consolas" pitchFamily="34" charset="0"/>
                <a:ea typeface="Consolas" pitchFamily="34" charset="-122"/>
                <a:cs typeface="Consolas" pitchFamily="34" charset="-120"/>
              </a:rPr>
              <a:t>4</a:t>
            </a:r>
            <a:r>
              <a:rPr lang="en-US" sz="1100" dirty="0">
                <a:solidFill>
                  <a:srgbClr val="D6E6EF"/>
                </a:solidFill>
                <a:latin typeface="Consolas" pitchFamily="34" charset="0"/>
                <a:ea typeface="Consolas" pitchFamily="34" charset="-122"/>
                <a:cs typeface="Consolas" pitchFamily="34" charset="-120"/>
              </a:rPr>
              <a:t>, </a:t>
            </a:r>
            <a:r>
              <a:rPr lang="en-US" sz="1100" dirty="0">
                <a:solidFill>
                  <a:srgbClr val="F08A7C"/>
                </a:solidFill>
                <a:latin typeface="Consolas" pitchFamily="34" charset="0"/>
                <a:ea typeface="Consolas" pitchFamily="34" charset="-122"/>
                <a:cs typeface="Consolas" pitchFamily="34" charset="-120"/>
              </a:rPr>
              <a:t>5</a:t>
            </a:r>
            <a:r>
              <a:rPr lang="en-US" sz="1100" dirty="0">
                <a:solidFill>
                  <a:srgbClr val="D6E6EF"/>
                </a:solidFill>
                <a:latin typeface="Consolas" pitchFamily="34" charset="0"/>
                <a:ea typeface="Consolas" pitchFamily="34" charset="-122"/>
                <a:cs typeface="Consolas" pitchFamily="34" charset="-120"/>
              </a:rPr>
              <a:t>, </a:t>
            </a:r>
            <a:r>
              <a:rPr lang="en-US" sz="1100" dirty="0">
                <a:solidFill>
                  <a:srgbClr val="F08A7C"/>
                </a:solidFill>
                <a:latin typeface="Consolas" pitchFamily="34" charset="0"/>
                <a:ea typeface="Consolas" pitchFamily="34" charset="-122"/>
                <a:cs typeface="Consolas" pitchFamily="34" charset="-120"/>
              </a:rPr>
              <a:t>6</a:t>
            </a:r>
            <a:r>
              <a:rPr lang="en-US" sz="1100" dirty="0">
                <a:solidFill>
                  <a:srgbClr val="D6E6EF"/>
                </a:solidFill>
                <a:latin typeface="Consolas" pitchFamily="34" charset="0"/>
                <a:ea typeface="Consolas" pitchFamily="34" charset="-122"/>
                <a:cs typeface="Consolas" pitchFamily="34" charset="-120"/>
              </a:rPr>
              <a:t>]])</a:t>
            </a:r>
            <a:endParaRPr lang="en-US" sz="1100" dirty="0"/>
          </a:p>
          <a:p>
            <a:pPr marL="0" indent="0">
              <a:lnSpc>
                <a:spcPct val="102000"/>
              </a:lnSpc>
              <a:buNone/>
            </a:pPr>
            <a:r>
              <a:rPr lang="en-US" sz="1100" dirty="0">
                <a:solidFill>
                  <a:srgbClr val="6FD0E4"/>
                </a:solidFill>
                <a:latin typeface="Consolas" pitchFamily="34" charset="0"/>
                <a:ea typeface="Consolas" pitchFamily="34" charset="-122"/>
                <a:cs typeface="Consolas" pitchFamily="34" charset="-120"/>
              </a:rPr>
              <a:t>print</a:t>
            </a:r>
            <a:r>
              <a:rPr lang="en-US" sz="1100" dirty="0">
                <a:solidFill>
                  <a:srgbClr val="D6E6EF"/>
                </a:solidFill>
                <a:latin typeface="Consolas" pitchFamily="34" charset="0"/>
                <a:ea typeface="Consolas" pitchFamily="34" charset="-122"/>
                <a:cs typeface="Consolas" pitchFamily="34" charset="-120"/>
              </a:rPr>
              <a:t>(a.ndim)</a:t>
            </a:r>
            <a:endParaRPr lang="en-US" sz="1100" dirty="0"/>
          </a:p>
          <a:p>
            <a:pPr marL="0" indent="0">
              <a:lnSpc>
                <a:spcPct val="102000"/>
              </a:lnSpc>
              <a:buNone/>
            </a:pPr>
            <a:r>
              <a:rPr lang="en-US" sz="1100" dirty="0">
                <a:solidFill>
                  <a:srgbClr val="6FD0E4"/>
                </a:solidFill>
                <a:latin typeface="Consolas" pitchFamily="34" charset="0"/>
                <a:ea typeface="Consolas" pitchFamily="34" charset="-122"/>
                <a:cs typeface="Consolas" pitchFamily="34" charset="-120"/>
              </a:rPr>
              <a:t>print</a:t>
            </a:r>
            <a:r>
              <a:rPr lang="en-US" sz="1100" dirty="0">
                <a:solidFill>
                  <a:srgbClr val="D6E6EF"/>
                </a:solidFill>
                <a:latin typeface="Consolas" pitchFamily="34" charset="0"/>
                <a:ea typeface="Consolas" pitchFamily="34" charset="-122"/>
                <a:cs typeface="Consolas" pitchFamily="34" charset="-120"/>
              </a:rPr>
              <a:t>(a.shape)</a:t>
            </a:r>
            <a:endParaRPr lang="en-US" sz="1100" dirty="0"/>
          </a:p>
          <a:p>
            <a:pPr marL="0" indent="0">
              <a:lnSpc>
                <a:spcPct val="102000"/>
              </a:lnSpc>
              <a:buNone/>
            </a:pPr>
            <a:r>
              <a:rPr lang="en-US" sz="1100" dirty="0">
                <a:solidFill>
                  <a:srgbClr val="6FD0E4"/>
                </a:solidFill>
                <a:latin typeface="Consolas" pitchFamily="34" charset="0"/>
                <a:ea typeface="Consolas" pitchFamily="34" charset="-122"/>
                <a:cs typeface="Consolas" pitchFamily="34" charset="-120"/>
              </a:rPr>
              <a:t>print</a:t>
            </a:r>
            <a:r>
              <a:rPr lang="en-US" sz="1100" dirty="0">
                <a:solidFill>
                  <a:srgbClr val="D6E6EF"/>
                </a:solidFill>
                <a:latin typeface="Consolas" pitchFamily="34" charset="0"/>
                <a:ea typeface="Consolas" pitchFamily="34" charset="-122"/>
                <a:cs typeface="Consolas" pitchFamily="34" charset="-120"/>
              </a:rPr>
              <a:t>(a.size)</a:t>
            </a:r>
            <a:endParaRPr lang="en-US" sz="1100" dirty="0"/>
          </a:p>
          <a:p>
            <a:pPr marL="0" indent="0">
              <a:lnSpc>
                <a:spcPct val="102000"/>
              </a:lnSpc>
              <a:buNone/>
            </a:pPr>
            <a:r>
              <a:rPr lang="en-US" sz="1100" dirty="0">
                <a:solidFill>
                  <a:srgbClr val="6FD0E4"/>
                </a:solidFill>
                <a:latin typeface="Consolas" pitchFamily="34" charset="0"/>
                <a:ea typeface="Consolas" pitchFamily="34" charset="-122"/>
                <a:cs typeface="Consolas" pitchFamily="34" charset="-120"/>
              </a:rPr>
              <a:t>print</a:t>
            </a:r>
            <a:r>
              <a:rPr lang="en-US" sz="1100" dirty="0">
                <a:solidFill>
                  <a:srgbClr val="D6E6EF"/>
                </a:solidFill>
                <a:latin typeface="Consolas" pitchFamily="34" charset="0"/>
                <a:ea typeface="Consolas" pitchFamily="34" charset="-122"/>
                <a:cs typeface="Consolas" pitchFamily="34" charset="-120"/>
              </a:rPr>
              <a:t>(a.dtype)</a:t>
            </a:r>
            <a:endParaRPr lang="en-US" sz="1100" dirty="0"/>
          </a:p>
        </p:txBody>
      </p:sp>
      <p:sp>
        <p:nvSpPr>
          <p:cNvPr id="31" name="Shape 29"/>
          <p:cNvSpPr/>
          <p:nvPr/>
        </p:nvSpPr>
        <p:spPr>
          <a:xfrm>
            <a:off x="5212080" y="3291840"/>
            <a:ext cx="6400800" cy="1325880"/>
          </a:xfrm>
          <a:prstGeom prst="roundRect">
            <a:avLst>
              <a:gd name="adj" fmla="val 3448"/>
            </a:avLst>
          </a:prstGeom>
          <a:solidFill>
            <a:srgbClr val="FFFFFF"/>
          </a:solidFill>
          <a:ln w="9525">
            <a:solidFill>
              <a:srgbClr val="CFE5EE"/>
            </a:solidFill>
            <a:prstDash val="solid"/>
          </a:ln>
        </p:spPr>
      </p:sp>
      <p:sp>
        <p:nvSpPr>
          <p:cNvPr id="32" name="Text 30"/>
          <p:cNvSpPr/>
          <p:nvPr/>
        </p:nvSpPr>
        <p:spPr>
          <a:xfrm>
            <a:off x="5358384" y="3383280"/>
            <a:ext cx="6126480" cy="164592"/>
          </a:xfrm>
          <a:prstGeom prst="rect">
            <a:avLst/>
          </a:prstGeom>
          <a:noFill/>
          <a:ln/>
        </p:spPr>
        <p:txBody>
          <a:bodyPr wrap="square" lIns="0" tIns="0" rIns="0" bIns="0" rtlCol="0" anchor="t"/>
          <a:lstStyle/>
          <a:p>
            <a:pPr marL="0" indent="0">
              <a:buNone/>
            </a:pPr>
            <a:r>
              <a:rPr lang="en-US" sz="800" b="1" kern="0" spc="120" dirty="0">
                <a:solidFill>
                  <a:srgbClr val="2D8C6F"/>
                </a:solidFill>
                <a:latin typeface="Segoe UI" pitchFamily="34" charset="0"/>
                <a:ea typeface="Segoe UI" pitchFamily="34" charset="-122"/>
                <a:cs typeface="Segoe UI" pitchFamily="34" charset="-120"/>
              </a:rPr>
              <a:t>KẾT QUẢ</a:t>
            </a:r>
            <a:endParaRPr lang="en-US" sz="800" dirty="0"/>
          </a:p>
        </p:txBody>
      </p:sp>
      <p:sp>
        <p:nvSpPr>
          <p:cNvPr id="33" name="Text 31"/>
          <p:cNvSpPr/>
          <p:nvPr/>
        </p:nvSpPr>
        <p:spPr>
          <a:xfrm>
            <a:off x="5358384" y="3602736"/>
            <a:ext cx="6126480" cy="941832"/>
          </a:xfrm>
          <a:prstGeom prst="rect">
            <a:avLst/>
          </a:prstGeom>
          <a:noFill/>
          <a:ln/>
        </p:spPr>
        <p:txBody>
          <a:bodyPr wrap="square" lIns="0" tIns="0" rIns="0" bIns="0" rtlCol="0" anchor="t"/>
          <a:lstStyle/>
          <a:p>
            <a:pPr marL="0" indent="0">
              <a:lnSpc>
                <a:spcPct val="102000"/>
              </a:lnSpc>
              <a:buNone/>
            </a:pPr>
            <a:r>
              <a:rPr lang="en-US" sz="1100" dirty="0">
                <a:solidFill>
                  <a:srgbClr val="062A3A"/>
                </a:solidFill>
                <a:latin typeface="Consolas" pitchFamily="34" charset="0"/>
                <a:ea typeface="Consolas" pitchFamily="34" charset="-122"/>
                <a:cs typeface="Consolas" pitchFamily="34" charset="-120"/>
              </a:rPr>
              <a:t>2</a:t>
            </a:r>
            <a:endParaRPr lang="en-US" sz="1100" dirty="0"/>
          </a:p>
          <a:p>
            <a:pPr marL="0" indent="0">
              <a:lnSpc>
                <a:spcPct val="102000"/>
              </a:lnSpc>
              <a:buNone/>
            </a:pPr>
            <a:r>
              <a:rPr lang="en-US" sz="1100" dirty="0">
                <a:solidFill>
                  <a:srgbClr val="062A3A"/>
                </a:solidFill>
                <a:latin typeface="Consolas" pitchFamily="34" charset="0"/>
                <a:ea typeface="Consolas" pitchFamily="34" charset="-122"/>
                <a:cs typeface="Consolas" pitchFamily="34" charset="-120"/>
              </a:rPr>
              <a:t>(2, 3)</a:t>
            </a:r>
            <a:endParaRPr lang="en-US" sz="1100" dirty="0"/>
          </a:p>
          <a:p>
            <a:pPr marL="0" indent="0">
              <a:lnSpc>
                <a:spcPct val="102000"/>
              </a:lnSpc>
              <a:buNone/>
            </a:pPr>
            <a:r>
              <a:rPr lang="en-US" sz="1100" dirty="0">
                <a:solidFill>
                  <a:srgbClr val="062A3A"/>
                </a:solidFill>
                <a:latin typeface="Consolas" pitchFamily="34" charset="0"/>
                <a:ea typeface="Consolas" pitchFamily="34" charset="-122"/>
                <a:cs typeface="Consolas" pitchFamily="34" charset="-120"/>
              </a:rPr>
              <a:t>6</a:t>
            </a:r>
            <a:endParaRPr lang="en-US" sz="1100" dirty="0"/>
          </a:p>
          <a:p>
            <a:pPr marL="0" indent="0">
              <a:lnSpc>
                <a:spcPct val="102000"/>
              </a:lnSpc>
              <a:buNone/>
            </a:pPr>
            <a:r>
              <a:rPr lang="en-US" sz="1100" dirty="0">
                <a:solidFill>
                  <a:srgbClr val="062A3A"/>
                </a:solidFill>
                <a:latin typeface="Consolas" pitchFamily="34" charset="0"/>
                <a:ea typeface="Consolas" pitchFamily="34" charset="-122"/>
                <a:cs typeface="Consolas" pitchFamily="34" charset="-120"/>
              </a:rPr>
              <a:t>int64</a:t>
            </a:r>
            <a:endParaRPr lang="en-US" sz="1100" dirty="0"/>
          </a:p>
        </p:txBody>
      </p:sp>
      <p:sp>
        <p:nvSpPr>
          <p:cNvPr id="34" name="Shape 32"/>
          <p:cNvSpPr/>
          <p:nvPr/>
        </p:nvSpPr>
        <p:spPr>
          <a:xfrm>
            <a:off x="548640" y="4892040"/>
            <a:ext cx="5486400" cy="777240"/>
          </a:xfrm>
          <a:prstGeom prst="roundRect">
            <a:avLst>
              <a:gd name="adj" fmla="val 7059"/>
            </a:avLst>
          </a:prstGeom>
          <a:solidFill>
            <a:srgbClr val="EAF4F8"/>
          </a:solidFill>
          <a:ln w="9525">
            <a:solidFill>
              <a:srgbClr val="CFE5EE"/>
            </a:solidFill>
            <a:prstDash val="solid"/>
          </a:ln>
        </p:spPr>
      </p:sp>
      <p:sp>
        <p:nvSpPr>
          <p:cNvPr id="35" name="Text 33"/>
          <p:cNvSpPr/>
          <p:nvPr/>
        </p:nvSpPr>
        <p:spPr>
          <a:xfrm>
            <a:off x="777240" y="4892040"/>
            <a:ext cx="5029200" cy="777240"/>
          </a:xfrm>
          <a:prstGeom prst="rect">
            <a:avLst/>
          </a:prstGeom>
          <a:noFill/>
          <a:ln/>
        </p:spPr>
        <p:txBody>
          <a:bodyPr wrap="square" lIns="0" tIns="0" rIns="0" bIns="0" rtlCol="0" anchor="ctr"/>
          <a:lstStyle/>
          <a:p>
            <a:pPr marL="0" indent="0">
              <a:buNone/>
            </a:pPr>
            <a:r>
              <a:rPr lang="en-US" sz="1300" b="1" dirty="0">
                <a:solidFill>
                  <a:srgbClr val="1B8EA8"/>
                </a:solidFill>
                <a:latin typeface="Consolas" pitchFamily="34" charset="0"/>
                <a:ea typeface="Consolas" pitchFamily="34" charset="-122"/>
                <a:cs typeface="Consolas" pitchFamily="34" charset="-120"/>
              </a:rPr>
              <a:t>ndim = len(shape)</a:t>
            </a:r>
            <a:endParaRPr lang="en-US" sz="1300" dirty="0"/>
          </a:p>
        </p:txBody>
      </p:sp>
      <p:sp>
        <p:nvSpPr>
          <p:cNvPr id="36" name="Shape 34"/>
          <p:cNvSpPr/>
          <p:nvPr/>
        </p:nvSpPr>
        <p:spPr>
          <a:xfrm>
            <a:off x="6153912" y="4892040"/>
            <a:ext cx="5486400" cy="777240"/>
          </a:xfrm>
          <a:prstGeom prst="roundRect">
            <a:avLst>
              <a:gd name="adj" fmla="val 7059"/>
            </a:avLst>
          </a:prstGeom>
          <a:solidFill>
            <a:srgbClr val="EAF4F8"/>
          </a:solidFill>
          <a:ln w="9525">
            <a:solidFill>
              <a:srgbClr val="CFE5EE"/>
            </a:solidFill>
            <a:prstDash val="solid"/>
          </a:ln>
        </p:spPr>
      </p:sp>
      <p:sp>
        <p:nvSpPr>
          <p:cNvPr id="37" name="Text 35"/>
          <p:cNvSpPr/>
          <p:nvPr/>
        </p:nvSpPr>
        <p:spPr>
          <a:xfrm>
            <a:off x="6382512" y="4892040"/>
            <a:ext cx="5029200" cy="777240"/>
          </a:xfrm>
          <a:prstGeom prst="rect">
            <a:avLst/>
          </a:prstGeom>
          <a:noFill/>
          <a:ln/>
        </p:spPr>
        <p:txBody>
          <a:bodyPr wrap="square" lIns="0" tIns="0" rIns="0" bIns="0" rtlCol="0" anchor="ctr"/>
          <a:lstStyle/>
          <a:p>
            <a:pPr marL="0" indent="0">
              <a:buNone/>
            </a:pPr>
            <a:r>
              <a:rPr lang="en-US" sz="1300" b="1" dirty="0">
                <a:solidFill>
                  <a:srgbClr val="1B8EA8"/>
                </a:solidFill>
                <a:latin typeface="Consolas" pitchFamily="34" charset="0"/>
                <a:ea typeface="Consolas" pitchFamily="34" charset="-122"/>
                <a:cs typeface="Consolas" pitchFamily="34" charset="-120"/>
              </a:rPr>
              <a:t>size = tích(shape)</a:t>
            </a:r>
            <a:endParaRPr lang="en-US" sz="1300" dirty="0"/>
          </a:p>
        </p:txBody>
      </p:sp>
      <p:sp>
        <p:nvSpPr>
          <p:cNvPr id="38" name="Shape 36"/>
          <p:cNvSpPr/>
          <p:nvPr/>
        </p:nvSpPr>
        <p:spPr>
          <a:xfrm>
            <a:off x="548640" y="6391656"/>
            <a:ext cx="11091672" cy="9144"/>
          </a:xfrm>
          <a:prstGeom prst="rect">
            <a:avLst/>
          </a:prstGeom>
          <a:solidFill>
            <a:srgbClr val="D7E5EC"/>
          </a:solidFill>
          <a:ln w="12700">
            <a:solidFill>
              <a:srgbClr val="D7E5EC"/>
            </a:solidFill>
            <a:prstDash val="solid"/>
          </a:ln>
        </p:spPr>
      </p:sp>
      <p:sp>
        <p:nvSpPr>
          <p:cNvPr id="39" name="Text 37"/>
          <p:cNvSpPr/>
          <p:nvPr/>
        </p:nvSpPr>
        <p:spPr>
          <a:xfrm>
            <a:off x="548640" y="6473952"/>
            <a:ext cx="7772400" cy="182880"/>
          </a:xfrm>
          <a:prstGeom prst="rect">
            <a:avLst/>
          </a:prstGeom>
          <a:noFill/>
          <a:ln/>
        </p:spPr>
        <p:txBody>
          <a:bodyPr wrap="square" lIns="0" tIns="0" rIns="0" bIns="0" rtlCol="0" anchor="t"/>
          <a:lstStyle/>
          <a:p>
            <a:pPr marL="0" indent="0">
              <a:buNone/>
            </a:pPr>
            <a:r>
              <a:rPr lang="en-US" sz="850" dirty="0">
                <a:solidFill>
                  <a:srgbClr val="728694"/>
                </a:solidFill>
                <a:latin typeface="Segoe UI" pitchFamily="34" charset="0"/>
                <a:ea typeface="Segoe UI" pitchFamily="34" charset="-122"/>
                <a:cs typeface="Segoe UI" pitchFamily="34" charset="-120"/>
              </a:rPr>
              <a:t>Tìm hiểu thư viện NumPy trong Python</a:t>
            </a:r>
            <a:endParaRPr lang="en-US" sz="850" dirty="0"/>
          </a:p>
        </p:txBody>
      </p:sp>
      <p:sp>
        <p:nvSpPr>
          <p:cNvPr id="40" name="Text 38"/>
          <p:cNvSpPr/>
          <p:nvPr/>
        </p:nvSpPr>
        <p:spPr>
          <a:xfrm>
            <a:off x="10698480" y="6473952"/>
            <a:ext cx="941832" cy="182880"/>
          </a:xfrm>
          <a:prstGeom prst="rect">
            <a:avLst/>
          </a:prstGeom>
          <a:noFill/>
          <a:ln/>
        </p:spPr>
        <p:txBody>
          <a:bodyPr wrap="square" lIns="0" tIns="0" rIns="0" bIns="0" rtlCol="0" anchor="t"/>
          <a:lstStyle/>
          <a:p>
            <a:pPr marL="0" indent="0" algn="r">
              <a:buNone/>
            </a:pPr>
            <a:r>
              <a:rPr lang="en-US" sz="850" dirty="0">
                <a:solidFill>
                  <a:srgbClr val="728694"/>
                </a:solidFill>
                <a:latin typeface="Segoe UI" pitchFamily="34" charset="0"/>
                <a:ea typeface="Segoe UI" pitchFamily="34" charset="-122"/>
                <a:cs typeface="Segoe UI" pitchFamily="34" charset="-120"/>
              </a:rPr>
              <a:t>10 / 25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301752"/>
            <a:ext cx="10881360" cy="201168"/>
          </a:xfrm>
          <a:prstGeom prst="rect">
            <a:avLst/>
          </a:prstGeom>
          <a:noFill/>
          <a:ln/>
        </p:spPr>
        <p:txBody>
          <a:bodyPr wrap="square" lIns="0" tIns="0" rIns="0" bIns="0" rtlCol="0" anchor="t"/>
          <a:lstStyle/>
          <a:p>
            <a:pPr marL="0" indent="0">
              <a:buNone/>
            </a:pPr>
            <a:r>
              <a:rPr lang="en-US" sz="950" b="1" kern="0" spc="160" dirty="0">
                <a:solidFill>
                  <a:srgbClr val="1B8EA8"/>
                </a:solidFill>
                <a:latin typeface="Segoe UI" pitchFamily="34" charset="0"/>
                <a:ea typeface="Segoe UI" pitchFamily="34" charset="-122"/>
                <a:cs typeface="Segoe UI" pitchFamily="34" charset="-120"/>
              </a:rPr>
              <a:t>03 · TẠO MẢNG</a:t>
            </a:r>
            <a:endParaRPr lang="en-US" sz="950" dirty="0"/>
          </a:p>
        </p:txBody>
      </p:sp>
      <p:sp>
        <p:nvSpPr>
          <p:cNvPr id="3" name="Text 1"/>
          <p:cNvSpPr/>
          <p:nvPr/>
        </p:nvSpPr>
        <p:spPr>
          <a:xfrm>
            <a:off x="548640" y="502920"/>
            <a:ext cx="10881360" cy="640080"/>
          </a:xfrm>
          <a:prstGeom prst="rect">
            <a:avLst/>
          </a:prstGeom>
          <a:noFill/>
          <a:ln/>
        </p:spPr>
        <p:txBody>
          <a:bodyPr wrap="square" lIns="0" tIns="0" rIns="0" bIns="0" rtlCol="0" anchor="ctr"/>
          <a:lstStyle/>
          <a:p>
            <a:pPr marL="0" indent="0">
              <a:buNone/>
            </a:pPr>
            <a:r>
              <a:rPr lang="en-US" sz="2800" b="1" dirty="0">
                <a:solidFill>
                  <a:srgbClr val="062A3A"/>
                </a:solidFill>
                <a:latin typeface="Segoe UI" pitchFamily="34" charset="0"/>
                <a:ea typeface="Segoe UI" pitchFamily="34" charset="-122"/>
                <a:cs typeface="Segoe UI" pitchFamily="34" charset="-120"/>
              </a:rPr>
              <a:t>Ba hàm cơ bản: array, zeros, ones</a:t>
            </a:r>
            <a:endParaRPr lang="en-US" sz="2800" dirty="0"/>
          </a:p>
        </p:txBody>
      </p:sp>
      <p:sp>
        <p:nvSpPr>
          <p:cNvPr id="4" name="Shape 2"/>
          <p:cNvSpPr/>
          <p:nvPr/>
        </p:nvSpPr>
        <p:spPr>
          <a:xfrm>
            <a:off x="548640" y="1225296"/>
            <a:ext cx="868680" cy="41148"/>
          </a:xfrm>
          <a:prstGeom prst="rect">
            <a:avLst/>
          </a:prstGeom>
          <a:solidFill>
            <a:srgbClr val="1B8EA8"/>
          </a:solidFill>
          <a:ln w="12700">
            <a:solidFill>
              <a:srgbClr val="1B8EA8"/>
            </a:solidFill>
            <a:prstDash val="solid"/>
          </a:ln>
        </p:spPr>
      </p:sp>
      <p:sp>
        <p:nvSpPr>
          <p:cNvPr id="5" name="Shape 3"/>
          <p:cNvSpPr/>
          <p:nvPr/>
        </p:nvSpPr>
        <p:spPr>
          <a:xfrm>
            <a:off x="548640" y="1463040"/>
            <a:ext cx="3611880" cy="3703320"/>
          </a:xfrm>
          <a:prstGeom prst="roundRect">
            <a:avLst>
              <a:gd name="adj" fmla="val 1519"/>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6" name="Text 4"/>
          <p:cNvSpPr/>
          <p:nvPr/>
        </p:nvSpPr>
        <p:spPr>
          <a:xfrm>
            <a:off x="768096" y="1627632"/>
            <a:ext cx="3108960" cy="292608"/>
          </a:xfrm>
          <a:prstGeom prst="rect">
            <a:avLst/>
          </a:prstGeom>
          <a:noFill/>
          <a:ln/>
        </p:spPr>
        <p:txBody>
          <a:bodyPr wrap="square" lIns="0" tIns="0" rIns="0" bIns="0" rtlCol="0" anchor="t"/>
          <a:lstStyle/>
          <a:p>
            <a:pPr marL="0" indent="0">
              <a:buNone/>
            </a:pPr>
            <a:r>
              <a:rPr lang="en-US" sz="1400" b="1" dirty="0">
                <a:solidFill>
                  <a:srgbClr val="062A3A"/>
                </a:solidFill>
                <a:latin typeface="Consolas" pitchFamily="34" charset="0"/>
                <a:ea typeface="Consolas" pitchFamily="34" charset="-122"/>
                <a:cs typeface="Consolas" pitchFamily="34" charset="-120"/>
              </a:rPr>
              <a:t>np.array()</a:t>
            </a:r>
            <a:endParaRPr lang="en-US" sz="1400" dirty="0"/>
          </a:p>
        </p:txBody>
      </p:sp>
      <p:sp>
        <p:nvSpPr>
          <p:cNvPr id="7" name="Text 5"/>
          <p:cNvSpPr/>
          <p:nvPr/>
        </p:nvSpPr>
        <p:spPr>
          <a:xfrm>
            <a:off x="768096" y="1920240"/>
            <a:ext cx="3108960" cy="228600"/>
          </a:xfrm>
          <a:prstGeom prst="rect">
            <a:avLst/>
          </a:prstGeom>
          <a:noFill/>
          <a:ln/>
        </p:spPr>
        <p:txBody>
          <a:bodyPr wrap="square" lIns="0" tIns="0" rIns="0" bIns="0" rtlCol="0" anchor="t"/>
          <a:lstStyle/>
          <a:p>
            <a:pPr marL="0" indent="0">
              <a:buNone/>
            </a:pPr>
            <a:r>
              <a:rPr lang="en-US" sz="950" dirty="0">
                <a:solidFill>
                  <a:srgbClr val="728694"/>
                </a:solidFill>
                <a:latin typeface="Segoe UI" pitchFamily="34" charset="0"/>
                <a:ea typeface="Segoe UI" pitchFamily="34" charset="-122"/>
                <a:cs typeface="Segoe UI" pitchFamily="34" charset="-120"/>
              </a:rPr>
              <a:t>Từ list hoặc tuple có sẵn</a:t>
            </a:r>
            <a:endParaRPr lang="en-US" sz="950" dirty="0"/>
          </a:p>
        </p:txBody>
      </p:sp>
      <p:sp>
        <p:nvSpPr>
          <p:cNvPr id="8" name="Shape 6"/>
          <p:cNvSpPr/>
          <p:nvPr/>
        </p:nvSpPr>
        <p:spPr>
          <a:xfrm>
            <a:off x="731520" y="2240280"/>
            <a:ext cx="3246120" cy="1417320"/>
          </a:xfrm>
          <a:prstGeom prst="roundRect">
            <a:avLst>
              <a:gd name="adj" fmla="val 3226"/>
            </a:avLst>
          </a:prstGeom>
          <a:solidFill>
            <a:srgbClr val="0B2230"/>
          </a:solidFill>
          <a:ln w="9525">
            <a:solidFill>
              <a:srgbClr val="163B4C"/>
            </a:solidFill>
            <a:prstDash val="solid"/>
          </a:ln>
        </p:spPr>
      </p:sp>
      <p:sp>
        <p:nvSpPr>
          <p:cNvPr id="9" name="Shape 7"/>
          <p:cNvSpPr/>
          <p:nvPr/>
        </p:nvSpPr>
        <p:spPr>
          <a:xfrm>
            <a:off x="731520" y="2240280"/>
            <a:ext cx="3246120" cy="265176"/>
          </a:xfrm>
          <a:prstGeom prst="rect">
            <a:avLst/>
          </a:prstGeom>
          <a:solidFill>
            <a:srgbClr val="103445"/>
          </a:solidFill>
          <a:ln w="12700">
            <a:solidFill>
              <a:srgbClr val="103445"/>
            </a:solidFill>
            <a:prstDash val="solid"/>
          </a:ln>
        </p:spPr>
      </p:sp>
      <p:sp>
        <p:nvSpPr>
          <p:cNvPr id="10" name="Text 8"/>
          <p:cNvSpPr/>
          <p:nvPr/>
        </p:nvSpPr>
        <p:spPr>
          <a:xfrm>
            <a:off x="877824" y="2290572"/>
            <a:ext cx="2331720" cy="182880"/>
          </a:xfrm>
          <a:prstGeom prst="rect">
            <a:avLst/>
          </a:prstGeom>
          <a:noFill/>
          <a:ln/>
        </p:spPr>
        <p:txBody>
          <a:bodyPr wrap="square" lIns="0" tIns="0" rIns="0" bIns="0" rtlCol="0" anchor="t"/>
          <a:lstStyle/>
          <a:p>
            <a:pPr marL="0" indent="0">
              <a:buNone/>
            </a:pPr>
            <a:r>
              <a:rPr lang="en-US" sz="850" dirty="0">
                <a:solidFill>
                  <a:srgbClr val="8FB6C8"/>
                </a:solidFill>
                <a:latin typeface="Consolas" pitchFamily="34" charset="0"/>
                <a:ea typeface="Consolas" pitchFamily="34" charset="-122"/>
                <a:cs typeface="Consolas" pitchFamily="34" charset="-120"/>
              </a:rPr>
              <a:t>python</a:t>
            </a:r>
            <a:endParaRPr lang="en-US" sz="850" dirty="0"/>
          </a:p>
        </p:txBody>
      </p:sp>
      <p:sp>
        <p:nvSpPr>
          <p:cNvPr id="11" name="Shape 9"/>
          <p:cNvSpPr/>
          <p:nvPr/>
        </p:nvSpPr>
        <p:spPr>
          <a:xfrm>
            <a:off x="3410712" y="2345436"/>
            <a:ext cx="77724" cy="77724"/>
          </a:xfrm>
          <a:prstGeom prst="ellipse">
            <a:avLst/>
          </a:prstGeom>
          <a:solidFill>
            <a:srgbClr val="D96C5F"/>
          </a:solidFill>
          <a:ln w="12700">
            <a:solidFill>
              <a:srgbClr val="D96C5F"/>
            </a:solidFill>
            <a:prstDash val="solid"/>
          </a:ln>
        </p:spPr>
      </p:sp>
      <p:sp>
        <p:nvSpPr>
          <p:cNvPr id="12" name="Shape 10"/>
          <p:cNvSpPr/>
          <p:nvPr/>
        </p:nvSpPr>
        <p:spPr>
          <a:xfrm>
            <a:off x="3566160" y="2345436"/>
            <a:ext cx="77724" cy="77724"/>
          </a:xfrm>
          <a:prstGeom prst="ellipse">
            <a:avLst/>
          </a:prstGeom>
          <a:solidFill>
            <a:srgbClr val="E8A33D"/>
          </a:solidFill>
          <a:ln w="12700">
            <a:solidFill>
              <a:srgbClr val="E8A33D"/>
            </a:solidFill>
            <a:prstDash val="solid"/>
          </a:ln>
        </p:spPr>
      </p:sp>
      <p:sp>
        <p:nvSpPr>
          <p:cNvPr id="13" name="Shape 11"/>
          <p:cNvSpPr/>
          <p:nvPr/>
        </p:nvSpPr>
        <p:spPr>
          <a:xfrm>
            <a:off x="3721608" y="2345436"/>
            <a:ext cx="77724" cy="77724"/>
          </a:xfrm>
          <a:prstGeom prst="ellipse">
            <a:avLst/>
          </a:prstGeom>
          <a:solidFill>
            <a:srgbClr val="2D8C6F"/>
          </a:solidFill>
          <a:ln w="12700">
            <a:solidFill>
              <a:srgbClr val="2D8C6F"/>
            </a:solidFill>
            <a:prstDash val="solid"/>
          </a:ln>
        </p:spPr>
      </p:sp>
      <p:sp>
        <p:nvSpPr>
          <p:cNvPr id="14" name="Text 12"/>
          <p:cNvSpPr/>
          <p:nvPr/>
        </p:nvSpPr>
        <p:spPr>
          <a:xfrm>
            <a:off x="896112" y="2587752"/>
            <a:ext cx="2953512" cy="996696"/>
          </a:xfrm>
          <a:prstGeom prst="rect">
            <a:avLst/>
          </a:prstGeom>
          <a:noFill/>
          <a:ln/>
        </p:spPr>
        <p:txBody>
          <a:bodyPr wrap="square" lIns="0" tIns="0" rIns="0" bIns="0" rtlCol="0" anchor="t"/>
          <a:lstStyle/>
          <a:p>
            <a:pPr marL="0" indent="0">
              <a:lnSpc>
                <a:spcPct val="102000"/>
              </a:lnSpc>
              <a:buNone/>
            </a:pPr>
            <a:r>
              <a:rPr lang="en-US" sz="950" dirty="0">
                <a:solidFill>
                  <a:srgbClr val="8AD9C0"/>
                </a:solidFill>
                <a:latin typeface="Consolas" pitchFamily="34" charset="0"/>
                <a:ea typeface="Consolas" pitchFamily="34" charset="-122"/>
                <a:cs typeface="Consolas" pitchFamily="34" charset="-120"/>
              </a:rPr>
              <a:t>np</a:t>
            </a:r>
            <a:r>
              <a:rPr lang="en-US" sz="950" dirty="0">
                <a:solidFill>
                  <a:srgbClr val="D6E6EF"/>
                </a:solidFill>
                <a:latin typeface="Consolas" pitchFamily="34" charset="0"/>
                <a:ea typeface="Consolas" pitchFamily="34" charset="-122"/>
                <a:cs typeface="Consolas" pitchFamily="34" charset="-120"/>
              </a:rPr>
              <a:t>.array([</a:t>
            </a:r>
            <a:r>
              <a:rPr lang="en-US" sz="950" dirty="0">
                <a:solidFill>
                  <a:srgbClr val="F08A7C"/>
                </a:solidFill>
                <a:latin typeface="Consolas" pitchFamily="34" charset="0"/>
                <a:ea typeface="Consolas" pitchFamily="34" charset="-122"/>
                <a:cs typeface="Consolas" pitchFamily="34" charset="-120"/>
              </a:rPr>
              <a:t>1</a:t>
            </a:r>
            <a:r>
              <a:rPr lang="en-US" sz="950" dirty="0">
                <a:solidFill>
                  <a:srgbClr val="D6E6EF"/>
                </a:solidFill>
                <a:latin typeface="Consolas" pitchFamily="34" charset="0"/>
                <a:ea typeface="Consolas" pitchFamily="34" charset="-122"/>
                <a:cs typeface="Consolas" pitchFamily="34" charset="-120"/>
              </a:rPr>
              <a:t>, </a:t>
            </a:r>
            <a:r>
              <a:rPr lang="en-US" sz="950" dirty="0">
                <a:solidFill>
                  <a:srgbClr val="F08A7C"/>
                </a:solidFill>
                <a:latin typeface="Consolas" pitchFamily="34" charset="0"/>
                <a:ea typeface="Consolas" pitchFamily="34" charset="-122"/>
                <a:cs typeface="Consolas" pitchFamily="34" charset="-120"/>
              </a:rPr>
              <a:t>2</a:t>
            </a:r>
            <a:r>
              <a:rPr lang="en-US" sz="950" dirty="0">
                <a:solidFill>
                  <a:srgbClr val="D6E6EF"/>
                </a:solidFill>
                <a:latin typeface="Consolas" pitchFamily="34" charset="0"/>
                <a:ea typeface="Consolas" pitchFamily="34" charset="-122"/>
                <a:cs typeface="Consolas" pitchFamily="34" charset="-120"/>
              </a:rPr>
              <a:t>, </a:t>
            </a:r>
            <a:r>
              <a:rPr lang="en-US" sz="950" dirty="0">
                <a:solidFill>
                  <a:srgbClr val="F08A7C"/>
                </a:solidFill>
                <a:latin typeface="Consolas" pitchFamily="34" charset="0"/>
                <a:ea typeface="Consolas" pitchFamily="34" charset="-122"/>
                <a:cs typeface="Consolas" pitchFamily="34" charset="-120"/>
              </a:rPr>
              <a:t>3</a:t>
            </a:r>
            <a:r>
              <a:rPr lang="en-US" sz="950" dirty="0">
                <a:solidFill>
                  <a:srgbClr val="D6E6EF"/>
                </a:solidFill>
                <a:latin typeface="Consolas" pitchFamily="34" charset="0"/>
                <a:ea typeface="Consolas" pitchFamily="34" charset="-122"/>
                <a:cs typeface="Consolas" pitchFamily="34" charset="-120"/>
              </a:rPr>
              <a:t>])</a:t>
            </a:r>
            <a:endParaRPr lang="en-US" sz="950" dirty="0"/>
          </a:p>
          <a:p>
            <a:pPr marL="0" indent="0">
              <a:lnSpc>
                <a:spcPct val="102000"/>
              </a:lnSpc>
              <a:buNone/>
            </a:pPr>
            <a:r>
              <a:rPr lang="en-US" sz="950" dirty="0">
                <a:solidFill>
                  <a:srgbClr val="8AD9C0"/>
                </a:solidFill>
                <a:latin typeface="Consolas" pitchFamily="34" charset="0"/>
                <a:ea typeface="Consolas" pitchFamily="34" charset="-122"/>
                <a:cs typeface="Consolas" pitchFamily="34" charset="-120"/>
              </a:rPr>
              <a:t>np</a:t>
            </a:r>
            <a:r>
              <a:rPr lang="en-US" sz="950" dirty="0">
                <a:solidFill>
                  <a:srgbClr val="D6E6EF"/>
                </a:solidFill>
                <a:latin typeface="Consolas" pitchFamily="34" charset="0"/>
                <a:ea typeface="Consolas" pitchFamily="34" charset="-122"/>
                <a:cs typeface="Consolas" pitchFamily="34" charset="-120"/>
              </a:rPr>
              <a:t>.array([[</a:t>
            </a:r>
            <a:r>
              <a:rPr lang="en-US" sz="950" dirty="0">
                <a:solidFill>
                  <a:srgbClr val="F08A7C"/>
                </a:solidFill>
                <a:latin typeface="Consolas" pitchFamily="34" charset="0"/>
                <a:ea typeface="Consolas" pitchFamily="34" charset="-122"/>
                <a:cs typeface="Consolas" pitchFamily="34" charset="-120"/>
              </a:rPr>
              <a:t>1</a:t>
            </a:r>
            <a:r>
              <a:rPr lang="en-US" sz="950" dirty="0">
                <a:solidFill>
                  <a:srgbClr val="D6E6EF"/>
                </a:solidFill>
                <a:latin typeface="Consolas" pitchFamily="34" charset="0"/>
                <a:ea typeface="Consolas" pitchFamily="34" charset="-122"/>
                <a:cs typeface="Consolas" pitchFamily="34" charset="-120"/>
              </a:rPr>
              <a:t>, </a:t>
            </a:r>
            <a:r>
              <a:rPr lang="en-US" sz="950" dirty="0">
                <a:solidFill>
                  <a:srgbClr val="F08A7C"/>
                </a:solidFill>
                <a:latin typeface="Consolas" pitchFamily="34" charset="0"/>
                <a:ea typeface="Consolas" pitchFamily="34" charset="-122"/>
                <a:cs typeface="Consolas" pitchFamily="34" charset="-120"/>
              </a:rPr>
              <a:t>2</a:t>
            </a:r>
            <a:r>
              <a:rPr lang="en-US" sz="950" dirty="0">
                <a:solidFill>
                  <a:srgbClr val="D6E6EF"/>
                </a:solidFill>
                <a:latin typeface="Consolas" pitchFamily="34" charset="0"/>
                <a:ea typeface="Consolas" pitchFamily="34" charset="-122"/>
                <a:cs typeface="Consolas" pitchFamily="34" charset="-120"/>
              </a:rPr>
              <a:t>, </a:t>
            </a:r>
            <a:r>
              <a:rPr lang="en-US" sz="950" dirty="0">
                <a:solidFill>
                  <a:srgbClr val="F08A7C"/>
                </a:solidFill>
                <a:latin typeface="Consolas" pitchFamily="34" charset="0"/>
                <a:ea typeface="Consolas" pitchFamily="34" charset="-122"/>
                <a:cs typeface="Consolas" pitchFamily="34" charset="-120"/>
              </a:rPr>
              <a:t>3</a:t>
            </a:r>
            <a:r>
              <a:rPr lang="en-US" sz="950" dirty="0">
                <a:solidFill>
                  <a:srgbClr val="D6E6EF"/>
                </a:solidFill>
                <a:latin typeface="Consolas" pitchFamily="34" charset="0"/>
                <a:ea typeface="Consolas" pitchFamily="34" charset="-122"/>
                <a:cs typeface="Consolas" pitchFamily="34" charset="-120"/>
              </a:rPr>
              <a:t>],</a:t>
            </a:r>
            <a:endParaRPr lang="en-US" sz="950" dirty="0"/>
          </a:p>
          <a:p>
            <a:pPr marL="0" indent="0">
              <a:lnSpc>
                <a:spcPct val="102000"/>
              </a:lnSpc>
              <a:buNone/>
            </a:pPr>
            <a:r>
              <a:rPr lang="en-US" sz="950" dirty="0">
                <a:solidFill>
                  <a:srgbClr val="D6E6EF"/>
                </a:solidFill>
                <a:latin typeface="Consolas" pitchFamily="34" charset="0"/>
                <a:ea typeface="Consolas" pitchFamily="34" charset="-122"/>
                <a:cs typeface="Consolas" pitchFamily="34" charset="-120"/>
              </a:rPr>
              <a:t>          [</a:t>
            </a:r>
            <a:r>
              <a:rPr lang="en-US" sz="950" dirty="0">
                <a:solidFill>
                  <a:srgbClr val="F08A7C"/>
                </a:solidFill>
                <a:latin typeface="Consolas" pitchFamily="34" charset="0"/>
                <a:ea typeface="Consolas" pitchFamily="34" charset="-122"/>
                <a:cs typeface="Consolas" pitchFamily="34" charset="-120"/>
              </a:rPr>
              <a:t>4</a:t>
            </a:r>
            <a:r>
              <a:rPr lang="en-US" sz="950" dirty="0">
                <a:solidFill>
                  <a:srgbClr val="D6E6EF"/>
                </a:solidFill>
                <a:latin typeface="Consolas" pitchFamily="34" charset="0"/>
                <a:ea typeface="Consolas" pitchFamily="34" charset="-122"/>
                <a:cs typeface="Consolas" pitchFamily="34" charset="-120"/>
              </a:rPr>
              <a:t>, </a:t>
            </a:r>
            <a:r>
              <a:rPr lang="en-US" sz="950" dirty="0">
                <a:solidFill>
                  <a:srgbClr val="F08A7C"/>
                </a:solidFill>
                <a:latin typeface="Consolas" pitchFamily="34" charset="0"/>
                <a:ea typeface="Consolas" pitchFamily="34" charset="-122"/>
                <a:cs typeface="Consolas" pitchFamily="34" charset="-120"/>
              </a:rPr>
              <a:t>5</a:t>
            </a:r>
            <a:r>
              <a:rPr lang="en-US" sz="950" dirty="0">
                <a:solidFill>
                  <a:srgbClr val="D6E6EF"/>
                </a:solidFill>
                <a:latin typeface="Consolas" pitchFamily="34" charset="0"/>
                <a:ea typeface="Consolas" pitchFamily="34" charset="-122"/>
                <a:cs typeface="Consolas" pitchFamily="34" charset="-120"/>
              </a:rPr>
              <a:t>, </a:t>
            </a:r>
            <a:r>
              <a:rPr lang="en-US" sz="950" dirty="0">
                <a:solidFill>
                  <a:srgbClr val="F08A7C"/>
                </a:solidFill>
                <a:latin typeface="Consolas" pitchFamily="34" charset="0"/>
                <a:ea typeface="Consolas" pitchFamily="34" charset="-122"/>
                <a:cs typeface="Consolas" pitchFamily="34" charset="-120"/>
              </a:rPr>
              <a:t>6</a:t>
            </a:r>
            <a:r>
              <a:rPr lang="en-US" sz="950" dirty="0">
                <a:solidFill>
                  <a:srgbClr val="D6E6EF"/>
                </a:solidFill>
                <a:latin typeface="Consolas" pitchFamily="34" charset="0"/>
                <a:ea typeface="Consolas" pitchFamily="34" charset="-122"/>
                <a:cs typeface="Consolas" pitchFamily="34" charset="-120"/>
              </a:rPr>
              <a:t>]])</a:t>
            </a:r>
            <a:endParaRPr lang="en-US" sz="950" dirty="0"/>
          </a:p>
        </p:txBody>
      </p:sp>
      <p:sp>
        <p:nvSpPr>
          <p:cNvPr id="15" name="Shape 13"/>
          <p:cNvSpPr/>
          <p:nvPr/>
        </p:nvSpPr>
        <p:spPr>
          <a:xfrm>
            <a:off x="731520" y="3767328"/>
            <a:ext cx="3246120" cy="1143000"/>
          </a:xfrm>
          <a:prstGeom prst="roundRect">
            <a:avLst>
              <a:gd name="adj" fmla="val 4000"/>
            </a:avLst>
          </a:prstGeom>
          <a:solidFill>
            <a:srgbClr val="FFFFFF"/>
          </a:solidFill>
          <a:ln w="9525">
            <a:solidFill>
              <a:srgbClr val="CFE5EE"/>
            </a:solidFill>
            <a:prstDash val="solid"/>
          </a:ln>
        </p:spPr>
      </p:sp>
      <p:sp>
        <p:nvSpPr>
          <p:cNvPr id="16" name="Text 14"/>
          <p:cNvSpPr/>
          <p:nvPr/>
        </p:nvSpPr>
        <p:spPr>
          <a:xfrm>
            <a:off x="877824" y="3858768"/>
            <a:ext cx="2971800" cy="164592"/>
          </a:xfrm>
          <a:prstGeom prst="rect">
            <a:avLst/>
          </a:prstGeom>
          <a:noFill/>
          <a:ln/>
        </p:spPr>
        <p:txBody>
          <a:bodyPr wrap="square" lIns="0" tIns="0" rIns="0" bIns="0" rtlCol="0" anchor="t"/>
          <a:lstStyle/>
          <a:p>
            <a:pPr marL="0" indent="0">
              <a:buNone/>
            </a:pPr>
            <a:r>
              <a:rPr lang="en-US" sz="800" b="1" kern="0" spc="120" dirty="0">
                <a:solidFill>
                  <a:srgbClr val="2D8C6F"/>
                </a:solidFill>
                <a:latin typeface="Segoe UI" pitchFamily="34" charset="0"/>
                <a:ea typeface="Segoe UI" pitchFamily="34" charset="-122"/>
                <a:cs typeface="Segoe UI" pitchFamily="34" charset="-120"/>
              </a:rPr>
              <a:t>KẾT QUẢ</a:t>
            </a:r>
            <a:endParaRPr lang="en-US" sz="800" dirty="0"/>
          </a:p>
        </p:txBody>
      </p:sp>
      <p:sp>
        <p:nvSpPr>
          <p:cNvPr id="17" name="Text 15"/>
          <p:cNvSpPr/>
          <p:nvPr/>
        </p:nvSpPr>
        <p:spPr>
          <a:xfrm>
            <a:off x="877824" y="4078224"/>
            <a:ext cx="2971800" cy="758952"/>
          </a:xfrm>
          <a:prstGeom prst="rect">
            <a:avLst/>
          </a:prstGeom>
          <a:noFill/>
          <a:ln/>
        </p:spPr>
        <p:txBody>
          <a:bodyPr wrap="square" lIns="0" tIns="0" rIns="0" bIns="0" rtlCol="0" anchor="t"/>
          <a:lstStyle/>
          <a:p>
            <a:pPr marL="0" indent="0">
              <a:lnSpc>
                <a:spcPct val="102000"/>
              </a:lnSpc>
              <a:buNone/>
            </a:pPr>
            <a:r>
              <a:rPr lang="en-US" sz="950" dirty="0">
                <a:solidFill>
                  <a:srgbClr val="062A3A"/>
                </a:solidFill>
                <a:latin typeface="Consolas" pitchFamily="34" charset="0"/>
                <a:ea typeface="Consolas" pitchFamily="34" charset="-122"/>
                <a:cs typeface="Consolas" pitchFamily="34" charset="-120"/>
              </a:rPr>
              <a:t>[1 2 3]</a:t>
            </a:r>
            <a:endParaRPr lang="en-US" sz="950" dirty="0"/>
          </a:p>
          <a:p>
            <a:pPr marL="0" indent="0">
              <a:lnSpc>
                <a:spcPct val="102000"/>
              </a:lnSpc>
              <a:buNone/>
            </a:pPr>
            <a:r>
              <a:rPr lang="en-US" sz="950" dirty="0">
                <a:solidFill>
                  <a:srgbClr val="062A3A"/>
                </a:solidFill>
                <a:latin typeface="Consolas" pitchFamily="34" charset="0"/>
                <a:ea typeface="Consolas" pitchFamily="34" charset="-122"/>
                <a:cs typeface="Consolas" pitchFamily="34" charset="-120"/>
              </a:rPr>
              <a:t>[[1 2 3]</a:t>
            </a:r>
            <a:endParaRPr lang="en-US" sz="950" dirty="0"/>
          </a:p>
          <a:p>
            <a:pPr marL="0" indent="0">
              <a:lnSpc>
                <a:spcPct val="102000"/>
              </a:lnSpc>
              <a:buNone/>
            </a:pPr>
            <a:r>
              <a:rPr lang="en-US" sz="950" dirty="0">
                <a:solidFill>
                  <a:srgbClr val="062A3A"/>
                </a:solidFill>
                <a:latin typeface="Consolas" pitchFamily="34" charset="0"/>
                <a:ea typeface="Consolas" pitchFamily="34" charset="-122"/>
                <a:cs typeface="Consolas" pitchFamily="34" charset="-120"/>
              </a:rPr>
              <a:t> [4 5 6]]</a:t>
            </a:r>
            <a:endParaRPr lang="en-US" sz="950" dirty="0"/>
          </a:p>
        </p:txBody>
      </p:sp>
      <p:sp>
        <p:nvSpPr>
          <p:cNvPr id="18" name="Shape 16"/>
          <p:cNvSpPr/>
          <p:nvPr/>
        </p:nvSpPr>
        <p:spPr>
          <a:xfrm>
            <a:off x="4288536" y="1463040"/>
            <a:ext cx="3611880" cy="3703320"/>
          </a:xfrm>
          <a:prstGeom prst="roundRect">
            <a:avLst>
              <a:gd name="adj" fmla="val 1519"/>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19" name="Text 17"/>
          <p:cNvSpPr/>
          <p:nvPr/>
        </p:nvSpPr>
        <p:spPr>
          <a:xfrm>
            <a:off x="4507992" y="1627632"/>
            <a:ext cx="3108960" cy="292608"/>
          </a:xfrm>
          <a:prstGeom prst="rect">
            <a:avLst/>
          </a:prstGeom>
          <a:noFill/>
          <a:ln/>
        </p:spPr>
        <p:txBody>
          <a:bodyPr wrap="square" lIns="0" tIns="0" rIns="0" bIns="0" rtlCol="0" anchor="t"/>
          <a:lstStyle/>
          <a:p>
            <a:pPr marL="0" indent="0">
              <a:buNone/>
            </a:pPr>
            <a:r>
              <a:rPr lang="en-US" sz="1400" b="1" dirty="0">
                <a:solidFill>
                  <a:srgbClr val="062A3A"/>
                </a:solidFill>
                <a:latin typeface="Consolas" pitchFamily="34" charset="0"/>
                <a:ea typeface="Consolas" pitchFamily="34" charset="-122"/>
                <a:cs typeface="Consolas" pitchFamily="34" charset="-120"/>
              </a:rPr>
              <a:t>np.zeros()</a:t>
            </a:r>
            <a:endParaRPr lang="en-US" sz="1400" dirty="0"/>
          </a:p>
        </p:txBody>
      </p:sp>
      <p:sp>
        <p:nvSpPr>
          <p:cNvPr id="20" name="Text 18"/>
          <p:cNvSpPr/>
          <p:nvPr/>
        </p:nvSpPr>
        <p:spPr>
          <a:xfrm>
            <a:off x="4507992" y="1920240"/>
            <a:ext cx="3108960" cy="228600"/>
          </a:xfrm>
          <a:prstGeom prst="rect">
            <a:avLst/>
          </a:prstGeom>
          <a:noFill/>
          <a:ln/>
        </p:spPr>
        <p:txBody>
          <a:bodyPr wrap="square" lIns="0" tIns="0" rIns="0" bIns="0" rtlCol="0" anchor="t"/>
          <a:lstStyle/>
          <a:p>
            <a:pPr marL="0" indent="0">
              <a:buNone/>
            </a:pPr>
            <a:r>
              <a:rPr lang="en-US" sz="950" dirty="0">
                <a:solidFill>
                  <a:srgbClr val="728694"/>
                </a:solidFill>
                <a:latin typeface="Segoe UI" pitchFamily="34" charset="0"/>
                <a:ea typeface="Segoe UI" pitchFamily="34" charset="-122"/>
                <a:cs typeface="Segoe UI" pitchFamily="34" charset="-120"/>
              </a:rPr>
              <a:t>Mảng toàn số 0</a:t>
            </a:r>
            <a:endParaRPr lang="en-US" sz="950" dirty="0"/>
          </a:p>
        </p:txBody>
      </p:sp>
      <p:sp>
        <p:nvSpPr>
          <p:cNvPr id="21" name="Shape 19"/>
          <p:cNvSpPr/>
          <p:nvPr/>
        </p:nvSpPr>
        <p:spPr>
          <a:xfrm>
            <a:off x="4471416" y="2240280"/>
            <a:ext cx="3246120" cy="1417320"/>
          </a:xfrm>
          <a:prstGeom prst="roundRect">
            <a:avLst>
              <a:gd name="adj" fmla="val 3226"/>
            </a:avLst>
          </a:prstGeom>
          <a:solidFill>
            <a:srgbClr val="0B2230"/>
          </a:solidFill>
          <a:ln w="9525">
            <a:solidFill>
              <a:srgbClr val="163B4C"/>
            </a:solidFill>
            <a:prstDash val="solid"/>
          </a:ln>
        </p:spPr>
      </p:sp>
      <p:sp>
        <p:nvSpPr>
          <p:cNvPr id="22" name="Shape 20"/>
          <p:cNvSpPr/>
          <p:nvPr/>
        </p:nvSpPr>
        <p:spPr>
          <a:xfrm>
            <a:off x="4471416" y="2240280"/>
            <a:ext cx="3246120" cy="265176"/>
          </a:xfrm>
          <a:prstGeom prst="rect">
            <a:avLst/>
          </a:prstGeom>
          <a:solidFill>
            <a:srgbClr val="103445"/>
          </a:solidFill>
          <a:ln w="12700">
            <a:solidFill>
              <a:srgbClr val="103445"/>
            </a:solidFill>
            <a:prstDash val="solid"/>
          </a:ln>
        </p:spPr>
      </p:sp>
      <p:sp>
        <p:nvSpPr>
          <p:cNvPr id="23" name="Text 21"/>
          <p:cNvSpPr/>
          <p:nvPr/>
        </p:nvSpPr>
        <p:spPr>
          <a:xfrm>
            <a:off x="4617720" y="2290572"/>
            <a:ext cx="2331720" cy="182880"/>
          </a:xfrm>
          <a:prstGeom prst="rect">
            <a:avLst/>
          </a:prstGeom>
          <a:noFill/>
          <a:ln/>
        </p:spPr>
        <p:txBody>
          <a:bodyPr wrap="square" lIns="0" tIns="0" rIns="0" bIns="0" rtlCol="0" anchor="t"/>
          <a:lstStyle/>
          <a:p>
            <a:pPr marL="0" indent="0">
              <a:buNone/>
            </a:pPr>
            <a:r>
              <a:rPr lang="en-US" sz="850" dirty="0">
                <a:solidFill>
                  <a:srgbClr val="8FB6C8"/>
                </a:solidFill>
                <a:latin typeface="Consolas" pitchFamily="34" charset="0"/>
                <a:ea typeface="Consolas" pitchFamily="34" charset="-122"/>
                <a:cs typeface="Consolas" pitchFamily="34" charset="-120"/>
              </a:rPr>
              <a:t>python</a:t>
            </a:r>
            <a:endParaRPr lang="en-US" sz="850" dirty="0"/>
          </a:p>
        </p:txBody>
      </p:sp>
      <p:sp>
        <p:nvSpPr>
          <p:cNvPr id="24" name="Shape 22"/>
          <p:cNvSpPr/>
          <p:nvPr/>
        </p:nvSpPr>
        <p:spPr>
          <a:xfrm>
            <a:off x="7150608" y="2345436"/>
            <a:ext cx="77724" cy="77724"/>
          </a:xfrm>
          <a:prstGeom prst="ellipse">
            <a:avLst/>
          </a:prstGeom>
          <a:solidFill>
            <a:srgbClr val="D96C5F"/>
          </a:solidFill>
          <a:ln w="12700">
            <a:solidFill>
              <a:srgbClr val="D96C5F"/>
            </a:solidFill>
            <a:prstDash val="solid"/>
          </a:ln>
        </p:spPr>
      </p:sp>
      <p:sp>
        <p:nvSpPr>
          <p:cNvPr id="25" name="Shape 23"/>
          <p:cNvSpPr/>
          <p:nvPr/>
        </p:nvSpPr>
        <p:spPr>
          <a:xfrm>
            <a:off x="7306056" y="2345436"/>
            <a:ext cx="77724" cy="77724"/>
          </a:xfrm>
          <a:prstGeom prst="ellipse">
            <a:avLst/>
          </a:prstGeom>
          <a:solidFill>
            <a:srgbClr val="E8A33D"/>
          </a:solidFill>
          <a:ln w="12700">
            <a:solidFill>
              <a:srgbClr val="E8A33D"/>
            </a:solidFill>
            <a:prstDash val="solid"/>
          </a:ln>
        </p:spPr>
      </p:sp>
      <p:sp>
        <p:nvSpPr>
          <p:cNvPr id="26" name="Shape 24"/>
          <p:cNvSpPr/>
          <p:nvPr/>
        </p:nvSpPr>
        <p:spPr>
          <a:xfrm>
            <a:off x="7461504" y="2345436"/>
            <a:ext cx="77724" cy="77724"/>
          </a:xfrm>
          <a:prstGeom prst="ellipse">
            <a:avLst/>
          </a:prstGeom>
          <a:solidFill>
            <a:srgbClr val="2D8C6F"/>
          </a:solidFill>
          <a:ln w="12700">
            <a:solidFill>
              <a:srgbClr val="2D8C6F"/>
            </a:solidFill>
            <a:prstDash val="solid"/>
          </a:ln>
        </p:spPr>
      </p:sp>
      <p:sp>
        <p:nvSpPr>
          <p:cNvPr id="27" name="Text 25"/>
          <p:cNvSpPr/>
          <p:nvPr/>
        </p:nvSpPr>
        <p:spPr>
          <a:xfrm>
            <a:off x="4636008" y="2587752"/>
            <a:ext cx="2953512" cy="996696"/>
          </a:xfrm>
          <a:prstGeom prst="rect">
            <a:avLst/>
          </a:prstGeom>
          <a:noFill/>
          <a:ln/>
        </p:spPr>
        <p:txBody>
          <a:bodyPr wrap="square" lIns="0" tIns="0" rIns="0" bIns="0" rtlCol="0" anchor="t"/>
          <a:lstStyle/>
          <a:p>
            <a:pPr marL="0" indent="0">
              <a:lnSpc>
                <a:spcPct val="102000"/>
              </a:lnSpc>
              <a:buNone/>
            </a:pPr>
            <a:r>
              <a:rPr lang="en-US" sz="950" dirty="0">
                <a:solidFill>
                  <a:srgbClr val="8AD9C0"/>
                </a:solidFill>
                <a:latin typeface="Consolas" pitchFamily="34" charset="0"/>
                <a:ea typeface="Consolas" pitchFamily="34" charset="-122"/>
                <a:cs typeface="Consolas" pitchFamily="34" charset="-120"/>
              </a:rPr>
              <a:t>np</a:t>
            </a:r>
            <a:r>
              <a:rPr lang="en-US" sz="950" dirty="0">
                <a:solidFill>
                  <a:srgbClr val="D6E6EF"/>
                </a:solidFill>
                <a:latin typeface="Consolas" pitchFamily="34" charset="0"/>
                <a:ea typeface="Consolas" pitchFamily="34" charset="-122"/>
                <a:cs typeface="Consolas" pitchFamily="34" charset="-120"/>
              </a:rPr>
              <a:t>.zeros((</a:t>
            </a:r>
            <a:r>
              <a:rPr lang="en-US" sz="950" dirty="0">
                <a:solidFill>
                  <a:srgbClr val="F08A7C"/>
                </a:solidFill>
                <a:latin typeface="Consolas" pitchFamily="34" charset="0"/>
                <a:ea typeface="Consolas" pitchFamily="34" charset="-122"/>
                <a:cs typeface="Consolas" pitchFamily="34" charset="-120"/>
              </a:rPr>
              <a:t>2</a:t>
            </a:r>
            <a:r>
              <a:rPr lang="en-US" sz="950" dirty="0">
                <a:solidFill>
                  <a:srgbClr val="D6E6EF"/>
                </a:solidFill>
                <a:latin typeface="Consolas" pitchFamily="34" charset="0"/>
                <a:ea typeface="Consolas" pitchFamily="34" charset="-122"/>
                <a:cs typeface="Consolas" pitchFamily="34" charset="-120"/>
              </a:rPr>
              <a:t>, </a:t>
            </a:r>
            <a:r>
              <a:rPr lang="en-US" sz="950" dirty="0">
                <a:solidFill>
                  <a:srgbClr val="F08A7C"/>
                </a:solidFill>
                <a:latin typeface="Consolas" pitchFamily="34" charset="0"/>
                <a:ea typeface="Consolas" pitchFamily="34" charset="-122"/>
                <a:cs typeface="Consolas" pitchFamily="34" charset="-120"/>
              </a:rPr>
              <a:t>3</a:t>
            </a:r>
            <a:r>
              <a:rPr lang="en-US" sz="950" dirty="0">
                <a:solidFill>
                  <a:srgbClr val="D6E6EF"/>
                </a:solidFill>
                <a:latin typeface="Consolas" pitchFamily="34" charset="0"/>
                <a:ea typeface="Consolas" pitchFamily="34" charset="-122"/>
                <a:cs typeface="Consolas" pitchFamily="34" charset="-120"/>
              </a:rPr>
              <a:t>))</a:t>
            </a:r>
            <a:endParaRPr lang="en-US" sz="950" dirty="0"/>
          </a:p>
        </p:txBody>
      </p:sp>
      <p:sp>
        <p:nvSpPr>
          <p:cNvPr id="28" name="Shape 26"/>
          <p:cNvSpPr/>
          <p:nvPr/>
        </p:nvSpPr>
        <p:spPr>
          <a:xfrm>
            <a:off x="4471416" y="3767328"/>
            <a:ext cx="3246120" cy="1143000"/>
          </a:xfrm>
          <a:prstGeom prst="roundRect">
            <a:avLst>
              <a:gd name="adj" fmla="val 4000"/>
            </a:avLst>
          </a:prstGeom>
          <a:solidFill>
            <a:srgbClr val="FFFFFF"/>
          </a:solidFill>
          <a:ln w="9525">
            <a:solidFill>
              <a:srgbClr val="CFE5EE"/>
            </a:solidFill>
            <a:prstDash val="solid"/>
          </a:ln>
        </p:spPr>
      </p:sp>
      <p:sp>
        <p:nvSpPr>
          <p:cNvPr id="29" name="Text 27"/>
          <p:cNvSpPr/>
          <p:nvPr/>
        </p:nvSpPr>
        <p:spPr>
          <a:xfrm>
            <a:off x="4617720" y="3858768"/>
            <a:ext cx="2971800" cy="164592"/>
          </a:xfrm>
          <a:prstGeom prst="rect">
            <a:avLst/>
          </a:prstGeom>
          <a:noFill/>
          <a:ln/>
        </p:spPr>
        <p:txBody>
          <a:bodyPr wrap="square" lIns="0" tIns="0" rIns="0" bIns="0" rtlCol="0" anchor="t"/>
          <a:lstStyle/>
          <a:p>
            <a:pPr marL="0" indent="0">
              <a:buNone/>
            </a:pPr>
            <a:r>
              <a:rPr lang="en-US" sz="800" b="1" kern="0" spc="120" dirty="0">
                <a:solidFill>
                  <a:srgbClr val="2D8C6F"/>
                </a:solidFill>
                <a:latin typeface="Segoe UI" pitchFamily="34" charset="0"/>
                <a:ea typeface="Segoe UI" pitchFamily="34" charset="-122"/>
                <a:cs typeface="Segoe UI" pitchFamily="34" charset="-120"/>
              </a:rPr>
              <a:t>KẾT QUẢ</a:t>
            </a:r>
            <a:endParaRPr lang="en-US" sz="800" dirty="0"/>
          </a:p>
        </p:txBody>
      </p:sp>
      <p:sp>
        <p:nvSpPr>
          <p:cNvPr id="30" name="Text 28"/>
          <p:cNvSpPr/>
          <p:nvPr/>
        </p:nvSpPr>
        <p:spPr>
          <a:xfrm>
            <a:off x="4617720" y="4078224"/>
            <a:ext cx="2971800" cy="758952"/>
          </a:xfrm>
          <a:prstGeom prst="rect">
            <a:avLst/>
          </a:prstGeom>
          <a:noFill/>
          <a:ln/>
        </p:spPr>
        <p:txBody>
          <a:bodyPr wrap="square" lIns="0" tIns="0" rIns="0" bIns="0" rtlCol="0" anchor="t"/>
          <a:lstStyle/>
          <a:p>
            <a:pPr marL="0" indent="0">
              <a:lnSpc>
                <a:spcPct val="102000"/>
              </a:lnSpc>
              <a:buNone/>
            </a:pPr>
            <a:r>
              <a:rPr lang="en-US" sz="950" dirty="0">
                <a:solidFill>
                  <a:srgbClr val="062A3A"/>
                </a:solidFill>
                <a:latin typeface="Consolas" pitchFamily="34" charset="0"/>
                <a:ea typeface="Consolas" pitchFamily="34" charset="-122"/>
                <a:cs typeface="Consolas" pitchFamily="34" charset="-120"/>
              </a:rPr>
              <a:t>[[0. 0. 0.]</a:t>
            </a:r>
            <a:endParaRPr lang="en-US" sz="950" dirty="0"/>
          </a:p>
          <a:p>
            <a:pPr marL="0" indent="0">
              <a:lnSpc>
                <a:spcPct val="102000"/>
              </a:lnSpc>
              <a:buNone/>
            </a:pPr>
            <a:r>
              <a:rPr lang="en-US" sz="950" dirty="0">
                <a:solidFill>
                  <a:srgbClr val="062A3A"/>
                </a:solidFill>
                <a:latin typeface="Consolas" pitchFamily="34" charset="0"/>
                <a:ea typeface="Consolas" pitchFamily="34" charset="-122"/>
                <a:cs typeface="Consolas" pitchFamily="34" charset="-120"/>
              </a:rPr>
              <a:t> [0. 0. 0.]]</a:t>
            </a:r>
            <a:endParaRPr lang="en-US" sz="950" dirty="0"/>
          </a:p>
        </p:txBody>
      </p:sp>
      <p:sp>
        <p:nvSpPr>
          <p:cNvPr id="31" name="Shape 29"/>
          <p:cNvSpPr/>
          <p:nvPr/>
        </p:nvSpPr>
        <p:spPr>
          <a:xfrm>
            <a:off x="8028432" y="1463040"/>
            <a:ext cx="3611880" cy="3703320"/>
          </a:xfrm>
          <a:prstGeom prst="roundRect">
            <a:avLst>
              <a:gd name="adj" fmla="val 1519"/>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32" name="Text 30"/>
          <p:cNvSpPr/>
          <p:nvPr/>
        </p:nvSpPr>
        <p:spPr>
          <a:xfrm>
            <a:off x="8247888" y="1627632"/>
            <a:ext cx="3108960" cy="292608"/>
          </a:xfrm>
          <a:prstGeom prst="rect">
            <a:avLst/>
          </a:prstGeom>
          <a:noFill/>
          <a:ln/>
        </p:spPr>
        <p:txBody>
          <a:bodyPr wrap="square" lIns="0" tIns="0" rIns="0" bIns="0" rtlCol="0" anchor="t"/>
          <a:lstStyle/>
          <a:p>
            <a:pPr marL="0" indent="0">
              <a:buNone/>
            </a:pPr>
            <a:r>
              <a:rPr lang="en-US" sz="1400" b="1" dirty="0">
                <a:solidFill>
                  <a:srgbClr val="062A3A"/>
                </a:solidFill>
                <a:latin typeface="Consolas" pitchFamily="34" charset="0"/>
                <a:ea typeface="Consolas" pitchFamily="34" charset="-122"/>
                <a:cs typeface="Consolas" pitchFamily="34" charset="-120"/>
              </a:rPr>
              <a:t>np.ones()</a:t>
            </a:r>
            <a:endParaRPr lang="en-US" sz="1400" dirty="0"/>
          </a:p>
        </p:txBody>
      </p:sp>
      <p:sp>
        <p:nvSpPr>
          <p:cNvPr id="33" name="Text 31"/>
          <p:cNvSpPr/>
          <p:nvPr/>
        </p:nvSpPr>
        <p:spPr>
          <a:xfrm>
            <a:off x="8247888" y="1920240"/>
            <a:ext cx="3108960" cy="228600"/>
          </a:xfrm>
          <a:prstGeom prst="rect">
            <a:avLst/>
          </a:prstGeom>
          <a:noFill/>
          <a:ln/>
        </p:spPr>
        <p:txBody>
          <a:bodyPr wrap="square" lIns="0" tIns="0" rIns="0" bIns="0" rtlCol="0" anchor="t"/>
          <a:lstStyle/>
          <a:p>
            <a:pPr marL="0" indent="0">
              <a:buNone/>
            </a:pPr>
            <a:r>
              <a:rPr lang="en-US" sz="950" dirty="0">
                <a:solidFill>
                  <a:srgbClr val="728694"/>
                </a:solidFill>
                <a:latin typeface="Segoe UI" pitchFamily="34" charset="0"/>
                <a:ea typeface="Segoe UI" pitchFamily="34" charset="-122"/>
                <a:cs typeface="Segoe UI" pitchFamily="34" charset="-120"/>
              </a:rPr>
              <a:t>Mảng toàn số 1</a:t>
            </a:r>
            <a:endParaRPr lang="en-US" sz="950" dirty="0"/>
          </a:p>
        </p:txBody>
      </p:sp>
      <p:sp>
        <p:nvSpPr>
          <p:cNvPr id="34" name="Shape 32"/>
          <p:cNvSpPr/>
          <p:nvPr/>
        </p:nvSpPr>
        <p:spPr>
          <a:xfrm>
            <a:off x="8211312" y="2240280"/>
            <a:ext cx="3246120" cy="1417320"/>
          </a:xfrm>
          <a:prstGeom prst="roundRect">
            <a:avLst>
              <a:gd name="adj" fmla="val 3226"/>
            </a:avLst>
          </a:prstGeom>
          <a:solidFill>
            <a:srgbClr val="0B2230"/>
          </a:solidFill>
          <a:ln w="9525">
            <a:solidFill>
              <a:srgbClr val="163B4C"/>
            </a:solidFill>
            <a:prstDash val="solid"/>
          </a:ln>
        </p:spPr>
      </p:sp>
      <p:sp>
        <p:nvSpPr>
          <p:cNvPr id="35" name="Shape 33"/>
          <p:cNvSpPr/>
          <p:nvPr/>
        </p:nvSpPr>
        <p:spPr>
          <a:xfrm>
            <a:off x="8211312" y="2240280"/>
            <a:ext cx="3246120" cy="265176"/>
          </a:xfrm>
          <a:prstGeom prst="rect">
            <a:avLst/>
          </a:prstGeom>
          <a:solidFill>
            <a:srgbClr val="103445"/>
          </a:solidFill>
          <a:ln w="12700">
            <a:solidFill>
              <a:srgbClr val="103445"/>
            </a:solidFill>
            <a:prstDash val="solid"/>
          </a:ln>
        </p:spPr>
      </p:sp>
      <p:sp>
        <p:nvSpPr>
          <p:cNvPr id="36" name="Text 34"/>
          <p:cNvSpPr/>
          <p:nvPr/>
        </p:nvSpPr>
        <p:spPr>
          <a:xfrm>
            <a:off x="8357616" y="2290572"/>
            <a:ext cx="2331720" cy="182880"/>
          </a:xfrm>
          <a:prstGeom prst="rect">
            <a:avLst/>
          </a:prstGeom>
          <a:noFill/>
          <a:ln/>
        </p:spPr>
        <p:txBody>
          <a:bodyPr wrap="square" lIns="0" tIns="0" rIns="0" bIns="0" rtlCol="0" anchor="t"/>
          <a:lstStyle/>
          <a:p>
            <a:pPr marL="0" indent="0">
              <a:buNone/>
            </a:pPr>
            <a:r>
              <a:rPr lang="en-US" sz="850" dirty="0">
                <a:solidFill>
                  <a:srgbClr val="8FB6C8"/>
                </a:solidFill>
                <a:latin typeface="Consolas" pitchFamily="34" charset="0"/>
                <a:ea typeface="Consolas" pitchFamily="34" charset="-122"/>
                <a:cs typeface="Consolas" pitchFamily="34" charset="-120"/>
              </a:rPr>
              <a:t>python</a:t>
            </a:r>
            <a:endParaRPr lang="en-US" sz="850" dirty="0"/>
          </a:p>
        </p:txBody>
      </p:sp>
      <p:sp>
        <p:nvSpPr>
          <p:cNvPr id="37" name="Shape 35"/>
          <p:cNvSpPr/>
          <p:nvPr/>
        </p:nvSpPr>
        <p:spPr>
          <a:xfrm>
            <a:off x="10890504" y="2345436"/>
            <a:ext cx="77724" cy="77724"/>
          </a:xfrm>
          <a:prstGeom prst="ellipse">
            <a:avLst/>
          </a:prstGeom>
          <a:solidFill>
            <a:srgbClr val="D96C5F"/>
          </a:solidFill>
          <a:ln w="12700">
            <a:solidFill>
              <a:srgbClr val="D96C5F"/>
            </a:solidFill>
            <a:prstDash val="solid"/>
          </a:ln>
        </p:spPr>
      </p:sp>
      <p:sp>
        <p:nvSpPr>
          <p:cNvPr id="38" name="Shape 36"/>
          <p:cNvSpPr/>
          <p:nvPr/>
        </p:nvSpPr>
        <p:spPr>
          <a:xfrm>
            <a:off x="11045952" y="2345436"/>
            <a:ext cx="77724" cy="77724"/>
          </a:xfrm>
          <a:prstGeom prst="ellipse">
            <a:avLst/>
          </a:prstGeom>
          <a:solidFill>
            <a:srgbClr val="E8A33D"/>
          </a:solidFill>
          <a:ln w="12700">
            <a:solidFill>
              <a:srgbClr val="E8A33D"/>
            </a:solidFill>
            <a:prstDash val="solid"/>
          </a:ln>
        </p:spPr>
      </p:sp>
      <p:sp>
        <p:nvSpPr>
          <p:cNvPr id="39" name="Shape 37"/>
          <p:cNvSpPr/>
          <p:nvPr/>
        </p:nvSpPr>
        <p:spPr>
          <a:xfrm>
            <a:off x="11201400" y="2345436"/>
            <a:ext cx="77724" cy="77724"/>
          </a:xfrm>
          <a:prstGeom prst="ellipse">
            <a:avLst/>
          </a:prstGeom>
          <a:solidFill>
            <a:srgbClr val="2D8C6F"/>
          </a:solidFill>
          <a:ln w="12700">
            <a:solidFill>
              <a:srgbClr val="2D8C6F"/>
            </a:solidFill>
            <a:prstDash val="solid"/>
          </a:ln>
        </p:spPr>
      </p:sp>
      <p:sp>
        <p:nvSpPr>
          <p:cNvPr id="40" name="Text 38"/>
          <p:cNvSpPr/>
          <p:nvPr/>
        </p:nvSpPr>
        <p:spPr>
          <a:xfrm>
            <a:off x="8375904" y="2587752"/>
            <a:ext cx="2953512" cy="996696"/>
          </a:xfrm>
          <a:prstGeom prst="rect">
            <a:avLst/>
          </a:prstGeom>
          <a:noFill/>
          <a:ln/>
        </p:spPr>
        <p:txBody>
          <a:bodyPr wrap="square" lIns="0" tIns="0" rIns="0" bIns="0" rtlCol="0" anchor="t"/>
          <a:lstStyle/>
          <a:p>
            <a:pPr marL="0" indent="0">
              <a:lnSpc>
                <a:spcPct val="102000"/>
              </a:lnSpc>
              <a:buNone/>
            </a:pPr>
            <a:r>
              <a:rPr lang="en-US" sz="950" dirty="0">
                <a:solidFill>
                  <a:srgbClr val="8AD9C0"/>
                </a:solidFill>
                <a:latin typeface="Consolas" pitchFamily="34" charset="0"/>
                <a:ea typeface="Consolas" pitchFamily="34" charset="-122"/>
                <a:cs typeface="Consolas" pitchFamily="34" charset="-120"/>
              </a:rPr>
              <a:t>np</a:t>
            </a:r>
            <a:r>
              <a:rPr lang="en-US" sz="950" dirty="0">
                <a:solidFill>
                  <a:srgbClr val="D6E6EF"/>
                </a:solidFill>
                <a:latin typeface="Consolas" pitchFamily="34" charset="0"/>
                <a:ea typeface="Consolas" pitchFamily="34" charset="-122"/>
                <a:cs typeface="Consolas" pitchFamily="34" charset="-120"/>
              </a:rPr>
              <a:t>.ones(</a:t>
            </a:r>
            <a:r>
              <a:rPr lang="en-US" sz="950" dirty="0">
                <a:solidFill>
                  <a:srgbClr val="F08A7C"/>
                </a:solidFill>
                <a:latin typeface="Consolas" pitchFamily="34" charset="0"/>
                <a:ea typeface="Consolas" pitchFamily="34" charset="-122"/>
                <a:cs typeface="Consolas" pitchFamily="34" charset="-120"/>
              </a:rPr>
              <a:t>4</a:t>
            </a:r>
            <a:r>
              <a:rPr lang="en-US" sz="950" dirty="0">
                <a:solidFill>
                  <a:srgbClr val="D6E6EF"/>
                </a:solidFill>
                <a:latin typeface="Consolas" pitchFamily="34" charset="0"/>
                <a:ea typeface="Consolas" pitchFamily="34" charset="-122"/>
                <a:cs typeface="Consolas" pitchFamily="34" charset="-120"/>
              </a:rPr>
              <a:t>)</a:t>
            </a:r>
            <a:endParaRPr lang="en-US" sz="950" dirty="0"/>
          </a:p>
          <a:p>
            <a:pPr marL="0" indent="0">
              <a:lnSpc>
                <a:spcPct val="102000"/>
              </a:lnSpc>
              <a:buNone/>
            </a:pPr>
            <a:r>
              <a:rPr lang="en-US" sz="950" dirty="0">
                <a:solidFill>
                  <a:srgbClr val="8AD9C0"/>
                </a:solidFill>
                <a:latin typeface="Consolas" pitchFamily="34" charset="0"/>
                <a:ea typeface="Consolas" pitchFamily="34" charset="-122"/>
                <a:cs typeface="Consolas" pitchFamily="34" charset="-120"/>
              </a:rPr>
              <a:t>np</a:t>
            </a:r>
            <a:r>
              <a:rPr lang="en-US" sz="950" dirty="0">
                <a:solidFill>
                  <a:srgbClr val="D6E6EF"/>
                </a:solidFill>
                <a:latin typeface="Consolas" pitchFamily="34" charset="0"/>
                <a:ea typeface="Consolas" pitchFamily="34" charset="-122"/>
                <a:cs typeface="Consolas" pitchFamily="34" charset="-120"/>
              </a:rPr>
              <a:t>.ones(</a:t>
            </a:r>
            <a:r>
              <a:rPr lang="en-US" sz="950" dirty="0">
                <a:solidFill>
                  <a:srgbClr val="F08A7C"/>
                </a:solidFill>
                <a:latin typeface="Consolas" pitchFamily="34" charset="0"/>
                <a:ea typeface="Consolas" pitchFamily="34" charset="-122"/>
                <a:cs typeface="Consolas" pitchFamily="34" charset="-120"/>
              </a:rPr>
              <a:t>3</a:t>
            </a:r>
            <a:r>
              <a:rPr lang="en-US" sz="950" dirty="0">
                <a:solidFill>
                  <a:srgbClr val="D6E6EF"/>
                </a:solidFill>
                <a:latin typeface="Consolas" pitchFamily="34" charset="0"/>
                <a:ea typeface="Consolas" pitchFamily="34" charset="-122"/>
                <a:cs typeface="Consolas" pitchFamily="34" charset="-120"/>
              </a:rPr>
              <a:t>, dtype=</a:t>
            </a:r>
            <a:r>
              <a:rPr lang="en-US" sz="950" dirty="0">
                <a:solidFill>
                  <a:srgbClr val="8AD9C0"/>
                </a:solidFill>
                <a:latin typeface="Consolas" pitchFamily="34" charset="0"/>
                <a:ea typeface="Consolas" pitchFamily="34" charset="-122"/>
                <a:cs typeface="Consolas" pitchFamily="34" charset="-120"/>
              </a:rPr>
              <a:t>np</a:t>
            </a:r>
            <a:r>
              <a:rPr lang="en-US" sz="950" dirty="0">
                <a:solidFill>
                  <a:srgbClr val="D6E6EF"/>
                </a:solidFill>
                <a:latin typeface="Consolas" pitchFamily="34" charset="0"/>
                <a:ea typeface="Consolas" pitchFamily="34" charset="-122"/>
                <a:cs typeface="Consolas" pitchFamily="34" charset="-120"/>
              </a:rPr>
              <a:t>.int64)</a:t>
            </a:r>
            <a:endParaRPr lang="en-US" sz="950" dirty="0"/>
          </a:p>
        </p:txBody>
      </p:sp>
      <p:sp>
        <p:nvSpPr>
          <p:cNvPr id="41" name="Shape 39"/>
          <p:cNvSpPr/>
          <p:nvPr/>
        </p:nvSpPr>
        <p:spPr>
          <a:xfrm>
            <a:off x="8211312" y="3767328"/>
            <a:ext cx="3246120" cy="1143000"/>
          </a:xfrm>
          <a:prstGeom prst="roundRect">
            <a:avLst>
              <a:gd name="adj" fmla="val 4000"/>
            </a:avLst>
          </a:prstGeom>
          <a:solidFill>
            <a:srgbClr val="FFFFFF"/>
          </a:solidFill>
          <a:ln w="9525">
            <a:solidFill>
              <a:srgbClr val="CFE5EE"/>
            </a:solidFill>
            <a:prstDash val="solid"/>
          </a:ln>
        </p:spPr>
      </p:sp>
      <p:sp>
        <p:nvSpPr>
          <p:cNvPr id="42" name="Text 40"/>
          <p:cNvSpPr/>
          <p:nvPr/>
        </p:nvSpPr>
        <p:spPr>
          <a:xfrm>
            <a:off x="8357616" y="3858768"/>
            <a:ext cx="2971800" cy="164592"/>
          </a:xfrm>
          <a:prstGeom prst="rect">
            <a:avLst/>
          </a:prstGeom>
          <a:noFill/>
          <a:ln/>
        </p:spPr>
        <p:txBody>
          <a:bodyPr wrap="square" lIns="0" tIns="0" rIns="0" bIns="0" rtlCol="0" anchor="t"/>
          <a:lstStyle/>
          <a:p>
            <a:pPr marL="0" indent="0">
              <a:buNone/>
            </a:pPr>
            <a:r>
              <a:rPr lang="en-US" sz="800" b="1" kern="0" spc="120" dirty="0">
                <a:solidFill>
                  <a:srgbClr val="2D8C6F"/>
                </a:solidFill>
                <a:latin typeface="Segoe UI" pitchFamily="34" charset="0"/>
                <a:ea typeface="Segoe UI" pitchFamily="34" charset="-122"/>
                <a:cs typeface="Segoe UI" pitchFamily="34" charset="-120"/>
              </a:rPr>
              <a:t>KẾT QUẢ</a:t>
            </a:r>
            <a:endParaRPr lang="en-US" sz="800" dirty="0"/>
          </a:p>
        </p:txBody>
      </p:sp>
      <p:sp>
        <p:nvSpPr>
          <p:cNvPr id="43" name="Text 41"/>
          <p:cNvSpPr/>
          <p:nvPr/>
        </p:nvSpPr>
        <p:spPr>
          <a:xfrm>
            <a:off x="8357616" y="4078224"/>
            <a:ext cx="2971800" cy="758952"/>
          </a:xfrm>
          <a:prstGeom prst="rect">
            <a:avLst/>
          </a:prstGeom>
          <a:noFill/>
          <a:ln/>
        </p:spPr>
        <p:txBody>
          <a:bodyPr wrap="square" lIns="0" tIns="0" rIns="0" bIns="0" rtlCol="0" anchor="t"/>
          <a:lstStyle/>
          <a:p>
            <a:pPr marL="0" indent="0">
              <a:lnSpc>
                <a:spcPct val="102000"/>
              </a:lnSpc>
              <a:buNone/>
            </a:pPr>
            <a:r>
              <a:rPr lang="en-US" sz="950" dirty="0">
                <a:solidFill>
                  <a:srgbClr val="062A3A"/>
                </a:solidFill>
                <a:latin typeface="Consolas" pitchFamily="34" charset="0"/>
                <a:ea typeface="Consolas" pitchFamily="34" charset="-122"/>
                <a:cs typeface="Consolas" pitchFamily="34" charset="-120"/>
              </a:rPr>
              <a:t>[1. 1. 1. 1.]</a:t>
            </a:r>
            <a:endParaRPr lang="en-US" sz="950" dirty="0"/>
          </a:p>
          <a:p>
            <a:pPr marL="0" indent="0">
              <a:lnSpc>
                <a:spcPct val="102000"/>
              </a:lnSpc>
              <a:buNone/>
            </a:pPr>
            <a:r>
              <a:rPr lang="en-US" sz="950" dirty="0">
                <a:solidFill>
                  <a:srgbClr val="062A3A"/>
                </a:solidFill>
                <a:latin typeface="Consolas" pitchFamily="34" charset="0"/>
                <a:ea typeface="Consolas" pitchFamily="34" charset="-122"/>
                <a:cs typeface="Consolas" pitchFamily="34" charset="-120"/>
              </a:rPr>
              <a:t>[1 1 1]</a:t>
            </a:r>
            <a:endParaRPr lang="en-US" sz="950" dirty="0"/>
          </a:p>
        </p:txBody>
      </p:sp>
      <p:sp>
        <p:nvSpPr>
          <p:cNvPr id="44" name="Text 42"/>
          <p:cNvSpPr/>
          <p:nvPr/>
        </p:nvSpPr>
        <p:spPr>
          <a:xfrm>
            <a:off x="548640" y="5349240"/>
            <a:ext cx="11064240" cy="274320"/>
          </a:xfrm>
          <a:prstGeom prst="rect">
            <a:avLst/>
          </a:prstGeom>
          <a:noFill/>
          <a:ln/>
        </p:spPr>
        <p:txBody>
          <a:bodyPr wrap="square" lIns="0" tIns="0" rIns="0" bIns="0" rtlCol="0" anchor="t"/>
          <a:lstStyle/>
          <a:p>
            <a:pPr marL="0" indent="0">
              <a:buNone/>
            </a:pPr>
            <a:r>
              <a:rPr lang="en-US" sz="1050" i="1" dirty="0">
                <a:solidFill>
                  <a:srgbClr val="728694"/>
                </a:solidFill>
                <a:latin typeface="Segoe UI" pitchFamily="34" charset="0"/>
                <a:ea typeface="Segoe UI" pitchFamily="34" charset="-122"/>
                <a:cs typeface="Segoe UI" pitchFamily="34" charset="-120"/>
              </a:rPr>
              <a:t>zeros và ones mặc định là float64; chỉ định dtype=np.int64 nếu cần số nguyên.</a:t>
            </a:r>
            <a:endParaRPr lang="en-US" sz="1050" dirty="0"/>
          </a:p>
        </p:txBody>
      </p:sp>
      <p:sp>
        <p:nvSpPr>
          <p:cNvPr id="45" name="Shape 43"/>
          <p:cNvSpPr/>
          <p:nvPr/>
        </p:nvSpPr>
        <p:spPr>
          <a:xfrm>
            <a:off x="548640" y="6391656"/>
            <a:ext cx="11091672" cy="9144"/>
          </a:xfrm>
          <a:prstGeom prst="rect">
            <a:avLst/>
          </a:prstGeom>
          <a:solidFill>
            <a:srgbClr val="D7E5EC"/>
          </a:solidFill>
          <a:ln w="12700">
            <a:solidFill>
              <a:srgbClr val="D7E5EC"/>
            </a:solidFill>
            <a:prstDash val="solid"/>
          </a:ln>
        </p:spPr>
      </p:sp>
      <p:sp>
        <p:nvSpPr>
          <p:cNvPr id="46" name="Text 44"/>
          <p:cNvSpPr/>
          <p:nvPr/>
        </p:nvSpPr>
        <p:spPr>
          <a:xfrm>
            <a:off x="548640" y="6473952"/>
            <a:ext cx="7772400" cy="182880"/>
          </a:xfrm>
          <a:prstGeom prst="rect">
            <a:avLst/>
          </a:prstGeom>
          <a:noFill/>
          <a:ln/>
        </p:spPr>
        <p:txBody>
          <a:bodyPr wrap="square" lIns="0" tIns="0" rIns="0" bIns="0" rtlCol="0" anchor="t"/>
          <a:lstStyle/>
          <a:p>
            <a:pPr marL="0" indent="0">
              <a:buNone/>
            </a:pPr>
            <a:r>
              <a:rPr lang="en-US" sz="850" dirty="0">
                <a:solidFill>
                  <a:srgbClr val="728694"/>
                </a:solidFill>
                <a:latin typeface="Segoe UI" pitchFamily="34" charset="0"/>
                <a:ea typeface="Segoe UI" pitchFamily="34" charset="-122"/>
                <a:cs typeface="Segoe UI" pitchFamily="34" charset="-120"/>
              </a:rPr>
              <a:t>Tìm hiểu thư viện NumPy trong Python</a:t>
            </a:r>
            <a:endParaRPr lang="en-US" sz="850" dirty="0"/>
          </a:p>
        </p:txBody>
      </p:sp>
      <p:sp>
        <p:nvSpPr>
          <p:cNvPr id="47" name="Text 45"/>
          <p:cNvSpPr/>
          <p:nvPr/>
        </p:nvSpPr>
        <p:spPr>
          <a:xfrm>
            <a:off x="10698480" y="6473952"/>
            <a:ext cx="941832" cy="182880"/>
          </a:xfrm>
          <a:prstGeom prst="rect">
            <a:avLst/>
          </a:prstGeom>
          <a:noFill/>
          <a:ln/>
        </p:spPr>
        <p:txBody>
          <a:bodyPr wrap="square" lIns="0" tIns="0" rIns="0" bIns="0" rtlCol="0" anchor="t"/>
          <a:lstStyle/>
          <a:p>
            <a:pPr marL="0" indent="0" algn="r">
              <a:buNone/>
            </a:pPr>
            <a:r>
              <a:rPr lang="en-US" sz="850" dirty="0">
                <a:solidFill>
                  <a:srgbClr val="728694"/>
                </a:solidFill>
                <a:latin typeface="Segoe UI" pitchFamily="34" charset="0"/>
                <a:ea typeface="Segoe UI" pitchFamily="34" charset="-122"/>
                <a:cs typeface="Segoe UI" pitchFamily="34" charset="-120"/>
              </a:rPr>
              <a:t>11 / 25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301752"/>
            <a:ext cx="10881360" cy="201168"/>
          </a:xfrm>
          <a:prstGeom prst="rect">
            <a:avLst/>
          </a:prstGeom>
          <a:noFill/>
          <a:ln/>
        </p:spPr>
        <p:txBody>
          <a:bodyPr wrap="square" lIns="0" tIns="0" rIns="0" bIns="0" rtlCol="0" anchor="t"/>
          <a:lstStyle/>
          <a:p>
            <a:pPr marL="0" indent="0">
              <a:buNone/>
            </a:pPr>
            <a:r>
              <a:rPr lang="en-US" sz="950" b="1" kern="0" spc="160" dirty="0">
                <a:solidFill>
                  <a:srgbClr val="1B8EA8"/>
                </a:solidFill>
                <a:latin typeface="Segoe UI" pitchFamily="34" charset="0"/>
                <a:ea typeface="Segoe UI" pitchFamily="34" charset="-122"/>
                <a:cs typeface="Segoe UI" pitchFamily="34" charset="-120"/>
              </a:rPr>
              <a:t>03 · TẠO MẢNG</a:t>
            </a:r>
            <a:endParaRPr lang="en-US" sz="950" dirty="0"/>
          </a:p>
        </p:txBody>
      </p:sp>
      <p:sp>
        <p:nvSpPr>
          <p:cNvPr id="3" name="Text 1"/>
          <p:cNvSpPr/>
          <p:nvPr/>
        </p:nvSpPr>
        <p:spPr>
          <a:xfrm>
            <a:off x="548640" y="502920"/>
            <a:ext cx="10881360" cy="640080"/>
          </a:xfrm>
          <a:prstGeom prst="rect">
            <a:avLst/>
          </a:prstGeom>
          <a:noFill/>
          <a:ln/>
        </p:spPr>
        <p:txBody>
          <a:bodyPr wrap="square" lIns="0" tIns="0" rIns="0" bIns="0" rtlCol="0" anchor="ctr"/>
          <a:lstStyle/>
          <a:p>
            <a:pPr marL="0" indent="0">
              <a:buNone/>
            </a:pPr>
            <a:r>
              <a:rPr lang="en-US" sz="2800" b="1" dirty="0">
                <a:solidFill>
                  <a:srgbClr val="062A3A"/>
                </a:solidFill>
                <a:latin typeface="Segoe UI" pitchFamily="34" charset="0"/>
                <a:ea typeface="Segoe UI" pitchFamily="34" charset="-122"/>
                <a:cs typeface="Segoe UI" pitchFamily="34" charset="-120"/>
              </a:rPr>
              <a:t>Dãy theo bước và chia đều: arange, linspace, eye</a:t>
            </a:r>
            <a:endParaRPr lang="en-US" sz="2800" dirty="0"/>
          </a:p>
        </p:txBody>
      </p:sp>
      <p:sp>
        <p:nvSpPr>
          <p:cNvPr id="4" name="Shape 2"/>
          <p:cNvSpPr/>
          <p:nvPr/>
        </p:nvSpPr>
        <p:spPr>
          <a:xfrm>
            <a:off x="548640" y="1225296"/>
            <a:ext cx="868680" cy="41148"/>
          </a:xfrm>
          <a:prstGeom prst="rect">
            <a:avLst/>
          </a:prstGeom>
          <a:solidFill>
            <a:srgbClr val="1B8EA8"/>
          </a:solidFill>
          <a:ln w="12700">
            <a:solidFill>
              <a:srgbClr val="1B8EA8"/>
            </a:solidFill>
            <a:prstDash val="solid"/>
          </a:ln>
        </p:spPr>
      </p:sp>
      <p:sp>
        <p:nvSpPr>
          <p:cNvPr id="5" name="Shape 3"/>
          <p:cNvSpPr/>
          <p:nvPr/>
        </p:nvSpPr>
        <p:spPr>
          <a:xfrm>
            <a:off x="548640" y="1463040"/>
            <a:ext cx="5669280" cy="2148840"/>
          </a:xfrm>
          <a:prstGeom prst="roundRect">
            <a:avLst>
              <a:gd name="adj" fmla="val 2128"/>
            </a:avLst>
          </a:prstGeom>
          <a:solidFill>
            <a:srgbClr val="0B2230"/>
          </a:solidFill>
          <a:ln w="9525">
            <a:solidFill>
              <a:srgbClr val="163B4C"/>
            </a:solidFill>
            <a:prstDash val="solid"/>
          </a:ln>
        </p:spPr>
      </p:sp>
      <p:sp>
        <p:nvSpPr>
          <p:cNvPr id="6" name="Shape 4"/>
          <p:cNvSpPr/>
          <p:nvPr/>
        </p:nvSpPr>
        <p:spPr>
          <a:xfrm>
            <a:off x="548640" y="1463040"/>
            <a:ext cx="5669280" cy="265176"/>
          </a:xfrm>
          <a:prstGeom prst="rect">
            <a:avLst/>
          </a:prstGeom>
          <a:solidFill>
            <a:srgbClr val="103445"/>
          </a:solidFill>
          <a:ln w="12700">
            <a:solidFill>
              <a:srgbClr val="103445"/>
            </a:solidFill>
            <a:prstDash val="solid"/>
          </a:ln>
        </p:spPr>
      </p:sp>
      <p:sp>
        <p:nvSpPr>
          <p:cNvPr id="7" name="Text 5"/>
          <p:cNvSpPr/>
          <p:nvPr/>
        </p:nvSpPr>
        <p:spPr>
          <a:xfrm>
            <a:off x="694944" y="1513332"/>
            <a:ext cx="4754880" cy="182880"/>
          </a:xfrm>
          <a:prstGeom prst="rect">
            <a:avLst/>
          </a:prstGeom>
          <a:noFill/>
          <a:ln/>
        </p:spPr>
        <p:txBody>
          <a:bodyPr wrap="square" lIns="0" tIns="0" rIns="0" bIns="0" rtlCol="0" anchor="t"/>
          <a:lstStyle/>
          <a:p>
            <a:pPr marL="0" indent="0">
              <a:buNone/>
            </a:pPr>
            <a:r>
              <a:rPr lang="en-US" sz="850" dirty="0">
                <a:solidFill>
                  <a:srgbClr val="8FB6C8"/>
                </a:solidFill>
                <a:latin typeface="Consolas" pitchFamily="34" charset="0"/>
                <a:ea typeface="Consolas" pitchFamily="34" charset="-122"/>
                <a:cs typeface="Consolas" pitchFamily="34" charset="-120"/>
              </a:rPr>
              <a:t>python</a:t>
            </a:r>
            <a:endParaRPr lang="en-US" sz="850" dirty="0"/>
          </a:p>
        </p:txBody>
      </p:sp>
      <p:sp>
        <p:nvSpPr>
          <p:cNvPr id="8" name="Shape 6"/>
          <p:cNvSpPr/>
          <p:nvPr/>
        </p:nvSpPr>
        <p:spPr>
          <a:xfrm>
            <a:off x="5650992" y="1568196"/>
            <a:ext cx="77724" cy="77724"/>
          </a:xfrm>
          <a:prstGeom prst="ellipse">
            <a:avLst/>
          </a:prstGeom>
          <a:solidFill>
            <a:srgbClr val="D96C5F"/>
          </a:solidFill>
          <a:ln w="12700">
            <a:solidFill>
              <a:srgbClr val="D96C5F"/>
            </a:solidFill>
            <a:prstDash val="solid"/>
          </a:ln>
        </p:spPr>
      </p:sp>
      <p:sp>
        <p:nvSpPr>
          <p:cNvPr id="9" name="Shape 7"/>
          <p:cNvSpPr/>
          <p:nvPr/>
        </p:nvSpPr>
        <p:spPr>
          <a:xfrm>
            <a:off x="5806440" y="1568196"/>
            <a:ext cx="77724" cy="77724"/>
          </a:xfrm>
          <a:prstGeom prst="ellipse">
            <a:avLst/>
          </a:prstGeom>
          <a:solidFill>
            <a:srgbClr val="E8A33D"/>
          </a:solidFill>
          <a:ln w="12700">
            <a:solidFill>
              <a:srgbClr val="E8A33D"/>
            </a:solidFill>
            <a:prstDash val="solid"/>
          </a:ln>
        </p:spPr>
      </p:sp>
      <p:sp>
        <p:nvSpPr>
          <p:cNvPr id="10" name="Shape 8"/>
          <p:cNvSpPr/>
          <p:nvPr/>
        </p:nvSpPr>
        <p:spPr>
          <a:xfrm>
            <a:off x="5961888" y="1568196"/>
            <a:ext cx="77724" cy="77724"/>
          </a:xfrm>
          <a:prstGeom prst="ellipse">
            <a:avLst/>
          </a:prstGeom>
          <a:solidFill>
            <a:srgbClr val="2D8C6F"/>
          </a:solidFill>
          <a:ln w="12700">
            <a:solidFill>
              <a:srgbClr val="2D8C6F"/>
            </a:solidFill>
            <a:prstDash val="solid"/>
          </a:ln>
        </p:spPr>
      </p:sp>
      <p:sp>
        <p:nvSpPr>
          <p:cNvPr id="11" name="Text 9"/>
          <p:cNvSpPr/>
          <p:nvPr/>
        </p:nvSpPr>
        <p:spPr>
          <a:xfrm>
            <a:off x="713232" y="1810512"/>
            <a:ext cx="5376672" cy="1728216"/>
          </a:xfrm>
          <a:prstGeom prst="rect">
            <a:avLst/>
          </a:prstGeom>
          <a:noFill/>
          <a:ln/>
        </p:spPr>
        <p:txBody>
          <a:bodyPr wrap="square" lIns="0" tIns="0" rIns="0" bIns="0" rtlCol="0" anchor="t"/>
          <a:lstStyle/>
          <a:p>
            <a:pPr marL="0" indent="0">
              <a:lnSpc>
                <a:spcPct val="102000"/>
              </a:lnSpc>
              <a:buNone/>
            </a:pPr>
            <a:r>
              <a:rPr lang="en-US" sz="1050" dirty="0">
                <a:solidFill>
                  <a:srgbClr val="8AD9C0"/>
                </a:solidFill>
                <a:latin typeface="Consolas" pitchFamily="34" charset="0"/>
                <a:ea typeface="Consolas" pitchFamily="34" charset="-122"/>
                <a:cs typeface="Consolas" pitchFamily="34" charset="-120"/>
              </a:rPr>
              <a:t>np</a:t>
            </a:r>
            <a:r>
              <a:rPr lang="en-US" sz="1050" dirty="0">
                <a:solidFill>
                  <a:srgbClr val="D6E6EF"/>
                </a:solidFill>
                <a:latin typeface="Consolas" pitchFamily="34" charset="0"/>
                <a:ea typeface="Consolas" pitchFamily="34" charset="-122"/>
                <a:cs typeface="Consolas" pitchFamily="34" charset="-120"/>
              </a:rPr>
              <a:t>.arange(</a:t>
            </a:r>
            <a:r>
              <a:rPr lang="en-US" sz="1050" dirty="0">
                <a:solidFill>
                  <a:srgbClr val="F08A7C"/>
                </a:solidFill>
                <a:latin typeface="Consolas" pitchFamily="34" charset="0"/>
                <a:ea typeface="Consolas" pitchFamily="34" charset="-122"/>
                <a:cs typeface="Consolas" pitchFamily="34" charset="-120"/>
              </a:rPr>
              <a:t>0</a:t>
            </a:r>
            <a:r>
              <a:rPr lang="en-US" sz="1050" dirty="0">
                <a:solidFill>
                  <a:srgbClr val="D6E6EF"/>
                </a:solidFill>
                <a:latin typeface="Consolas" pitchFamily="34" charset="0"/>
                <a:ea typeface="Consolas" pitchFamily="34" charset="-122"/>
                <a:cs typeface="Consolas" pitchFamily="34" charset="-120"/>
              </a:rPr>
              <a:t>, </a:t>
            </a:r>
            <a:r>
              <a:rPr lang="en-US" sz="1050" dirty="0">
                <a:solidFill>
                  <a:srgbClr val="F08A7C"/>
                </a:solidFill>
                <a:latin typeface="Consolas" pitchFamily="34" charset="0"/>
                <a:ea typeface="Consolas" pitchFamily="34" charset="-122"/>
                <a:cs typeface="Consolas" pitchFamily="34" charset="-120"/>
              </a:rPr>
              <a:t>10</a:t>
            </a:r>
            <a:r>
              <a:rPr lang="en-US" sz="1050" dirty="0">
                <a:solidFill>
                  <a:srgbClr val="D6E6EF"/>
                </a:solidFill>
                <a:latin typeface="Consolas" pitchFamily="34" charset="0"/>
                <a:ea typeface="Consolas" pitchFamily="34" charset="-122"/>
                <a:cs typeface="Consolas" pitchFamily="34" charset="-120"/>
              </a:rPr>
              <a:t>, </a:t>
            </a:r>
            <a:r>
              <a:rPr lang="en-US" sz="1050" dirty="0">
                <a:solidFill>
                  <a:srgbClr val="F08A7C"/>
                </a:solidFill>
                <a:latin typeface="Consolas" pitchFamily="34" charset="0"/>
                <a:ea typeface="Consolas" pitchFamily="34" charset="-122"/>
                <a:cs typeface="Consolas" pitchFamily="34" charset="-120"/>
              </a:rPr>
              <a:t>2</a:t>
            </a:r>
            <a:r>
              <a:rPr lang="en-US" sz="1050" dirty="0">
                <a:solidFill>
                  <a:srgbClr val="D6E6EF"/>
                </a:solidFill>
                <a:latin typeface="Consolas" pitchFamily="34" charset="0"/>
                <a:ea typeface="Consolas" pitchFamily="34" charset="-122"/>
                <a:cs typeface="Consolas" pitchFamily="34" charset="-120"/>
              </a:rPr>
              <a:t>)</a:t>
            </a:r>
            <a:endParaRPr lang="en-US" sz="1050" dirty="0"/>
          </a:p>
          <a:p>
            <a:pPr marL="0" indent="0">
              <a:lnSpc>
                <a:spcPct val="102000"/>
              </a:lnSpc>
              <a:buNone/>
            </a:pPr>
            <a:r>
              <a:rPr lang="en-US" sz="1050" dirty="0">
                <a:solidFill>
                  <a:srgbClr val="8AD9C0"/>
                </a:solidFill>
                <a:latin typeface="Consolas" pitchFamily="34" charset="0"/>
                <a:ea typeface="Consolas" pitchFamily="34" charset="-122"/>
                <a:cs typeface="Consolas" pitchFamily="34" charset="-120"/>
              </a:rPr>
              <a:t>np</a:t>
            </a:r>
            <a:r>
              <a:rPr lang="en-US" sz="1050" dirty="0">
                <a:solidFill>
                  <a:srgbClr val="D6E6EF"/>
                </a:solidFill>
                <a:latin typeface="Consolas" pitchFamily="34" charset="0"/>
                <a:ea typeface="Consolas" pitchFamily="34" charset="-122"/>
                <a:cs typeface="Consolas" pitchFamily="34" charset="-120"/>
              </a:rPr>
              <a:t>.arange(</a:t>
            </a:r>
            <a:r>
              <a:rPr lang="en-US" sz="1050" dirty="0">
                <a:solidFill>
                  <a:srgbClr val="F08A7C"/>
                </a:solidFill>
                <a:latin typeface="Consolas" pitchFamily="34" charset="0"/>
                <a:ea typeface="Consolas" pitchFamily="34" charset="-122"/>
                <a:cs typeface="Consolas" pitchFamily="34" charset="-120"/>
              </a:rPr>
              <a:t>4</a:t>
            </a:r>
            <a:r>
              <a:rPr lang="en-US" sz="1050" dirty="0">
                <a:solidFill>
                  <a:srgbClr val="D6E6EF"/>
                </a:solidFill>
                <a:latin typeface="Consolas" pitchFamily="34" charset="0"/>
                <a:ea typeface="Consolas" pitchFamily="34" charset="-122"/>
                <a:cs typeface="Consolas" pitchFamily="34" charset="-120"/>
              </a:rPr>
              <a:t>)</a:t>
            </a:r>
            <a:endParaRPr lang="en-US" sz="1050" dirty="0"/>
          </a:p>
          <a:p>
            <a:pPr marL="0" indent="0">
              <a:lnSpc>
                <a:spcPct val="102000"/>
              </a:lnSpc>
              <a:buNone/>
            </a:pPr>
            <a:r>
              <a:rPr lang="en-US" sz="1050" dirty="0">
                <a:solidFill>
                  <a:srgbClr val="D6E6EF"/>
                </a:solidFill>
                <a:latin typeface="Consolas" pitchFamily="34" charset="0"/>
                <a:ea typeface="Consolas" pitchFamily="34" charset="-122"/>
                <a:cs typeface="Consolas" pitchFamily="34" charset="-120"/>
              </a:rPr>
              <a:t> </a:t>
            </a:r>
            <a:endParaRPr lang="en-US" sz="1050" dirty="0"/>
          </a:p>
          <a:p>
            <a:pPr marL="0" indent="0">
              <a:lnSpc>
                <a:spcPct val="102000"/>
              </a:lnSpc>
              <a:buNone/>
            </a:pPr>
            <a:r>
              <a:rPr lang="en-US" sz="1050" dirty="0">
                <a:solidFill>
                  <a:srgbClr val="8AD9C0"/>
                </a:solidFill>
                <a:latin typeface="Consolas" pitchFamily="34" charset="0"/>
                <a:ea typeface="Consolas" pitchFamily="34" charset="-122"/>
                <a:cs typeface="Consolas" pitchFamily="34" charset="-120"/>
              </a:rPr>
              <a:t>np</a:t>
            </a:r>
            <a:r>
              <a:rPr lang="en-US" sz="1050" dirty="0">
                <a:solidFill>
                  <a:srgbClr val="D6E6EF"/>
                </a:solidFill>
                <a:latin typeface="Consolas" pitchFamily="34" charset="0"/>
                <a:ea typeface="Consolas" pitchFamily="34" charset="-122"/>
                <a:cs typeface="Consolas" pitchFamily="34" charset="-120"/>
              </a:rPr>
              <a:t>.linspace(</a:t>
            </a:r>
            <a:r>
              <a:rPr lang="en-US" sz="1050" dirty="0">
                <a:solidFill>
                  <a:srgbClr val="F08A7C"/>
                </a:solidFill>
                <a:latin typeface="Consolas" pitchFamily="34" charset="0"/>
                <a:ea typeface="Consolas" pitchFamily="34" charset="-122"/>
                <a:cs typeface="Consolas" pitchFamily="34" charset="-120"/>
              </a:rPr>
              <a:t>0</a:t>
            </a:r>
            <a:r>
              <a:rPr lang="en-US" sz="1050" dirty="0">
                <a:solidFill>
                  <a:srgbClr val="D6E6EF"/>
                </a:solidFill>
                <a:latin typeface="Consolas" pitchFamily="34" charset="0"/>
                <a:ea typeface="Consolas" pitchFamily="34" charset="-122"/>
                <a:cs typeface="Consolas" pitchFamily="34" charset="-120"/>
              </a:rPr>
              <a:t>, </a:t>
            </a:r>
            <a:r>
              <a:rPr lang="en-US" sz="1050" dirty="0">
                <a:solidFill>
                  <a:srgbClr val="F08A7C"/>
                </a:solidFill>
                <a:latin typeface="Consolas" pitchFamily="34" charset="0"/>
                <a:ea typeface="Consolas" pitchFamily="34" charset="-122"/>
                <a:cs typeface="Consolas" pitchFamily="34" charset="-120"/>
              </a:rPr>
              <a:t>1</a:t>
            </a:r>
            <a:r>
              <a:rPr lang="en-US" sz="1050" dirty="0">
                <a:solidFill>
                  <a:srgbClr val="D6E6EF"/>
                </a:solidFill>
                <a:latin typeface="Consolas" pitchFamily="34" charset="0"/>
                <a:ea typeface="Consolas" pitchFamily="34" charset="-122"/>
                <a:cs typeface="Consolas" pitchFamily="34" charset="-120"/>
              </a:rPr>
              <a:t>, </a:t>
            </a:r>
            <a:r>
              <a:rPr lang="en-US" sz="1050" dirty="0">
                <a:solidFill>
                  <a:srgbClr val="F08A7C"/>
                </a:solidFill>
                <a:latin typeface="Consolas" pitchFamily="34" charset="0"/>
                <a:ea typeface="Consolas" pitchFamily="34" charset="-122"/>
                <a:cs typeface="Consolas" pitchFamily="34" charset="-120"/>
              </a:rPr>
              <a:t>5</a:t>
            </a:r>
            <a:r>
              <a:rPr lang="en-US" sz="1050" dirty="0">
                <a:solidFill>
                  <a:srgbClr val="D6E6EF"/>
                </a:solidFill>
                <a:latin typeface="Consolas" pitchFamily="34" charset="0"/>
                <a:ea typeface="Consolas" pitchFamily="34" charset="-122"/>
                <a:cs typeface="Consolas" pitchFamily="34" charset="-120"/>
              </a:rPr>
              <a:t>)</a:t>
            </a:r>
            <a:endParaRPr lang="en-US" sz="1050" dirty="0"/>
          </a:p>
          <a:p>
            <a:pPr marL="0" indent="0">
              <a:lnSpc>
                <a:spcPct val="102000"/>
              </a:lnSpc>
              <a:buNone/>
            </a:pPr>
            <a:r>
              <a:rPr lang="en-US" sz="1050" dirty="0">
                <a:solidFill>
                  <a:srgbClr val="D6E6EF"/>
                </a:solidFill>
                <a:latin typeface="Consolas" pitchFamily="34" charset="0"/>
                <a:ea typeface="Consolas" pitchFamily="34" charset="-122"/>
                <a:cs typeface="Consolas" pitchFamily="34" charset="-120"/>
              </a:rPr>
              <a:t> </a:t>
            </a:r>
            <a:endParaRPr lang="en-US" sz="1050" dirty="0"/>
          </a:p>
          <a:p>
            <a:pPr marL="0" indent="0">
              <a:lnSpc>
                <a:spcPct val="102000"/>
              </a:lnSpc>
              <a:buNone/>
            </a:pPr>
            <a:r>
              <a:rPr lang="en-US" sz="1050" dirty="0">
                <a:solidFill>
                  <a:srgbClr val="8AD9C0"/>
                </a:solidFill>
                <a:latin typeface="Consolas" pitchFamily="34" charset="0"/>
                <a:ea typeface="Consolas" pitchFamily="34" charset="-122"/>
                <a:cs typeface="Consolas" pitchFamily="34" charset="-120"/>
              </a:rPr>
              <a:t>np</a:t>
            </a:r>
            <a:r>
              <a:rPr lang="en-US" sz="1050" dirty="0">
                <a:solidFill>
                  <a:srgbClr val="D6E6EF"/>
                </a:solidFill>
                <a:latin typeface="Consolas" pitchFamily="34" charset="0"/>
                <a:ea typeface="Consolas" pitchFamily="34" charset="-122"/>
                <a:cs typeface="Consolas" pitchFamily="34" charset="-120"/>
              </a:rPr>
              <a:t>.eye(</a:t>
            </a:r>
            <a:r>
              <a:rPr lang="en-US" sz="1050" dirty="0">
                <a:solidFill>
                  <a:srgbClr val="F08A7C"/>
                </a:solidFill>
                <a:latin typeface="Consolas" pitchFamily="34" charset="0"/>
                <a:ea typeface="Consolas" pitchFamily="34" charset="-122"/>
                <a:cs typeface="Consolas" pitchFamily="34" charset="-120"/>
              </a:rPr>
              <a:t>3</a:t>
            </a:r>
            <a:r>
              <a:rPr lang="en-US" sz="1050" dirty="0">
                <a:solidFill>
                  <a:srgbClr val="D6E6EF"/>
                </a:solidFill>
                <a:latin typeface="Consolas" pitchFamily="34" charset="0"/>
                <a:ea typeface="Consolas" pitchFamily="34" charset="-122"/>
                <a:cs typeface="Consolas" pitchFamily="34" charset="-120"/>
              </a:rPr>
              <a:t>)</a:t>
            </a:r>
            <a:endParaRPr lang="en-US" sz="1050" dirty="0"/>
          </a:p>
        </p:txBody>
      </p:sp>
      <p:sp>
        <p:nvSpPr>
          <p:cNvPr id="12" name="Shape 10"/>
          <p:cNvSpPr/>
          <p:nvPr/>
        </p:nvSpPr>
        <p:spPr>
          <a:xfrm>
            <a:off x="548640" y="3749040"/>
            <a:ext cx="5669280" cy="1600200"/>
          </a:xfrm>
          <a:prstGeom prst="roundRect">
            <a:avLst>
              <a:gd name="adj" fmla="val 2857"/>
            </a:avLst>
          </a:prstGeom>
          <a:solidFill>
            <a:srgbClr val="FFFFFF"/>
          </a:solidFill>
          <a:ln w="9525">
            <a:solidFill>
              <a:srgbClr val="CFE5EE"/>
            </a:solidFill>
            <a:prstDash val="solid"/>
          </a:ln>
        </p:spPr>
      </p:sp>
      <p:sp>
        <p:nvSpPr>
          <p:cNvPr id="13" name="Text 11"/>
          <p:cNvSpPr/>
          <p:nvPr/>
        </p:nvSpPr>
        <p:spPr>
          <a:xfrm>
            <a:off x="694944" y="3840480"/>
            <a:ext cx="5394960" cy="164592"/>
          </a:xfrm>
          <a:prstGeom prst="rect">
            <a:avLst/>
          </a:prstGeom>
          <a:noFill/>
          <a:ln/>
        </p:spPr>
        <p:txBody>
          <a:bodyPr wrap="square" lIns="0" tIns="0" rIns="0" bIns="0" rtlCol="0" anchor="t"/>
          <a:lstStyle/>
          <a:p>
            <a:pPr marL="0" indent="0">
              <a:buNone/>
            </a:pPr>
            <a:r>
              <a:rPr lang="en-US" sz="800" b="1" kern="0" spc="120" dirty="0">
                <a:solidFill>
                  <a:srgbClr val="2D8C6F"/>
                </a:solidFill>
                <a:latin typeface="Segoe UI" pitchFamily="34" charset="0"/>
                <a:ea typeface="Segoe UI" pitchFamily="34" charset="-122"/>
                <a:cs typeface="Segoe UI" pitchFamily="34" charset="-120"/>
              </a:rPr>
              <a:t>KẾT QUẢ</a:t>
            </a:r>
            <a:endParaRPr lang="en-US" sz="800" dirty="0"/>
          </a:p>
        </p:txBody>
      </p:sp>
      <p:sp>
        <p:nvSpPr>
          <p:cNvPr id="14" name="Text 12"/>
          <p:cNvSpPr/>
          <p:nvPr/>
        </p:nvSpPr>
        <p:spPr>
          <a:xfrm>
            <a:off x="694944" y="4059936"/>
            <a:ext cx="5394960" cy="1216152"/>
          </a:xfrm>
          <a:prstGeom prst="rect">
            <a:avLst/>
          </a:prstGeom>
          <a:noFill/>
          <a:ln/>
        </p:spPr>
        <p:txBody>
          <a:bodyPr wrap="square" lIns="0" tIns="0" rIns="0" bIns="0" rtlCol="0" anchor="t"/>
          <a:lstStyle/>
          <a:p>
            <a:pPr marL="0" indent="0">
              <a:lnSpc>
                <a:spcPct val="102000"/>
              </a:lnSpc>
              <a:buNone/>
            </a:pPr>
            <a:r>
              <a:rPr lang="en-US" sz="1000" dirty="0">
                <a:solidFill>
                  <a:srgbClr val="062A3A"/>
                </a:solidFill>
                <a:latin typeface="Consolas" pitchFamily="34" charset="0"/>
                <a:ea typeface="Consolas" pitchFamily="34" charset="-122"/>
                <a:cs typeface="Consolas" pitchFamily="34" charset="-120"/>
              </a:rPr>
              <a:t>[0 2 4 6 8]</a:t>
            </a:r>
            <a:endParaRPr lang="en-US" sz="1000" dirty="0"/>
          </a:p>
          <a:p>
            <a:pPr marL="0" indent="0">
              <a:lnSpc>
                <a:spcPct val="102000"/>
              </a:lnSpc>
              <a:buNone/>
            </a:pPr>
            <a:r>
              <a:rPr lang="en-US" sz="1000" dirty="0">
                <a:solidFill>
                  <a:srgbClr val="062A3A"/>
                </a:solidFill>
                <a:latin typeface="Consolas" pitchFamily="34" charset="0"/>
                <a:ea typeface="Consolas" pitchFamily="34" charset="-122"/>
                <a:cs typeface="Consolas" pitchFamily="34" charset="-120"/>
              </a:rPr>
              <a:t>[0 1 2 3]</a:t>
            </a:r>
            <a:endParaRPr lang="en-US" sz="1000" dirty="0"/>
          </a:p>
          <a:p>
            <a:pPr marL="0" indent="0">
              <a:lnSpc>
                <a:spcPct val="102000"/>
              </a:lnSpc>
              <a:buNone/>
            </a:pPr>
            <a:endParaRPr lang="en-US" sz="1000" dirty="0"/>
          </a:p>
          <a:p>
            <a:pPr marL="0" indent="0">
              <a:lnSpc>
                <a:spcPct val="102000"/>
              </a:lnSpc>
              <a:buNone/>
            </a:pPr>
            <a:r>
              <a:rPr lang="en-US" sz="1000" dirty="0">
                <a:solidFill>
                  <a:srgbClr val="062A3A"/>
                </a:solidFill>
                <a:latin typeface="Consolas" pitchFamily="34" charset="0"/>
                <a:ea typeface="Consolas" pitchFamily="34" charset="-122"/>
                <a:cs typeface="Consolas" pitchFamily="34" charset="-120"/>
              </a:rPr>
              <a:t>[0.   0.25 0.5  0.75 1.  ]</a:t>
            </a:r>
            <a:endParaRPr lang="en-US" sz="1000" dirty="0"/>
          </a:p>
          <a:p>
            <a:pPr marL="0" indent="0">
              <a:lnSpc>
                <a:spcPct val="102000"/>
              </a:lnSpc>
              <a:buNone/>
            </a:pPr>
            <a:endParaRPr lang="en-US" sz="1000" dirty="0"/>
          </a:p>
          <a:p>
            <a:pPr marL="0" indent="0">
              <a:lnSpc>
                <a:spcPct val="102000"/>
              </a:lnSpc>
              <a:buNone/>
            </a:pPr>
            <a:r>
              <a:rPr lang="en-US" sz="1000" dirty="0">
                <a:solidFill>
                  <a:srgbClr val="062A3A"/>
                </a:solidFill>
                <a:latin typeface="Consolas" pitchFamily="34" charset="0"/>
                <a:ea typeface="Consolas" pitchFamily="34" charset="-122"/>
                <a:cs typeface="Consolas" pitchFamily="34" charset="-120"/>
              </a:rPr>
              <a:t>[[1. 0. 0.]</a:t>
            </a:r>
            <a:endParaRPr lang="en-US" sz="1000" dirty="0"/>
          </a:p>
          <a:p>
            <a:pPr marL="0" indent="0">
              <a:lnSpc>
                <a:spcPct val="102000"/>
              </a:lnSpc>
              <a:buNone/>
            </a:pPr>
            <a:r>
              <a:rPr lang="en-US" sz="1000" dirty="0">
                <a:solidFill>
                  <a:srgbClr val="062A3A"/>
                </a:solidFill>
                <a:latin typeface="Consolas" pitchFamily="34" charset="0"/>
                <a:ea typeface="Consolas" pitchFamily="34" charset="-122"/>
                <a:cs typeface="Consolas" pitchFamily="34" charset="-120"/>
              </a:rPr>
              <a:t> [0. 1. 0.]</a:t>
            </a:r>
            <a:endParaRPr lang="en-US" sz="1000" dirty="0"/>
          </a:p>
          <a:p>
            <a:pPr marL="0" indent="0">
              <a:lnSpc>
                <a:spcPct val="102000"/>
              </a:lnSpc>
              <a:buNone/>
            </a:pPr>
            <a:r>
              <a:rPr lang="en-US" sz="1000" dirty="0">
                <a:solidFill>
                  <a:srgbClr val="062A3A"/>
                </a:solidFill>
                <a:latin typeface="Consolas" pitchFamily="34" charset="0"/>
                <a:ea typeface="Consolas" pitchFamily="34" charset="-122"/>
                <a:cs typeface="Consolas" pitchFamily="34" charset="-120"/>
              </a:rPr>
              <a:t> [0. 0. 1.]]</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46520" y="1463040"/>
          <a:ext cx="5166360" cy="2112264"/>
        </p:xfrm>
        <a:graphic>
          <a:graphicData uri="http://schemas.openxmlformats.org/drawingml/2006/table">
            <a:tbl>
              <a:tblPr/>
              <a:tblGrid>
                <a:gridCol w="14173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411480">
                <a:tc>
                  <a:txBody>
                    <a:bodyPr/>
                    <a:lstStyle/>
                    <a:p>
                      <a:pPr marL="0" indent="0">
                        <a:buNone/>
                      </a:pPr>
                      <a:r>
                        <a:rPr lang="en-US" sz="1050" b="1" dirty="0">
                          <a:solidFill>
                            <a:srgbClr val="FFFFFF"/>
                          </a:solidFill>
                          <a:latin typeface="Segoe UI" pitchFamily="34" charset="0"/>
                          <a:ea typeface="Segoe UI" pitchFamily="34" charset="-122"/>
                          <a:cs typeface="Segoe UI" pitchFamily="34" charset="-120"/>
                        </a:rPr>
                        <a:t>Hàm</a:t>
                      </a:r>
                      <a:endParaRPr lang="en-US" sz="1050" dirty="0">
                        <a:latin typeface="Segoe UI" charset="0"/>
                        <a:ea typeface="Segoe UI" charset="0"/>
                        <a:cs typeface="Segoe UI" charset="0"/>
                      </a:endParaRPr>
                    </a:p>
                  </a:txBody>
                  <a:tcPr marL="63500" marR="63500" marT="63500" marB="635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tc>
                  <a:txBody>
                    <a:bodyPr/>
                    <a:lstStyle/>
                    <a:p>
                      <a:pPr marL="0" indent="0">
                        <a:buNone/>
                      </a:pPr>
                      <a:r>
                        <a:rPr lang="en-US" sz="1050" b="1" dirty="0">
                          <a:solidFill>
                            <a:srgbClr val="FFFFFF"/>
                          </a:solidFill>
                          <a:latin typeface="Segoe UI" pitchFamily="34" charset="0"/>
                          <a:ea typeface="Segoe UI" pitchFamily="34" charset="-122"/>
                          <a:cs typeface="Segoe UI" pitchFamily="34" charset="-120"/>
                        </a:rPr>
                        <a:t>Dùng khi</a:t>
                      </a:r>
                      <a:endParaRPr lang="en-US" sz="1050" dirty="0">
                        <a:latin typeface="Segoe UI" charset="0"/>
                        <a:ea typeface="Segoe UI" charset="0"/>
                        <a:cs typeface="Segoe UI" charset="0"/>
                      </a:endParaRPr>
                    </a:p>
                  </a:txBody>
                  <a:tcPr marL="63500" marR="63500" marT="63500" marB="635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tc>
                  <a:txBody>
                    <a:bodyPr/>
                    <a:lstStyle/>
                    <a:p>
                      <a:pPr marL="0" indent="0">
                        <a:buNone/>
                      </a:pPr>
                      <a:r>
                        <a:rPr lang="en-US" sz="1050" b="1" dirty="0">
                          <a:solidFill>
                            <a:srgbClr val="FFFFFF"/>
                          </a:solidFill>
                          <a:latin typeface="Segoe UI" pitchFamily="34" charset="0"/>
                          <a:ea typeface="Segoe UI" pitchFamily="34" charset="-122"/>
                          <a:cs typeface="Segoe UI" pitchFamily="34" charset="-120"/>
                        </a:rPr>
                        <a:t>Điểm cần nhớ</a:t>
                      </a:r>
                      <a:endParaRPr lang="en-US" sz="1050" dirty="0">
                        <a:latin typeface="Segoe UI" charset="0"/>
                        <a:ea typeface="Segoe UI" charset="0"/>
                        <a:cs typeface="Segoe UI" charset="0"/>
                      </a:endParaRPr>
                    </a:p>
                  </a:txBody>
                  <a:tcPr marL="63500" marR="63500" marT="63500" marB="635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extLst>
                  <a:ext uri="{0D108BD9-81ED-4DB2-BD59-A6C34878D82A}">
                    <a16:rowId xmlns:a16="http://schemas.microsoft.com/office/drawing/2014/main" val="10000"/>
                  </a:ext>
                </a:extLst>
              </a:tr>
              <a:tr h="566928">
                <a:tc>
                  <a:txBody>
                    <a:bodyPr/>
                    <a:lstStyle/>
                    <a:p>
                      <a:pPr marL="0" indent="0">
                        <a:buNone/>
                      </a:pPr>
                      <a:r>
                        <a:rPr lang="en-US" sz="1000" b="1" dirty="0">
                          <a:solidFill>
                            <a:srgbClr val="062A3A"/>
                          </a:solidFill>
                          <a:latin typeface="Consolas" pitchFamily="34" charset="0"/>
                          <a:ea typeface="Consolas" pitchFamily="34" charset="-122"/>
                          <a:cs typeface="Consolas" pitchFamily="34" charset="-120"/>
                        </a:rPr>
                        <a:t>np.arange</a:t>
                      </a:r>
                      <a:endParaRPr lang="en-US" sz="1000" dirty="0">
                        <a:latin typeface="Consolas" charset="0"/>
                        <a:ea typeface="Consolas" charset="0"/>
                        <a:cs typeface="Consolas" charset="0"/>
                      </a:endParaRPr>
                    </a:p>
                  </a:txBody>
                  <a:tcPr marL="63500" marR="63500" marT="63500" marB="635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marL="0" indent="0">
                        <a:buNone/>
                      </a:pPr>
                      <a:r>
                        <a:rPr lang="en-US" sz="1000" dirty="0">
                          <a:solidFill>
                            <a:srgbClr val="415A6B"/>
                          </a:solidFill>
                          <a:latin typeface="Segoe UI" pitchFamily="34" charset="0"/>
                          <a:ea typeface="Segoe UI" pitchFamily="34" charset="-122"/>
                          <a:cs typeface="Segoe UI" pitchFamily="34" charset="-120"/>
                        </a:rPr>
                        <a:t>Dãy theo bước</a:t>
                      </a:r>
                      <a:endParaRPr lang="en-US" sz="1000" dirty="0">
                        <a:latin typeface="Segoe UI" charset="0"/>
                        <a:ea typeface="Segoe UI" charset="0"/>
                        <a:cs typeface="Segoe UI" charset="0"/>
                      </a:endParaRPr>
                    </a:p>
                  </a:txBody>
                  <a:tcPr marL="63500" marR="63500" marT="63500" marB="635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marL="0" indent="0">
                        <a:buNone/>
                      </a:pPr>
                      <a:r>
                        <a:rPr lang="en-US" sz="1000" dirty="0">
                          <a:solidFill>
                            <a:srgbClr val="415A6B"/>
                          </a:solidFill>
                          <a:latin typeface="Segoe UI" pitchFamily="34" charset="0"/>
                          <a:ea typeface="Segoe UI" pitchFamily="34" charset="-122"/>
                          <a:cs typeface="Segoe UI" pitchFamily="34" charset="-120"/>
                        </a:rPr>
                        <a:t>Không gồm stop</a:t>
                      </a:r>
                      <a:endParaRPr lang="en-US" sz="1000" dirty="0">
                        <a:latin typeface="Segoe UI" charset="0"/>
                        <a:ea typeface="Segoe UI" charset="0"/>
                        <a:cs typeface="Segoe UI" charset="0"/>
                      </a:endParaRPr>
                    </a:p>
                  </a:txBody>
                  <a:tcPr marL="63500" marR="63500" marT="63500" marB="635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000" b="1" dirty="0">
                          <a:solidFill>
                            <a:srgbClr val="062A3A"/>
                          </a:solidFill>
                          <a:latin typeface="Consolas" pitchFamily="34" charset="0"/>
                          <a:ea typeface="Consolas" pitchFamily="34" charset="-122"/>
                          <a:cs typeface="Consolas" pitchFamily="34" charset="-120"/>
                        </a:rPr>
                        <a:t>np.linspace</a:t>
                      </a:r>
                      <a:endParaRPr lang="en-US" sz="1000" dirty="0">
                        <a:latin typeface="Consolas" charset="0"/>
                        <a:ea typeface="Consolas" charset="0"/>
                        <a:cs typeface="Consolas" charset="0"/>
                      </a:endParaRPr>
                    </a:p>
                  </a:txBody>
                  <a:tcPr marL="63500" marR="63500" marT="63500" marB="635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marL="0" indent="0">
                        <a:buNone/>
                      </a:pPr>
                      <a:r>
                        <a:rPr lang="en-US" sz="1000" dirty="0">
                          <a:solidFill>
                            <a:srgbClr val="415A6B"/>
                          </a:solidFill>
                          <a:latin typeface="Segoe UI" pitchFamily="34" charset="0"/>
                          <a:ea typeface="Segoe UI" pitchFamily="34" charset="-122"/>
                          <a:cs typeface="Segoe UI" pitchFamily="34" charset="-120"/>
                        </a:rPr>
                        <a:t>num điểm chia đều</a:t>
                      </a:r>
                      <a:endParaRPr lang="en-US" sz="1000" dirty="0">
                        <a:latin typeface="Segoe UI" charset="0"/>
                        <a:ea typeface="Segoe UI" charset="0"/>
                        <a:cs typeface="Segoe UI" charset="0"/>
                      </a:endParaRPr>
                    </a:p>
                  </a:txBody>
                  <a:tcPr marL="63500" marR="63500" marT="63500" marB="635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marL="0" indent="0">
                        <a:buNone/>
                      </a:pPr>
                      <a:r>
                        <a:rPr lang="en-US" sz="1000" dirty="0">
                          <a:solidFill>
                            <a:srgbClr val="415A6B"/>
                          </a:solidFill>
                          <a:latin typeface="Segoe UI" pitchFamily="34" charset="0"/>
                          <a:ea typeface="Segoe UI" pitchFamily="34" charset="-122"/>
                          <a:cs typeface="Segoe UI" pitchFamily="34" charset="-120"/>
                        </a:rPr>
                        <a:t>Mặc định gồm stop</a:t>
                      </a:r>
                      <a:endParaRPr lang="en-US" sz="1000" dirty="0">
                        <a:latin typeface="Segoe UI" charset="0"/>
                        <a:ea typeface="Segoe UI" charset="0"/>
                        <a:cs typeface="Segoe UI" charset="0"/>
                      </a:endParaRPr>
                    </a:p>
                  </a:txBody>
                  <a:tcPr marL="63500" marR="63500" marT="63500" marB="635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extLst>
                  <a:ext uri="{0D108BD9-81ED-4DB2-BD59-A6C34878D82A}">
                    <a16:rowId xmlns:a16="http://schemas.microsoft.com/office/drawing/2014/main" val="10002"/>
                  </a:ext>
                </a:extLst>
              </a:tr>
              <a:tr h="566928">
                <a:tc>
                  <a:txBody>
                    <a:bodyPr/>
                    <a:lstStyle/>
                    <a:p>
                      <a:pPr marL="0" indent="0">
                        <a:buNone/>
                      </a:pPr>
                      <a:r>
                        <a:rPr lang="en-US" sz="1000" b="1" dirty="0">
                          <a:solidFill>
                            <a:srgbClr val="062A3A"/>
                          </a:solidFill>
                          <a:latin typeface="Consolas" pitchFamily="34" charset="0"/>
                          <a:ea typeface="Consolas" pitchFamily="34" charset="-122"/>
                          <a:cs typeface="Consolas" pitchFamily="34" charset="-120"/>
                        </a:rPr>
                        <a:t>np.eye</a:t>
                      </a:r>
                      <a:endParaRPr lang="en-US" sz="1000" dirty="0">
                        <a:latin typeface="Consolas" charset="0"/>
                        <a:ea typeface="Consolas" charset="0"/>
                        <a:cs typeface="Consolas" charset="0"/>
                      </a:endParaRPr>
                    </a:p>
                  </a:txBody>
                  <a:tcPr marL="63500" marR="63500" marT="63500" marB="635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marL="0" indent="0">
                        <a:buNone/>
                      </a:pPr>
                      <a:r>
                        <a:rPr lang="en-US" sz="1000" dirty="0">
                          <a:solidFill>
                            <a:srgbClr val="415A6B"/>
                          </a:solidFill>
                          <a:latin typeface="Segoe UI" pitchFamily="34" charset="0"/>
                          <a:ea typeface="Segoe UI" pitchFamily="34" charset="-122"/>
                          <a:cs typeface="Segoe UI" pitchFamily="34" charset="-120"/>
                        </a:rPr>
                        <a:t>Ma trận đơn vị</a:t>
                      </a:r>
                      <a:endParaRPr lang="en-US" sz="1000" dirty="0">
                        <a:latin typeface="Segoe UI" charset="0"/>
                        <a:ea typeface="Segoe UI" charset="0"/>
                        <a:cs typeface="Segoe UI" charset="0"/>
                      </a:endParaRPr>
                    </a:p>
                  </a:txBody>
                  <a:tcPr marL="63500" marR="63500" marT="63500" marB="635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marL="0" indent="0">
                        <a:buNone/>
                      </a:pPr>
                      <a:r>
                        <a:rPr lang="en-US" sz="1000" dirty="0">
                          <a:solidFill>
                            <a:srgbClr val="415A6B"/>
                          </a:solidFill>
                          <a:latin typeface="Segoe UI" pitchFamily="34" charset="0"/>
                          <a:ea typeface="Segoe UI" pitchFamily="34" charset="-122"/>
                          <a:cs typeface="Segoe UI" pitchFamily="34" charset="-120"/>
                        </a:rPr>
                        <a:t>Đường chéo chính bằng 1</a:t>
                      </a:r>
                      <a:endParaRPr lang="en-US" sz="1000" dirty="0">
                        <a:latin typeface="Segoe UI" charset="0"/>
                        <a:ea typeface="Segoe UI" charset="0"/>
                        <a:cs typeface="Segoe UI" charset="0"/>
                      </a:endParaRPr>
                    </a:p>
                  </a:txBody>
                  <a:tcPr marL="63500" marR="63500" marT="63500" marB="635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6" name="Shape 13"/>
          <p:cNvSpPr/>
          <p:nvPr/>
        </p:nvSpPr>
        <p:spPr>
          <a:xfrm>
            <a:off x="6446520" y="3675888"/>
            <a:ext cx="5166360" cy="1719072"/>
          </a:xfrm>
          <a:prstGeom prst="roundRect">
            <a:avLst>
              <a:gd name="adj" fmla="val 3191"/>
            </a:avLst>
          </a:prstGeom>
          <a:solidFill>
            <a:srgbClr val="EAF4F8"/>
          </a:solidFill>
          <a:ln w="9525">
            <a:solidFill>
              <a:srgbClr val="CFE5EE"/>
            </a:solidFill>
            <a:prstDash val="solid"/>
          </a:ln>
        </p:spPr>
      </p:sp>
      <p:sp>
        <p:nvSpPr>
          <p:cNvPr id="17" name="Text 14"/>
          <p:cNvSpPr/>
          <p:nvPr/>
        </p:nvSpPr>
        <p:spPr>
          <a:xfrm>
            <a:off x="6675120" y="3794760"/>
            <a:ext cx="4572000" cy="256032"/>
          </a:xfrm>
          <a:prstGeom prst="rect">
            <a:avLst/>
          </a:prstGeom>
          <a:noFill/>
          <a:ln/>
        </p:spPr>
        <p:txBody>
          <a:bodyPr wrap="square" lIns="0" tIns="0" rIns="0" bIns="0" rtlCol="0" anchor="t"/>
          <a:lstStyle/>
          <a:p>
            <a:pPr marL="0" indent="0">
              <a:buNone/>
            </a:pPr>
            <a:r>
              <a:rPr lang="en-US" sz="1150" b="1" dirty="0">
                <a:solidFill>
                  <a:srgbClr val="062A3A"/>
                </a:solidFill>
                <a:latin typeface="Segoe UI" pitchFamily="34" charset="0"/>
                <a:ea typeface="Segoe UI" pitchFamily="34" charset="-122"/>
                <a:cs typeface="Segoe UI" pitchFamily="34" charset="-120"/>
              </a:rPr>
              <a:t>Phân biệt nhanh</a:t>
            </a:r>
            <a:endParaRPr lang="en-US" sz="1150" dirty="0"/>
          </a:p>
        </p:txBody>
      </p:sp>
      <p:sp>
        <p:nvSpPr>
          <p:cNvPr id="18" name="Text 15"/>
          <p:cNvSpPr/>
          <p:nvPr/>
        </p:nvSpPr>
        <p:spPr>
          <a:xfrm>
            <a:off x="6675120" y="4096512"/>
            <a:ext cx="4709160" cy="1234440"/>
          </a:xfrm>
          <a:prstGeom prst="rect">
            <a:avLst/>
          </a:prstGeom>
          <a:noFill/>
          <a:ln/>
        </p:spPr>
        <p:txBody>
          <a:bodyPr wrap="square" lIns="0" tIns="0" rIns="0" bIns="0" rtlCol="0" anchor="t"/>
          <a:lstStyle/>
          <a:p>
            <a:pPr marL="0" indent="0">
              <a:lnSpc>
                <a:spcPct val="115000"/>
              </a:lnSpc>
              <a:buNone/>
            </a:pPr>
            <a:r>
              <a:rPr lang="en-US" sz="980" dirty="0">
                <a:solidFill>
                  <a:srgbClr val="415A6B"/>
                </a:solidFill>
                <a:latin typeface="Segoe UI" pitchFamily="34" charset="0"/>
                <a:ea typeface="Segoe UI" pitchFamily="34" charset="-122"/>
                <a:cs typeface="Segoe UI" pitchFamily="34" charset="-120"/>
              </a:rPr>
              <a:t>•  arange quan tâm “bước nhảy”, không lấy stop.</a:t>
            </a:r>
            <a:endParaRPr lang="en-US" sz="980" dirty="0"/>
          </a:p>
          <a:p>
            <a:pPr marL="0" indent="0">
              <a:lnSpc>
                <a:spcPct val="115000"/>
              </a:lnSpc>
              <a:buNone/>
            </a:pPr>
            <a:r>
              <a:rPr lang="en-US" sz="980" dirty="0">
                <a:solidFill>
                  <a:srgbClr val="415A6B"/>
                </a:solidFill>
                <a:latin typeface="Segoe UI" pitchFamily="34" charset="0"/>
                <a:ea typeface="Segoe UI" pitchFamily="34" charset="-122"/>
                <a:cs typeface="Segoe UI" pitchFamily="34" charset="-120"/>
              </a:rPr>
              <a:t>•  linspace quan tâm “số điểm”, mặc định lấy cả hai đầu.</a:t>
            </a:r>
            <a:endParaRPr lang="en-US" sz="980" dirty="0"/>
          </a:p>
          <a:p>
            <a:pPr marL="0" indent="0">
              <a:lnSpc>
                <a:spcPct val="115000"/>
              </a:lnSpc>
              <a:buNone/>
            </a:pPr>
            <a:r>
              <a:rPr lang="en-US" sz="980" dirty="0">
                <a:solidFill>
                  <a:srgbClr val="415A6B"/>
                </a:solidFill>
                <a:latin typeface="Segoe UI" pitchFamily="34" charset="0"/>
                <a:ea typeface="Segoe UI" pitchFamily="34" charset="-122"/>
                <a:cs typeface="Segoe UI" pitchFamily="34" charset="-120"/>
              </a:rPr>
              <a:t>•  eye(n) tạo ma trận vuông n × n, đường chéo bằng 1.</a:t>
            </a:r>
            <a:endParaRPr lang="en-US" sz="980" dirty="0"/>
          </a:p>
        </p:txBody>
      </p:sp>
      <p:sp>
        <p:nvSpPr>
          <p:cNvPr id="19" name="Shape 16"/>
          <p:cNvSpPr/>
          <p:nvPr/>
        </p:nvSpPr>
        <p:spPr>
          <a:xfrm>
            <a:off x="548640" y="6391656"/>
            <a:ext cx="11091672" cy="9144"/>
          </a:xfrm>
          <a:prstGeom prst="rect">
            <a:avLst/>
          </a:prstGeom>
          <a:solidFill>
            <a:srgbClr val="D7E5EC"/>
          </a:solidFill>
          <a:ln w="12700">
            <a:solidFill>
              <a:srgbClr val="D7E5EC"/>
            </a:solidFill>
            <a:prstDash val="solid"/>
          </a:ln>
        </p:spPr>
      </p:sp>
      <p:sp>
        <p:nvSpPr>
          <p:cNvPr id="20" name="Text 17"/>
          <p:cNvSpPr/>
          <p:nvPr/>
        </p:nvSpPr>
        <p:spPr>
          <a:xfrm>
            <a:off x="548640" y="6473952"/>
            <a:ext cx="7772400" cy="182880"/>
          </a:xfrm>
          <a:prstGeom prst="rect">
            <a:avLst/>
          </a:prstGeom>
          <a:noFill/>
          <a:ln/>
        </p:spPr>
        <p:txBody>
          <a:bodyPr wrap="square" lIns="0" tIns="0" rIns="0" bIns="0" rtlCol="0" anchor="t"/>
          <a:lstStyle/>
          <a:p>
            <a:pPr marL="0" indent="0">
              <a:buNone/>
            </a:pPr>
            <a:r>
              <a:rPr lang="en-US" sz="850" dirty="0">
                <a:solidFill>
                  <a:srgbClr val="728694"/>
                </a:solidFill>
                <a:latin typeface="Segoe UI" pitchFamily="34" charset="0"/>
                <a:ea typeface="Segoe UI" pitchFamily="34" charset="-122"/>
                <a:cs typeface="Segoe UI" pitchFamily="34" charset="-120"/>
              </a:rPr>
              <a:t>Tìm hiểu thư viện NumPy trong Python</a:t>
            </a:r>
            <a:endParaRPr lang="en-US" sz="850" dirty="0"/>
          </a:p>
        </p:txBody>
      </p:sp>
      <p:sp>
        <p:nvSpPr>
          <p:cNvPr id="21" name="Text 18"/>
          <p:cNvSpPr/>
          <p:nvPr/>
        </p:nvSpPr>
        <p:spPr>
          <a:xfrm>
            <a:off x="10698480" y="6473952"/>
            <a:ext cx="941832" cy="182880"/>
          </a:xfrm>
          <a:prstGeom prst="rect">
            <a:avLst/>
          </a:prstGeom>
          <a:noFill/>
          <a:ln/>
        </p:spPr>
        <p:txBody>
          <a:bodyPr wrap="square" lIns="0" tIns="0" rIns="0" bIns="0" rtlCol="0" anchor="t"/>
          <a:lstStyle/>
          <a:p>
            <a:pPr marL="0" indent="0" algn="r">
              <a:buNone/>
            </a:pPr>
            <a:r>
              <a:rPr lang="en-US" sz="850" dirty="0">
                <a:solidFill>
                  <a:srgbClr val="728694"/>
                </a:solidFill>
                <a:latin typeface="Segoe UI" pitchFamily="34" charset="0"/>
                <a:ea typeface="Segoe UI" pitchFamily="34" charset="-122"/>
                <a:cs typeface="Segoe UI" pitchFamily="34" charset="-120"/>
              </a:rPr>
              <a:t>12 / 25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301752"/>
            <a:ext cx="10881360" cy="201168"/>
          </a:xfrm>
          <a:prstGeom prst="rect">
            <a:avLst/>
          </a:prstGeom>
          <a:noFill/>
          <a:ln/>
        </p:spPr>
        <p:txBody>
          <a:bodyPr wrap="square" lIns="0" tIns="0" rIns="0" bIns="0" rtlCol="0" anchor="t"/>
          <a:lstStyle/>
          <a:p>
            <a:pPr marL="0" indent="0">
              <a:buNone/>
            </a:pPr>
            <a:r>
              <a:rPr lang="en-US" sz="950" b="1" kern="0" spc="160" dirty="0">
                <a:solidFill>
                  <a:srgbClr val="1B8EA8"/>
                </a:solidFill>
                <a:latin typeface="Segoe UI" pitchFamily="34" charset="0"/>
                <a:ea typeface="Segoe UI" pitchFamily="34" charset="-122"/>
                <a:cs typeface="Segoe UI" pitchFamily="34" charset="-120"/>
              </a:rPr>
              <a:t>04 · TRUY CẬP DỮ LIỆU</a:t>
            </a:r>
            <a:endParaRPr lang="en-US" sz="950" dirty="0"/>
          </a:p>
        </p:txBody>
      </p:sp>
      <p:sp>
        <p:nvSpPr>
          <p:cNvPr id="3" name="Text 1"/>
          <p:cNvSpPr/>
          <p:nvPr/>
        </p:nvSpPr>
        <p:spPr>
          <a:xfrm>
            <a:off x="548640" y="502920"/>
            <a:ext cx="10881360" cy="640080"/>
          </a:xfrm>
          <a:prstGeom prst="rect">
            <a:avLst/>
          </a:prstGeom>
          <a:noFill/>
          <a:ln/>
        </p:spPr>
        <p:txBody>
          <a:bodyPr wrap="square" lIns="0" tIns="0" rIns="0" bIns="0" rtlCol="0" anchor="ctr"/>
          <a:lstStyle/>
          <a:p>
            <a:pPr marL="0" indent="0">
              <a:buNone/>
            </a:pPr>
            <a:r>
              <a:rPr lang="en-US" sz="2800" b="1" dirty="0">
                <a:solidFill>
                  <a:srgbClr val="062A3A"/>
                </a:solidFill>
                <a:latin typeface="Segoe UI" pitchFamily="34" charset="0"/>
                <a:ea typeface="Segoe UI" pitchFamily="34" charset="-122"/>
                <a:cs typeface="Segoe UI" pitchFamily="34" charset="-120"/>
              </a:rPr>
              <a:t>Indexing và slicing mảng 1-D</a:t>
            </a:r>
            <a:endParaRPr lang="en-US" sz="2800" dirty="0"/>
          </a:p>
        </p:txBody>
      </p:sp>
      <p:sp>
        <p:nvSpPr>
          <p:cNvPr id="4" name="Shape 2"/>
          <p:cNvSpPr/>
          <p:nvPr/>
        </p:nvSpPr>
        <p:spPr>
          <a:xfrm>
            <a:off x="548640" y="1225296"/>
            <a:ext cx="868680" cy="41148"/>
          </a:xfrm>
          <a:prstGeom prst="rect">
            <a:avLst/>
          </a:prstGeom>
          <a:solidFill>
            <a:srgbClr val="1B8EA8"/>
          </a:solidFill>
          <a:ln w="12700">
            <a:solidFill>
              <a:srgbClr val="1B8EA8"/>
            </a:solidFill>
            <a:prstDash val="solid"/>
          </a:ln>
        </p:spPr>
      </p:sp>
      <p:sp>
        <p:nvSpPr>
          <p:cNvPr id="5" name="Shape 3"/>
          <p:cNvSpPr/>
          <p:nvPr/>
        </p:nvSpPr>
        <p:spPr>
          <a:xfrm>
            <a:off x="685800" y="2148840"/>
            <a:ext cx="566928" cy="566928"/>
          </a:xfrm>
          <a:prstGeom prst="rect">
            <a:avLst/>
          </a:prstGeom>
          <a:solidFill>
            <a:srgbClr val="EAF4F8"/>
          </a:solidFill>
          <a:ln w="9525">
            <a:solidFill>
              <a:srgbClr val="A9CDDB"/>
            </a:solidFill>
            <a:prstDash val="solid"/>
          </a:ln>
        </p:spPr>
      </p:sp>
      <p:sp>
        <p:nvSpPr>
          <p:cNvPr id="6" name="Text 4"/>
          <p:cNvSpPr/>
          <p:nvPr/>
        </p:nvSpPr>
        <p:spPr>
          <a:xfrm>
            <a:off x="685800" y="2148840"/>
            <a:ext cx="566928" cy="566928"/>
          </a:xfrm>
          <a:prstGeom prst="rect">
            <a:avLst/>
          </a:prstGeom>
          <a:noFill/>
          <a:ln/>
        </p:spPr>
        <p:txBody>
          <a:bodyPr wrap="square" lIns="0" tIns="0" rIns="0" bIns="0" rtlCol="0" anchor="ctr"/>
          <a:lstStyle/>
          <a:p>
            <a:pPr marL="0" indent="0" algn="ctr">
              <a:buNone/>
            </a:pPr>
            <a:r>
              <a:rPr lang="en-US" sz="1200" dirty="0">
                <a:solidFill>
                  <a:srgbClr val="062A3A"/>
                </a:solidFill>
                <a:latin typeface="Consolas" pitchFamily="34" charset="0"/>
                <a:ea typeface="Consolas" pitchFamily="34" charset="-122"/>
                <a:cs typeface="Consolas" pitchFamily="34" charset="-120"/>
              </a:rPr>
              <a:t>0</a:t>
            </a:r>
            <a:endParaRPr lang="en-US" sz="1200" dirty="0"/>
          </a:p>
        </p:txBody>
      </p:sp>
      <p:sp>
        <p:nvSpPr>
          <p:cNvPr id="7" name="Text 5"/>
          <p:cNvSpPr/>
          <p:nvPr/>
        </p:nvSpPr>
        <p:spPr>
          <a:xfrm>
            <a:off x="685800" y="1874520"/>
            <a:ext cx="566928" cy="201168"/>
          </a:xfrm>
          <a:prstGeom prst="rect">
            <a:avLst/>
          </a:prstGeom>
          <a:noFill/>
          <a:ln/>
        </p:spPr>
        <p:txBody>
          <a:bodyPr wrap="square" lIns="0" tIns="0" rIns="0" bIns="0" rtlCol="0" anchor="t"/>
          <a:lstStyle/>
          <a:p>
            <a:pPr marL="0" indent="0" algn="ctr">
              <a:buNone/>
            </a:pPr>
            <a:r>
              <a:rPr lang="en-US" sz="900" dirty="0">
                <a:solidFill>
                  <a:srgbClr val="1B8EA8"/>
                </a:solidFill>
                <a:latin typeface="Consolas" pitchFamily="34" charset="0"/>
                <a:ea typeface="Consolas" pitchFamily="34" charset="-122"/>
                <a:cs typeface="Consolas" pitchFamily="34" charset="-120"/>
              </a:rPr>
              <a:t>0</a:t>
            </a:r>
            <a:endParaRPr lang="en-US" sz="900" dirty="0"/>
          </a:p>
        </p:txBody>
      </p:sp>
      <p:sp>
        <p:nvSpPr>
          <p:cNvPr id="8" name="Text 6"/>
          <p:cNvSpPr/>
          <p:nvPr/>
        </p:nvSpPr>
        <p:spPr>
          <a:xfrm>
            <a:off x="685800" y="2807208"/>
            <a:ext cx="566928" cy="201168"/>
          </a:xfrm>
          <a:prstGeom prst="rect">
            <a:avLst/>
          </a:prstGeom>
          <a:noFill/>
          <a:ln/>
        </p:spPr>
        <p:txBody>
          <a:bodyPr wrap="square" lIns="0" tIns="0" rIns="0" bIns="0" rtlCol="0" anchor="t"/>
          <a:lstStyle/>
          <a:p>
            <a:pPr marL="0" indent="0" algn="ctr">
              <a:buNone/>
            </a:pPr>
            <a:r>
              <a:rPr lang="en-US" sz="900" dirty="0">
                <a:solidFill>
                  <a:srgbClr val="D96C5F"/>
                </a:solidFill>
                <a:latin typeface="Consolas" pitchFamily="34" charset="0"/>
                <a:ea typeface="Consolas" pitchFamily="34" charset="-122"/>
                <a:cs typeface="Consolas" pitchFamily="34" charset="-120"/>
              </a:rPr>
              <a:t>-6</a:t>
            </a:r>
            <a:endParaRPr lang="en-US" sz="900" dirty="0"/>
          </a:p>
        </p:txBody>
      </p:sp>
      <p:sp>
        <p:nvSpPr>
          <p:cNvPr id="9" name="Shape 7"/>
          <p:cNvSpPr/>
          <p:nvPr/>
        </p:nvSpPr>
        <p:spPr>
          <a:xfrm>
            <a:off x="1252728" y="2148840"/>
            <a:ext cx="566928" cy="566928"/>
          </a:xfrm>
          <a:prstGeom prst="rect">
            <a:avLst/>
          </a:prstGeom>
          <a:solidFill>
            <a:srgbClr val="4DB8D4"/>
          </a:solidFill>
          <a:ln w="9525">
            <a:solidFill>
              <a:srgbClr val="A9CDDB"/>
            </a:solidFill>
            <a:prstDash val="solid"/>
          </a:ln>
        </p:spPr>
      </p:sp>
      <p:sp>
        <p:nvSpPr>
          <p:cNvPr id="10" name="Text 8"/>
          <p:cNvSpPr/>
          <p:nvPr/>
        </p:nvSpPr>
        <p:spPr>
          <a:xfrm>
            <a:off x="1252728" y="2148840"/>
            <a:ext cx="566928"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onsolas" pitchFamily="34" charset="0"/>
                <a:ea typeface="Consolas" pitchFamily="34" charset="-122"/>
                <a:cs typeface="Consolas" pitchFamily="34" charset="-120"/>
              </a:rPr>
              <a:t>10</a:t>
            </a:r>
            <a:endParaRPr lang="en-US" sz="1200" dirty="0"/>
          </a:p>
        </p:txBody>
      </p:sp>
      <p:sp>
        <p:nvSpPr>
          <p:cNvPr id="11" name="Text 9"/>
          <p:cNvSpPr/>
          <p:nvPr/>
        </p:nvSpPr>
        <p:spPr>
          <a:xfrm>
            <a:off x="1252728" y="1874520"/>
            <a:ext cx="566928" cy="201168"/>
          </a:xfrm>
          <a:prstGeom prst="rect">
            <a:avLst/>
          </a:prstGeom>
          <a:noFill/>
          <a:ln/>
        </p:spPr>
        <p:txBody>
          <a:bodyPr wrap="square" lIns="0" tIns="0" rIns="0" bIns="0" rtlCol="0" anchor="t"/>
          <a:lstStyle/>
          <a:p>
            <a:pPr marL="0" indent="0" algn="ctr">
              <a:buNone/>
            </a:pPr>
            <a:r>
              <a:rPr lang="en-US" sz="900" dirty="0">
                <a:solidFill>
                  <a:srgbClr val="1B8EA8"/>
                </a:solidFill>
                <a:latin typeface="Consolas" pitchFamily="34" charset="0"/>
                <a:ea typeface="Consolas" pitchFamily="34" charset="-122"/>
                <a:cs typeface="Consolas" pitchFamily="34" charset="-120"/>
              </a:rPr>
              <a:t>1</a:t>
            </a:r>
            <a:endParaRPr lang="en-US" sz="900" dirty="0"/>
          </a:p>
        </p:txBody>
      </p:sp>
      <p:sp>
        <p:nvSpPr>
          <p:cNvPr id="12" name="Text 10"/>
          <p:cNvSpPr/>
          <p:nvPr/>
        </p:nvSpPr>
        <p:spPr>
          <a:xfrm>
            <a:off x="1252728" y="2807208"/>
            <a:ext cx="566928" cy="201168"/>
          </a:xfrm>
          <a:prstGeom prst="rect">
            <a:avLst/>
          </a:prstGeom>
          <a:noFill/>
          <a:ln/>
        </p:spPr>
        <p:txBody>
          <a:bodyPr wrap="square" lIns="0" tIns="0" rIns="0" bIns="0" rtlCol="0" anchor="t"/>
          <a:lstStyle/>
          <a:p>
            <a:pPr marL="0" indent="0" algn="ctr">
              <a:buNone/>
            </a:pPr>
            <a:r>
              <a:rPr lang="en-US" sz="900" dirty="0">
                <a:solidFill>
                  <a:srgbClr val="D96C5F"/>
                </a:solidFill>
                <a:latin typeface="Consolas" pitchFamily="34" charset="0"/>
                <a:ea typeface="Consolas" pitchFamily="34" charset="-122"/>
                <a:cs typeface="Consolas" pitchFamily="34" charset="-120"/>
              </a:rPr>
              <a:t>-5</a:t>
            </a:r>
            <a:endParaRPr lang="en-US" sz="900" dirty="0"/>
          </a:p>
        </p:txBody>
      </p:sp>
      <p:sp>
        <p:nvSpPr>
          <p:cNvPr id="13" name="Shape 11"/>
          <p:cNvSpPr/>
          <p:nvPr/>
        </p:nvSpPr>
        <p:spPr>
          <a:xfrm>
            <a:off x="1819656" y="2148840"/>
            <a:ext cx="566928" cy="566928"/>
          </a:xfrm>
          <a:prstGeom prst="rect">
            <a:avLst/>
          </a:prstGeom>
          <a:solidFill>
            <a:srgbClr val="EAF4F8"/>
          </a:solidFill>
          <a:ln w="9525">
            <a:solidFill>
              <a:srgbClr val="A9CDDB"/>
            </a:solidFill>
            <a:prstDash val="solid"/>
          </a:ln>
        </p:spPr>
      </p:sp>
      <p:sp>
        <p:nvSpPr>
          <p:cNvPr id="14" name="Text 12"/>
          <p:cNvSpPr/>
          <p:nvPr/>
        </p:nvSpPr>
        <p:spPr>
          <a:xfrm>
            <a:off x="1819656" y="2148840"/>
            <a:ext cx="566928" cy="566928"/>
          </a:xfrm>
          <a:prstGeom prst="rect">
            <a:avLst/>
          </a:prstGeom>
          <a:noFill/>
          <a:ln/>
        </p:spPr>
        <p:txBody>
          <a:bodyPr wrap="square" lIns="0" tIns="0" rIns="0" bIns="0" rtlCol="0" anchor="ctr"/>
          <a:lstStyle/>
          <a:p>
            <a:pPr marL="0" indent="0" algn="ctr">
              <a:buNone/>
            </a:pPr>
            <a:r>
              <a:rPr lang="en-US" sz="1200" dirty="0">
                <a:solidFill>
                  <a:srgbClr val="062A3A"/>
                </a:solidFill>
                <a:latin typeface="Consolas" pitchFamily="34" charset="0"/>
                <a:ea typeface="Consolas" pitchFamily="34" charset="-122"/>
                <a:cs typeface="Consolas" pitchFamily="34" charset="-120"/>
              </a:rPr>
              <a:t>20</a:t>
            </a:r>
            <a:endParaRPr lang="en-US" sz="1200" dirty="0"/>
          </a:p>
        </p:txBody>
      </p:sp>
      <p:sp>
        <p:nvSpPr>
          <p:cNvPr id="15" name="Text 13"/>
          <p:cNvSpPr/>
          <p:nvPr/>
        </p:nvSpPr>
        <p:spPr>
          <a:xfrm>
            <a:off x="1819656" y="1874520"/>
            <a:ext cx="566928" cy="201168"/>
          </a:xfrm>
          <a:prstGeom prst="rect">
            <a:avLst/>
          </a:prstGeom>
          <a:noFill/>
          <a:ln/>
        </p:spPr>
        <p:txBody>
          <a:bodyPr wrap="square" lIns="0" tIns="0" rIns="0" bIns="0" rtlCol="0" anchor="t"/>
          <a:lstStyle/>
          <a:p>
            <a:pPr marL="0" indent="0" algn="ctr">
              <a:buNone/>
            </a:pPr>
            <a:r>
              <a:rPr lang="en-US" sz="900" dirty="0">
                <a:solidFill>
                  <a:srgbClr val="1B8EA8"/>
                </a:solidFill>
                <a:latin typeface="Consolas" pitchFamily="34" charset="0"/>
                <a:ea typeface="Consolas" pitchFamily="34" charset="-122"/>
                <a:cs typeface="Consolas" pitchFamily="34" charset="-120"/>
              </a:rPr>
              <a:t>2</a:t>
            </a:r>
            <a:endParaRPr lang="en-US" sz="900" dirty="0"/>
          </a:p>
        </p:txBody>
      </p:sp>
      <p:sp>
        <p:nvSpPr>
          <p:cNvPr id="16" name="Text 14"/>
          <p:cNvSpPr/>
          <p:nvPr/>
        </p:nvSpPr>
        <p:spPr>
          <a:xfrm>
            <a:off x="1819656" y="2807208"/>
            <a:ext cx="566928" cy="201168"/>
          </a:xfrm>
          <a:prstGeom prst="rect">
            <a:avLst/>
          </a:prstGeom>
          <a:noFill/>
          <a:ln/>
        </p:spPr>
        <p:txBody>
          <a:bodyPr wrap="square" lIns="0" tIns="0" rIns="0" bIns="0" rtlCol="0" anchor="t"/>
          <a:lstStyle/>
          <a:p>
            <a:pPr marL="0" indent="0" algn="ctr">
              <a:buNone/>
            </a:pPr>
            <a:r>
              <a:rPr lang="en-US" sz="900" dirty="0">
                <a:solidFill>
                  <a:srgbClr val="D96C5F"/>
                </a:solidFill>
                <a:latin typeface="Consolas" pitchFamily="34" charset="0"/>
                <a:ea typeface="Consolas" pitchFamily="34" charset="-122"/>
                <a:cs typeface="Consolas" pitchFamily="34" charset="-120"/>
              </a:rPr>
              <a:t>-4</a:t>
            </a:r>
            <a:endParaRPr lang="en-US" sz="900" dirty="0"/>
          </a:p>
        </p:txBody>
      </p:sp>
      <p:sp>
        <p:nvSpPr>
          <p:cNvPr id="17" name="Shape 15"/>
          <p:cNvSpPr/>
          <p:nvPr/>
        </p:nvSpPr>
        <p:spPr>
          <a:xfrm>
            <a:off x="2386584" y="2148840"/>
            <a:ext cx="566928" cy="566928"/>
          </a:xfrm>
          <a:prstGeom prst="rect">
            <a:avLst/>
          </a:prstGeom>
          <a:solidFill>
            <a:srgbClr val="EAF4F8"/>
          </a:solidFill>
          <a:ln w="9525">
            <a:solidFill>
              <a:srgbClr val="A9CDDB"/>
            </a:solidFill>
            <a:prstDash val="solid"/>
          </a:ln>
        </p:spPr>
      </p:sp>
      <p:sp>
        <p:nvSpPr>
          <p:cNvPr id="18" name="Text 16"/>
          <p:cNvSpPr/>
          <p:nvPr/>
        </p:nvSpPr>
        <p:spPr>
          <a:xfrm>
            <a:off x="2386584" y="2148840"/>
            <a:ext cx="566928" cy="566928"/>
          </a:xfrm>
          <a:prstGeom prst="rect">
            <a:avLst/>
          </a:prstGeom>
          <a:noFill/>
          <a:ln/>
        </p:spPr>
        <p:txBody>
          <a:bodyPr wrap="square" lIns="0" tIns="0" rIns="0" bIns="0" rtlCol="0" anchor="ctr"/>
          <a:lstStyle/>
          <a:p>
            <a:pPr marL="0" indent="0" algn="ctr">
              <a:buNone/>
            </a:pPr>
            <a:r>
              <a:rPr lang="en-US" sz="1200" dirty="0">
                <a:solidFill>
                  <a:srgbClr val="062A3A"/>
                </a:solidFill>
                <a:latin typeface="Consolas" pitchFamily="34" charset="0"/>
                <a:ea typeface="Consolas" pitchFamily="34" charset="-122"/>
                <a:cs typeface="Consolas" pitchFamily="34" charset="-120"/>
              </a:rPr>
              <a:t>30</a:t>
            </a:r>
            <a:endParaRPr lang="en-US" sz="1200" dirty="0"/>
          </a:p>
        </p:txBody>
      </p:sp>
      <p:sp>
        <p:nvSpPr>
          <p:cNvPr id="19" name="Text 17"/>
          <p:cNvSpPr/>
          <p:nvPr/>
        </p:nvSpPr>
        <p:spPr>
          <a:xfrm>
            <a:off x="2386584" y="1874520"/>
            <a:ext cx="566928" cy="201168"/>
          </a:xfrm>
          <a:prstGeom prst="rect">
            <a:avLst/>
          </a:prstGeom>
          <a:noFill/>
          <a:ln/>
        </p:spPr>
        <p:txBody>
          <a:bodyPr wrap="square" lIns="0" tIns="0" rIns="0" bIns="0" rtlCol="0" anchor="t"/>
          <a:lstStyle/>
          <a:p>
            <a:pPr marL="0" indent="0" algn="ctr">
              <a:buNone/>
            </a:pPr>
            <a:r>
              <a:rPr lang="en-US" sz="900" dirty="0">
                <a:solidFill>
                  <a:srgbClr val="1B8EA8"/>
                </a:solidFill>
                <a:latin typeface="Consolas" pitchFamily="34" charset="0"/>
                <a:ea typeface="Consolas" pitchFamily="34" charset="-122"/>
                <a:cs typeface="Consolas" pitchFamily="34" charset="-120"/>
              </a:rPr>
              <a:t>3</a:t>
            </a:r>
            <a:endParaRPr lang="en-US" sz="900" dirty="0"/>
          </a:p>
        </p:txBody>
      </p:sp>
      <p:sp>
        <p:nvSpPr>
          <p:cNvPr id="20" name="Text 18"/>
          <p:cNvSpPr/>
          <p:nvPr/>
        </p:nvSpPr>
        <p:spPr>
          <a:xfrm>
            <a:off x="2386584" y="2807208"/>
            <a:ext cx="566928" cy="201168"/>
          </a:xfrm>
          <a:prstGeom prst="rect">
            <a:avLst/>
          </a:prstGeom>
          <a:noFill/>
          <a:ln/>
        </p:spPr>
        <p:txBody>
          <a:bodyPr wrap="square" lIns="0" tIns="0" rIns="0" bIns="0" rtlCol="0" anchor="t"/>
          <a:lstStyle/>
          <a:p>
            <a:pPr marL="0" indent="0" algn="ctr">
              <a:buNone/>
            </a:pPr>
            <a:r>
              <a:rPr lang="en-US" sz="900" dirty="0">
                <a:solidFill>
                  <a:srgbClr val="D96C5F"/>
                </a:solidFill>
                <a:latin typeface="Consolas" pitchFamily="34" charset="0"/>
                <a:ea typeface="Consolas" pitchFamily="34" charset="-122"/>
                <a:cs typeface="Consolas" pitchFamily="34" charset="-120"/>
              </a:rPr>
              <a:t>-3</a:t>
            </a:r>
            <a:endParaRPr lang="en-US" sz="900" dirty="0"/>
          </a:p>
        </p:txBody>
      </p:sp>
      <p:sp>
        <p:nvSpPr>
          <p:cNvPr id="21" name="Shape 19"/>
          <p:cNvSpPr/>
          <p:nvPr/>
        </p:nvSpPr>
        <p:spPr>
          <a:xfrm>
            <a:off x="2953512" y="2148840"/>
            <a:ext cx="566928" cy="566928"/>
          </a:xfrm>
          <a:prstGeom prst="rect">
            <a:avLst/>
          </a:prstGeom>
          <a:solidFill>
            <a:srgbClr val="EAF4F8"/>
          </a:solidFill>
          <a:ln w="9525">
            <a:solidFill>
              <a:srgbClr val="A9CDDB"/>
            </a:solidFill>
            <a:prstDash val="solid"/>
          </a:ln>
        </p:spPr>
      </p:sp>
      <p:sp>
        <p:nvSpPr>
          <p:cNvPr id="22" name="Text 20"/>
          <p:cNvSpPr/>
          <p:nvPr/>
        </p:nvSpPr>
        <p:spPr>
          <a:xfrm>
            <a:off x="2953512" y="2148840"/>
            <a:ext cx="566928" cy="566928"/>
          </a:xfrm>
          <a:prstGeom prst="rect">
            <a:avLst/>
          </a:prstGeom>
          <a:noFill/>
          <a:ln/>
        </p:spPr>
        <p:txBody>
          <a:bodyPr wrap="square" lIns="0" tIns="0" rIns="0" bIns="0" rtlCol="0" anchor="ctr"/>
          <a:lstStyle/>
          <a:p>
            <a:pPr marL="0" indent="0" algn="ctr">
              <a:buNone/>
            </a:pPr>
            <a:r>
              <a:rPr lang="en-US" sz="1200" dirty="0">
                <a:solidFill>
                  <a:srgbClr val="062A3A"/>
                </a:solidFill>
                <a:latin typeface="Consolas" pitchFamily="34" charset="0"/>
                <a:ea typeface="Consolas" pitchFamily="34" charset="-122"/>
                <a:cs typeface="Consolas" pitchFamily="34" charset="-120"/>
              </a:rPr>
              <a:t>40</a:t>
            </a:r>
            <a:endParaRPr lang="en-US" sz="1200" dirty="0"/>
          </a:p>
        </p:txBody>
      </p:sp>
      <p:sp>
        <p:nvSpPr>
          <p:cNvPr id="23" name="Text 21"/>
          <p:cNvSpPr/>
          <p:nvPr/>
        </p:nvSpPr>
        <p:spPr>
          <a:xfrm>
            <a:off x="2953512" y="1874520"/>
            <a:ext cx="566928" cy="201168"/>
          </a:xfrm>
          <a:prstGeom prst="rect">
            <a:avLst/>
          </a:prstGeom>
          <a:noFill/>
          <a:ln/>
        </p:spPr>
        <p:txBody>
          <a:bodyPr wrap="square" lIns="0" tIns="0" rIns="0" bIns="0" rtlCol="0" anchor="t"/>
          <a:lstStyle/>
          <a:p>
            <a:pPr marL="0" indent="0" algn="ctr">
              <a:buNone/>
            </a:pPr>
            <a:r>
              <a:rPr lang="en-US" sz="900" dirty="0">
                <a:solidFill>
                  <a:srgbClr val="1B8EA8"/>
                </a:solidFill>
                <a:latin typeface="Consolas" pitchFamily="34" charset="0"/>
                <a:ea typeface="Consolas" pitchFamily="34" charset="-122"/>
                <a:cs typeface="Consolas" pitchFamily="34" charset="-120"/>
              </a:rPr>
              <a:t>4</a:t>
            </a:r>
            <a:endParaRPr lang="en-US" sz="900" dirty="0"/>
          </a:p>
        </p:txBody>
      </p:sp>
      <p:sp>
        <p:nvSpPr>
          <p:cNvPr id="24" name="Text 22"/>
          <p:cNvSpPr/>
          <p:nvPr/>
        </p:nvSpPr>
        <p:spPr>
          <a:xfrm>
            <a:off x="2953512" y="2807208"/>
            <a:ext cx="566928" cy="201168"/>
          </a:xfrm>
          <a:prstGeom prst="rect">
            <a:avLst/>
          </a:prstGeom>
          <a:noFill/>
          <a:ln/>
        </p:spPr>
        <p:txBody>
          <a:bodyPr wrap="square" lIns="0" tIns="0" rIns="0" bIns="0" rtlCol="0" anchor="t"/>
          <a:lstStyle/>
          <a:p>
            <a:pPr marL="0" indent="0" algn="ctr">
              <a:buNone/>
            </a:pPr>
            <a:r>
              <a:rPr lang="en-US" sz="900" dirty="0">
                <a:solidFill>
                  <a:srgbClr val="D96C5F"/>
                </a:solidFill>
                <a:latin typeface="Consolas" pitchFamily="34" charset="0"/>
                <a:ea typeface="Consolas" pitchFamily="34" charset="-122"/>
                <a:cs typeface="Consolas" pitchFamily="34" charset="-120"/>
              </a:rPr>
              <a:t>-2</a:t>
            </a:r>
            <a:endParaRPr lang="en-US" sz="900" dirty="0"/>
          </a:p>
        </p:txBody>
      </p:sp>
      <p:sp>
        <p:nvSpPr>
          <p:cNvPr id="25" name="Shape 23"/>
          <p:cNvSpPr/>
          <p:nvPr/>
        </p:nvSpPr>
        <p:spPr>
          <a:xfrm>
            <a:off x="3520440" y="2148840"/>
            <a:ext cx="566928" cy="566928"/>
          </a:xfrm>
          <a:prstGeom prst="rect">
            <a:avLst/>
          </a:prstGeom>
          <a:solidFill>
            <a:srgbClr val="4DB8D4"/>
          </a:solidFill>
          <a:ln w="9525">
            <a:solidFill>
              <a:srgbClr val="A9CDDB"/>
            </a:solidFill>
            <a:prstDash val="solid"/>
          </a:ln>
        </p:spPr>
      </p:sp>
      <p:sp>
        <p:nvSpPr>
          <p:cNvPr id="26" name="Text 24"/>
          <p:cNvSpPr/>
          <p:nvPr/>
        </p:nvSpPr>
        <p:spPr>
          <a:xfrm>
            <a:off x="3520440" y="2148840"/>
            <a:ext cx="566928"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onsolas" pitchFamily="34" charset="0"/>
                <a:ea typeface="Consolas" pitchFamily="34" charset="-122"/>
                <a:cs typeface="Consolas" pitchFamily="34" charset="-120"/>
              </a:rPr>
              <a:t>50</a:t>
            </a:r>
            <a:endParaRPr lang="en-US" sz="1200" dirty="0"/>
          </a:p>
        </p:txBody>
      </p:sp>
      <p:sp>
        <p:nvSpPr>
          <p:cNvPr id="27" name="Text 25"/>
          <p:cNvSpPr/>
          <p:nvPr/>
        </p:nvSpPr>
        <p:spPr>
          <a:xfrm>
            <a:off x="3520440" y="1874520"/>
            <a:ext cx="566928" cy="201168"/>
          </a:xfrm>
          <a:prstGeom prst="rect">
            <a:avLst/>
          </a:prstGeom>
          <a:noFill/>
          <a:ln/>
        </p:spPr>
        <p:txBody>
          <a:bodyPr wrap="square" lIns="0" tIns="0" rIns="0" bIns="0" rtlCol="0" anchor="t"/>
          <a:lstStyle/>
          <a:p>
            <a:pPr marL="0" indent="0" algn="ctr">
              <a:buNone/>
            </a:pPr>
            <a:r>
              <a:rPr lang="en-US" sz="900" dirty="0">
                <a:solidFill>
                  <a:srgbClr val="1B8EA8"/>
                </a:solidFill>
                <a:latin typeface="Consolas" pitchFamily="34" charset="0"/>
                <a:ea typeface="Consolas" pitchFamily="34" charset="-122"/>
                <a:cs typeface="Consolas" pitchFamily="34" charset="-120"/>
              </a:rPr>
              <a:t>5</a:t>
            </a:r>
            <a:endParaRPr lang="en-US" sz="900" dirty="0"/>
          </a:p>
        </p:txBody>
      </p:sp>
      <p:sp>
        <p:nvSpPr>
          <p:cNvPr id="28" name="Text 26"/>
          <p:cNvSpPr/>
          <p:nvPr/>
        </p:nvSpPr>
        <p:spPr>
          <a:xfrm>
            <a:off x="3520440" y="2807208"/>
            <a:ext cx="566928" cy="201168"/>
          </a:xfrm>
          <a:prstGeom prst="rect">
            <a:avLst/>
          </a:prstGeom>
          <a:noFill/>
          <a:ln/>
        </p:spPr>
        <p:txBody>
          <a:bodyPr wrap="square" lIns="0" tIns="0" rIns="0" bIns="0" rtlCol="0" anchor="t"/>
          <a:lstStyle/>
          <a:p>
            <a:pPr marL="0" indent="0" algn="ctr">
              <a:buNone/>
            </a:pPr>
            <a:r>
              <a:rPr lang="en-US" sz="900" dirty="0">
                <a:solidFill>
                  <a:srgbClr val="D96C5F"/>
                </a:solidFill>
                <a:latin typeface="Consolas" pitchFamily="34" charset="0"/>
                <a:ea typeface="Consolas" pitchFamily="34" charset="-122"/>
                <a:cs typeface="Consolas" pitchFamily="34" charset="-120"/>
              </a:rPr>
              <a:t>-1</a:t>
            </a:r>
            <a:endParaRPr lang="en-US" sz="900" dirty="0"/>
          </a:p>
        </p:txBody>
      </p:sp>
      <p:sp>
        <p:nvSpPr>
          <p:cNvPr id="29" name="Text 27"/>
          <p:cNvSpPr/>
          <p:nvPr/>
        </p:nvSpPr>
        <p:spPr>
          <a:xfrm>
            <a:off x="685800" y="1618488"/>
            <a:ext cx="3383280" cy="201168"/>
          </a:xfrm>
          <a:prstGeom prst="rect">
            <a:avLst/>
          </a:prstGeom>
          <a:noFill/>
          <a:ln/>
        </p:spPr>
        <p:txBody>
          <a:bodyPr wrap="square" lIns="0" tIns="0" rIns="0" bIns="0" rtlCol="0" anchor="t"/>
          <a:lstStyle/>
          <a:p>
            <a:pPr marL="0" indent="0" algn="l">
              <a:buNone/>
            </a:pPr>
            <a:r>
              <a:rPr lang="en-US" sz="850" dirty="0">
                <a:solidFill>
                  <a:srgbClr val="728694"/>
                </a:solidFill>
                <a:latin typeface="Segoe UI" pitchFamily="34" charset="0"/>
                <a:ea typeface="Segoe UI" pitchFamily="34" charset="-122"/>
                <a:cs typeface="Segoe UI" pitchFamily="34" charset="-120"/>
              </a:rPr>
              <a:t>chỉ số dương</a:t>
            </a:r>
            <a:endParaRPr lang="en-US" sz="850" dirty="0"/>
          </a:p>
        </p:txBody>
      </p:sp>
      <p:sp>
        <p:nvSpPr>
          <p:cNvPr id="30" name="Text 28"/>
          <p:cNvSpPr/>
          <p:nvPr/>
        </p:nvSpPr>
        <p:spPr>
          <a:xfrm>
            <a:off x="685800" y="3044952"/>
            <a:ext cx="3383280" cy="201168"/>
          </a:xfrm>
          <a:prstGeom prst="rect">
            <a:avLst/>
          </a:prstGeom>
          <a:noFill/>
          <a:ln/>
        </p:spPr>
        <p:txBody>
          <a:bodyPr wrap="square" lIns="0" tIns="0" rIns="0" bIns="0" rtlCol="0" anchor="t"/>
          <a:lstStyle/>
          <a:p>
            <a:pPr marL="0" indent="0" algn="l">
              <a:buNone/>
            </a:pPr>
            <a:r>
              <a:rPr lang="en-US" sz="850" dirty="0">
                <a:solidFill>
                  <a:srgbClr val="728694"/>
                </a:solidFill>
                <a:latin typeface="Segoe UI" pitchFamily="34" charset="0"/>
                <a:ea typeface="Segoe UI" pitchFamily="34" charset="-122"/>
                <a:cs typeface="Segoe UI" pitchFamily="34" charset="-120"/>
              </a:rPr>
              <a:t>chỉ số âm</a:t>
            </a:r>
            <a:endParaRPr lang="en-US" sz="850" dirty="0"/>
          </a:p>
        </p:txBody>
      </p:sp>
      <p:sp>
        <p:nvSpPr>
          <p:cNvPr id="31" name="Text 29"/>
          <p:cNvSpPr/>
          <p:nvPr/>
        </p:nvSpPr>
        <p:spPr>
          <a:xfrm>
            <a:off x="640080" y="3703320"/>
            <a:ext cx="3657600" cy="256032"/>
          </a:xfrm>
          <a:prstGeom prst="rect">
            <a:avLst/>
          </a:prstGeom>
          <a:noFill/>
          <a:ln/>
        </p:spPr>
        <p:txBody>
          <a:bodyPr wrap="square" lIns="0" tIns="0" rIns="0" bIns="0" rtlCol="0" anchor="t"/>
          <a:lstStyle/>
          <a:p>
            <a:pPr marL="0" indent="0">
              <a:buNone/>
            </a:pPr>
            <a:r>
              <a:rPr lang="en-US" sz="1100" b="1" dirty="0">
                <a:solidFill>
                  <a:srgbClr val="062A3A"/>
                </a:solidFill>
                <a:latin typeface="Consolas" pitchFamily="34" charset="0"/>
                <a:ea typeface="Consolas" pitchFamily="34" charset="-122"/>
                <a:cs typeface="Consolas" pitchFamily="34" charset="-120"/>
              </a:rPr>
              <a:t>c[1] = 10   ·   c[-1] = 50</a:t>
            </a:r>
            <a:endParaRPr lang="en-US" sz="1100" dirty="0"/>
          </a:p>
        </p:txBody>
      </p:sp>
      <p:sp>
        <p:nvSpPr>
          <p:cNvPr id="32" name="Shape 30"/>
          <p:cNvSpPr/>
          <p:nvPr/>
        </p:nvSpPr>
        <p:spPr>
          <a:xfrm>
            <a:off x="4526280" y="1463040"/>
            <a:ext cx="7086600" cy="2331720"/>
          </a:xfrm>
          <a:prstGeom prst="roundRect">
            <a:avLst>
              <a:gd name="adj" fmla="val 1961"/>
            </a:avLst>
          </a:prstGeom>
          <a:solidFill>
            <a:srgbClr val="0B2230"/>
          </a:solidFill>
          <a:ln w="9525">
            <a:solidFill>
              <a:srgbClr val="163B4C"/>
            </a:solidFill>
            <a:prstDash val="solid"/>
          </a:ln>
        </p:spPr>
      </p:sp>
      <p:sp>
        <p:nvSpPr>
          <p:cNvPr id="33" name="Shape 31"/>
          <p:cNvSpPr/>
          <p:nvPr/>
        </p:nvSpPr>
        <p:spPr>
          <a:xfrm>
            <a:off x="4526280" y="1463040"/>
            <a:ext cx="7086600" cy="265176"/>
          </a:xfrm>
          <a:prstGeom prst="rect">
            <a:avLst/>
          </a:prstGeom>
          <a:solidFill>
            <a:srgbClr val="103445"/>
          </a:solidFill>
          <a:ln w="12700">
            <a:solidFill>
              <a:srgbClr val="103445"/>
            </a:solidFill>
            <a:prstDash val="solid"/>
          </a:ln>
        </p:spPr>
      </p:sp>
      <p:sp>
        <p:nvSpPr>
          <p:cNvPr id="34" name="Text 32"/>
          <p:cNvSpPr/>
          <p:nvPr/>
        </p:nvSpPr>
        <p:spPr>
          <a:xfrm>
            <a:off x="4672584" y="1513332"/>
            <a:ext cx="6172200" cy="182880"/>
          </a:xfrm>
          <a:prstGeom prst="rect">
            <a:avLst/>
          </a:prstGeom>
          <a:noFill/>
          <a:ln/>
        </p:spPr>
        <p:txBody>
          <a:bodyPr wrap="square" lIns="0" tIns="0" rIns="0" bIns="0" rtlCol="0" anchor="t"/>
          <a:lstStyle/>
          <a:p>
            <a:pPr marL="0" indent="0">
              <a:buNone/>
            </a:pPr>
            <a:r>
              <a:rPr lang="en-US" sz="850" dirty="0">
                <a:solidFill>
                  <a:srgbClr val="8FB6C8"/>
                </a:solidFill>
                <a:latin typeface="Consolas" pitchFamily="34" charset="0"/>
                <a:ea typeface="Consolas" pitchFamily="34" charset="-122"/>
                <a:cs typeface="Consolas" pitchFamily="34" charset="-120"/>
              </a:rPr>
              <a:t>python</a:t>
            </a:r>
            <a:endParaRPr lang="en-US" sz="850" dirty="0"/>
          </a:p>
        </p:txBody>
      </p:sp>
      <p:sp>
        <p:nvSpPr>
          <p:cNvPr id="35" name="Shape 33"/>
          <p:cNvSpPr/>
          <p:nvPr/>
        </p:nvSpPr>
        <p:spPr>
          <a:xfrm>
            <a:off x="11045952" y="1568196"/>
            <a:ext cx="77724" cy="77724"/>
          </a:xfrm>
          <a:prstGeom prst="ellipse">
            <a:avLst/>
          </a:prstGeom>
          <a:solidFill>
            <a:srgbClr val="D96C5F"/>
          </a:solidFill>
          <a:ln w="12700">
            <a:solidFill>
              <a:srgbClr val="D96C5F"/>
            </a:solidFill>
            <a:prstDash val="solid"/>
          </a:ln>
        </p:spPr>
      </p:sp>
      <p:sp>
        <p:nvSpPr>
          <p:cNvPr id="36" name="Shape 34"/>
          <p:cNvSpPr/>
          <p:nvPr/>
        </p:nvSpPr>
        <p:spPr>
          <a:xfrm>
            <a:off x="11201400" y="1568196"/>
            <a:ext cx="77724" cy="77724"/>
          </a:xfrm>
          <a:prstGeom prst="ellipse">
            <a:avLst/>
          </a:prstGeom>
          <a:solidFill>
            <a:srgbClr val="E8A33D"/>
          </a:solidFill>
          <a:ln w="12700">
            <a:solidFill>
              <a:srgbClr val="E8A33D"/>
            </a:solidFill>
            <a:prstDash val="solid"/>
          </a:ln>
        </p:spPr>
      </p:sp>
      <p:sp>
        <p:nvSpPr>
          <p:cNvPr id="37" name="Shape 35"/>
          <p:cNvSpPr/>
          <p:nvPr/>
        </p:nvSpPr>
        <p:spPr>
          <a:xfrm>
            <a:off x="11356848" y="1568196"/>
            <a:ext cx="77724" cy="77724"/>
          </a:xfrm>
          <a:prstGeom prst="ellipse">
            <a:avLst/>
          </a:prstGeom>
          <a:solidFill>
            <a:srgbClr val="2D8C6F"/>
          </a:solidFill>
          <a:ln w="12700">
            <a:solidFill>
              <a:srgbClr val="2D8C6F"/>
            </a:solidFill>
            <a:prstDash val="solid"/>
          </a:ln>
        </p:spPr>
      </p:sp>
      <p:sp>
        <p:nvSpPr>
          <p:cNvPr id="38" name="Text 36"/>
          <p:cNvSpPr/>
          <p:nvPr/>
        </p:nvSpPr>
        <p:spPr>
          <a:xfrm>
            <a:off x="4690872" y="1810512"/>
            <a:ext cx="6793992" cy="1911096"/>
          </a:xfrm>
          <a:prstGeom prst="rect">
            <a:avLst/>
          </a:prstGeom>
          <a:noFill/>
          <a:ln/>
        </p:spPr>
        <p:txBody>
          <a:bodyPr wrap="square" lIns="0" tIns="0" rIns="0" bIns="0" rtlCol="0" anchor="t"/>
          <a:lstStyle/>
          <a:p>
            <a:pPr marL="0" indent="0">
              <a:lnSpc>
                <a:spcPct val="102000"/>
              </a:lnSpc>
              <a:buNone/>
            </a:pPr>
            <a:r>
              <a:rPr lang="en-US" sz="1000" dirty="0">
                <a:solidFill>
                  <a:srgbClr val="D6E6EF"/>
                </a:solidFill>
                <a:latin typeface="Consolas" pitchFamily="34" charset="0"/>
                <a:ea typeface="Consolas" pitchFamily="34" charset="-122"/>
                <a:cs typeface="Consolas" pitchFamily="34" charset="-120"/>
              </a:rPr>
              <a:t>c = </a:t>
            </a:r>
            <a:r>
              <a:rPr lang="en-US" sz="1000" dirty="0">
                <a:solidFill>
                  <a:srgbClr val="8AD9C0"/>
                </a:solidFill>
                <a:latin typeface="Consolas" pitchFamily="34" charset="0"/>
                <a:ea typeface="Consolas" pitchFamily="34" charset="-122"/>
                <a:cs typeface="Consolas" pitchFamily="34" charset="-120"/>
              </a:rPr>
              <a:t>np</a:t>
            </a:r>
            <a:r>
              <a:rPr lang="en-US" sz="1000" dirty="0">
                <a:solidFill>
                  <a:srgbClr val="D6E6EF"/>
                </a:solidFill>
                <a:latin typeface="Consolas" pitchFamily="34" charset="0"/>
                <a:ea typeface="Consolas" pitchFamily="34" charset="-122"/>
                <a:cs typeface="Consolas" pitchFamily="34" charset="-120"/>
              </a:rPr>
              <a:t>.array([</a:t>
            </a:r>
            <a:r>
              <a:rPr lang="en-US" sz="1000" dirty="0">
                <a:solidFill>
                  <a:srgbClr val="F08A7C"/>
                </a:solidFill>
                <a:latin typeface="Consolas" pitchFamily="34" charset="0"/>
                <a:ea typeface="Consolas" pitchFamily="34" charset="-122"/>
                <a:cs typeface="Consolas" pitchFamily="34" charset="-120"/>
              </a:rPr>
              <a:t>0</a:t>
            </a:r>
            <a:r>
              <a:rPr lang="en-US" sz="1000" dirty="0">
                <a:solidFill>
                  <a:srgbClr val="D6E6EF"/>
                </a:solidFill>
                <a:latin typeface="Consolas" pitchFamily="34" charset="0"/>
                <a:ea typeface="Consolas" pitchFamily="34" charset="-122"/>
                <a:cs typeface="Consolas" pitchFamily="34" charset="-120"/>
              </a:rPr>
              <a:t>, </a:t>
            </a:r>
            <a:r>
              <a:rPr lang="en-US" sz="1000" dirty="0">
                <a:solidFill>
                  <a:srgbClr val="F08A7C"/>
                </a:solidFill>
                <a:latin typeface="Consolas" pitchFamily="34" charset="0"/>
                <a:ea typeface="Consolas" pitchFamily="34" charset="-122"/>
                <a:cs typeface="Consolas" pitchFamily="34" charset="-120"/>
              </a:rPr>
              <a:t>10</a:t>
            </a:r>
            <a:r>
              <a:rPr lang="en-US" sz="1000" dirty="0">
                <a:solidFill>
                  <a:srgbClr val="D6E6EF"/>
                </a:solidFill>
                <a:latin typeface="Consolas" pitchFamily="34" charset="0"/>
                <a:ea typeface="Consolas" pitchFamily="34" charset="-122"/>
                <a:cs typeface="Consolas" pitchFamily="34" charset="-120"/>
              </a:rPr>
              <a:t>, </a:t>
            </a:r>
            <a:r>
              <a:rPr lang="en-US" sz="1000" dirty="0">
                <a:solidFill>
                  <a:srgbClr val="F08A7C"/>
                </a:solidFill>
                <a:latin typeface="Consolas" pitchFamily="34" charset="0"/>
                <a:ea typeface="Consolas" pitchFamily="34" charset="-122"/>
                <a:cs typeface="Consolas" pitchFamily="34" charset="-120"/>
              </a:rPr>
              <a:t>20</a:t>
            </a:r>
            <a:r>
              <a:rPr lang="en-US" sz="1000" dirty="0">
                <a:solidFill>
                  <a:srgbClr val="D6E6EF"/>
                </a:solidFill>
                <a:latin typeface="Consolas" pitchFamily="34" charset="0"/>
                <a:ea typeface="Consolas" pitchFamily="34" charset="-122"/>
                <a:cs typeface="Consolas" pitchFamily="34" charset="-120"/>
              </a:rPr>
              <a:t>, </a:t>
            </a:r>
            <a:r>
              <a:rPr lang="en-US" sz="1000" dirty="0">
                <a:solidFill>
                  <a:srgbClr val="F08A7C"/>
                </a:solidFill>
                <a:latin typeface="Consolas" pitchFamily="34" charset="0"/>
                <a:ea typeface="Consolas" pitchFamily="34" charset="-122"/>
                <a:cs typeface="Consolas" pitchFamily="34" charset="-120"/>
              </a:rPr>
              <a:t>30</a:t>
            </a:r>
            <a:r>
              <a:rPr lang="en-US" sz="1000" dirty="0">
                <a:solidFill>
                  <a:srgbClr val="D6E6EF"/>
                </a:solidFill>
                <a:latin typeface="Consolas" pitchFamily="34" charset="0"/>
                <a:ea typeface="Consolas" pitchFamily="34" charset="-122"/>
                <a:cs typeface="Consolas" pitchFamily="34" charset="-120"/>
              </a:rPr>
              <a:t>, </a:t>
            </a:r>
            <a:r>
              <a:rPr lang="en-US" sz="1000" dirty="0">
                <a:solidFill>
                  <a:srgbClr val="F08A7C"/>
                </a:solidFill>
                <a:latin typeface="Consolas" pitchFamily="34" charset="0"/>
                <a:ea typeface="Consolas" pitchFamily="34" charset="-122"/>
                <a:cs typeface="Consolas" pitchFamily="34" charset="-120"/>
              </a:rPr>
              <a:t>40</a:t>
            </a:r>
            <a:r>
              <a:rPr lang="en-US" sz="1000" dirty="0">
                <a:solidFill>
                  <a:srgbClr val="D6E6EF"/>
                </a:solidFill>
                <a:latin typeface="Consolas" pitchFamily="34" charset="0"/>
                <a:ea typeface="Consolas" pitchFamily="34" charset="-122"/>
                <a:cs typeface="Consolas" pitchFamily="34" charset="-120"/>
              </a:rPr>
              <a:t>, </a:t>
            </a:r>
            <a:r>
              <a:rPr lang="en-US" sz="1000" dirty="0">
                <a:solidFill>
                  <a:srgbClr val="F08A7C"/>
                </a:solidFill>
                <a:latin typeface="Consolas" pitchFamily="34" charset="0"/>
                <a:ea typeface="Consolas" pitchFamily="34" charset="-122"/>
                <a:cs typeface="Consolas" pitchFamily="34" charset="-120"/>
              </a:rPr>
              <a:t>50</a:t>
            </a:r>
            <a:r>
              <a:rPr lang="en-US" sz="1000" dirty="0">
                <a:solidFill>
                  <a:srgbClr val="D6E6EF"/>
                </a:solidFill>
                <a:latin typeface="Consolas" pitchFamily="34" charset="0"/>
                <a:ea typeface="Consolas" pitchFamily="34" charset="-122"/>
                <a:cs typeface="Consolas" pitchFamily="34" charset="-120"/>
              </a:rPr>
              <a:t>])</a:t>
            </a:r>
            <a:endParaRPr lang="en-US" sz="1000" dirty="0"/>
          </a:p>
          <a:p>
            <a:pPr marL="0" indent="0">
              <a:lnSpc>
                <a:spcPct val="102000"/>
              </a:lnSpc>
              <a:buNone/>
            </a:pPr>
            <a:r>
              <a:rPr lang="en-US" sz="1000" dirty="0">
                <a:solidFill>
                  <a:srgbClr val="6FD0E4"/>
                </a:solidFill>
                <a:latin typeface="Consolas" pitchFamily="34" charset="0"/>
                <a:ea typeface="Consolas" pitchFamily="34" charset="-122"/>
                <a:cs typeface="Consolas" pitchFamily="34" charset="-120"/>
              </a:rPr>
              <a:t>print</a:t>
            </a:r>
            <a:r>
              <a:rPr lang="en-US" sz="1000" dirty="0">
                <a:solidFill>
                  <a:srgbClr val="D6E6EF"/>
                </a:solidFill>
                <a:latin typeface="Consolas" pitchFamily="34" charset="0"/>
                <a:ea typeface="Consolas" pitchFamily="34" charset="-122"/>
                <a:cs typeface="Consolas" pitchFamily="34" charset="-120"/>
              </a:rPr>
              <a:t>(c[</a:t>
            </a:r>
            <a:r>
              <a:rPr lang="en-US" sz="1000" dirty="0">
                <a:solidFill>
                  <a:srgbClr val="F08A7C"/>
                </a:solidFill>
                <a:latin typeface="Consolas" pitchFamily="34" charset="0"/>
                <a:ea typeface="Consolas" pitchFamily="34" charset="-122"/>
                <a:cs typeface="Consolas" pitchFamily="34" charset="-120"/>
              </a:rPr>
              <a:t>0</a:t>
            </a:r>
            <a:r>
              <a:rPr lang="en-US" sz="1000" dirty="0">
                <a:solidFill>
                  <a:srgbClr val="D6E6EF"/>
                </a:solidFill>
                <a:latin typeface="Consolas" pitchFamily="34" charset="0"/>
                <a:ea typeface="Consolas" pitchFamily="34" charset="-122"/>
                <a:cs typeface="Consolas" pitchFamily="34" charset="-120"/>
              </a:rPr>
              <a:t>])      </a:t>
            </a:r>
            <a:r>
              <a:rPr lang="en-US" sz="1000" i="1" dirty="0">
                <a:solidFill>
                  <a:srgbClr val="6F93A3"/>
                </a:solidFill>
                <a:latin typeface="Consolas" pitchFamily="34" charset="0"/>
                <a:ea typeface="Consolas" pitchFamily="34" charset="-122"/>
                <a:cs typeface="Consolas" pitchFamily="34" charset="-120"/>
              </a:rPr>
              <a:t># 0</a:t>
            </a:r>
            <a:endParaRPr lang="en-US" sz="1000" dirty="0"/>
          </a:p>
          <a:p>
            <a:pPr marL="0" indent="0">
              <a:lnSpc>
                <a:spcPct val="102000"/>
              </a:lnSpc>
              <a:buNone/>
            </a:pPr>
            <a:r>
              <a:rPr lang="en-US" sz="1000" dirty="0">
                <a:solidFill>
                  <a:srgbClr val="6FD0E4"/>
                </a:solidFill>
                <a:latin typeface="Consolas" pitchFamily="34" charset="0"/>
                <a:ea typeface="Consolas" pitchFamily="34" charset="-122"/>
                <a:cs typeface="Consolas" pitchFamily="34" charset="-120"/>
              </a:rPr>
              <a:t>print</a:t>
            </a:r>
            <a:r>
              <a:rPr lang="en-US" sz="1000" dirty="0">
                <a:solidFill>
                  <a:srgbClr val="D6E6EF"/>
                </a:solidFill>
                <a:latin typeface="Consolas" pitchFamily="34" charset="0"/>
                <a:ea typeface="Consolas" pitchFamily="34" charset="-122"/>
                <a:cs typeface="Consolas" pitchFamily="34" charset="-120"/>
              </a:rPr>
              <a:t>(c[</a:t>
            </a:r>
            <a:r>
              <a:rPr lang="en-US" sz="1000" dirty="0">
                <a:solidFill>
                  <a:srgbClr val="F08A7C"/>
                </a:solidFill>
                <a:latin typeface="Consolas" pitchFamily="34" charset="0"/>
                <a:ea typeface="Consolas" pitchFamily="34" charset="-122"/>
                <a:cs typeface="Consolas" pitchFamily="34" charset="-120"/>
              </a:rPr>
              <a:t>3</a:t>
            </a:r>
            <a:r>
              <a:rPr lang="en-US" sz="1000" dirty="0">
                <a:solidFill>
                  <a:srgbClr val="D6E6EF"/>
                </a:solidFill>
                <a:latin typeface="Consolas" pitchFamily="34" charset="0"/>
                <a:ea typeface="Consolas" pitchFamily="34" charset="-122"/>
                <a:cs typeface="Consolas" pitchFamily="34" charset="-120"/>
              </a:rPr>
              <a:t>])      </a:t>
            </a:r>
            <a:r>
              <a:rPr lang="en-US" sz="1000" i="1" dirty="0">
                <a:solidFill>
                  <a:srgbClr val="6F93A3"/>
                </a:solidFill>
                <a:latin typeface="Consolas" pitchFamily="34" charset="0"/>
                <a:ea typeface="Consolas" pitchFamily="34" charset="-122"/>
                <a:cs typeface="Consolas" pitchFamily="34" charset="-120"/>
              </a:rPr>
              <a:t># 30</a:t>
            </a:r>
            <a:endParaRPr lang="en-US" sz="1000" dirty="0"/>
          </a:p>
          <a:p>
            <a:pPr marL="0" indent="0">
              <a:lnSpc>
                <a:spcPct val="102000"/>
              </a:lnSpc>
              <a:buNone/>
            </a:pPr>
            <a:r>
              <a:rPr lang="en-US" sz="1000" dirty="0">
                <a:solidFill>
                  <a:srgbClr val="6FD0E4"/>
                </a:solidFill>
                <a:latin typeface="Consolas" pitchFamily="34" charset="0"/>
                <a:ea typeface="Consolas" pitchFamily="34" charset="-122"/>
                <a:cs typeface="Consolas" pitchFamily="34" charset="-120"/>
              </a:rPr>
              <a:t>print</a:t>
            </a:r>
            <a:r>
              <a:rPr lang="en-US" sz="1000" dirty="0">
                <a:solidFill>
                  <a:srgbClr val="D6E6EF"/>
                </a:solidFill>
                <a:latin typeface="Consolas" pitchFamily="34" charset="0"/>
                <a:ea typeface="Consolas" pitchFamily="34" charset="-122"/>
                <a:cs typeface="Consolas" pitchFamily="34" charset="-120"/>
              </a:rPr>
              <a:t>(c[-</a:t>
            </a:r>
            <a:r>
              <a:rPr lang="en-US" sz="1000" dirty="0">
                <a:solidFill>
                  <a:srgbClr val="F08A7C"/>
                </a:solidFill>
                <a:latin typeface="Consolas" pitchFamily="34" charset="0"/>
                <a:ea typeface="Consolas" pitchFamily="34" charset="-122"/>
                <a:cs typeface="Consolas" pitchFamily="34" charset="-120"/>
              </a:rPr>
              <a:t>1</a:t>
            </a:r>
            <a:r>
              <a:rPr lang="en-US" sz="1000" dirty="0">
                <a:solidFill>
                  <a:srgbClr val="D6E6EF"/>
                </a:solidFill>
                <a:latin typeface="Consolas" pitchFamily="34" charset="0"/>
                <a:ea typeface="Consolas" pitchFamily="34" charset="-122"/>
                <a:cs typeface="Consolas" pitchFamily="34" charset="-120"/>
              </a:rPr>
              <a:t>])     </a:t>
            </a:r>
            <a:r>
              <a:rPr lang="en-US" sz="1000" i="1" dirty="0">
                <a:solidFill>
                  <a:srgbClr val="6F93A3"/>
                </a:solidFill>
                <a:latin typeface="Consolas" pitchFamily="34" charset="0"/>
                <a:ea typeface="Consolas" pitchFamily="34" charset="-122"/>
                <a:cs typeface="Consolas" pitchFamily="34" charset="-120"/>
              </a:rPr>
              <a:t># 50</a:t>
            </a:r>
            <a:endParaRPr lang="en-US" sz="1000" dirty="0"/>
          </a:p>
          <a:p>
            <a:pPr marL="0" indent="0">
              <a:lnSpc>
                <a:spcPct val="102000"/>
              </a:lnSpc>
              <a:buNone/>
            </a:pPr>
            <a:r>
              <a:rPr lang="en-US" sz="1000" dirty="0">
                <a:solidFill>
                  <a:srgbClr val="6FD0E4"/>
                </a:solidFill>
                <a:latin typeface="Consolas" pitchFamily="34" charset="0"/>
                <a:ea typeface="Consolas" pitchFamily="34" charset="-122"/>
                <a:cs typeface="Consolas" pitchFamily="34" charset="-120"/>
              </a:rPr>
              <a:t>print</a:t>
            </a:r>
            <a:r>
              <a:rPr lang="en-US" sz="1000" dirty="0">
                <a:solidFill>
                  <a:srgbClr val="D6E6EF"/>
                </a:solidFill>
                <a:latin typeface="Consolas" pitchFamily="34" charset="0"/>
                <a:ea typeface="Consolas" pitchFamily="34" charset="-122"/>
                <a:cs typeface="Consolas" pitchFamily="34" charset="-120"/>
              </a:rPr>
              <a:t>(c[</a:t>
            </a:r>
            <a:r>
              <a:rPr lang="en-US" sz="1000" dirty="0">
                <a:solidFill>
                  <a:srgbClr val="F08A7C"/>
                </a:solidFill>
                <a:latin typeface="Consolas" pitchFamily="34" charset="0"/>
                <a:ea typeface="Consolas" pitchFamily="34" charset="-122"/>
                <a:cs typeface="Consolas" pitchFamily="34" charset="-120"/>
              </a:rPr>
              <a:t>1</a:t>
            </a:r>
            <a:r>
              <a:rPr lang="en-US" sz="1000" dirty="0">
                <a:solidFill>
                  <a:srgbClr val="D6E6EF"/>
                </a:solidFill>
                <a:latin typeface="Consolas" pitchFamily="34" charset="0"/>
                <a:ea typeface="Consolas" pitchFamily="34" charset="-122"/>
                <a:cs typeface="Consolas" pitchFamily="34" charset="-120"/>
              </a:rPr>
              <a:t>:</a:t>
            </a:r>
            <a:r>
              <a:rPr lang="en-US" sz="1000" dirty="0">
                <a:solidFill>
                  <a:srgbClr val="F08A7C"/>
                </a:solidFill>
                <a:latin typeface="Consolas" pitchFamily="34" charset="0"/>
                <a:ea typeface="Consolas" pitchFamily="34" charset="-122"/>
                <a:cs typeface="Consolas" pitchFamily="34" charset="-120"/>
              </a:rPr>
              <a:t>4</a:t>
            </a:r>
            <a:r>
              <a:rPr lang="en-US" sz="1000" dirty="0">
                <a:solidFill>
                  <a:srgbClr val="D6E6EF"/>
                </a:solidFill>
                <a:latin typeface="Consolas" pitchFamily="34" charset="0"/>
                <a:ea typeface="Consolas" pitchFamily="34" charset="-122"/>
                <a:cs typeface="Consolas" pitchFamily="34" charset="-120"/>
              </a:rPr>
              <a:t>])    </a:t>
            </a:r>
            <a:r>
              <a:rPr lang="en-US" sz="1000" i="1" dirty="0">
                <a:solidFill>
                  <a:srgbClr val="6F93A3"/>
                </a:solidFill>
                <a:latin typeface="Consolas" pitchFamily="34" charset="0"/>
                <a:ea typeface="Consolas" pitchFamily="34" charset="-122"/>
                <a:cs typeface="Consolas" pitchFamily="34" charset="-120"/>
              </a:rPr>
              <a:t># [10 20 30]</a:t>
            </a:r>
            <a:endParaRPr lang="en-US" sz="1000" dirty="0"/>
          </a:p>
          <a:p>
            <a:pPr marL="0" indent="0">
              <a:lnSpc>
                <a:spcPct val="102000"/>
              </a:lnSpc>
              <a:buNone/>
            </a:pPr>
            <a:r>
              <a:rPr lang="en-US" sz="1000" dirty="0">
                <a:solidFill>
                  <a:srgbClr val="6FD0E4"/>
                </a:solidFill>
                <a:latin typeface="Consolas" pitchFamily="34" charset="0"/>
                <a:ea typeface="Consolas" pitchFamily="34" charset="-122"/>
                <a:cs typeface="Consolas" pitchFamily="34" charset="-120"/>
              </a:rPr>
              <a:t>print</a:t>
            </a:r>
            <a:r>
              <a:rPr lang="en-US" sz="1000" dirty="0">
                <a:solidFill>
                  <a:srgbClr val="D6E6EF"/>
                </a:solidFill>
                <a:latin typeface="Consolas" pitchFamily="34" charset="0"/>
                <a:ea typeface="Consolas" pitchFamily="34" charset="-122"/>
                <a:cs typeface="Consolas" pitchFamily="34" charset="-120"/>
              </a:rPr>
              <a:t>(c[::</a:t>
            </a:r>
            <a:r>
              <a:rPr lang="en-US" sz="1000" dirty="0">
                <a:solidFill>
                  <a:srgbClr val="F08A7C"/>
                </a:solidFill>
                <a:latin typeface="Consolas" pitchFamily="34" charset="0"/>
                <a:ea typeface="Consolas" pitchFamily="34" charset="-122"/>
                <a:cs typeface="Consolas" pitchFamily="34" charset="-120"/>
              </a:rPr>
              <a:t>2</a:t>
            </a:r>
            <a:r>
              <a:rPr lang="en-US" sz="1000" dirty="0">
                <a:solidFill>
                  <a:srgbClr val="D6E6EF"/>
                </a:solidFill>
                <a:latin typeface="Consolas" pitchFamily="34" charset="0"/>
                <a:ea typeface="Consolas" pitchFamily="34" charset="-122"/>
                <a:cs typeface="Consolas" pitchFamily="34" charset="-120"/>
              </a:rPr>
              <a:t>])    </a:t>
            </a:r>
            <a:r>
              <a:rPr lang="en-US" sz="1000" i="1" dirty="0">
                <a:solidFill>
                  <a:srgbClr val="6F93A3"/>
                </a:solidFill>
                <a:latin typeface="Consolas" pitchFamily="34" charset="0"/>
                <a:ea typeface="Consolas" pitchFamily="34" charset="-122"/>
                <a:cs typeface="Consolas" pitchFamily="34" charset="-120"/>
              </a:rPr>
              <a:t># [ 0 20 40]</a:t>
            </a:r>
            <a:endParaRPr lang="en-US" sz="1000" dirty="0"/>
          </a:p>
          <a:p>
            <a:pPr marL="0" indent="0">
              <a:lnSpc>
                <a:spcPct val="102000"/>
              </a:lnSpc>
              <a:buNone/>
            </a:pPr>
            <a:r>
              <a:rPr lang="en-US" sz="1000" dirty="0">
                <a:solidFill>
                  <a:srgbClr val="6FD0E4"/>
                </a:solidFill>
                <a:latin typeface="Consolas" pitchFamily="34" charset="0"/>
                <a:ea typeface="Consolas" pitchFamily="34" charset="-122"/>
                <a:cs typeface="Consolas" pitchFamily="34" charset="-120"/>
              </a:rPr>
              <a:t>print</a:t>
            </a:r>
            <a:r>
              <a:rPr lang="en-US" sz="1000" dirty="0">
                <a:solidFill>
                  <a:srgbClr val="D6E6EF"/>
                </a:solidFill>
                <a:latin typeface="Consolas" pitchFamily="34" charset="0"/>
                <a:ea typeface="Consolas" pitchFamily="34" charset="-122"/>
                <a:cs typeface="Consolas" pitchFamily="34" charset="-120"/>
              </a:rPr>
              <a:t>(c[::-</a:t>
            </a:r>
            <a:r>
              <a:rPr lang="en-US" sz="1000" dirty="0">
                <a:solidFill>
                  <a:srgbClr val="F08A7C"/>
                </a:solidFill>
                <a:latin typeface="Consolas" pitchFamily="34" charset="0"/>
                <a:ea typeface="Consolas" pitchFamily="34" charset="-122"/>
                <a:cs typeface="Consolas" pitchFamily="34" charset="-120"/>
              </a:rPr>
              <a:t>1</a:t>
            </a:r>
            <a:r>
              <a:rPr lang="en-US" sz="1000" dirty="0">
                <a:solidFill>
                  <a:srgbClr val="D6E6EF"/>
                </a:solidFill>
                <a:latin typeface="Consolas" pitchFamily="34" charset="0"/>
                <a:ea typeface="Consolas" pitchFamily="34" charset="-122"/>
                <a:cs typeface="Consolas" pitchFamily="34" charset="-120"/>
              </a:rPr>
              <a:t>])   </a:t>
            </a:r>
            <a:r>
              <a:rPr lang="en-US" sz="1000" i="1" dirty="0">
                <a:solidFill>
                  <a:srgbClr val="6F93A3"/>
                </a:solidFill>
                <a:latin typeface="Consolas" pitchFamily="34" charset="0"/>
                <a:ea typeface="Consolas" pitchFamily="34" charset="-122"/>
                <a:cs typeface="Consolas" pitchFamily="34" charset="-120"/>
              </a:rPr>
              <a:t># [50 40 30 20 10  0]</a:t>
            </a:r>
            <a:endParaRPr lang="en-US" sz="1000" dirty="0"/>
          </a:p>
        </p:txBody>
      </p:sp>
      <p:sp>
        <p:nvSpPr>
          <p:cNvPr id="39" name="Shape 37"/>
          <p:cNvSpPr/>
          <p:nvPr/>
        </p:nvSpPr>
        <p:spPr>
          <a:xfrm>
            <a:off x="4526280" y="3931920"/>
            <a:ext cx="7086600" cy="1280160"/>
          </a:xfrm>
          <a:prstGeom prst="roundRect">
            <a:avLst>
              <a:gd name="adj" fmla="val 3571"/>
            </a:avLst>
          </a:prstGeom>
          <a:solidFill>
            <a:srgbClr val="FFFFFF"/>
          </a:solidFill>
          <a:ln w="9525">
            <a:solidFill>
              <a:srgbClr val="CFE5EE"/>
            </a:solidFill>
            <a:prstDash val="solid"/>
          </a:ln>
        </p:spPr>
      </p:sp>
      <p:sp>
        <p:nvSpPr>
          <p:cNvPr id="40" name="Text 38"/>
          <p:cNvSpPr/>
          <p:nvPr/>
        </p:nvSpPr>
        <p:spPr>
          <a:xfrm>
            <a:off x="4672584" y="4023360"/>
            <a:ext cx="6812280" cy="164592"/>
          </a:xfrm>
          <a:prstGeom prst="rect">
            <a:avLst/>
          </a:prstGeom>
          <a:noFill/>
          <a:ln/>
        </p:spPr>
        <p:txBody>
          <a:bodyPr wrap="square" lIns="0" tIns="0" rIns="0" bIns="0" rtlCol="0" anchor="t"/>
          <a:lstStyle/>
          <a:p>
            <a:pPr marL="0" indent="0">
              <a:buNone/>
            </a:pPr>
            <a:r>
              <a:rPr lang="en-US" sz="800" b="1" kern="0" spc="120" dirty="0">
                <a:solidFill>
                  <a:srgbClr val="2D8C6F"/>
                </a:solidFill>
                <a:latin typeface="Segoe UI" pitchFamily="34" charset="0"/>
                <a:ea typeface="Segoe UI" pitchFamily="34" charset="-122"/>
                <a:cs typeface="Segoe UI" pitchFamily="34" charset="-120"/>
              </a:rPr>
              <a:t>KẾT QUẢ</a:t>
            </a:r>
            <a:endParaRPr lang="en-US" sz="800" dirty="0"/>
          </a:p>
        </p:txBody>
      </p:sp>
      <p:sp>
        <p:nvSpPr>
          <p:cNvPr id="41" name="Text 39"/>
          <p:cNvSpPr/>
          <p:nvPr/>
        </p:nvSpPr>
        <p:spPr>
          <a:xfrm>
            <a:off x="4672584" y="4242816"/>
            <a:ext cx="6812280" cy="896112"/>
          </a:xfrm>
          <a:prstGeom prst="rect">
            <a:avLst/>
          </a:prstGeom>
          <a:noFill/>
          <a:ln/>
        </p:spPr>
        <p:txBody>
          <a:bodyPr wrap="square" lIns="0" tIns="0" rIns="0" bIns="0" rtlCol="0" anchor="t"/>
          <a:lstStyle/>
          <a:p>
            <a:pPr marL="0" indent="0">
              <a:lnSpc>
                <a:spcPct val="102000"/>
              </a:lnSpc>
              <a:buNone/>
            </a:pPr>
            <a:r>
              <a:rPr lang="en-US" sz="950" dirty="0">
                <a:solidFill>
                  <a:srgbClr val="062A3A"/>
                </a:solidFill>
                <a:latin typeface="Consolas" pitchFamily="34" charset="0"/>
                <a:ea typeface="Consolas" pitchFamily="34" charset="-122"/>
                <a:cs typeface="Consolas" pitchFamily="34" charset="-120"/>
              </a:rPr>
              <a:t>0</a:t>
            </a:r>
            <a:endParaRPr lang="en-US" sz="950" dirty="0"/>
          </a:p>
          <a:p>
            <a:pPr marL="0" indent="0">
              <a:lnSpc>
                <a:spcPct val="102000"/>
              </a:lnSpc>
              <a:buNone/>
            </a:pPr>
            <a:r>
              <a:rPr lang="en-US" sz="950" dirty="0">
                <a:solidFill>
                  <a:srgbClr val="062A3A"/>
                </a:solidFill>
                <a:latin typeface="Consolas" pitchFamily="34" charset="0"/>
                <a:ea typeface="Consolas" pitchFamily="34" charset="-122"/>
                <a:cs typeface="Consolas" pitchFamily="34" charset="-120"/>
              </a:rPr>
              <a:t>30</a:t>
            </a:r>
            <a:endParaRPr lang="en-US" sz="950" dirty="0"/>
          </a:p>
          <a:p>
            <a:pPr marL="0" indent="0">
              <a:lnSpc>
                <a:spcPct val="102000"/>
              </a:lnSpc>
              <a:buNone/>
            </a:pPr>
            <a:r>
              <a:rPr lang="en-US" sz="950" dirty="0">
                <a:solidFill>
                  <a:srgbClr val="062A3A"/>
                </a:solidFill>
                <a:latin typeface="Consolas" pitchFamily="34" charset="0"/>
                <a:ea typeface="Consolas" pitchFamily="34" charset="-122"/>
                <a:cs typeface="Consolas" pitchFamily="34" charset="-120"/>
              </a:rPr>
              <a:t>50</a:t>
            </a:r>
            <a:endParaRPr lang="en-US" sz="950" dirty="0"/>
          </a:p>
          <a:p>
            <a:pPr marL="0" indent="0">
              <a:lnSpc>
                <a:spcPct val="102000"/>
              </a:lnSpc>
              <a:buNone/>
            </a:pPr>
            <a:r>
              <a:rPr lang="en-US" sz="950" dirty="0">
                <a:solidFill>
                  <a:srgbClr val="062A3A"/>
                </a:solidFill>
                <a:latin typeface="Consolas" pitchFamily="34" charset="0"/>
                <a:ea typeface="Consolas" pitchFamily="34" charset="-122"/>
                <a:cs typeface="Consolas" pitchFamily="34" charset="-120"/>
              </a:rPr>
              <a:t>[10 20 30]   [ 0 20 40]   [50 40 30 20 10  0]</a:t>
            </a:r>
            <a:endParaRPr lang="en-US" sz="950" dirty="0"/>
          </a:p>
        </p:txBody>
      </p:sp>
      <p:sp>
        <p:nvSpPr>
          <p:cNvPr id="42" name="Text 40"/>
          <p:cNvSpPr/>
          <p:nvPr/>
        </p:nvSpPr>
        <p:spPr>
          <a:xfrm>
            <a:off x="548640" y="5440680"/>
            <a:ext cx="11064240" cy="411480"/>
          </a:xfrm>
          <a:prstGeom prst="rect">
            <a:avLst/>
          </a:prstGeom>
          <a:noFill/>
          <a:ln/>
        </p:spPr>
        <p:txBody>
          <a:bodyPr wrap="square" lIns="0" tIns="0" rIns="0" bIns="0" rtlCol="0" anchor="t"/>
          <a:lstStyle/>
          <a:p>
            <a:pPr marL="0" indent="0">
              <a:buNone/>
            </a:pPr>
            <a:r>
              <a:rPr lang="en-US" sz="1050" i="1" dirty="0">
                <a:solidFill>
                  <a:srgbClr val="728694"/>
                </a:solidFill>
                <a:latin typeface="Segoe UI" pitchFamily="34" charset="0"/>
                <a:ea typeface="Segoe UI" pitchFamily="34" charset="-122"/>
                <a:cs typeface="Segoe UI" pitchFamily="34" charset="-120"/>
              </a:rPr>
              <a:t>Slicing trả về view, không phải bản sao: sửa view sẽ sửa mảng gốc. Dùng .copy() nếu cần dữ liệu độc lập.</a:t>
            </a:r>
            <a:endParaRPr lang="en-US" sz="1050" dirty="0"/>
          </a:p>
        </p:txBody>
      </p:sp>
      <p:sp>
        <p:nvSpPr>
          <p:cNvPr id="43" name="Shape 41"/>
          <p:cNvSpPr/>
          <p:nvPr/>
        </p:nvSpPr>
        <p:spPr>
          <a:xfrm>
            <a:off x="548640" y="6391656"/>
            <a:ext cx="11091672" cy="9144"/>
          </a:xfrm>
          <a:prstGeom prst="rect">
            <a:avLst/>
          </a:prstGeom>
          <a:solidFill>
            <a:srgbClr val="D7E5EC"/>
          </a:solidFill>
          <a:ln w="12700">
            <a:solidFill>
              <a:srgbClr val="D7E5EC"/>
            </a:solidFill>
            <a:prstDash val="solid"/>
          </a:ln>
        </p:spPr>
      </p:sp>
      <p:sp>
        <p:nvSpPr>
          <p:cNvPr id="44" name="Text 42"/>
          <p:cNvSpPr/>
          <p:nvPr/>
        </p:nvSpPr>
        <p:spPr>
          <a:xfrm>
            <a:off x="548640" y="6473952"/>
            <a:ext cx="7772400" cy="182880"/>
          </a:xfrm>
          <a:prstGeom prst="rect">
            <a:avLst/>
          </a:prstGeom>
          <a:noFill/>
          <a:ln/>
        </p:spPr>
        <p:txBody>
          <a:bodyPr wrap="square" lIns="0" tIns="0" rIns="0" bIns="0" rtlCol="0" anchor="t"/>
          <a:lstStyle/>
          <a:p>
            <a:pPr marL="0" indent="0">
              <a:buNone/>
            </a:pPr>
            <a:r>
              <a:rPr lang="en-US" sz="850" dirty="0">
                <a:solidFill>
                  <a:srgbClr val="728694"/>
                </a:solidFill>
                <a:latin typeface="Segoe UI" pitchFamily="34" charset="0"/>
                <a:ea typeface="Segoe UI" pitchFamily="34" charset="-122"/>
                <a:cs typeface="Segoe UI" pitchFamily="34" charset="-120"/>
              </a:rPr>
              <a:t>Tìm hiểu thư viện NumPy trong Python</a:t>
            </a:r>
            <a:endParaRPr lang="en-US" sz="850" dirty="0"/>
          </a:p>
        </p:txBody>
      </p:sp>
      <p:sp>
        <p:nvSpPr>
          <p:cNvPr id="45" name="Text 43"/>
          <p:cNvSpPr/>
          <p:nvPr/>
        </p:nvSpPr>
        <p:spPr>
          <a:xfrm>
            <a:off x="10698480" y="6473952"/>
            <a:ext cx="941832" cy="182880"/>
          </a:xfrm>
          <a:prstGeom prst="rect">
            <a:avLst/>
          </a:prstGeom>
          <a:noFill/>
          <a:ln/>
        </p:spPr>
        <p:txBody>
          <a:bodyPr wrap="square" lIns="0" tIns="0" rIns="0" bIns="0" rtlCol="0" anchor="t"/>
          <a:lstStyle/>
          <a:p>
            <a:pPr marL="0" indent="0" algn="r">
              <a:buNone/>
            </a:pPr>
            <a:r>
              <a:rPr lang="en-US" sz="850" dirty="0">
                <a:solidFill>
                  <a:srgbClr val="728694"/>
                </a:solidFill>
                <a:latin typeface="Segoe UI" pitchFamily="34" charset="0"/>
                <a:ea typeface="Segoe UI" pitchFamily="34" charset="-122"/>
                <a:cs typeface="Segoe UI" pitchFamily="34" charset="-120"/>
              </a:rPr>
              <a:t>13 / 25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301752"/>
            <a:ext cx="10881360" cy="201168"/>
          </a:xfrm>
          <a:prstGeom prst="rect">
            <a:avLst/>
          </a:prstGeom>
          <a:noFill/>
          <a:ln/>
        </p:spPr>
        <p:txBody>
          <a:bodyPr wrap="square" lIns="0" tIns="0" rIns="0" bIns="0" rtlCol="0" anchor="t"/>
          <a:lstStyle/>
          <a:p>
            <a:pPr marL="0" indent="0">
              <a:buNone/>
            </a:pPr>
            <a:r>
              <a:rPr lang="en-US" sz="950" b="1" kern="0" spc="160" dirty="0">
                <a:solidFill>
                  <a:srgbClr val="1B8EA8"/>
                </a:solidFill>
                <a:latin typeface="Segoe UI" pitchFamily="34" charset="0"/>
                <a:ea typeface="Segoe UI" pitchFamily="34" charset="-122"/>
                <a:cs typeface="Segoe UI" pitchFamily="34" charset="-120"/>
              </a:rPr>
              <a:t>04 · TRUY CẬP DỮ LIỆU</a:t>
            </a:r>
            <a:endParaRPr lang="en-US" sz="950" dirty="0"/>
          </a:p>
        </p:txBody>
      </p:sp>
      <p:sp>
        <p:nvSpPr>
          <p:cNvPr id="3" name="Text 1"/>
          <p:cNvSpPr/>
          <p:nvPr/>
        </p:nvSpPr>
        <p:spPr>
          <a:xfrm>
            <a:off x="548640" y="502920"/>
            <a:ext cx="10881360" cy="640080"/>
          </a:xfrm>
          <a:prstGeom prst="rect">
            <a:avLst/>
          </a:prstGeom>
          <a:noFill/>
          <a:ln/>
        </p:spPr>
        <p:txBody>
          <a:bodyPr wrap="square" lIns="0" tIns="0" rIns="0" bIns="0" rtlCol="0" anchor="ctr"/>
          <a:lstStyle/>
          <a:p>
            <a:pPr marL="0" indent="0">
              <a:buNone/>
            </a:pPr>
            <a:r>
              <a:rPr lang="en-US" sz="2800" b="1" dirty="0">
                <a:solidFill>
                  <a:srgbClr val="062A3A"/>
                </a:solidFill>
                <a:latin typeface="Segoe UI" pitchFamily="34" charset="0"/>
                <a:ea typeface="Segoe UI" pitchFamily="34" charset="-122"/>
                <a:cs typeface="Segoe UI" pitchFamily="34" charset="-120"/>
              </a:rPr>
              <a:t>Indexing mảng 2-D: hàng, cột, khối con</a:t>
            </a:r>
            <a:endParaRPr lang="en-US" sz="2800" dirty="0"/>
          </a:p>
        </p:txBody>
      </p:sp>
      <p:sp>
        <p:nvSpPr>
          <p:cNvPr id="4" name="Shape 2"/>
          <p:cNvSpPr/>
          <p:nvPr/>
        </p:nvSpPr>
        <p:spPr>
          <a:xfrm>
            <a:off x="548640" y="1225296"/>
            <a:ext cx="868680" cy="41148"/>
          </a:xfrm>
          <a:prstGeom prst="rect">
            <a:avLst/>
          </a:prstGeom>
          <a:solidFill>
            <a:srgbClr val="1B8EA8"/>
          </a:solidFill>
          <a:ln w="12700">
            <a:solidFill>
              <a:srgbClr val="1B8EA8"/>
            </a:solidFill>
            <a:prstDash val="solid"/>
          </a:ln>
        </p:spPr>
      </p:sp>
      <p:sp>
        <p:nvSpPr>
          <p:cNvPr id="5" name="Text 3"/>
          <p:cNvSpPr/>
          <p:nvPr/>
        </p:nvSpPr>
        <p:spPr>
          <a:xfrm>
            <a:off x="502920" y="1417320"/>
            <a:ext cx="1783080" cy="219456"/>
          </a:xfrm>
          <a:prstGeom prst="rect">
            <a:avLst/>
          </a:prstGeom>
          <a:noFill/>
          <a:ln/>
        </p:spPr>
        <p:txBody>
          <a:bodyPr wrap="square" lIns="0" tIns="0" rIns="0" bIns="0" rtlCol="0" anchor="t"/>
          <a:lstStyle/>
          <a:p>
            <a:pPr marL="0" indent="0" algn="ctr">
              <a:buNone/>
            </a:pPr>
            <a:r>
              <a:rPr lang="en-US" sz="850" b="1" dirty="0">
                <a:solidFill>
                  <a:srgbClr val="415A6B"/>
                </a:solidFill>
                <a:latin typeface="Segoe UI" pitchFamily="34" charset="0"/>
                <a:ea typeface="Segoe UI" pitchFamily="34" charset="-122"/>
                <a:cs typeface="Segoe UI" pitchFamily="34" charset="-120"/>
              </a:rPr>
              <a:t>a[1] — cả hàng</a:t>
            </a:r>
            <a:endParaRPr lang="en-US" sz="850" dirty="0"/>
          </a:p>
        </p:txBody>
      </p:sp>
      <p:sp>
        <p:nvSpPr>
          <p:cNvPr id="6" name="Shape 4"/>
          <p:cNvSpPr/>
          <p:nvPr/>
        </p:nvSpPr>
        <p:spPr>
          <a:xfrm>
            <a:off x="548640" y="1828800"/>
            <a:ext cx="365760" cy="310896"/>
          </a:xfrm>
          <a:prstGeom prst="rect">
            <a:avLst/>
          </a:prstGeom>
          <a:solidFill>
            <a:srgbClr val="EAF4F8"/>
          </a:solidFill>
          <a:ln w="9525">
            <a:solidFill>
              <a:srgbClr val="A9CDDB"/>
            </a:solidFill>
            <a:prstDash val="solid"/>
          </a:ln>
        </p:spPr>
      </p:sp>
      <p:sp>
        <p:nvSpPr>
          <p:cNvPr id="7" name="Text 5"/>
          <p:cNvSpPr/>
          <p:nvPr/>
        </p:nvSpPr>
        <p:spPr>
          <a:xfrm>
            <a:off x="548640" y="1828800"/>
            <a:ext cx="365760" cy="310896"/>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10</a:t>
            </a:r>
            <a:endParaRPr lang="en-US" sz="850" dirty="0"/>
          </a:p>
        </p:txBody>
      </p:sp>
      <p:sp>
        <p:nvSpPr>
          <p:cNvPr id="8" name="Shape 6"/>
          <p:cNvSpPr/>
          <p:nvPr/>
        </p:nvSpPr>
        <p:spPr>
          <a:xfrm>
            <a:off x="914400" y="1828800"/>
            <a:ext cx="365760" cy="310896"/>
          </a:xfrm>
          <a:prstGeom prst="rect">
            <a:avLst/>
          </a:prstGeom>
          <a:solidFill>
            <a:srgbClr val="EAF4F8"/>
          </a:solidFill>
          <a:ln w="9525">
            <a:solidFill>
              <a:srgbClr val="A9CDDB"/>
            </a:solidFill>
            <a:prstDash val="solid"/>
          </a:ln>
        </p:spPr>
      </p:sp>
      <p:sp>
        <p:nvSpPr>
          <p:cNvPr id="9" name="Text 7"/>
          <p:cNvSpPr/>
          <p:nvPr/>
        </p:nvSpPr>
        <p:spPr>
          <a:xfrm>
            <a:off x="914400" y="1828800"/>
            <a:ext cx="365760" cy="310896"/>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11</a:t>
            </a:r>
            <a:endParaRPr lang="en-US" sz="850" dirty="0"/>
          </a:p>
        </p:txBody>
      </p:sp>
      <p:sp>
        <p:nvSpPr>
          <p:cNvPr id="10" name="Shape 8"/>
          <p:cNvSpPr/>
          <p:nvPr/>
        </p:nvSpPr>
        <p:spPr>
          <a:xfrm>
            <a:off x="1280160" y="1828800"/>
            <a:ext cx="365760" cy="310896"/>
          </a:xfrm>
          <a:prstGeom prst="rect">
            <a:avLst/>
          </a:prstGeom>
          <a:solidFill>
            <a:srgbClr val="EAF4F8"/>
          </a:solidFill>
          <a:ln w="9525">
            <a:solidFill>
              <a:srgbClr val="A9CDDB"/>
            </a:solidFill>
            <a:prstDash val="solid"/>
          </a:ln>
        </p:spPr>
      </p:sp>
      <p:sp>
        <p:nvSpPr>
          <p:cNvPr id="11" name="Text 9"/>
          <p:cNvSpPr/>
          <p:nvPr/>
        </p:nvSpPr>
        <p:spPr>
          <a:xfrm>
            <a:off x="1280160" y="1828800"/>
            <a:ext cx="365760" cy="310896"/>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12</a:t>
            </a:r>
            <a:endParaRPr lang="en-US" sz="850" dirty="0"/>
          </a:p>
        </p:txBody>
      </p:sp>
      <p:sp>
        <p:nvSpPr>
          <p:cNvPr id="12" name="Shape 10"/>
          <p:cNvSpPr/>
          <p:nvPr/>
        </p:nvSpPr>
        <p:spPr>
          <a:xfrm>
            <a:off x="1645920" y="1828800"/>
            <a:ext cx="365760" cy="310896"/>
          </a:xfrm>
          <a:prstGeom prst="rect">
            <a:avLst/>
          </a:prstGeom>
          <a:solidFill>
            <a:srgbClr val="EAF4F8"/>
          </a:solidFill>
          <a:ln w="9525">
            <a:solidFill>
              <a:srgbClr val="A9CDDB"/>
            </a:solidFill>
            <a:prstDash val="solid"/>
          </a:ln>
        </p:spPr>
      </p:sp>
      <p:sp>
        <p:nvSpPr>
          <p:cNvPr id="13" name="Text 11"/>
          <p:cNvSpPr/>
          <p:nvPr/>
        </p:nvSpPr>
        <p:spPr>
          <a:xfrm>
            <a:off x="1645920" y="1828800"/>
            <a:ext cx="365760" cy="310896"/>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13</a:t>
            </a:r>
            <a:endParaRPr lang="en-US" sz="850" dirty="0"/>
          </a:p>
        </p:txBody>
      </p:sp>
      <p:sp>
        <p:nvSpPr>
          <p:cNvPr id="14" name="Shape 12"/>
          <p:cNvSpPr/>
          <p:nvPr/>
        </p:nvSpPr>
        <p:spPr>
          <a:xfrm>
            <a:off x="548640" y="2139696"/>
            <a:ext cx="365760" cy="310896"/>
          </a:xfrm>
          <a:prstGeom prst="rect">
            <a:avLst/>
          </a:prstGeom>
          <a:solidFill>
            <a:srgbClr val="4DB8D4"/>
          </a:solidFill>
          <a:ln w="9525">
            <a:solidFill>
              <a:srgbClr val="A9CDDB"/>
            </a:solidFill>
            <a:prstDash val="solid"/>
          </a:ln>
        </p:spPr>
      </p:sp>
      <p:sp>
        <p:nvSpPr>
          <p:cNvPr id="15" name="Text 13"/>
          <p:cNvSpPr/>
          <p:nvPr/>
        </p:nvSpPr>
        <p:spPr>
          <a:xfrm>
            <a:off x="548640" y="2139696"/>
            <a:ext cx="365760" cy="310896"/>
          </a:xfrm>
          <a:prstGeom prst="rect">
            <a:avLst/>
          </a:prstGeom>
          <a:noFill/>
          <a:ln/>
        </p:spPr>
        <p:txBody>
          <a:bodyPr wrap="square" lIns="0" tIns="0" rIns="0" bIns="0" rtlCol="0" anchor="ctr"/>
          <a:lstStyle/>
          <a:p>
            <a:pPr marL="0" indent="0" algn="ctr">
              <a:buNone/>
            </a:pPr>
            <a:r>
              <a:rPr lang="en-US" sz="850" dirty="0">
                <a:solidFill>
                  <a:srgbClr val="FFFFFF"/>
                </a:solidFill>
                <a:latin typeface="Consolas" pitchFamily="34" charset="0"/>
                <a:ea typeface="Consolas" pitchFamily="34" charset="-122"/>
                <a:cs typeface="Consolas" pitchFamily="34" charset="-120"/>
              </a:rPr>
              <a:t>20</a:t>
            </a:r>
            <a:endParaRPr lang="en-US" sz="850" dirty="0"/>
          </a:p>
        </p:txBody>
      </p:sp>
      <p:sp>
        <p:nvSpPr>
          <p:cNvPr id="16" name="Shape 14"/>
          <p:cNvSpPr/>
          <p:nvPr/>
        </p:nvSpPr>
        <p:spPr>
          <a:xfrm>
            <a:off x="914400" y="2139696"/>
            <a:ext cx="365760" cy="310896"/>
          </a:xfrm>
          <a:prstGeom prst="rect">
            <a:avLst/>
          </a:prstGeom>
          <a:solidFill>
            <a:srgbClr val="4DB8D4"/>
          </a:solidFill>
          <a:ln w="9525">
            <a:solidFill>
              <a:srgbClr val="A9CDDB"/>
            </a:solidFill>
            <a:prstDash val="solid"/>
          </a:ln>
        </p:spPr>
      </p:sp>
      <p:sp>
        <p:nvSpPr>
          <p:cNvPr id="17" name="Text 15"/>
          <p:cNvSpPr/>
          <p:nvPr/>
        </p:nvSpPr>
        <p:spPr>
          <a:xfrm>
            <a:off x="914400" y="2139696"/>
            <a:ext cx="365760" cy="310896"/>
          </a:xfrm>
          <a:prstGeom prst="rect">
            <a:avLst/>
          </a:prstGeom>
          <a:noFill/>
          <a:ln/>
        </p:spPr>
        <p:txBody>
          <a:bodyPr wrap="square" lIns="0" tIns="0" rIns="0" bIns="0" rtlCol="0" anchor="ctr"/>
          <a:lstStyle/>
          <a:p>
            <a:pPr marL="0" indent="0" algn="ctr">
              <a:buNone/>
            </a:pPr>
            <a:r>
              <a:rPr lang="en-US" sz="850" dirty="0">
                <a:solidFill>
                  <a:srgbClr val="FFFFFF"/>
                </a:solidFill>
                <a:latin typeface="Consolas" pitchFamily="34" charset="0"/>
                <a:ea typeface="Consolas" pitchFamily="34" charset="-122"/>
                <a:cs typeface="Consolas" pitchFamily="34" charset="-120"/>
              </a:rPr>
              <a:t>21</a:t>
            </a:r>
            <a:endParaRPr lang="en-US" sz="850" dirty="0"/>
          </a:p>
        </p:txBody>
      </p:sp>
      <p:sp>
        <p:nvSpPr>
          <p:cNvPr id="18" name="Shape 16"/>
          <p:cNvSpPr/>
          <p:nvPr/>
        </p:nvSpPr>
        <p:spPr>
          <a:xfrm>
            <a:off x="1280160" y="2139696"/>
            <a:ext cx="365760" cy="310896"/>
          </a:xfrm>
          <a:prstGeom prst="rect">
            <a:avLst/>
          </a:prstGeom>
          <a:solidFill>
            <a:srgbClr val="4DB8D4"/>
          </a:solidFill>
          <a:ln w="9525">
            <a:solidFill>
              <a:srgbClr val="A9CDDB"/>
            </a:solidFill>
            <a:prstDash val="solid"/>
          </a:ln>
        </p:spPr>
      </p:sp>
      <p:sp>
        <p:nvSpPr>
          <p:cNvPr id="19" name="Text 17"/>
          <p:cNvSpPr/>
          <p:nvPr/>
        </p:nvSpPr>
        <p:spPr>
          <a:xfrm>
            <a:off x="1280160" y="2139696"/>
            <a:ext cx="365760" cy="310896"/>
          </a:xfrm>
          <a:prstGeom prst="rect">
            <a:avLst/>
          </a:prstGeom>
          <a:noFill/>
          <a:ln/>
        </p:spPr>
        <p:txBody>
          <a:bodyPr wrap="square" lIns="0" tIns="0" rIns="0" bIns="0" rtlCol="0" anchor="ctr"/>
          <a:lstStyle/>
          <a:p>
            <a:pPr marL="0" indent="0" algn="ctr">
              <a:buNone/>
            </a:pPr>
            <a:r>
              <a:rPr lang="en-US" sz="850" dirty="0">
                <a:solidFill>
                  <a:srgbClr val="FFFFFF"/>
                </a:solidFill>
                <a:latin typeface="Consolas" pitchFamily="34" charset="0"/>
                <a:ea typeface="Consolas" pitchFamily="34" charset="-122"/>
                <a:cs typeface="Consolas" pitchFamily="34" charset="-120"/>
              </a:rPr>
              <a:t>22</a:t>
            </a:r>
            <a:endParaRPr lang="en-US" sz="850" dirty="0"/>
          </a:p>
        </p:txBody>
      </p:sp>
      <p:sp>
        <p:nvSpPr>
          <p:cNvPr id="20" name="Shape 18"/>
          <p:cNvSpPr/>
          <p:nvPr/>
        </p:nvSpPr>
        <p:spPr>
          <a:xfrm>
            <a:off x="1645920" y="2139696"/>
            <a:ext cx="365760" cy="310896"/>
          </a:xfrm>
          <a:prstGeom prst="rect">
            <a:avLst/>
          </a:prstGeom>
          <a:solidFill>
            <a:srgbClr val="4DB8D4"/>
          </a:solidFill>
          <a:ln w="9525">
            <a:solidFill>
              <a:srgbClr val="A9CDDB"/>
            </a:solidFill>
            <a:prstDash val="solid"/>
          </a:ln>
        </p:spPr>
      </p:sp>
      <p:sp>
        <p:nvSpPr>
          <p:cNvPr id="21" name="Text 19"/>
          <p:cNvSpPr/>
          <p:nvPr/>
        </p:nvSpPr>
        <p:spPr>
          <a:xfrm>
            <a:off x="1645920" y="2139696"/>
            <a:ext cx="365760" cy="310896"/>
          </a:xfrm>
          <a:prstGeom prst="rect">
            <a:avLst/>
          </a:prstGeom>
          <a:noFill/>
          <a:ln/>
        </p:spPr>
        <p:txBody>
          <a:bodyPr wrap="square" lIns="0" tIns="0" rIns="0" bIns="0" rtlCol="0" anchor="ctr"/>
          <a:lstStyle/>
          <a:p>
            <a:pPr marL="0" indent="0" algn="ctr">
              <a:buNone/>
            </a:pPr>
            <a:r>
              <a:rPr lang="en-US" sz="850" dirty="0">
                <a:solidFill>
                  <a:srgbClr val="FFFFFF"/>
                </a:solidFill>
                <a:latin typeface="Consolas" pitchFamily="34" charset="0"/>
                <a:ea typeface="Consolas" pitchFamily="34" charset="-122"/>
                <a:cs typeface="Consolas" pitchFamily="34" charset="-120"/>
              </a:rPr>
              <a:t>23</a:t>
            </a:r>
            <a:endParaRPr lang="en-US" sz="850" dirty="0"/>
          </a:p>
        </p:txBody>
      </p:sp>
      <p:sp>
        <p:nvSpPr>
          <p:cNvPr id="22" name="Shape 20"/>
          <p:cNvSpPr/>
          <p:nvPr/>
        </p:nvSpPr>
        <p:spPr>
          <a:xfrm>
            <a:off x="548640" y="2450592"/>
            <a:ext cx="365760" cy="310896"/>
          </a:xfrm>
          <a:prstGeom prst="rect">
            <a:avLst/>
          </a:prstGeom>
          <a:solidFill>
            <a:srgbClr val="EAF4F8"/>
          </a:solidFill>
          <a:ln w="9525">
            <a:solidFill>
              <a:srgbClr val="A9CDDB"/>
            </a:solidFill>
            <a:prstDash val="solid"/>
          </a:ln>
        </p:spPr>
      </p:sp>
      <p:sp>
        <p:nvSpPr>
          <p:cNvPr id="23" name="Text 21"/>
          <p:cNvSpPr/>
          <p:nvPr/>
        </p:nvSpPr>
        <p:spPr>
          <a:xfrm>
            <a:off x="548640" y="2450592"/>
            <a:ext cx="365760" cy="310896"/>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30</a:t>
            </a:r>
            <a:endParaRPr lang="en-US" sz="850" dirty="0"/>
          </a:p>
        </p:txBody>
      </p:sp>
      <p:sp>
        <p:nvSpPr>
          <p:cNvPr id="24" name="Shape 22"/>
          <p:cNvSpPr/>
          <p:nvPr/>
        </p:nvSpPr>
        <p:spPr>
          <a:xfrm>
            <a:off x="914400" y="2450592"/>
            <a:ext cx="365760" cy="310896"/>
          </a:xfrm>
          <a:prstGeom prst="rect">
            <a:avLst/>
          </a:prstGeom>
          <a:solidFill>
            <a:srgbClr val="EAF4F8"/>
          </a:solidFill>
          <a:ln w="9525">
            <a:solidFill>
              <a:srgbClr val="A9CDDB"/>
            </a:solidFill>
            <a:prstDash val="solid"/>
          </a:ln>
        </p:spPr>
      </p:sp>
      <p:sp>
        <p:nvSpPr>
          <p:cNvPr id="25" name="Text 23"/>
          <p:cNvSpPr/>
          <p:nvPr/>
        </p:nvSpPr>
        <p:spPr>
          <a:xfrm>
            <a:off x="914400" y="2450592"/>
            <a:ext cx="365760" cy="310896"/>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31</a:t>
            </a:r>
            <a:endParaRPr lang="en-US" sz="850" dirty="0"/>
          </a:p>
        </p:txBody>
      </p:sp>
      <p:sp>
        <p:nvSpPr>
          <p:cNvPr id="26" name="Shape 24"/>
          <p:cNvSpPr/>
          <p:nvPr/>
        </p:nvSpPr>
        <p:spPr>
          <a:xfrm>
            <a:off x="1280160" y="2450592"/>
            <a:ext cx="365760" cy="310896"/>
          </a:xfrm>
          <a:prstGeom prst="rect">
            <a:avLst/>
          </a:prstGeom>
          <a:solidFill>
            <a:srgbClr val="EAF4F8"/>
          </a:solidFill>
          <a:ln w="9525">
            <a:solidFill>
              <a:srgbClr val="A9CDDB"/>
            </a:solidFill>
            <a:prstDash val="solid"/>
          </a:ln>
        </p:spPr>
      </p:sp>
      <p:sp>
        <p:nvSpPr>
          <p:cNvPr id="27" name="Text 25"/>
          <p:cNvSpPr/>
          <p:nvPr/>
        </p:nvSpPr>
        <p:spPr>
          <a:xfrm>
            <a:off x="1280160" y="2450592"/>
            <a:ext cx="365760" cy="310896"/>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32</a:t>
            </a:r>
            <a:endParaRPr lang="en-US" sz="850" dirty="0"/>
          </a:p>
        </p:txBody>
      </p:sp>
      <p:sp>
        <p:nvSpPr>
          <p:cNvPr id="28" name="Shape 26"/>
          <p:cNvSpPr/>
          <p:nvPr/>
        </p:nvSpPr>
        <p:spPr>
          <a:xfrm>
            <a:off x="1645920" y="2450592"/>
            <a:ext cx="365760" cy="310896"/>
          </a:xfrm>
          <a:prstGeom prst="rect">
            <a:avLst/>
          </a:prstGeom>
          <a:solidFill>
            <a:srgbClr val="EAF4F8"/>
          </a:solidFill>
          <a:ln w="9525">
            <a:solidFill>
              <a:srgbClr val="A9CDDB"/>
            </a:solidFill>
            <a:prstDash val="solid"/>
          </a:ln>
        </p:spPr>
      </p:sp>
      <p:sp>
        <p:nvSpPr>
          <p:cNvPr id="29" name="Text 27"/>
          <p:cNvSpPr/>
          <p:nvPr/>
        </p:nvSpPr>
        <p:spPr>
          <a:xfrm>
            <a:off x="1645920" y="2450592"/>
            <a:ext cx="365760" cy="310896"/>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33</a:t>
            </a:r>
            <a:endParaRPr lang="en-US" sz="850" dirty="0"/>
          </a:p>
        </p:txBody>
      </p:sp>
      <p:sp>
        <p:nvSpPr>
          <p:cNvPr id="30" name="Text 28"/>
          <p:cNvSpPr/>
          <p:nvPr/>
        </p:nvSpPr>
        <p:spPr>
          <a:xfrm>
            <a:off x="548640" y="1627632"/>
            <a:ext cx="365760" cy="182880"/>
          </a:xfrm>
          <a:prstGeom prst="rect">
            <a:avLst/>
          </a:prstGeom>
          <a:noFill/>
          <a:ln/>
        </p:spPr>
        <p:txBody>
          <a:bodyPr wrap="square" lIns="0" tIns="0" rIns="0" bIns="0" rtlCol="0" anchor="t"/>
          <a:lstStyle/>
          <a:p>
            <a:pPr marL="0" indent="0" algn="ctr">
              <a:buNone/>
            </a:pPr>
            <a:r>
              <a:rPr lang="en-US" sz="850" dirty="0">
                <a:solidFill>
                  <a:srgbClr val="728694"/>
                </a:solidFill>
                <a:latin typeface="Consolas" pitchFamily="34" charset="0"/>
                <a:ea typeface="Consolas" pitchFamily="34" charset="-122"/>
                <a:cs typeface="Consolas" pitchFamily="34" charset="-120"/>
              </a:rPr>
              <a:t>0</a:t>
            </a:r>
            <a:endParaRPr lang="en-US" sz="850" dirty="0"/>
          </a:p>
        </p:txBody>
      </p:sp>
      <p:sp>
        <p:nvSpPr>
          <p:cNvPr id="31" name="Text 29"/>
          <p:cNvSpPr/>
          <p:nvPr/>
        </p:nvSpPr>
        <p:spPr>
          <a:xfrm>
            <a:off x="914400" y="1627632"/>
            <a:ext cx="365760" cy="182880"/>
          </a:xfrm>
          <a:prstGeom prst="rect">
            <a:avLst/>
          </a:prstGeom>
          <a:noFill/>
          <a:ln/>
        </p:spPr>
        <p:txBody>
          <a:bodyPr wrap="square" lIns="0" tIns="0" rIns="0" bIns="0" rtlCol="0" anchor="t"/>
          <a:lstStyle/>
          <a:p>
            <a:pPr marL="0" indent="0" algn="ctr">
              <a:buNone/>
            </a:pPr>
            <a:r>
              <a:rPr lang="en-US" sz="850" dirty="0">
                <a:solidFill>
                  <a:srgbClr val="728694"/>
                </a:solidFill>
                <a:latin typeface="Consolas" pitchFamily="34" charset="0"/>
                <a:ea typeface="Consolas" pitchFamily="34" charset="-122"/>
                <a:cs typeface="Consolas" pitchFamily="34" charset="-120"/>
              </a:rPr>
              <a:t>1</a:t>
            </a:r>
            <a:endParaRPr lang="en-US" sz="850" dirty="0"/>
          </a:p>
        </p:txBody>
      </p:sp>
      <p:sp>
        <p:nvSpPr>
          <p:cNvPr id="32" name="Text 30"/>
          <p:cNvSpPr/>
          <p:nvPr/>
        </p:nvSpPr>
        <p:spPr>
          <a:xfrm>
            <a:off x="1280160" y="1627632"/>
            <a:ext cx="365760" cy="182880"/>
          </a:xfrm>
          <a:prstGeom prst="rect">
            <a:avLst/>
          </a:prstGeom>
          <a:noFill/>
          <a:ln/>
        </p:spPr>
        <p:txBody>
          <a:bodyPr wrap="square" lIns="0" tIns="0" rIns="0" bIns="0" rtlCol="0" anchor="t"/>
          <a:lstStyle/>
          <a:p>
            <a:pPr marL="0" indent="0" algn="ctr">
              <a:buNone/>
            </a:pPr>
            <a:r>
              <a:rPr lang="en-US" sz="850" dirty="0">
                <a:solidFill>
                  <a:srgbClr val="728694"/>
                </a:solidFill>
                <a:latin typeface="Consolas" pitchFamily="34" charset="0"/>
                <a:ea typeface="Consolas" pitchFamily="34" charset="-122"/>
                <a:cs typeface="Consolas" pitchFamily="34" charset="-120"/>
              </a:rPr>
              <a:t>2</a:t>
            </a:r>
            <a:endParaRPr lang="en-US" sz="850" dirty="0"/>
          </a:p>
        </p:txBody>
      </p:sp>
      <p:sp>
        <p:nvSpPr>
          <p:cNvPr id="33" name="Text 31"/>
          <p:cNvSpPr/>
          <p:nvPr/>
        </p:nvSpPr>
        <p:spPr>
          <a:xfrm>
            <a:off x="1645920" y="1627632"/>
            <a:ext cx="365760" cy="182880"/>
          </a:xfrm>
          <a:prstGeom prst="rect">
            <a:avLst/>
          </a:prstGeom>
          <a:noFill/>
          <a:ln/>
        </p:spPr>
        <p:txBody>
          <a:bodyPr wrap="square" lIns="0" tIns="0" rIns="0" bIns="0" rtlCol="0" anchor="t"/>
          <a:lstStyle/>
          <a:p>
            <a:pPr marL="0" indent="0" algn="ctr">
              <a:buNone/>
            </a:pPr>
            <a:r>
              <a:rPr lang="en-US" sz="850" dirty="0">
                <a:solidFill>
                  <a:srgbClr val="728694"/>
                </a:solidFill>
                <a:latin typeface="Consolas" pitchFamily="34" charset="0"/>
                <a:ea typeface="Consolas" pitchFamily="34" charset="-122"/>
                <a:cs typeface="Consolas" pitchFamily="34" charset="-120"/>
              </a:rPr>
              <a:t>3</a:t>
            </a:r>
            <a:endParaRPr lang="en-US" sz="850" dirty="0"/>
          </a:p>
        </p:txBody>
      </p:sp>
      <p:sp>
        <p:nvSpPr>
          <p:cNvPr id="34" name="Text 32"/>
          <p:cNvSpPr/>
          <p:nvPr/>
        </p:nvSpPr>
        <p:spPr>
          <a:xfrm>
            <a:off x="329184" y="1828800"/>
            <a:ext cx="182880" cy="310896"/>
          </a:xfrm>
          <a:prstGeom prst="rect">
            <a:avLst/>
          </a:prstGeom>
          <a:noFill/>
          <a:ln/>
        </p:spPr>
        <p:txBody>
          <a:bodyPr wrap="square" lIns="0" tIns="0" rIns="0" bIns="0" rtlCol="0" anchor="ctr"/>
          <a:lstStyle/>
          <a:p>
            <a:pPr marL="0" indent="0" algn="ctr">
              <a:buNone/>
            </a:pPr>
            <a:r>
              <a:rPr lang="en-US" sz="850" dirty="0">
                <a:solidFill>
                  <a:srgbClr val="728694"/>
                </a:solidFill>
                <a:latin typeface="Consolas" pitchFamily="34" charset="0"/>
                <a:ea typeface="Consolas" pitchFamily="34" charset="-122"/>
                <a:cs typeface="Consolas" pitchFamily="34" charset="-120"/>
              </a:rPr>
              <a:t>0</a:t>
            </a:r>
            <a:endParaRPr lang="en-US" sz="850" dirty="0"/>
          </a:p>
        </p:txBody>
      </p:sp>
      <p:sp>
        <p:nvSpPr>
          <p:cNvPr id="35" name="Text 33"/>
          <p:cNvSpPr/>
          <p:nvPr/>
        </p:nvSpPr>
        <p:spPr>
          <a:xfrm>
            <a:off x="329184" y="2139696"/>
            <a:ext cx="182880" cy="310896"/>
          </a:xfrm>
          <a:prstGeom prst="rect">
            <a:avLst/>
          </a:prstGeom>
          <a:noFill/>
          <a:ln/>
        </p:spPr>
        <p:txBody>
          <a:bodyPr wrap="square" lIns="0" tIns="0" rIns="0" bIns="0" rtlCol="0" anchor="ctr"/>
          <a:lstStyle/>
          <a:p>
            <a:pPr marL="0" indent="0" algn="ctr">
              <a:buNone/>
            </a:pPr>
            <a:r>
              <a:rPr lang="en-US" sz="850" dirty="0">
                <a:solidFill>
                  <a:srgbClr val="728694"/>
                </a:solidFill>
                <a:latin typeface="Consolas" pitchFamily="34" charset="0"/>
                <a:ea typeface="Consolas" pitchFamily="34" charset="-122"/>
                <a:cs typeface="Consolas" pitchFamily="34" charset="-120"/>
              </a:rPr>
              <a:t>1</a:t>
            </a:r>
            <a:endParaRPr lang="en-US" sz="850" dirty="0"/>
          </a:p>
        </p:txBody>
      </p:sp>
      <p:sp>
        <p:nvSpPr>
          <p:cNvPr id="36" name="Text 34"/>
          <p:cNvSpPr/>
          <p:nvPr/>
        </p:nvSpPr>
        <p:spPr>
          <a:xfrm>
            <a:off x="329184" y="2450592"/>
            <a:ext cx="182880" cy="310896"/>
          </a:xfrm>
          <a:prstGeom prst="rect">
            <a:avLst/>
          </a:prstGeom>
          <a:noFill/>
          <a:ln/>
        </p:spPr>
        <p:txBody>
          <a:bodyPr wrap="square" lIns="0" tIns="0" rIns="0" bIns="0" rtlCol="0" anchor="ctr"/>
          <a:lstStyle/>
          <a:p>
            <a:pPr marL="0" indent="0" algn="ctr">
              <a:buNone/>
            </a:pPr>
            <a:r>
              <a:rPr lang="en-US" sz="850" dirty="0">
                <a:solidFill>
                  <a:srgbClr val="728694"/>
                </a:solidFill>
                <a:latin typeface="Consolas" pitchFamily="34" charset="0"/>
                <a:ea typeface="Consolas" pitchFamily="34" charset="-122"/>
                <a:cs typeface="Consolas" pitchFamily="34" charset="-120"/>
              </a:rPr>
              <a:t>2</a:t>
            </a:r>
            <a:endParaRPr lang="en-US" sz="850" dirty="0"/>
          </a:p>
        </p:txBody>
      </p:sp>
      <p:sp>
        <p:nvSpPr>
          <p:cNvPr id="37" name="Text 35"/>
          <p:cNvSpPr/>
          <p:nvPr/>
        </p:nvSpPr>
        <p:spPr>
          <a:xfrm>
            <a:off x="2313432" y="1417320"/>
            <a:ext cx="1783080" cy="219456"/>
          </a:xfrm>
          <a:prstGeom prst="rect">
            <a:avLst/>
          </a:prstGeom>
          <a:noFill/>
          <a:ln/>
        </p:spPr>
        <p:txBody>
          <a:bodyPr wrap="square" lIns="0" tIns="0" rIns="0" bIns="0" rtlCol="0" anchor="t"/>
          <a:lstStyle/>
          <a:p>
            <a:pPr marL="0" indent="0" algn="ctr">
              <a:buNone/>
            </a:pPr>
            <a:r>
              <a:rPr lang="en-US" sz="850" b="1" dirty="0">
                <a:solidFill>
                  <a:srgbClr val="415A6B"/>
                </a:solidFill>
                <a:latin typeface="Segoe UI" pitchFamily="34" charset="0"/>
                <a:ea typeface="Segoe UI" pitchFamily="34" charset="-122"/>
                <a:cs typeface="Segoe UI" pitchFamily="34" charset="-120"/>
              </a:rPr>
              <a:t>a[:, 2] — cả cột</a:t>
            </a:r>
            <a:endParaRPr lang="en-US" sz="850" dirty="0"/>
          </a:p>
        </p:txBody>
      </p:sp>
      <p:sp>
        <p:nvSpPr>
          <p:cNvPr id="38" name="Shape 36"/>
          <p:cNvSpPr/>
          <p:nvPr/>
        </p:nvSpPr>
        <p:spPr>
          <a:xfrm>
            <a:off x="2359152" y="1828800"/>
            <a:ext cx="365760" cy="310896"/>
          </a:xfrm>
          <a:prstGeom prst="rect">
            <a:avLst/>
          </a:prstGeom>
          <a:solidFill>
            <a:srgbClr val="EAF4F8"/>
          </a:solidFill>
          <a:ln w="9525">
            <a:solidFill>
              <a:srgbClr val="A9CDDB"/>
            </a:solidFill>
            <a:prstDash val="solid"/>
          </a:ln>
        </p:spPr>
      </p:sp>
      <p:sp>
        <p:nvSpPr>
          <p:cNvPr id="39" name="Text 37"/>
          <p:cNvSpPr/>
          <p:nvPr/>
        </p:nvSpPr>
        <p:spPr>
          <a:xfrm>
            <a:off x="2359152" y="1828800"/>
            <a:ext cx="365760" cy="310896"/>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10</a:t>
            </a:r>
            <a:endParaRPr lang="en-US" sz="850" dirty="0"/>
          </a:p>
        </p:txBody>
      </p:sp>
      <p:sp>
        <p:nvSpPr>
          <p:cNvPr id="40" name="Shape 38"/>
          <p:cNvSpPr/>
          <p:nvPr/>
        </p:nvSpPr>
        <p:spPr>
          <a:xfrm>
            <a:off x="2724912" y="1828800"/>
            <a:ext cx="365760" cy="310896"/>
          </a:xfrm>
          <a:prstGeom prst="rect">
            <a:avLst/>
          </a:prstGeom>
          <a:solidFill>
            <a:srgbClr val="EAF4F8"/>
          </a:solidFill>
          <a:ln w="9525">
            <a:solidFill>
              <a:srgbClr val="A9CDDB"/>
            </a:solidFill>
            <a:prstDash val="solid"/>
          </a:ln>
        </p:spPr>
      </p:sp>
      <p:sp>
        <p:nvSpPr>
          <p:cNvPr id="41" name="Text 39"/>
          <p:cNvSpPr/>
          <p:nvPr/>
        </p:nvSpPr>
        <p:spPr>
          <a:xfrm>
            <a:off x="2724912" y="1828800"/>
            <a:ext cx="365760" cy="310896"/>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11</a:t>
            </a:r>
            <a:endParaRPr lang="en-US" sz="850" dirty="0"/>
          </a:p>
        </p:txBody>
      </p:sp>
      <p:sp>
        <p:nvSpPr>
          <p:cNvPr id="42" name="Shape 40"/>
          <p:cNvSpPr/>
          <p:nvPr/>
        </p:nvSpPr>
        <p:spPr>
          <a:xfrm>
            <a:off x="3090672" y="1828800"/>
            <a:ext cx="365760" cy="310896"/>
          </a:xfrm>
          <a:prstGeom prst="rect">
            <a:avLst/>
          </a:prstGeom>
          <a:solidFill>
            <a:srgbClr val="1B8EA8"/>
          </a:solidFill>
          <a:ln w="9525">
            <a:solidFill>
              <a:srgbClr val="A9CDDB"/>
            </a:solidFill>
            <a:prstDash val="solid"/>
          </a:ln>
        </p:spPr>
      </p:sp>
      <p:sp>
        <p:nvSpPr>
          <p:cNvPr id="43" name="Text 41"/>
          <p:cNvSpPr/>
          <p:nvPr/>
        </p:nvSpPr>
        <p:spPr>
          <a:xfrm>
            <a:off x="3090672" y="1828800"/>
            <a:ext cx="365760" cy="310896"/>
          </a:xfrm>
          <a:prstGeom prst="rect">
            <a:avLst/>
          </a:prstGeom>
          <a:noFill/>
          <a:ln/>
        </p:spPr>
        <p:txBody>
          <a:bodyPr wrap="square" lIns="0" tIns="0" rIns="0" bIns="0" rtlCol="0" anchor="ctr"/>
          <a:lstStyle/>
          <a:p>
            <a:pPr marL="0" indent="0" algn="ctr">
              <a:buNone/>
            </a:pPr>
            <a:r>
              <a:rPr lang="en-US" sz="850" dirty="0">
                <a:solidFill>
                  <a:srgbClr val="FFFFFF"/>
                </a:solidFill>
                <a:latin typeface="Consolas" pitchFamily="34" charset="0"/>
                <a:ea typeface="Consolas" pitchFamily="34" charset="-122"/>
                <a:cs typeface="Consolas" pitchFamily="34" charset="-120"/>
              </a:rPr>
              <a:t>12</a:t>
            </a:r>
            <a:endParaRPr lang="en-US" sz="850" dirty="0"/>
          </a:p>
        </p:txBody>
      </p:sp>
      <p:sp>
        <p:nvSpPr>
          <p:cNvPr id="44" name="Shape 42"/>
          <p:cNvSpPr/>
          <p:nvPr/>
        </p:nvSpPr>
        <p:spPr>
          <a:xfrm>
            <a:off x="3456432" y="1828800"/>
            <a:ext cx="365760" cy="310896"/>
          </a:xfrm>
          <a:prstGeom prst="rect">
            <a:avLst/>
          </a:prstGeom>
          <a:solidFill>
            <a:srgbClr val="EAF4F8"/>
          </a:solidFill>
          <a:ln w="9525">
            <a:solidFill>
              <a:srgbClr val="A9CDDB"/>
            </a:solidFill>
            <a:prstDash val="solid"/>
          </a:ln>
        </p:spPr>
      </p:sp>
      <p:sp>
        <p:nvSpPr>
          <p:cNvPr id="45" name="Text 43"/>
          <p:cNvSpPr/>
          <p:nvPr/>
        </p:nvSpPr>
        <p:spPr>
          <a:xfrm>
            <a:off x="3456432" y="1828800"/>
            <a:ext cx="365760" cy="310896"/>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13</a:t>
            </a:r>
            <a:endParaRPr lang="en-US" sz="850" dirty="0"/>
          </a:p>
        </p:txBody>
      </p:sp>
      <p:sp>
        <p:nvSpPr>
          <p:cNvPr id="46" name="Shape 44"/>
          <p:cNvSpPr/>
          <p:nvPr/>
        </p:nvSpPr>
        <p:spPr>
          <a:xfrm>
            <a:off x="2359152" y="2139696"/>
            <a:ext cx="365760" cy="310896"/>
          </a:xfrm>
          <a:prstGeom prst="rect">
            <a:avLst/>
          </a:prstGeom>
          <a:solidFill>
            <a:srgbClr val="EAF4F8"/>
          </a:solidFill>
          <a:ln w="9525">
            <a:solidFill>
              <a:srgbClr val="A9CDDB"/>
            </a:solidFill>
            <a:prstDash val="solid"/>
          </a:ln>
        </p:spPr>
      </p:sp>
      <p:sp>
        <p:nvSpPr>
          <p:cNvPr id="47" name="Text 45"/>
          <p:cNvSpPr/>
          <p:nvPr/>
        </p:nvSpPr>
        <p:spPr>
          <a:xfrm>
            <a:off x="2359152" y="2139696"/>
            <a:ext cx="365760" cy="310896"/>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20</a:t>
            </a:r>
            <a:endParaRPr lang="en-US" sz="850" dirty="0"/>
          </a:p>
        </p:txBody>
      </p:sp>
      <p:sp>
        <p:nvSpPr>
          <p:cNvPr id="48" name="Shape 46"/>
          <p:cNvSpPr/>
          <p:nvPr/>
        </p:nvSpPr>
        <p:spPr>
          <a:xfrm>
            <a:off x="2724912" y="2139696"/>
            <a:ext cx="365760" cy="310896"/>
          </a:xfrm>
          <a:prstGeom prst="rect">
            <a:avLst/>
          </a:prstGeom>
          <a:solidFill>
            <a:srgbClr val="EAF4F8"/>
          </a:solidFill>
          <a:ln w="9525">
            <a:solidFill>
              <a:srgbClr val="A9CDDB"/>
            </a:solidFill>
            <a:prstDash val="solid"/>
          </a:ln>
        </p:spPr>
      </p:sp>
      <p:sp>
        <p:nvSpPr>
          <p:cNvPr id="49" name="Text 47"/>
          <p:cNvSpPr/>
          <p:nvPr/>
        </p:nvSpPr>
        <p:spPr>
          <a:xfrm>
            <a:off x="2724912" y="2139696"/>
            <a:ext cx="365760" cy="310896"/>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21</a:t>
            </a:r>
            <a:endParaRPr lang="en-US" sz="850" dirty="0"/>
          </a:p>
        </p:txBody>
      </p:sp>
      <p:sp>
        <p:nvSpPr>
          <p:cNvPr id="50" name="Shape 48"/>
          <p:cNvSpPr/>
          <p:nvPr/>
        </p:nvSpPr>
        <p:spPr>
          <a:xfrm>
            <a:off x="3090672" y="2139696"/>
            <a:ext cx="365760" cy="310896"/>
          </a:xfrm>
          <a:prstGeom prst="rect">
            <a:avLst/>
          </a:prstGeom>
          <a:solidFill>
            <a:srgbClr val="1B8EA8"/>
          </a:solidFill>
          <a:ln w="9525">
            <a:solidFill>
              <a:srgbClr val="A9CDDB"/>
            </a:solidFill>
            <a:prstDash val="solid"/>
          </a:ln>
        </p:spPr>
      </p:sp>
      <p:sp>
        <p:nvSpPr>
          <p:cNvPr id="51" name="Text 49"/>
          <p:cNvSpPr/>
          <p:nvPr/>
        </p:nvSpPr>
        <p:spPr>
          <a:xfrm>
            <a:off x="3090672" y="2139696"/>
            <a:ext cx="365760" cy="310896"/>
          </a:xfrm>
          <a:prstGeom prst="rect">
            <a:avLst/>
          </a:prstGeom>
          <a:noFill/>
          <a:ln/>
        </p:spPr>
        <p:txBody>
          <a:bodyPr wrap="square" lIns="0" tIns="0" rIns="0" bIns="0" rtlCol="0" anchor="ctr"/>
          <a:lstStyle/>
          <a:p>
            <a:pPr marL="0" indent="0" algn="ctr">
              <a:buNone/>
            </a:pPr>
            <a:r>
              <a:rPr lang="en-US" sz="850" dirty="0">
                <a:solidFill>
                  <a:srgbClr val="FFFFFF"/>
                </a:solidFill>
                <a:latin typeface="Consolas" pitchFamily="34" charset="0"/>
                <a:ea typeface="Consolas" pitchFamily="34" charset="-122"/>
                <a:cs typeface="Consolas" pitchFamily="34" charset="-120"/>
              </a:rPr>
              <a:t>22</a:t>
            </a:r>
            <a:endParaRPr lang="en-US" sz="850" dirty="0"/>
          </a:p>
        </p:txBody>
      </p:sp>
      <p:sp>
        <p:nvSpPr>
          <p:cNvPr id="52" name="Shape 50"/>
          <p:cNvSpPr/>
          <p:nvPr/>
        </p:nvSpPr>
        <p:spPr>
          <a:xfrm>
            <a:off x="3456432" y="2139696"/>
            <a:ext cx="365760" cy="310896"/>
          </a:xfrm>
          <a:prstGeom prst="rect">
            <a:avLst/>
          </a:prstGeom>
          <a:solidFill>
            <a:srgbClr val="EAF4F8"/>
          </a:solidFill>
          <a:ln w="9525">
            <a:solidFill>
              <a:srgbClr val="A9CDDB"/>
            </a:solidFill>
            <a:prstDash val="solid"/>
          </a:ln>
        </p:spPr>
      </p:sp>
      <p:sp>
        <p:nvSpPr>
          <p:cNvPr id="53" name="Text 51"/>
          <p:cNvSpPr/>
          <p:nvPr/>
        </p:nvSpPr>
        <p:spPr>
          <a:xfrm>
            <a:off x="3456432" y="2139696"/>
            <a:ext cx="365760" cy="310896"/>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23</a:t>
            </a:r>
            <a:endParaRPr lang="en-US" sz="850" dirty="0"/>
          </a:p>
        </p:txBody>
      </p:sp>
      <p:sp>
        <p:nvSpPr>
          <p:cNvPr id="54" name="Shape 52"/>
          <p:cNvSpPr/>
          <p:nvPr/>
        </p:nvSpPr>
        <p:spPr>
          <a:xfrm>
            <a:off x="2359152" y="2450592"/>
            <a:ext cx="365760" cy="310896"/>
          </a:xfrm>
          <a:prstGeom prst="rect">
            <a:avLst/>
          </a:prstGeom>
          <a:solidFill>
            <a:srgbClr val="EAF4F8"/>
          </a:solidFill>
          <a:ln w="9525">
            <a:solidFill>
              <a:srgbClr val="A9CDDB"/>
            </a:solidFill>
            <a:prstDash val="solid"/>
          </a:ln>
        </p:spPr>
      </p:sp>
      <p:sp>
        <p:nvSpPr>
          <p:cNvPr id="55" name="Text 53"/>
          <p:cNvSpPr/>
          <p:nvPr/>
        </p:nvSpPr>
        <p:spPr>
          <a:xfrm>
            <a:off x="2359152" y="2450592"/>
            <a:ext cx="365760" cy="310896"/>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30</a:t>
            </a:r>
            <a:endParaRPr lang="en-US" sz="850" dirty="0"/>
          </a:p>
        </p:txBody>
      </p:sp>
      <p:sp>
        <p:nvSpPr>
          <p:cNvPr id="56" name="Shape 54"/>
          <p:cNvSpPr/>
          <p:nvPr/>
        </p:nvSpPr>
        <p:spPr>
          <a:xfrm>
            <a:off x="2724912" y="2450592"/>
            <a:ext cx="365760" cy="310896"/>
          </a:xfrm>
          <a:prstGeom prst="rect">
            <a:avLst/>
          </a:prstGeom>
          <a:solidFill>
            <a:srgbClr val="EAF4F8"/>
          </a:solidFill>
          <a:ln w="9525">
            <a:solidFill>
              <a:srgbClr val="A9CDDB"/>
            </a:solidFill>
            <a:prstDash val="solid"/>
          </a:ln>
        </p:spPr>
      </p:sp>
      <p:sp>
        <p:nvSpPr>
          <p:cNvPr id="57" name="Text 55"/>
          <p:cNvSpPr/>
          <p:nvPr/>
        </p:nvSpPr>
        <p:spPr>
          <a:xfrm>
            <a:off x="2724912" y="2450592"/>
            <a:ext cx="365760" cy="310896"/>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31</a:t>
            </a:r>
            <a:endParaRPr lang="en-US" sz="850" dirty="0"/>
          </a:p>
        </p:txBody>
      </p:sp>
      <p:sp>
        <p:nvSpPr>
          <p:cNvPr id="58" name="Shape 56"/>
          <p:cNvSpPr/>
          <p:nvPr/>
        </p:nvSpPr>
        <p:spPr>
          <a:xfrm>
            <a:off x="3090672" y="2450592"/>
            <a:ext cx="365760" cy="310896"/>
          </a:xfrm>
          <a:prstGeom prst="rect">
            <a:avLst/>
          </a:prstGeom>
          <a:solidFill>
            <a:srgbClr val="1B8EA8"/>
          </a:solidFill>
          <a:ln w="9525">
            <a:solidFill>
              <a:srgbClr val="A9CDDB"/>
            </a:solidFill>
            <a:prstDash val="solid"/>
          </a:ln>
        </p:spPr>
      </p:sp>
      <p:sp>
        <p:nvSpPr>
          <p:cNvPr id="59" name="Text 57"/>
          <p:cNvSpPr/>
          <p:nvPr/>
        </p:nvSpPr>
        <p:spPr>
          <a:xfrm>
            <a:off x="3090672" y="2450592"/>
            <a:ext cx="365760" cy="310896"/>
          </a:xfrm>
          <a:prstGeom prst="rect">
            <a:avLst/>
          </a:prstGeom>
          <a:noFill/>
          <a:ln/>
        </p:spPr>
        <p:txBody>
          <a:bodyPr wrap="square" lIns="0" tIns="0" rIns="0" bIns="0" rtlCol="0" anchor="ctr"/>
          <a:lstStyle/>
          <a:p>
            <a:pPr marL="0" indent="0" algn="ctr">
              <a:buNone/>
            </a:pPr>
            <a:r>
              <a:rPr lang="en-US" sz="850" dirty="0">
                <a:solidFill>
                  <a:srgbClr val="FFFFFF"/>
                </a:solidFill>
                <a:latin typeface="Consolas" pitchFamily="34" charset="0"/>
                <a:ea typeface="Consolas" pitchFamily="34" charset="-122"/>
                <a:cs typeface="Consolas" pitchFamily="34" charset="-120"/>
              </a:rPr>
              <a:t>32</a:t>
            </a:r>
            <a:endParaRPr lang="en-US" sz="850" dirty="0"/>
          </a:p>
        </p:txBody>
      </p:sp>
      <p:sp>
        <p:nvSpPr>
          <p:cNvPr id="60" name="Shape 58"/>
          <p:cNvSpPr/>
          <p:nvPr/>
        </p:nvSpPr>
        <p:spPr>
          <a:xfrm>
            <a:off x="3456432" y="2450592"/>
            <a:ext cx="365760" cy="310896"/>
          </a:xfrm>
          <a:prstGeom prst="rect">
            <a:avLst/>
          </a:prstGeom>
          <a:solidFill>
            <a:srgbClr val="EAF4F8"/>
          </a:solidFill>
          <a:ln w="9525">
            <a:solidFill>
              <a:srgbClr val="A9CDDB"/>
            </a:solidFill>
            <a:prstDash val="solid"/>
          </a:ln>
        </p:spPr>
      </p:sp>
      <p:sp>
        <p:nvSpPr>
          <p:cNvPr id="61" name="Text 59"/>
          <p:cNvSpPr/>
          <p:nvPr/>
        </p:nvSpPr>
        <p:spPr>
          <a:xfrm>
            <a:off x="3456432" y="2450592"/>
            <a:ext cx="365760" cy="310896"/>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33</a:t>
            </a:r>
            <a:endParaRPr lang="en-US" sz="850" dirty="0"/>
          </a:p>
        </p:txBody>
      </p:sp>
      <p:sp>
        <p:nvSpPr>
          <p:cNvPr id="62" name="Text 60"/>
          <p:cNvSpPr/>
          <p:nvPr/>
        </p:nvSpPr>
        <p:spPr>
          <a:xfrm>
            <a:off x="2359152" y="1627632"/>
            <a:ext cx="365760" cy="182880"/>
          </a:xfrm>
          <a:prstGeom prst="rect">
            <a:avLst/>
          </a:prstGeom>
          <a:noFill/>
          <a:ln/>
        </p:spPr>
        <p:txBody>
          <a:bodyPr wrap="square" lIns="0" tIns="0" rIns="0" bIns="0" rtlCol="0" anchor="t"/>
          <a:lstStyle/>
          <a:p>
            <a:pPr marL="0" indent="0" algn="ctr">
              <a:buNone/>
            </a:pPr>
            <a:r>
              <a:rPr lang="en-US" sz="850" dirty="0">
                <a:solidFill>
                  <a:srgbClr val="728694"/>
                </a:solidFill>
                <a:latin typeface="Consolas" pitchFamily="34" charset="0"/>
                <a:ea typeface="Consolas" pitchFamily="34" charset="-122"/>
                <a:cs typeface="Consolas" pitchFamily="34" charset="-120"/>
              </a:rPr>
              <a:t>0</a:t>
            </a:r>
            <a:endParaRPr lang="en-US" sz="850" dirty="0"/>
          </a:p>
        </p:txBody>
      </p:sp>
      <p:sp>
        <p:nvSpPr>
          <p:cNvPr id="63" name="Text 61"/>
          <p:cNvSpPr/>
          <p:nvPr/>
        </p:nvSpPr>
        <p:spPr>
          <a:xfrm>
            <a:off x="2724912" y="1627632"/>
            <a:ext cx="365760" cy="182880"/>
          </a:xfrm>
          <a:prstGeom prst="rect">
            <a:avLst/>
          </a:prstGeom>
          <a:noFill/>
          <a:ln/>
        </p:spPr>
        <p:txBody>
          <a:bodyPr wrap="square" lIns="0" tIns="0" rIns="0" bIns="0" rtlCol="0" anchor="t"/>
          <a:lstStyle/>
          <a:p>
            <a:pPr marL="0" indent="0" algn="ctr">
              <a:buNone/>
            </a:pPr>
            <a:r>
              <a:rPr lang="en-US" sz="850" dirty="0">
                <a:solidFill>
                  <a:srgbClr val="728694"/>
                </a:solidFill>
                <a:latin typeface="Consolas" pitchFamily="34" charset="0"/>
                <a:ea typeface="Consolas" pitchFamily="34" charset="-122"/>
                <a:cs typeface="Consolas" pitchFamily="34" charset="-120"/>
              </a:rPr>
              <a:t>1</a:t>
            </a:r>
            <a:endParaRPr lang="en-US" sz="850" dirty="0"/>
          </a:p>
        </p:txBody>
      </p:sp>
      <p:sp>
        <p:nvSpPr>
          <p:cNvPr id="64" name="Text 62"/>
          <p:cNvSpPr/>
          <p:nvPr/>
        </p:nvSpPr>
        <p:spPr>
          <a:xfrm>
            <a:off x="3090672" y="1627632"/>
            <a:ext cx="365760" cy="182880"/>
          </a:xfrm>
          <a:prstGeom prst="rect">
            <a:avLst/>
          </a:prstGeom>
          <a:noFill/>
          <a:ln/>
        </p:spPr>
        <p:txBody>
          <a:bodyPr wrap="square" lIns="0" tIns="0" rIns="0" bIns="0" rtlCol="0" anchor="t"/>
          <a:lstStyle/>
          <a:p>
            <a:pPr marL="0" indent="0" algn="ctr">
              <a:buNone/>
            </a:pPr>
            <a:r>
              <a:rPr lang="en-US" sz="850" dirty="0">
                <a:solidFill>
                  <a:srgbClr val="728694"/>
                </a:solidFill>
                <a:latin typeface="Consolas" pitchFamily="34" charset="0"/>
                <a:ea typeface="Consolas" pitchFamily="34" charset="-122"/>
                <a:cs typeface="Consolas" pitchFamily="34" charset="-120"/>
              </a:rPr>
              <a:t>2</a:t>
            </a:r>
            <a:endParaRPr lang="en-US" sz="850" dirty="0"/>
          </a:p>
        </p:txBody>
      </p:sp>
      <p:sp>
        <p:nvSpPr>
          <p:cNvPr id="65" name="Text 63"/>
          <p:cNvSpPr/>
          <p:nvPr/>
        </p:nvSpPr>
        <p:spPr>
          <a:xfrm>
            <a:off x="3456432" y="1627632"/>
            <a:ext cx="365760" cy="182880"/>
          </a:xfrm>
          <a:prstGeom prst="rect">
            <a:avLst/>
          </a:prstGeom>
          <a:noFill/>
          <a:ln/>
        </p:spPr>
        <p:txBody>
          <a:bodyPr wrap="square" lIns="0" tIns="0" rIns="0" bIns="0" rtlCol="0" anchor="t"/>
          <a:lstStyle/>
          <a:p>
            <a:pPr marL="0" indent="0" algn="ctr">
              <a:buNone/>
            </a:pPr>
            <a:r>
              <a:rPr lang="en-US" sz="850" dirty="0">
                <a:solidFill>
                  <a:srgbClr val="728694"/>
                </a:solidFill>
                <a:latin typeface="Consolas" pitchFamily="34" charset="0"/>
                <a:ea typeface="Consolas" pitchFamily="34" charset="-122"/>
                <a:cs typeface="Consolas" pitchFamily="34" charset="-120"/>
              </a:rPr>
              <a:t>3</a:t>
            </a:r>
            <a:endParaRPr lang="en-US" sz="850" dirty="0"/>
          </a:p>
        </p:txBody>
      </p:sp>
      <p:sp>
        <p:nvSpPr>
          <p:cNvPr id="66" name="Text 64"/>
          <p:cNvSpPr/>
          <p:nvPr/>
        </p:nvSpPr>
        <p:spPr>
          <a:xfrm>
            <a:off x="2139696" y="1828800"/>
            <a:ext cx="182880" cy="310896"/>
          </a:xfrm>
          <a:prstGeom prst="rect">
            <a:avLst/>
          </a:prstGeom>
          <a:noFill/>
          <a:ln/>
        </p:spPr>
        <p:txBody>
          <a:bodyPr wrap="square" lIns="0" tIns="0" rIns="0" bIns="0" rtlCol="0" anchor="ctr"/>
          <a:lstStyle/>
          <a:p>
            <a:pPr marL="0" indent="0" algn="ctr">
              <a:buNone/>
            </a:pPr>
            <a:r>
              <a:rPr lang="en-US" sz="850" dirty="0">
                <a:solidFill>
                  <a:srgbClr val="728694"/>
                </a:solidFill>
                <a:latin typeface="Consolas" pitchFamily="34" charset="0"/>
                <a:ea typeface="Consolas" pitchFamily="34" charset="-122"/>
                <a:cs typeface="Consolas" pitchFamily="34" charset="-120"/>
              </a:rPr>
              <a:t>0</a:t>
            </a:r>
            <a:endParaRPr lang="en-US" sz="850" dirty="0"/>
          </a:p>
        </p:txBody>
      </p:sp>
      <p:sp>
        <p:nvSpPr>
          <p:cNvPr id="67" name="Text 65"/>
          <p:cNvSpPr/>
          <p:nvPr/>
        </p:nvSpPr>
        <p:spPr>
          <a:xfrm>
            <a:off x="2139696" y="2139696"/>
            <a:ext cx="182880" cy="310896"/>
          </a:xfrm>
          <a:prstGeom prst="rect">
            <a:avLst/>
          </a:prstGeom>
          <a:noFill/>
          <a:ln/>
        </p:spPr>
        <p:txBody>
          <a:bodyPr wrap="square" lIns="0" tIns="0" rIns="0" bIns="0" rtlCol="0" anchor="ctr"/>
          <a:lstStyle/>
          <a:p>
            <a:pPr marL="0" indent="0" algn="ctr">
              <a:buNone/>
            </a:pPr>
            <a:r>
              <a:rPr lang="en-US" sz="850" dirty="0">
                <a:solidFill>
                  <a:srgbClr val="728694"/>
                </a:solidFill>
                <a:latin typeface="Consolas" pitchFamily="34" charset="0"/>
                <a:ea typeface="Consolas" pitchFamily="34" charset="-122"/>
                <a:cs typeface="Consolas" pitchFamily="34" charset="-120"/>
              </a:rPr>
              <a:t>1</a:t>
            </a:r>
            <a:endParaRPr lang="en-US" sz="850" dirty="0"/>
          </a:p>
        </p:txBody>
      </p:sp>
      <p:sp>
        <p:nvSpPr>
          <p:cNvPr id="68" name="Text 66"/>
          <p:cNvSpPr/>
          <p:nvPr/>
        </p:nvSpPr>
        <p:spPr>
          <a:xfrm>
            <a:off x="2139696" y="2450592"/>
            <a:ext cx="182880" cy="310896"/>
          </a:xfrm>
          <a:prstGeom prst="rect">
            <a:avLst/>
          </a:prstGeom>
          <a:noFill/>
          <a:ln/>
        </p:spPr>
        <p:txBody>
          <a:bodyPr wrap="square" lIns="0" tIns="0" rIns="0" bIns="0" rtlCol="0" anchor="ctr"/>
          <a:lstStyle/>
          <a:p>
            <a:pPr marL="0" indent="0" algn="ctr">
              <a:buNone/>
            </a:pPr>
            <a:r>
              <a:rPr lang="en-US" sz="850" dirty="0">
                <a:solidFill>
                  <a:srgbClr val="728694"/>
                </a:solidFill>
                <a:latin typeface="Consolas" pitchFamily="34" charset="0"/>
                <a:ea typeface="Consolas" pitchFamily="34" charset="-122"/>
                <a:cs typeface="Consolas" pitchFamily="34" charset="-120"/>
              </a:rPr>
              <a:t>2</a:t>
            </a:r>
            <a:endParaRPr lang="en-US" sz="850" dirty="0"/>
          </a:p>
        </p:txBody>
      </p:sp>
      <p:sp>
        <p:nvSpPr>
          <p:cNvPr id="69" name="Text 67"/>
          <p:cNvSpPr/>
          <p:nvPr/>
        </p:nvSpPr>
        <p:spPr>
          <a:xfrm>
            <a:off x="4123944" y="1417320"/>
            <a:ext cx="1783080" cy="219456"/>
          </a:xfrm>
          <a:prstGeom prst="rect">
            <a:avLst/>
          </a:prstGeom>
          <a:noFill/>
          <a:ln/>
        </p:spPr>
        <p:txBody>
          <a:bodyPr wrap="square" lIns="0" tIns="0" rIns="0" bIns="0" rtlCol="0" anchor="t"/>
          <a:lstStyle/>
          <a:p>
            <a:pPr marL="0" indent="0" algn="ctr">
              <a:buNone/>
            </a:pPr>
            <a:r>
              <a:rPr lang="en-US" sz="850" b="1" dirty="0">
                <a:solidFill>
                  <a:srgbClr val="415A6B"/>
                </a:solidFill>
                <a:latin typeface="Segoe UI" pitchFamily="34" charset="0"/>
                <a:ea typeface="Segoe UI" pitchFamily="34" charset="-122"/>
                <a:cs typeface="Segoe UI" pitchFamily="34" charset="-120"/>
              </a:rPr>
              <a:t>a[0:2, 1:3] — khối con</a:t>
            </a:r>
            <a:endParaRPr lang="en-US" sz="850" dirty="0"/>
          </a:p>
        </p:txBody>
      </p:sp>
      <p:sp>
        <p:nvSpPr>
          <p:cNvPr id="70" name="Shape 68"/>
          <p:cNvSpPr/>
          <p:nvPr/>
        </p:nvSpPr>
        <p:spPr>
          <a:xfrm>
            <a:off x="4169664" y="1828800"/>
            <a:ext cx="365760" cy="310896"/>
          </a:xfrm>
          <a:prstGeom prst="rect">
            <a:avLst/>
          </a:prstGeom>
          <a:solidFill>
            <a:srgbClr val="EAF4F8"/>
          </a:solidFill>
          <a:ln w="9525">
            <a:solidFill>
              <a:srgbClr val="A9CDDB"/>
            </a:solidFill>
            <a:prstDash val="solid"/>
          </a:ln>
        </p:spPr>
      </p:sp>
      <p:sp>
        <p:nvSpPr>
          <p:cNvPr id="71" name="Text 69"/>
          <p:cNvSpPr/>
          <p:nvPr/>
        </p:nvSpPr>
        <p:spPr>
          <a:xfrm>
            <a:off x="4169664" y="1828800"/>
            <a:ext cx="365760" cy="310896"/>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10</a:t>
            </a:r>
            <a:endParaRPr lang="en-US" sz="850" dirty="0"/>
          </a:p>
        </p:txBody>
      </p:sp>
      <p:sp>
        <p:nvSpPr>
          <p:cNvPr id="72" name="Shape 70"/>
          <p:cNvSpPr/>
          <p:nvPr/>
        </p:nvSpPr>
        <p:spPr>
          <a:xfrm>
            <a:off x="4535424" y="1828800"/>
            <a:ext cx="365760" cy="310896"/>
          </a:xfrm>
          <a:prstGeom prst="rect">
            <a:avLst/>
          </a:prstGeom>
          <a:solidFill>
            <a:srgbClr val="D96C5F"/>
          </a:solidFill>
          <a:ln w="9525">
            <a:solidFill>
              <a:srgbClr val="A9CDDB"/>
            </a:solidFill>
            <a:prstDash val="solid"/>
          </a:ln>
        </p:spPr>
      </p:sp>
      <p:sp>
        <p:nvSpPr>
          <p:cNvPr id="73" name="Text 71"/>
          <p:cNvSpPr/>
          <p:nvPr/>
        </p:nvSpPr>
        <p:spPr>
          <a:xfrm>
            <a:off x="4535424" y="1828800"/>
            <a:ext cx="365760" cy="310896"/>
          </a:xfrm>
          <a:prstGeom prst="rect">
            <a:avLst/>
          </a:prstGeom>
          <a:noFill/>
          <a:ln/>
        </p:spPr>
        <p:txBody>
          <a:bodyPr wrap="square" lIns="0" tIns="0" rIns="0" bIns="0" rtlCol="0" anchor="ctr"/>
          <a:lstStyle/>
          <a:p>
            <a:pPr marL="0" indent="0" algn="ctr">
              <a:buNone/>
            </a:pPr>
            <a:r>
              <a:rPr lang="en-US" sz="850" dirty="0">
                <a:solidFill>
                  <a:srgbClr val="FFFFFF"/>
                </a:solidFill>
                <a:latin typeface="Consolas" pitchFamily="34" charset="0"/>
                <a:ea typeface="Consolas" pitchFamily="34" charset="-122"/>
                <a:cs typeface="Consolas" pitchFamily="34" charset="-120"/>
              </a:rPr>
              <a:t>11</a:t>
            </a:r>
            <a:endParaRPr lang="en-US" sz="850" dirty="0"/>
          </a:p>
        </p:txBody>
      </p:sp>
      <p:sp>
        <p:nvSpPr>
          <p:cNvPr id="74" name="Shape 72"/>
          <p:cNvSpPr/>
          <p:nvPr/>
        </p:nvSpPr>
        <p:spPr>
          <a:xfrm>
            <a:off x="4901184" y="1828800"/>
            <a:ext cx="365760" cy="310896"/>
          </a:xfrm>
          <a:prstGeom prst="rect">
            <a:avLst/>
          </a:prstGeom>
          <a:solidFill>
            <a:srgbClr val="D96C5F"/>
          </a:solidFill>
          <a:ln w="9525">
            <a:solidFill>
              <a:srgbClr val="A9CDDB"/>
            </a:solidFill>
            <a:prstDash val="solid"/>
          </a:ln>
        </p:spPr>
      </p:sp>
      <p:sp>
        <p:nvSpPr>
          <p:cNvPr id="75" name="Text 73"/>
          <p:cNvSpPr/>
          <p:nvPr/>
        </p:nvSpPr>
        <p:spPr>
          <a:xfrm>
            <a:off x="4901184" y="1828800"/>
            <a:ext cx="365760" cy="310896"/>
          </a:xfrm>
          <a:prstGeom prst="rect">
            <a:avLst/>
          </a:prstGeom>
          <a:noFill/>
          <a:ln/>
        </p:spPr>
        <p:txBody>
          <a:bodyPr wrap="square" lIns="0" tIns="0" rIns="0" bIns="0" rtlCol="0" anchor="ctr"/>
          <a:lstStyle/>
          <a:p>
            <a:pPr marL="0" indent="0" algn="ctr">
              <a:buNone/>
            </a:pPr>
            <a:r>
              <a:rPr lang="en-US" sz="850" dirty="0">
                <a:solidFill>
                  <a:srgbClr val="FFFFFF"/>
                </a:solidFill>
                <a:latin typeface="Consolas" pitchFamily="34" charset="0"/>
                <a:ea typeface="Consolas" pitchFamily="34" charset="-122"/>
                <a:cs typeface="Consolas" pitchFamily="34" charset="-120"/>
              </a:rPr>
              <a:t>12</a:t>
            </a:r>
            <a:endParaRPr lang="en-US" sz="850" dirty="0"/>
          </a:p>
        </p:txBody>
      </p:sp>
      <p:sp>
        <p:nvSpPr>
          <p:cNvPr id="76" name="Shape 74"/>
          <p:cNvSpPr/>
          <p:nvPr/>
        </p:nvSpPr>
        <p:spPr>
          <a:xfrm>
            <a:off x="5266944" y="1828800"/>
            <a:ext cx="365760" cy="310896"/>
          </a:xfrm>
          <a:prstGeom prst="rect">
            <a:avLst/>
          </a:prstGeom>
          <a:solidFill>
            <a:srgbClr val="EAF4F8"/>
          </a:solidFill>
          <a:ln w="9525">
            <a:solidFill>
              <a:srgbClr val="A9CDDB"/>
            </a:solidFill>
            <a:prstDash val="solid"/>
          </a:ln>
        </p:spPr>
      </p:sp>
      <p:sp>
        <p:nvSpPr>
          <p:cNvPr id="77" name="Text 75"/>
          <p:cNvSpPr/>
          <p:nvPr/>
        </p:nvSpPr>
        <p:spPr>
          <a:xfrm>
            <a:off x="5266944" y="1828800"/>
            <a:ext cx="365760" cy="310896"/>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13</a:t>
            </a:r>
            <a:endParaRPr lang="en-US" sz="850" dirty="0"/>
          </a:p>
        </p:txBody>
      </p:sp>
      <p:sp>
        <p:nvSpPr>
          <p:cNvPr id="78" name="Shape 76"/>
          <p:cNvSpPr/>
          <p:nvPr/>
        </p:nvSpPr>
        <p:spPr>
          <a:xfrm>
            <a:off x="4169664" y="2139696"/>
            <a:ext cx="365760" cy="310896"/>
          </a:xfrm>
          <a:prstGeom prst="rect">
            <a:avLst/>
          </a:prstGeom>
          <a:solidFill>
            <a:srgbClr val="EAF4F8"/>
          </a:solidFill>
          <a:ln w="9525">
            <a:solidFill>
              <a:srgbClr val="A9CDDB"/>
            </a:solidFill>
            <a:prstDash val="solid"/>
          </a:ln>
        </p:spPr>
      </p:sp>
      <p:sp>
        <p:nvSpPr>
          <p:cNvPr id="79" name="Text 77"/>
          <p:cNvSpPr/>
          <p:nvPr/>
        </p:nvSpPr>
        <p:spPr>
          <a:xfrm>
            <a:off x="4169664" y="2139696"/>
            <a:ext cx="365760" cy="310896"/>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20</a:t>
            </a:r>
            <a:endParaRPr lang="en-US" sz="850" dirty="0"/>
          </a:p>
        </p:txBody>
      </p:sp>
      <p:sp>
        <p:nvSpPr>
          <p:cNvPr id="80" name="Shape 78"/>
          <p:cNvSpPr/>
          <p:nvPr/>
        </p:nvSpPr>
        <p:spPr>
          <a:xfrm>
            <a:off x="4535424" y="2139696"/>
            <a:ext cx="365760" cy="310896"/>
          </a:xfrm>
          <a:prstGeom prst="rect">
            <a:avLst/>
          </a:prstGeom>
          <a:solidFill>
            <a:srgbClr val="D96C5F"/>
          </a:solidFill>
          <a:ln w="9525">
            <a:solidFill>
              <a:srgbClr val="A9CDDB"/>
            </a:solidFill>
            <a:prstDash val="solid"/>
          </a:ln>
        </p:spPr>
      </p:sp>
      <p:sp>
        <p:nvSpPr>
          <p:cNvPr id="81" name="Text 79"/>
          <p:cNvSpPr/>
          <p:nvPr/>
        </p:nvSpPr>
        <p:spPr>
          <a:xfrm>
            <a:off x="4535424" y="2139696"/>
            <a:ext cx="365760" cy="310896"/>
          </a:xfrm>
          <a:prstGeom prst="rect">
            <a:avLst/>
          </a:prstGeom>
          <a:noFill/>
          <a:ln/>
        </p:spPr>
        <p:txBody>
          <a:bodyPr wrap="square" lIns="0" tIns="0" rIns="0" bIns="0" rtlCol="0" anchor="ctr"/>
          <a:lstStyle/>
          <a:p>
            <a:pPr marL="0" indent="0" algn="ctr">
              <a:buNone/>
            </a:pPr>
            <a:r>
              <a:rPr lang="en-US" sz="850" dirty="0">
                <a:solidFill>
                  <a:srgbClr val="FFFFFF"/>
                </a:solidFill>
                <a:latin typeface="Consolas" pitchFamily="34" charset="0"/>
                <a:ea typeface="Consolas" pitchFamily="34" charset="-122"/>
                <a:cs typeface="Consolas" pitchFamily="34" charset="-120"/>
              </a:rPr>
              <a:t>21</a:t>
            </a:r>
            <a:endParaRPr lang="en-US" sz="850" dirty="0"/>
          </a:p>
        </p:txBody>
      </p:sp>
      <p:sp>
        <p:nvSpPr>
          <p:cNvPr id="82" name="Shape 80"/>
          <p:cNvSpPr/>
          <p:nvPr/>
        </p:nvSpPr>
        <p:spPr>
          <a:xfrm>
            <a:off x="4901184" y="2139696"/>
            <a:ext cx="365760" cy="310896"/>
          </a:xfrm>
          <a:prstGeom prst="rect">
            <a:avLst/>
          </a:prstGeom>
          <a:solidFill>
            <a:srgbClr val="D96C5F"/>
          </a:solidFill>
          <a:ln w="9525">
            <a:solidFill>
              <a:srgbClr val="A9CDDB"/>
            </a:solidFill>
            <a:prstDash val="solid"/>
          </a:ln>
        </p:spPr>
      </p:sp>
      <p:sp>
        <p:nvSpPr>
          <p:cNvPr id="83" name="Text 81"/>
          <p:cNvSpPr/>
          <p:nvPr/>
        </p:nvSpPr>
        <p:spPr>
          <a:xfrm>
            <a:off x="4901184" y="2139696"/>
            <a:ext cx="365760" cy="310896"/>
          </a:xfrm>
          <a:prstGeom prst="rect">
            <a:avLst/>
          </a:prstGeom>
          <a:noFill/>
          <a:ln/>
        </p:spPr>
        <p:txBody>
          <a:bodyPr wrap="square" lIns="0" tIns="0" rIns="0" bIns="0" rtlCol="0" anchor="ctr"/>
          <a:lstStyle/>
          <a:p>
            <a:pPr marL="0" indent="0" algn="ctr">
              <a:buNone/>
            </a:pPr>
            <a:r>
              <a:rPr lang="en-US" sz="850" dirty="0">
                <a:solidFill>
                  <a:srgbClr val="FFFFFF"/>
                </a:solidFill>
                <a:latin typeface="Consolas" pitchFamily="34" charset="0"/>
                <a:ea typeface="Consolas" pitchFamily="34" charset="-122"/>
                <a:cs typeface="Consolas" pitchFamily="34" charset="-120"/>
              </a:rPr>
              <a:t>22</a:t>
            </a:r>
            <a:endParaRPr lang="en-US" sz="850" dirty="0"/>
          </a:p>
        </p:txBody>
      </p:sp>
      <p:sp>
        <p:nvSpPr>
          <p:cNvPr id="84" name="Shape 82"/>
          <p:cNvSpPr/>
          <p:nvPr/>
        </p:nvSpPr>
        <p:spPr>
          <a:xfrm>
            <a:off x="5266944" y="2139696"/>
            <a:ext cx="365760" cy="310896"/>
          </a:xfrm>
          <a:prstGeom prst="rect">
            <a:avLst/>
          </a:prstGeom>
          <a:solidFill>
            <a:srgbClr val="EAF4F8"/>
          </a:solidFill>
          <a:ln w="9525">
            <a:solidFill>
              <a:srgbClr val="A9CDDB"/>
            </a:solidFill>
            <a:prstDash val="solid"/>
          </a:ln>
        </p:spPr>
      </p:sp>
      <p:sp>
        <p:nvSpPr>
          <p:cNvPr id="85" name="Text 83"/>
          <p:cNvSpPr/>
          <p:nvPr/>
        </p:nvSpPr>
        <p:spPr>
          <a:xfrm>
            <a:off x="5266944" y="2139696"/>
            <a:ext cx="365760" cy="310896"/>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23</a:t>
            </a:r>
            <a:endParaRPr lang="en-US" sz="850" dirty="0"/>
          </a:p>
        </p:txBody>
      </p:sp>
      <p:sp>
        <p:nvSpPr>
          <p:cNvPr id="86" name="Shape 84"/>
          <p:cNvSpPr/>
          <p:nvPr/>
        </p:nvSpPr>
        <p:spPr>
          <a:xfrm>
            <a:off x="4169664" y="2450592"/>
            <a:ext cx="365760" cy="310896"/>
          </a:xfrm>
          <a:prstGeom prst="rect">
            <a:avLst/>
          </a:prstGeom>
          <a:solidFill>
            <a:srgbClr val="EAF4F8"/>
          </a:solidFill>
          <a:ln w="9525">
            <a:solidFill>
              <a:srgbClr val="A9CDDB"/>
            </a:solidFill>
            <a:prstDash val="solid"/>
          </a:ln>
        </p:spPr>
      </p:sp>
      <p:sp>
        <p:nvSpPr>
          <p:cNvPr id="87" name="Text 85"/>
          <p:cNvSpPr/>
          <p:nvPr/>
        </p:nvSpPr>
        <p:spPr>
          <a:xfrm>
            <a:off x="4169664" y="2450592"/>
            <a:ext cx="365760" cy="310896"/>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30</a:t>
            </a:r>
            <a:endParaRPr lang="en-US" sz="850" dirty="0"/>
          </a:p>
        </p:txBody>
      </p:sp>
      <p:sp>
        <p:nvSpPr>
          <p:cNvPr id="88" name="Shape 86"/>
          <p:cNvSpPr/>
          <p:nvPr/>
        </p:nvSpPr>
        <p:spPr>
          <a:xfrm>
            <a:off x="4535424" y="2450592"/>
            <a:ext cx="365760" cy="310896"/>
          </a:xfrm>
          <a:prstGeom prst="rect">
            <a:avLst/>
          </a:prstGeom>
          <a:solidFill>
            <a:srgbClr val="EAF4F8"/>
          </a:solidFill>
          <a:ln w="9525">
            <a:solidFill>
              <a:srgbClr val="A9CDDB"/>
            </a:solidFill>
            <a:prstDash val="solid"/>
          </a:ln>
        </p:spPr>
      </p:sp>
      <p:sp>
        <p:nvSpPr>
          <p:cNvPr id="89" name="Text 87"/>
          <p:cNvSpPr/>
          <p:nvPr/>
        </p:nvSpPr>
        <p:spPr>
          <a:xfrm>
            <a:off x="4535424" y="2450592"/>
            <a:ext cx="365760" cy="310896"/>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31</a:t>
            </a:r>
            <a:endParaRPr lang="en-US" sz="850" dirty="0"/>
          </a:p>
        </p:txBody>
      </p:sp>
      <p:sp>
        <p:nvSpPr>
          <p:cNvPr id="90" name="Shape 88"/>
          <p:cNvSpPr/>
          <p:nvPr/>
        </p:nvSpPr>
        <p:spPr>
          <a:xfrm>
            <a:off x="4901184" y="2450592"/>
            <a:ext cx="365760" cy="310896"/>
          </a:xfrm>
          <a:prstGeom prst="rect">
            <a:avLst/>
          </a:prstGeom>
          <a:solidFill>
            <a:srgbClr val="EAF4F8"/>
          </a:solidFill>
          <a:ln w="9525">
            <a:solidFill>
              <a:srgbClr val="A9CDDB"/>
            </a:solidFill>
            <a:prstDash val="solid"/>
          </a:ln>
        </p:spPr>
      </p:sp>
      <p:sp>
        <p:nvSpPr>
          <p:cNvPr id="91" name="Text 89"/>
          <p:cNvSpPr/>
          <p:nvPr/>
        </p:nvSpPr>
        <p:spPr>
          <a:xfrm>
            <a:off x="4901184" y="2450592"/>
            <a:ext cx="365760" cy="310896"/>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32</a:t>
            </a:r>
            <a:endParaRPr lang="en-US" sz="850" dirty="0"/>
          </a:p>
        </p:txBody>
      </p:sp>
      <p:sp>
        <p:nvSpPr>
          <p:cNvPr id="92" name="Shape 90"/>
          <p:cNvSpPr/>
          <p:nvPr/>
        </p:nvSpPr>
        <p:spPr>
          <a:xfrm>
            <a:off x="5266944" y="2450592"/>
            <a:ext cx="365760" cy="310896"/>
          </a:xfrm>
          <a:prstGeom prst="rect">
            <a:avLst/>
          </a:prstGeom>
          <a:solidFill>
            <a:srgbClr val="EAF4F8"/>
          </a:solidFill>
          <a:ln w="9525">
            <a:solidFill>
              <a:srgbClr val="A9CDDB"/>
            </a:solidFill>
            <a:prstDash val="solid"/>
          </a:ln>
        </p:spPr>
      </p:sp>
      <p:sp>
        <p:nvSpPr>
          <p:cNvPr id="93" name="Text 91"/>
          <p:cNvSpPr/>
          <p:nvPr/>
        </p:nvSpPr>
        <p:spPr>
          <a:xfrm>
            <a:off x="5266944" y="2450592"/>
            <a:ext cx="365760" cy="310896"/>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33</a:t>
            </a:r>
            <a:endParaRPr lang="en-US" sz="850" dirty="0"/>
          </a:p>
        </p:txBody>
      </p:sp>
      <p:sp>
        <p:nvSpPr>
          <p:cNvPr id="94" name="Text 92"/>
          <p:cNvSpPr/>
          <p:nvPr/>
        </p:nvSpPr>
        <p:spPr>
          <a:xfrm>
            <a:off x="4169664" y="1627632"/>
            <a:ext cx="365760" cy="182880"/>
          </a:xfrm>
          <a:prstGeom prst="rect">
            <a:avLst/>
          </a:prstGeom>
          <a:noFill/>
          <a:ln/>
        </p:spPr>
        <p:txBody>
          <a:bodyPr wrap="square" lIns="0" tIns="0" rIns="0" bIns="0" rtlCol="0" anchor="t"/>
          <a:lstStyle/>
          <a:p>
            <a:pPr marL="0" indent="0" algn="ctr">
              <a:buNone/>
            </a:pPr>
            <a:r>
              <a:rPr lang="en-US" sz="850" dirty="0">
                <a:solidFill>
                  <a:srgbClr val="728694"/>
                </a:solidFill>
                <a:latin typeface="Consolas" pitchFamily="34" charset="0"/>
                <a:ea typeface="Consolas" pitchFamily="34" charset="-122"/>
                <a:cs typeface="Consolas" pitchFamily="34" charset="-120"/>
              </a:rPr>
              <a:t>0</a:t>
            </a:r>
            <a:endParaRPr lang="en-US" sz="850" dirty="0"/>
          </a:p>
        </p:txBody>
      </p:sp>
      <p:sp>
        <p:nvSpPr>
          <p:cNvPr id="95" name="Text 93"/>
          <p:cNvSpPr/>
          <p:nvPr/>
        </p:nvSpPr>
        <p:spPr>
          <a:xfrm>
            <a:off x="4535424" y="1627632"/>
            <a:ext cx="365760" cy="182880"/>
          </a:xfrm>
          <a:prstGeom prst="rect">
            <a:avLst/>
          </a:prstGeom>
          <a:noFill/>
          <a:ln/>
        </p:spPr>
        <p:txBody>
          <a:bodyPr wrap="square" lIns="0" tIns="0" rIns="0" bIns="0" rtlCol="0" anchor="t"/>
          <a:lstStyle/>
          <a:p>
            <a:pPr marL="0" indent="0" algn="ctr">
              <a:buNone/>
            </a:pPr>
            <a:r>
              <a:rPr lang="en-US" sz="850" dirty="0">
                <a:solidFill>
                  <a:srgbClr val="728694"/>
                </a:solidFill>
                <a:latin typeface="Consolas" pitchFamily="34" charset="0"/>
                <a:ea typeface="Consolas" pitchFamily="34" charset="-122"/>
                <a:cs typeface="Consolas" pitchFamily="34" charset="-120"/>
              </a:rPr>
              <a:t>1</a:t>
            </a:r>
            <a:endParaRPr lang="en-US" sz="850" dirty="0"/>
          </a:p>
        </p:txBody>
      </p:sp>
      <p:sp>
        <p:nvSpPr>
          <p:cNvPr id="96" name="Text 94"/>
          <p:cNvSpPr/>
          <p:nvPr/>
        </p:nvSpPr>
        <p:spPr>
          <a:xfrm>
            <a:off x="4901184" y="1627632"/>
            <a:ext cx="365760" cy="182880"/>
          </a:xfrm>
          <a:prstGeom prst="rect">
            <a:avLst/>
          </a:prstGeom>
          <a:noFill/>
          <a:ln/>
        </p:spPr>
        <p:txBody>
          <a:bodyPr wrap="square" lIns="0" tIns="0" rIns="0" bIns="0" rtlCol="0" anchor="t"/>
          <a:lstStyle/>
          <a:p>
            <a:pPr marL="0" indent="0" algn="ctr">
              <a:buNone/>
            </a:pPr>
            <a:r>
              <a:rPr lang="en-US" sz="850" dirty="0">
                <a:solidFill>
                  <a:srgbClr val="728694"/>
                </a:solidFill>
                <a:latin typeface="Consolas" pitchFamily="34" charset="0"/>
                <a:ea typeface="Consolas" pitchFamily="34" charset="-122"/>
                <a:cs typeface="Consolas" pitchFamily="34" charset="-120"/>
              </a:rPr>
              <a:t>2</a:t>
            </a:r>
            <a:endParaRPr lang="en-US" sz="850" dirty="0"/>
          </a:p>
        </p:txBody>
      </p:sp>
      <p:sp>
        <p:nvSpPr>
          <p:cNvPr id="97" name="Text 95"/>
          <p:cNvSpPr/>
          <p:nvPr/>
        </p:nvSpPr>
        <p:spPr>
          <a:xfrm>
            <a:off x="5266944" y="1627632"/>
            <a:ext cx="365760" cy="182880"/>
          </a:xfrm>
          <a:prstGeom prst="rect">
            <a:avLst/>
          </a:prstGeom>
          <a:noFill/>
          <a:ln/>
        </p:spPr>
        <p:txBody>
          <a:bodyPr wrap="square" lIns="0" tIns="0" rIns="0" bIns="0" rtlCol="0" anchor="t"/>
          <a:lstStyle/>
          <a:p>
            <a:pPr marL="0" indent="0" algn="ctr">
              <a:buNone/>
            </a:pPr>
            <a:r>
              <a:rPr lang="en-US" sz="850" dirty="0">
                <a:solidFill>
                  <a:srgbClr val="728694"/>
                </a:solidFill>
                <a:latin typeface="Consolas" pitchFamily="34" charset="0"/>
                <a:ea typeface="Consolas" pitchFamily="34" charset="-122"/>
                <a:cs typeface="Consolas" pitchFamily="34" charset="-120"/>
              </a:rPr>
              <a:t>3</a:t>
            </a:r>
            <a:endParaRPr lang="en-US" sz="850" dirty="0"/>
          </a:p>
        </p:txBody>
      </p:sp>
      <p:sp>
        <p:nvSpPr>
          <p:cNvPr id="98" name="Text 96"/>
          <p:cNvSpPr/>
          <p:nvPr/>
        </p:nvSpPr>
        <p:spPr>
          <a:xfrm>
            <a:off x="3950208" y="1828800"/>
            <a:ext cx="182880" cy="310896"/>
          </a:xfrm>
          <a:prstGeom prst="rect">
            <a:avLst/>
          </a:prstGeom>
          <a:noFill/>
          <a:ln/>
        </p:spPr>
        <p:txBody>
          <a:bodyPr wrap="square" lIns="0" tIns="0" rIns="0" bIns="0" rtlCol="0" anchor="ctr"/>
          <a:lstStyle/>
          <a:p>
            <a:pPr marL="0" indent="0" algn="ctr">
              <a:buNone/>
            </a:pPr>
            <a:r>
              <a:rPr lang="en-US" sz="850" dirty="0">
                <a:solidFill>
                  <a:srgbClr val="728694"/>
                </a:solidFill>
                <a:latin typeface="Consolas" pitchFamily="34" charset="0"/>
                <a:ea typeface="Consolas" pitchFamily="34" charset="-122"/>
                <a:cs typeface="Consolas" pitchFamily="34" charset="-120"/>
              </a:rPr>
              <a:t>0</a:t>
            </a:r>
            <a:endParaRPr lang="en-US" sz="850" dirty="0"/>
          </a:p>
        </p:txBody>
      </p:sp>
      <p:sp>
        <p:nvSpPr>
          <p:cNvPr id="99" name="Text 97"/>
          <p:cNvSpPr/>
          <p:nvPr/>
        </p:nvSpPr>
        <p:spPr>
          <a:xfrm>
            <a:off x="3950208" y="2139696"/>
            <a:ext cx="182880" cy="310896"/>
          </a:xfrm>
          <a:prstGeom prst="rect">
            <a:avLst/>
          </a:prstGeom>
          <a:noFill/>
          <a:ln/>
        </p:spPr>
        <p:txBody>
          <a:bodyPr wrap="square" lIns="0" tIns="0" rIns="0" bIns="0" rtlCol="0" anchor="ctr"/>
          <a:lstStyle/>
          <a:p>
            <a:pPr marL="0" indent="0" algn="ctr">
              <a:buNone/>
            </a:pPr>
            <a:r>
              <a:rPr lang="en-US" sz="850" dirty="0">
                <a:solidFill>
                  <a:srgbClr val="728694"/>
                </a:solidFill>
                <a:latin typeface="Consolas" pitchFamily="34" charset="0"/>
                <a:ea typeface="Consolas" pitchFamily="34" charset="-122"/>
                <a:cs typeface="Consolas" pitchFamily="34" charset="-120"/>
              </a:rPr>
              <a:t>1</a:t>
            </a:r>
            <a:endParaRPr lang="en-US" sz="850" dirty="0"/>
          </a:p>
        </p:txBody>
      </p:sp>
      <p:sp>
        <p:nvSpPr>
          <p:cNvPr id="100" name="Text 98"/>
          <p:cNvSpPr/>
          <p:nvPr/>
        </p:nvSpPr>
        <p:spPr>
          <a:xfrm>
            <a:off x="3950208" y="2450592"/>
            <a:ext cx="182880" cy="310896"/>
          </a:xfrm>
          <a:prstGeom prst="rect">
            <a:avLst/>
          </a:prstGeom>
          <a:noFill/>
          <a:ln/>
        </p:spPr>
        <p:txBody>
          <a:bodyPr wrap="square" lIns="0" tIns="0" rIns="0" bIns="0" rtlCol="0" anchor="ctr"/>
          <a:lstStyle/>
          <a:p>
            <a:pPr marL="0" indent="0" algn="ctr">
              <a:buNone/>
            </a:pPr>
            <a:r>
              <a:rPr lang="en-US" sz="850" dirty="0">
                <a:solidFill>
                  <a:srgbClr val="728694"/>
                </a:solidFill>
                <a:latin typeface="Consolas" pitchFamily="34" charset="0"/>
                <a:ea typeface="Consolas" pitchFamily="34" charset="-122"/>
                <a:cs typeface="Consolas" pitchFamily="34" charset="-120"/>
              </a:rPr>
              <a:t>2</a:t>
            </a:r>
            <a:endParaRPr lang="en-US" sz="850" dirty="0"/>
          </a:p>
        </p:txBody>
      </p:sp>
      <p:sp>
        <p:nvSpPr>
          <p:cNvPr id="101" name="Shape 99"/>
          <p:cNvSpPr/>
          <p:nvPr/>
        </p:nvSpPr>
        <p:spPr>
          <a:xfrm>
            <a:off x="5897880" y="1463040"/>
            <a:ext cx="5715000" cy="2194560"/>
          </a:xfrm>
          <a:prstGeom prst="roundRect">
            <a:avLst>
              <a:gd name="adj" fmla="val 2083"/>
            </a:avLst>
          </a:prstGeom>
          <a:solidFill>
            <a:srgbClr val="0B2230"/>
          </a:solidFill>
          <a:ln w="9525">
            <a:solidFill>
              <a:srgbClr val="163B4C"/>
            </a:solidFill>
            <a:prstDash val="solid"/>
          </a:ln>
        </p:spPr>
      </p:sp>
      <p:sp>
        <p:nvSpPr>
          <p:cNvPr id="102" name="Shape 100"/>
          <p:cNvSpPr/>
          <p:nvPr/>
        </p:nvSpPr>
        <p:spPr>
          <a:xfrm>
            <a:off x="5897880" y="1463040"/>
            <a:ext cx="5715000" cy="265176"/>
          </a:xfrm>
          <a:prstGeom prst="rect">
            <a:avLst/>
          </a:prstGeom>
          <a:solidFill>
            <a:srgbClr val="103445"/>
          </a:solidFill>
          <a:ln w="12700">
            <a:solidFill>
              <a:srgbClr val="103445"/>
            </a:solidFill>
            <a:prstDash val="solid"/>
          </a:ln>
        </p:spPr>
      </p:sp>
      <p:sp>
        <p:nvSpPr>
          <p:cNvPr id="103" name="Text 101"/>
          <p:cNvSpPr/>
          <p:nvPr/>
        </p:nvSpPr>
        <p:spPr>
          <a:xfrm>
            <a:off x="6044184" y="1513332"/>
            <a:ext cx="4800600" cy="182880"/>
          </a:xfrm>
          <a:prstGeom prst="rect">
            <a:avLst/>
          </a:prstGeom>
          <a:noFill/>
          <a:ln/>
        </p:spPr>
        <p:txBody>
          <a:bodyPr wrap="square" lIns="0" tIns="0" rIns="0" bIns="0" rtlCol="0" anchor="t"/>
          <a:lstStyle/>
          <a:p>
            <a:pPr marL="0" indent="0">
              <a:buNone/>
            </a:pPr>
            <a:r>
              <a:rPr lang="en-US" sz="850" dirty="0">
                <a:solidFill>
                  <a:srgbClr val="8FB6C8"/>
                </a:solidFill>
                <a:latin typeface="Consolas" pitchFamily="34" charset="0"/>
                <a:ea typeface="Consolas" pitchFamily="34" charset="-122"/>
                <a:cs typeface="Consolas" pitchFamily="34" charset="-120"/>
              </a:rPr>
              <a:t>python</a:t>
            </a:r>
            <a:endParaRPr lang="en-US" sz="850" dirty="0"/>
          </a:p>
        </p:txBody>
      </p:sp>
      <p:sp>
        <p:nvSpPr>
          <p:cNvPr id="104" name="Shape 102"/>
          <p:cNvSpPr/>
          <p:nvPr/>
        </p:nvSpPr>
        <p:spPr>
          <a:xfrm>
            <a:off x="11045952" y="1568196"/>
            <a:ext cx="77724" cy="77724"/>
          </a:xfrm>
          <a:prstGeom prst="ellipse">
            <a:avLst/>
          </a:prstGeom>
          <a:solidFill>
            <a:srgbClr val="D96C5F"/>
          </a:solidFill>
          <a:ln w="12700">
            <a:solidFill>
              <a:srgbClr val="D96C5F"/>
            </a:solidFill>
            <a:prstDash val="solid"/>
          </a:ln>
        </p:spPr>
      </p:sp>
      <p:sp>
        <p:nvSpPr>
          <p:cNvPr id="105" name="Shape 103"/>
          <p:cNvSpPr/>
          <p:nvPr/>
        </p:nvSpPr>
        <p:spPr>
          <a:xfrm>
            <a:off x="11201400" y="1568196"/>
            <a:ext cx="77724" cy="77724"/>
          </a:xfrm>
          <a:prstGeom prst="ellipse">
            <a:avLst/>
          </a:prstGeom>
          <a:solidFill>
            <a:srgbClr val="E8A33D"/>
          </a:solidFill>
          <a:ln w="12700">
            <a:solidFill>
              <a:srgbClr val="E8A33D"/>
            </a:solidFill>
            <a:prstDash val="solid"/>
          </a:ln>
        </p:spPr>
      </p:sp>
      <p:sp>
        <p:nvSpPr>
          <p:cNvPr id="106" name="Shape 104"/>
          <p:cNvSpPr/>
          <p:nvPr/>
        </p:nvSpPr>
        <p:spPr>
          <a:xfrm>
            <a:off x="11356848" y="1568196"/>
            <a:ext cx="77724" cy="77724"/>
          </a:xfrm>
          <a:prstGeom prst="ellipse">
            <a:avLst/>
          </a:prstGeom>
          <a:solidFill>
            <a:srgbClr val="2D8C6F"/>
          </a:solidFill>
          <a:ln w="12700">
            <a:solidFill>
              <a:srgbClr val="2D8C6F"/>
            </a:solidFill>
            <a:prstDash val="solid"/>
          </a:ln>
        </p:spPr>
      </p:sp>
      <p:sp>
        <p:nvSpPr>
          <p:cNvPr id="107" name="Text 105"/>
          <p:cNvSpPr/>
          <p:nvPr/>
        </p:nvSpPr>
        <p:spPr>
          <a:xfrm>
            <a:off x="6062472" y="1810512"/>
            <a:ext cx="5422392" cy="1773936"/>
          </a:xfrm>
          <a:prstGeom prst="rect">
            <a:avLst/>
          </a:prstGeom>
          <a:noFill/>
          <a:ln/>
        </p:spPr>
        <p:txBody>
          <a:bodyPr wrap="square" lIns="0" tIns="0" rIns="0" bIns="0" rtlCol="0" anchor="t"/>
          <a:lstStyle/>
          <a:p>
            <a:pPr marL="0" indent="0">
              <a:lnSpc>
                <a:spcPct val="102000"/>
              </a:lnSpc>
              <a:buNone/>
            </a:pPr>
            <a:r>
              <a:rPr lang="en-US" sz="1000" dirty="0">
                <a:solidFill>
                  <a:srgbClr val="D6E6EF"/>
                </a:solidFill>
                <a:latin typeface="Consolas" pitchFamily="34" charset="0"/>
                <a:ea typeface="Consolas" pitchFamily="34" charset="-122"/>
                <a:cs typeface="Consolas" pitchFamily="34" charset="-120"/>
              </a:rPr>
              <a:t>b = </a:t>
            </a:r>
            <a:r>
              <a:rPr lang="en-US" sz="1000" dirty="0">
                <a:solidFill>
                  <a:srgbClr val="8AD9C0"/>
                </a:solidFill>
                <a:latin typeface="Consolas" pitchFamily="34" charset="0"/>
                <a:ea typeface="Consolas" pitchFamily="34" charset="-122"/>
                <a:cs typeface="Consolas" pitchFamily="34" charset="-120"/>
              </a:rPr>
              <a:t>np</a:t>
            </a:r>
            <a:r>
              <a:rPr lang="en-US" sz="1000" dirty="0">
                <a:solidFill>
                  <a:srgbClr val="D6E6EF"/>
                </a:solidFill>
                <a:latin typeface="Consolas" pitchFamily="34" charset="0"/>
                <a:ea typeface="Consolas" pitchFamily="34" charset="-122"/>
                <a:cs typeface="Consolas" pitchFamily="34" charset="-120"/>
              </a:rPr>
              <a:t>.array([[</a:t>
            </a:r>
            <a:r>
              <a:rPr lang="en-US" sz="1000" dirty="0">
                <a:solidFill>
                  <a:srgbClr val="F08A7C"/>
                </a:solidFill>
                <a:latin typeface="Consolas" pitchFamily="34" charset="0"/>
                <a:ea typeface="Consolas" pitchFamily="34" charset="-122"/>
                <a:cs typeface="Consolas" pitchFamily="34" charset="-120"/>
              </a:rPr>
              <a:t>10</a:t>
            </a:r>
            <a:r>
              <a:rPr lang="en-US" sz="1000" dirty="0">
                <a:solidFill>
                  <a:srgbClr val="D6E6EF"/>
                </a:solidFill>
                <a:latin typeface="Consolas" pitchFamily="34" charset="0"/>
                <a:ea typeface="Consolas" pitchFamily="34" charset="-122"/>
                <a:cs typeface="Consolas" pitchFamily="34" charset="-120"/>
              </a:rPr>
              <a:t>, </a:t>
            </a:r>
            <a:r>
              <a:rPr lang="en-US" sz="1000" dirty="0">
                <a:solidFill>
                  <a:srgbClr val="F08A7C"/>
                </a:solidFill>
                <a:latin typeface="Consolas" pitchFamily="34" charset="0"/>
                <a:ea typeface="Consolas" pitchFamily="34" charset="-122"/>
                <a:cs typeface="Consolas" pitchFamily="34" charset="-120"/>
              </a:rPr>
              <a:t>11</a:t>
            </a:r>
            <a:r>
              <a:rPr lang="en-US" sz="1000" dirty="0">
                <a:solidFill>
                  <a:srgbClr val="D6E6EF"/>
                </a:solidFill>
                <a:latin typeface="Consolas" pitchFamily="34" charset="0"/>
                <a:ea typeface="Consolas" pitchFamily="34" charset="-122"/>
                <a:cs typeface="Consolas" pitchFamily="34" charset="-120"/>
              </a:rPr>
              <a:t>, </a:t>
            </a:r>
            <a:r>
              <a:rPr lang="en-US" sz="1000" dirty="0">
                <a:solidFill>
                  <a:srgbClr val="F08A7C"/>
                </a:solidFill>
                <a:latin typeface="Consolas" pitchFamily="34" charset="0"/>
                <a:ea typeface="Consolas" pitchFamily="34" charset="-122"/>
                <a:cs typeface="Consolas" pitchFamily="34" charset="-120"/>
              </a:rPr>
              <a:t>12</a:t>
            </a:r>
            <a:r>
              <a:rPr lang="en-US" sz="1000" dirty="0">
                <a:solidFill>
                  <a:srgbClr val="D6E6EF"/>
                </a:solidFill>
                <a:latin typeface="Consolas" pitchFamily="34" charset="0"/>
                <a:ea typeface="Consolas" pitchFamily="34" charset="-122"/>
                <a:cs typeface="Consolas" pitchFamily="34" charset="-120"/>
              </a:rPr>
              <a:t>, </a:t>
            </a:r>
            <a:r>
              <a:rPr lang="en-US" sz="1000" dirty="0">
                <a:solidFill>
                  <a:srgbClr val="F08A7C"/>
                </a:solidFill>
                <a:latin typeface="Consolas" pitchFamily="34" charset="0"/>
                <a:ea typeface="Consolas" pitchFamily="34" charset="-122"/>
                <a:cs typeface="Consolas" pitchFamily="34" charset="-120"/>
              </a:rPr>
              <a:t>13</a:t>
            </a:r>
            <a:r>
              <a:rPr lang="en-US" sz="1000" dirty="0">
                <a:solidFill>
                  <a:srgbClr val="D6E6EF"/>
                </a:solidFill>
                <a:latin typeface="Consolas" pitchFamily="34" charset="0"/>
                <a:ea typeface="Consolas" pitchFamily="34" charset="-122"/>
                <a:cs typeface="Consolas" pitchFamily="34" charset="-120"/>
              </a:rPr>
              <a:t>],</a:t>
            </a:r>
            <a:endParaRPr lang="en-US" sz="1000" dirty="0"/>
          </a:p>
          <a:p>
            <a:pPr marL="0" indent="0">
              <a:lnSpc>
                <a:spcPct val="102000"/>
              </a:lnSpc>
              <a:buNone/>
            </a:pPr>
            <a:r>
              <a:rPr lang="en-US" sz="1000" dirty="0">
                <a:solidFill>
                  <a:srgbClr val="D6E6EF"/>
                </a:solidFill>
                <a:latin typeface="Consolas" pitchFamily="34" charset="0"/>
                <a:ea typeface="Consolas" pitchFamily="34" charset="-122"/>
                <a:cs typeface="Consolas" pitchFamily="34" charset="-120"/>
              </a:rPr>
              <a:t>              [</a:t>
            </a:r>
            <a:r>
              <a:rPr lang="en-US" sz="1000" dirty="0">
                <a:solidFill>
                  <a:srgbClr val="F08A7C"/>
                </a:solidFill>
                <a:latin typeface="Consolas" pitchFamily="34" charset="0"/>
                <a:ea typeface="Consolas" pitchFamily="34" charset="-122"/>
                <a:cs typeface="Consolas" pitchFamily="34" charset="-120"/>
              </a:rPr>
              <a:t>20</a:t>
            </a:r>
            <a:r>
              <a:rPr lang="en-US" sz="1000" dirty="0">
                <a:solidFill>
                  <a:srgbClr val="D6E6EF"/>
                </a:solidFill>
                <a:latin typeface="Consolas" pitchFamily="34" charset="0"/>
                <a:ea typeface="Consolas" pitchFamily="34" charset="-122"/>
                <a:cs typeface="Consolas" pitchFamily="34" charset="-120"/>
              </a:rPr>
              <a:t>, </a:t>
            </a:r>
            <a:r>
              <a:rPr lang="en-US" sz="1000" dirty="0">
                <a:solidFill>
                  <a:srgbClr val="F08A7C"/>
                </a:solidFill>
                <a:latin typeface="Consolas" pitchFamily="34" charset="0"/>
                <a:ea typeface="Consolas" pitchFamily="34" charset="-122"/>
                <a:cs typeface="Consolas" pitchFamily="34" charset="-120"/>
              </a:rPr>
              <a:t>21</a:t>
            </a:r>
            <a:r>
              <a:rPr lang="en-US" sz="1000" dirty="0">
                <a:solidFill>
                  <a:srgbClr val="D6E6EF"/>
                </a:solidFill>
                <a:latin typeface="Consolas" pitchFamily="34" charset="0"/>
                <a:ea typeface="Consolas" pitchFamily="34" charset="-122"/>
                <a:cs typeface="Consolas" pitchFamily="34" charset="-120"/>
              </a:rPr>
              <a:t>, </a:t>
            </a:r>
            <a:r>
              <a:rPr lang="en-US" sz="1000" dirty="0">
                <a:solidFill>
                  <a:srgbClr val="F08A7C"/>
                </a:solidFill>
                <a:latin typeface="Consolas" pitchFamily="34" charset="0"/>
                <a:ea typeface="Consolas" pitchFamily="34" charset="-122"/>
                <a:cs typeface="Consolas" pitchFamily="34" charset="-120"/>
              </a:rPr>
              <a:t>22</a:t>
            </a:r>
            <a:r>
              <a:rPr lang="en-US" sz="1000" dirty="0">
                <a:solidFill>
                  <a:srgbClr val="D6E6EF"/>
                </a:solidFill>
                <a:latin typeface="Consolas" pitchFamily="34" charset="0"/>
                <a:ea typeface="Consolas" pitchFamily="34" charset="-122"/>
                <a:cs typeface="Consolas" pitchFamily="34" charset="-120"/>
              </a:rPr>
              <a:t>, </a:t>
            </a:r>
            <a:r>
              <a:rPr lang="en-US" sz="1000" dirty="0">
                <a:solidFill>
                  <a:srgbClr val="F08A7C"/>
                </a:solidFill>
                <a:latin typeface="Consolas" pitchFamily="34" charset="0"/>
                <a:ea typeface="Consolas" pitchFamily="34" charset="-122"/>
                <a:cs typeface="Consolas" pitchFamily="34" charset="-120"/>
              </a:rPr>
              <a:t>23</a:t>
            </a:r>
            <a:r>
              <a:rPr lang="en-US" sz="1000" dirty="0">
                <a:solidFill>
                  <a:srgbClr val="D6E6EF"/>
                </a:solidFill>
                <a:latin typeface="Consolas" pitchFamily="34" charset="0"/>
                <a:ea typeface="Consolas" pitchFamily="34" charset="-122"/>
                <a:cs typeface="Consolas" pitchFamily="34" charset="-120"/>
              </a:rPr>
              <a:t>],</a:t>
            </a:r>
            <a:endParaRPr lang="en-US" sz="1000" dirty="0"/>
          </a:p>
          <a:p>
            <a:pPr marL="0" indent="0">
              <a:lnSpc>
                <a:spcPct val="102000"/>
              </a:lnSpc>
              <a:buNone/>
            </a:pPr>
            <a:r>
              <a:rPr lang="en-US" sz="1000" dirty="0">
                <a:solidFill>
                  <a:srgbClr val="D6E6EF"/>
                </a:solidFill>
                <a:latin typeface="Consolas" pitchFamily="34" charset="0"/>
                <a:ea typeface="Consolas" pitchFamily="34" charset="-122"/>
                <a:cs typeface="Consolas" pitchFamily="34" charset="-120"/>
              </a:rPr>
              <a:t>              [</a:t>
            </a:r>
            <a:r>
              <a:rPr lang="en-US" sz="1000" dirty="0">
                <a:solidFill>
                  <a:srgbClr val="F08A7C"/>
                </a:solidFill>
                <a:latin typeface="Consolas" pitchFamily="34" charset="0"/>
                <a:ea typeface="Consolas" pitchFamily="34" charset="-122"/>
                <a:cs typeface="Consolas" pitchFamily="34" charset="-120"/>
              </a:rPr>
              <a:t>30</a:t>
            </a:r>
            <a:r>
              <a:rPr lang="en-US" sz="1000" dirty="0">
                <a:solidFill>
                  <a:srgbClr val="D6E6EF"/>
                </a:solidFill>
                <a:latin typeface="Consolas" pitchFamily="34" charset="0"/>
                <a:ea typeface="Consolas" pitchFamily="34" charset="-122"/>
                <a:cs typeface="Consolas" pitchFamily="34" charset="-120"/>
              </a:rPr>
              <a:t>, </a:t>
            </a:r>
            <a:r>
              <a:rPr lang="en-US" sz="1000" dirty="0">
                <a:solidFill>
                  <a:srgbClr val="F08A7C"/>
                </a:solidFill>
                <a:latin typeface="Consolas" pitchFamily="34" charset="0"/>
                <a:ea typeface="Consolas" pitchFamily="34" charset="-122"/>
                <a:cs typeface="Consolas" pitchFamily="34" charset="-120"/>
              </a:rPr>
              <a:t>31</a:t>
            </a:r>
            <a:r>
              <a:rPr lang="en-US" sz="1000" dirty="0">
                <a:solidFill>
                  <a:srgbClr val="D6E6EF"/>
                </a:solidFill>
                <a:latin typeface="Consolas" pitchFamily="34" charset="0"/>
                <a:ea typeface="Consolas" pitchFamily="34" charset="-122"/>
                <a:cs typeface="Consolas" pitchFamily="34" charset="-120"/>
              </a:rPr>
              <a:t>, </a:t>
            </a:r>
            <a:r>
              <a:rPr lang="en-US" sz="1000" dirty="0">
                <a:solidFill>
                  <a:srgbClr val="F08A7C"/>
                </a:solidFill>
                <a:latin typeface="Consolas" pitchFamily="34" charset="0"/>
                <a:ea typeface="Consolas" pitchFamily="34" charset="-122"/>
                <a:cs typeface="Consolas" pitchFamily="34" charset="-120"/>
              </a:rPr>
              <a:t>32</a:t>
            </a:r>
            <a:r>
              <a:rPr lang="en-US" sz="1000" dirty="0">
                <a:solidFill>
                  <a:srgbClr val="D6E6EF"/>
                </a:solidFill>
                <a:latin typeface="Consolas" pitchFamily="34" charset="0"/>
                <a:ea typeface="Consolas" pitchFamily="34" charset="-122"/>
                <a:cs typeface="Consolas" pitchFamily="34" charset="-120"/>
              </a:rPr>
              <a:t>, </a:t>
            </a:r>
            <a:r>
              <a:rPr lang="en-US" sz="1000" dirty="0">
                <a:solidFill>
                  <a:srgbClr val="F08A7C"/>
                </a:solidFill>
                <a:latin typeface="Consolas" pitchFamily="34" charset="0"/>
                <a:ea typeface="Consolas" pitchFamily="34" charset="-122"/>
                <a:cs typeface="Consolas" pitchFamily="34" charset="-120"/>
              </a:rPr>
              <a:t>33</a:t>
            </a:r>
            <a:r>
              <a:rPr lang="en-US" sz="1000" dirty="0">
                <a:solidFill>
                  <a:srgbClr val="D6E6EF"/>
                </a:solidFill>
                <a:latin typeface="Consolas" pitchFamily="34" charset="0"/>
                <a:ea typeface="Consolas" pitchFamily="34" charset="-122"/>
                <a:cs typeface="Consolas" pitchFamily="34" charset="-120"/>
              </a:rPr>
              <a:t>]])</a:t>
            </a:r>
            <a:endParaRPr lang="en-US" sz="1000" dirty="0"/>
          </a:p>
          <a:p>
            <a:pPr marL="0" indent="0">
              <a:lnSpc>
                <a:spcPct val="102000"/>
              </a:lnSpc>
              <a:buNone/>
            </a:pPr>
            <a:r>
              <a:rPr lang="en-US" sz="1000" dirty="0">
                <a:solidFill>
                  <a:srgbClr val="6FD0E4"/>
                </a:solidFill>
                <a:latin typeface="Consolas" pitchFamily="34" charset="0"/>
                <a:ea typeface="Consolas" pitchFamily="34" charset="-122"/>
                <a:cs typeface="Consolas" pitchFamily="34" charset="-120"/>
              </a:rPr>
              <a:t>print</a:t>
            </a:r>
            <a:r>
              <a:rPr lang="en-US" sz="1000" dirty="0">
                <a:solidFill>
                  <a:srgbClr val="D6E6EF"/>
                </a:solidFill>
                <a:latin typeface="Consolas" pitchFamily="34" charset="0"/>
                <a:ea typeface="Consolas" pitchFamily="34" charset="-122"/>
                <a:cs typeface="Consolas" pitchFamily="34" charset="-120"/>
              </a:rPr>
              <a:t>(b[</a:t>
            </a:r>
            <a:r>
              <a:rPr lang="en-US" sz="1000" dirty="0">
                <a:solidFill>
                  <a:srgbClr val="F08A7C"/>
                </a:solidFill>
                <a:latin typeface="Consolas" pitchFamily="34" charset="0"/>
                <a:ea typeface="Consolas" pitchFamily="34" charset="-122"/>
                <a:cs typeface="Consolas" pitchFamily="34" charset="-120"/>
              </a:rPr>
              <a:t>0</a:t>
            </a:r>
            <a:r>
              <a:rPr lang="en-US" sz="1000" dirty="0">
                <a:solidFill>
                  <a:srgbClr val="D6E6EF"/>
                </a:solidFill>
                <a:latin typeface="Consolas" pitchFamily="34" charset="0"/>
                <a:ea typeface="Consolas" pitchFamily="34" charset="-122"/>
                <a:cs typeface="Consolas" pitchFamily="34" charset="-120"/>
              </a:rPr>
              <a:t>, </a:t>
            </a:r>
            <a:r>
              <a:rPr lang="en-US" sz="1000" dirty="0">
                <a:solidFill>
                  <a:srgbClr val="F08A7C"/>
                </a:solidFill>
                <a:latin typeface="Consolas" pitchFamily="34" charset="0"/>
                <a:ea typeface="Consolas" pitchFamily="34" charset="-122"/>
                <a:cs typeface="Consolas" pitchFamily="34" charset="-120"/>
              </a:rPr>
              <a:t>0</a:t>
            </a:r>
            <a:r>
              <a:rPr lang="en-US" sz="1000" dirty="0">
                <a:solidFill>
                  <a:srgbClr val="D6E6EF"/>
                </a:solidFill>
                <a:latin typeface="Consolas" pitchFamily="34" charset="0"/>
                <a:ea typeface="Consolas" pitchFamily="34" charset="-122"/>
                <a:cs typeface="Consolas" pitchFamily="34" charset="-120"/>
              </a:rPr>
              <a:t>])       </a:t>
            </a:r>
            <a:r>
              <a:rPr lang="en-US" sz="1000" i="1" dirty="0">
                <a:solidFill>
                  <a:srgbClr val="6F93A3"/>
                </a:solidFill>
                <a:latin typeface="Consolas" pitchFamily="34" charset="0"/>
                <a:ea typeface="Consolas" pitchFamily="34" charset="-122"/>
                <a:cs typeface="Consolas" pitchFamily="34" charset="-120"/>
              </a:rPr>
              <a:t># 10</a:t>
            </a:r>
            <a:endParaRPr lang="en-US" sz="1000" dirty="0"/>
          </a:p>
          <a:p>
            <a:pPr marL="0" indent="0">
              <a:lnSpc>
                <a:spcPct val="102000"/>
              </a:lnSpc>
              <a:buNone/>
            </a:pPr>
            <a:r>
              <a:rPr lang="en-US" sz="1000" dirty="0">
                <a:solidFill>
                  <a:srgbClr val="6FD0E4"/>
                </a:solidFill>
                <a:latin typeface="Consolas" pitchFamily="34" charset="0"/>
                <a:ea typeface="Consolas" pitchFamily="34" charset="-122"/>
                <a:cs typeface="Consolas" pitchFamily="34" charset="-120"/>
              </a:rPr>
              <a:t>print</a:t>
            </a:r>
            <a:r>
              <a:rPr lang="en-US" sz="1000" dirty="0">
                <a:solidFill>
                  <a:srgbClr val="D6E6EF"/>
                </a:solidFill>
                <a:latin typeface="Consolas" pitchFamily="34" charset="0"/>
                <a:ea typeface="Consolas" pitchFamily="34" charset="-122"/>
                <a:cs typeface="Consolas" pitchFamily="34" charset="-120"/>
              </a:rPr>
              <a:t>(b[</a:t>
            </a:r>
            <a:r>
              <a:rPr lang="en-US" sz="1000" dirty="0">
                <a:solidFill>
                  <a:srgbClr val="F08A7C"/>
                </a:solidFill>
                <a:latin typeface="Consolas" pitchFamily="34" charset="0"/>
                <a:ea typeface="Consolas" pitchFamily="34" charset="-122"/>
                <a:cs typeface="Consolas" pitchFamily="34" charset="-120"/>
              </a:rPr>
              <a:t>1</a:t>
            </a:r>
            <a:r>
              <a:rPr lang="en-US" sz="1000" dirty="0">
                <a:solidFill>
                  <a:srgbClr val="D6E6EF"/>
                </a:solidFill>
                <a:latin typeface="Consolas" pitchFamily="34" charset="0"/>
                <a:ea typeface="Consolas" pitchFamily="34" charset="-122"/>
                <a:cs typeface="Consolas" pitchFamily="34" charset="-120"/>
              </a:rPr>
              <a:t>])         </a:t>
            </a:r>
            <a:r>
              <a:rPr lang="en-US" sz="1000" i="1" dirty="0">
                <a:solidFill>
                  <a:srgbClr val="6F93A3"/>
                </a:solidFill>
                <a:latin typeface="Consolas" pitchFamily="34" charset="0"/>
                <a:ea typeface="Consolas" pitchFamily="34" charset="-122"/>
                <a:cs typeface="Consolas" pitchFamily="34" charset="-120"/>
              </a:rPr>
              <a:t># [20 21 22 23]</a:t>
            </a:r>
            <a:endParaRPr lang="en-US" sz="1000" dirty="0"/>
          </a:p>
          <a:p>
            <a:pPr marL="0" indent="0">
              <a:lnSpc>
                <a:spcPct val="102000"/>
              </a:lnSpc>
              <a:buNone/>
            </a:pPr>
            <a:r>
              <a:rPr lang="en-US" sz="1000" dirty="0">
                <a:solidFill>
                  <a:srgbClr val="6FD0E4"/>
                </a:solidFill>
                <a:latin typeface="Consolas" pitchFamily="34" charset="0"/>
                <a:ea typeface="Consolas" pitchFamily="34" charset="-122"/>
                <a:cs typeface="Consolas" pitchFamily="34" charset="-120"/>
              </a:rPr>
              <a:t>print</a:t>
            </a:r>
            <a:r>
              <a:rPr lang="en-US" sz="1000" dirty="0">
                <a:solidFill>
                  <a:srgbClr val="D6E6EF"/>
                </a:solidFill>
                <a:latin typeface="Consolas" pitchFamily="34" charset="0"/>
                <a:ea typeface="Consolas" pitchFamily="34" charset="-122"/>
                <a:cs typeface="Consolas" pitchFamily="34" charset="-120"/>
              </a:rPr>
              <a:t>(b[:, </a:t>
            </a:r>
            <a:r>
              <a:rPr lang="en-US" sz="1000" dirty="0">
                <a:solidFill>
                  <a:srgbClr val="F08A7C"/>
                </a:solidFill>
                <a:latin typeface="Consolas" pitchFamily="34" charset="0"/>
                <a:ea typeface="Consolas" pitchFamily="34" charset="-122"/>
                <a:cs typeface="Consolas" pitchFamily="34" charset="-120"/>
              </a:rPr>
              <a:t>2</a:t>
            </a:r>
            <a:r>
              <a:rPr lang="en-US" sz="1000" dirty="0">
                <a:solidFill>
                  <a:srgbClr val="D6E6EF"/>
                </a:solidFill>
                <a:latin typeface="Consolas" pitchFamily="34" charset="0"/>
                <a:ea typeface="Consolas" pitchFamily="34" charset="-122"/>
                <a:cs typeface="Consolas" pitchFamily="34" charset="-120"/>
              </a:rPr>
              <a:t>])      </a:t>
            </a:r>
            <a:r>
              <a:rPr lang="en-US" sz="1000" i="1" dirty="0">
                <a:solidFill>
                  <a:srgbClr val="6F93A3"/>
                </a:solidFill>
                <a:latin typeface="Consolas" pitchFamily="34" charset="0"/>
                <a:ea typeface="Consolas" pitchFamily="34" charset="-122"/>
                <a:cs typeface="Consolas" pitchFamily="34" charset="-120"/>
              </a:rPr>
              <a:t># [12 22 32]</a:t>
            </a:r>
            <a:endParaRPr lang="en-US" sz="1000" dirty="0"/>
          </a:p>
          <a:p>
            <a:pPr marL="0" indent="0">
              <a:lnSpc>
                <a:spcPct val="102000"/>
              </a:lnSpc>
              <a:buNone/>
            </a:pPr>
            <a:r>
              <a:rPr lang="en-US" sz="1000" dirty="0">
                <a:solidFill>
                  <a:srgbClr val="6FD0E4"/>
                </a:solidFill>
                <a:latin typeface="Consolas" pitchFamily="34" charset="0"/>
                <a:ea typeface="Consolas" pitchFamily="34" charset="-122"/>
                <a:cs typeface="Consolas" pitchFamily="34" charset="-120"/>
              </a:rPr>
              <a:t>print</a:t>
            </a:r>
            <a:r>
              <a:rPr lang="en-US" sz="1000" dirty="0">
                <a:solidFill>
                  <a:srgbClr val="D6E6EF"/>
                </a:solidFill>
                <a:latin typeface="Consolas" pitchFamily="34" charset="0"/>
                <a:ea typeface="Consolas" pitchFamily="34" charset="-122"/>
                <a:cs typeface="Consolas" pitchFamily="34" charset="-120"/>
              </a:rPr>
              <a:t>(b[</a:t>
            </a:r>
            <a:r>
              <a:rPr lang="en-US" sz="1000" dirty="0">
                <a:solidFill>
                  <a:srgbClr val="F08A7C"/>
                </a:solidFill>
                <a:latin typeface="Consolas" pitchFamily="34" charset="0"/>
                <a:ea typeface="Consolas" pitchFamily="34" charset="-122"/>
                <a:cs typeface="Consolas" pitchFamily="34" charset="-120"/>
              </a:rPr>
              <a:t>0</a:t>
            </a:r>
            <a:r>
              <a:rPr lang="en-US" sz="1000" dirty="0">
                <a:solidFill>
                  <a:srgbClr val="D6E6EF"/>
                </a:solidFill>
                <a:latin typeface="Consolas" pitchFamily="34" charset="0"/>
                <a:ea typeface="Consolas" pitchFamily="34" charset="-122"/>
                <a:cs typeface="Consolas" pitchFamily="34" charset="-120"/>
              </a:rPr>
              <a:t>:</a:t>
            </a:r>
            <a:r>
              <a:rPr lang="en-US" sz="1000" dirty="0">
                <a:solidFill>
                  <a:srgbClr val="F08A7C"/>
                </a:solidFill>
                <a:latin typeface="Consolas" pitchFamily="34" charset="0"/>
                <a:ea typeface="Consolas" pitchFamily="34" charset="-122"/>
                <a:cs typeface="Consolas" pitchFamily="34" charset="-120"/>
              </a:rPr>
              <a:t>2</a:t>
            </a:r>
            <a:r>
              <a:rPr lang="en-US" sz="1000" dirty="0">
                <a:solidFill>
                  <a:srgbClr val="D6E6EF"/>
                </a:solidFill>
                <a:latin typeface="Consolas" pitchFamily="34" charset="0"/>
                <a:ea typeface="Consolas" pitchFamily="34" charset="-122"/>
                <a:cs typeface="Consolas" pitchFamily="34" charset="-120"/>
              </a:rPr>
              <a:t>, </a:t>
            </a:r>
            <a:r>
              <a:rPr lang="en-US" sz="1000" dirty="0">
                <a:solidFill>
                  <a:srgbClr val="F08A7C"/>
                </a:solidFill>
                <a:latin typeface="Consolas" pitchFamily="34" charset="0"/>
                <a:ea typeface="Consolas" pitchFamily="34" charset="-122"/>
                <a:cs typeface="Consolas" pitchFamily="34" charset="-120"/>
              </a:rPr>
              <a:t>1</a:t>
            </a:r>
            <a:r>
              <a:rPr lang="en-US" sz="1000" dirty="0">
                <a:solidFill>
                  <a:srgbClr val="D6E6EF"/>
                </a:solidFill>
                <a:latin typeface="Consolas" pitchFamily="34" charset="0"/>
                <a:ea typeface="Consolas" pitchFamily="34" charset="-122"/>
                <a:cs typeface="Consolas" pitchFamily="34" charset="-120"/>
              </a:rPr>
              <a:t>:</a:t>
            </a:r>
            <a:r>
              <a:rPr lang="en-US" sz="1000" dirty="0">
                <a:solidFill>
                  <a:srgbClr val="F08A7C"/>
                </a:solidFill>
                <a:latin typeface="Consolas" pitchFamily="34" charset="0"/>
                <a:ea typeface="Consolas" pitchFamily="34" charset="-122"/>
                <a:cs typeface="Consolas" pitchFamily="34" charset="-120"/>
              </a:rPr>
              <a:t>3</a:t>
            </a:r>
            <a:r>
              <a:rPr lang="en-US" sz="1000" dirty="0">
                <a:solidFill>
                  <a:srgbClr val="D6E6EF"/>
                </a:solidFill>
                <a:latin typeface="Consolas" pitchFamily="34" charset="0"/>
                <a:ea typeface="Consolas" pitchFamily="34" charset="-122"/>
                <a:cs typeface="Consolas" pitchFamily="34" charset="-120"/>
              </a:rPr>
              <a:t>])  </a:t>
            </a:r>
            <a:r>
              <a:rPr lang="en-US" sz="1000" i="1" dirty="0">
                <a:solidFill>
                  <a:srgbClr val="6F93A3"/>
                </a:solidFill>
                <a:latin typeface="Consolas" pitchFamily="34" charset="0"/>
                <a:ea typeface="Consolas" pitchFamily="34" charset="-122"/>
                <a:cs typeface="Consolas" pitchFamily="34" charset="-120"/>
              </a:rPr>
              <a:t># [[11 12] [21 22]]</a:t>
            </a:r>
            <a:endParaRPr lang="en-US" sz="1000" dirty="0"/>
          </a:p>
        </p:txBody>
      </p:sp>
      <p:sp>
        <p:nvSpPr>
          <p:cNvPr id="108" name="Shape 106"/>
          <p:cNvSpPr/>
          <p:nvPr/>
        </p:nvSpPr>
        <p:spPr>
          <a:xfrm>
            <a:off x="5897880" y="3794760"/>
            <a:ext cx="5715000" cy="1463040"/>
          </a:xfrm>
          <a:prstGeom prst="roundRect">
            <a:avLst>
              <a:gd name="adj" fmla="val 3125"/>
            </a:avLst>
          </a:prstGeom>
          <a:solidFill>
            <a:srgbClr val="FFFFFF"/>
          </a:solidFill>
          <a:ln w="9525">
            <a:solidFill>
              <a:srgbClr val="CFE5EE"/>
            </a:solidFill>
            <a:prstDash val="solid"/>
          </a:ln>
        </p:spPr>
      </p:sp>
      <p:sp>
        <p:nvSpPr>
          <p:cNvPr id="109" name="Text 107"/>
          <p:cNvSpPr/>
          <p:nvPr/>
        </p:nvSpPr>
        <p:spPr>
          <a:xfrm>
            <a:off x="6044184" y="3886200"/>
            <a:ext cx="5440680" cy="164592"/>
          </a:xfrm>
          <a:prstGeom prst="rect">
            <a:avLst/>
          </a:prstGeom>
          <a:noFill/>
          <a:ln/>
        </p:spPr>
        <p:txBody>
          <a:bodyPr wrap="square" lIns="0" tIns="0" rIns="0" bIns="0" rtlCol="0" anchor="t"/>
          <a:lstStyle/>
          <a:p>
            <a:pPr marL="0" indent="0">
              <a:buNone/>
            </a:pPr>
            <a:r>
              <a:rPr lang="en-US" sz="800" b="1" kern="0" spc="120" dirty="0">
                <a:solidFill>
                  <a:srgbClr val="2D8C6F"/>
                </a:solidFill>
                <a:latin typeface="Segoe UI" pitchFamily="34" charset="0"/>
                <a:ea typeface="Segoe UI" pitchFamily="34" charset="-122"/>
                <a:cs typeface="Segoe UI" pitchFamily="34" charset="-120"/>
              </a:rPr>
              <a:t>KẾT QUẢ</a:t>
            </a:r>
            <a:endParaRPr lang="en-US" sz="800" dirty="0"/>
          </a:p>
        </p:txBody>
      </p:sp>
      <p:sp>
        <p:nvSpPr>
          <p:cNvPr id="110" name="Text 108"/>
          <p:cNvSpPr/>
          <p:nvPr/>
        </p:nvSpPr>
        <p:spPr>
          <a:xfrm>
            <a:off x="6044184" y="4105656"/>
            <a:ext cx="5440680" cy="1078992"/>
          </a:xfrm>
          <a:prstGeom prst="rect">
            <a:avLst/>
          </a:prstGeom>
          <a:noFill/>
          <a:ln/>
        </p:spPr>
        <p:txBody>
          <a:bodyPr wrap="square" lIns="0" tIns="0" rIns="0" bIns="0" rtlCol="0" anchor="t"/>
          <a:lstStyle/>
          <a:p>
            <a:pPr marL="0" indent="0">
              <a:lnSpc>
                <a:spcPct val="102000"/>
              </a:lnSpc>
              <a:buNone/>
            </a:pPr>
            <a:r>
              <a:rPr lang="en-US" sz="950" dirty="0">
                <a:solidFill>
                  <a:srgbClr val="062A3A"/>
                </a:solidFill>
                <a:latin typeface="Consolas" pitchFamily="34" charset="0"/>
                <a:ea typeface="Consolas" pitchFamily="34" charset="-122"/>
                <a:cs typeface="Consolas" pitchFamily="34" charset="-120"/>
              </a:rPr>
              <a:t>10</a:t>
            </a:r>
            <a:endParaRPr lang="en-US" sz="950" dirty="0"/>
          </a:p>
          <a:p>
            <a:pPr marL="0" indent="0">
              <a:lnSpc>
                <a:spcPct val="102000"/>
              </a:lnSpc>
              <a:buNone/>
            </a:pPr>
            <a:r>
              <a:rPr lang="en-US" sz="950" dirty="0">
                <a:solidFill>
                  <a:srgbClr val="062A3A"/>
                </a:solidFill>
                <a:latin typeface="Consolas" pitchFamily="34" charset="0"/>
                <a:ea typeface="Consolas" pitchFamily="34" charset="-122"/>
                <a:cs typeface="Consolas" pitchFamily="34" charset="-120"/>
              </a:rPr>
              <a:t>[20 21 22 23]</a:t>
            </a:r>
            <a:endParaRPr lang="en-US" sz="950" dirty="0"/>
          </a:p>
          <a:p>
            <a:pPr marL="0" indent="0">
              <a:lnSpc>
                <a:spcPct val="102000"/>
              </a:lnSpc>
              <a:buNone/>
            </a:pPr>
            <a:r>
              <a:rPr lang="en-US" sz="950" dirty="0">
                <a:solidFill>
                  <a:srgbClr val="062A3A"/>
                </a:solidFill>
                <a:latin typeface="Consolas" pitchFamily="34" charset="0"/>
                <a:ea typeface="Consolas" pitchFamily="34" charset="-122"/>
                <a:cs typeface="Consolas" pitchFamily="34" charset="-120"/>
              </a:rPr>
              <a:t>[12 22 32]</a:t>
            </a:r>
            <a:endParaRPr lang="en-US" sz="950" dirty="0"/>
          </a:p>
          <a:p>
            <a:pPr marL="0" indent="0">
              <a:lnSpc>
                <a:spcPct val="102000"/>
              </a:lnSpc>
              <a:buNone/>
            </a:pPr>
            <a:r>
              <a:rPr lang="en-US" sz="950" dirty="0">
                <a:solidFill>
                  <a:srgbClr val="062A3A"/>
                </a:solidFill>
                <a:latin typeface="Consolas" pitchFamily="34" charset="0"/>
                <a:ea typeface="Consolas" pitchFamily="34" charset="-122"/>
                <a:cs typeface="Consolas" pitchFamily="34" charset="-120"/>
              </a:rPr>
              <a:t>[[11 12]</a:t>
            </a:r>
            <a:endParaRPr lang="en-US" sz="950" dirty="0"/>
          </a:p>
          <a:p>
            <a:pPr marL="0" indent="0">
              <a:lnSpc>
                <a:spcPct val="102000"/>
              </a:lnSpc>
              <a:buNone/>
            </a:pPr>
            <a:r>
              <a:rPr lang="en-US" sz="950" dirty="0">
                <a:solidFill>
                  <a:srgbClr val="062A3A"/>
                </a:solidFill>
                <a:latin typeface="Consolas" pitchFamily="34" charset="0"/>
                <a:ea typeface="Consolas" pitchFamily="34" charset="-122"/>
                <a:cs typeface="Consolas" pitchFamily="34" charset="-120"/>
              </a:rPr>
              <a:t> [21 22]]</a:t>
            </a:r>
            <a:endParaRPr lang="en-US" sz="950" dirty="0"/>
          </a:p>
        </p:txBody>
      </p:sp>
      <p:sp>
        <p:nvSpPr>
          <p:cNvPr id="111" name="Shape 109"/>
          <p:cNvSpPr/>
          <p:nvPr/>
        </p:nvSpPr>
        <p:spPr>
          <a:xfrm>
            <a:off x="640080" y="3063240"/>
            <a:ext cx="4983480" cy="1783080"/>
          </a:xfrm>
          <a:prstGeom prst="roundRect">
            <a:avLst>
              <a:gd name="adj" fmla="val 3077"/>
            </a:avLst>
          </a:prstGeom>
          <a:solidFill>
            <a:srgbClr val="FFFFFF"/>
          </a:solidFill>
          <a:ln w="9525">
            <a:solidFill>
              <a:srgbClr val="D7E5EC"/>
            </a:solidFill>
            <a:prstDash val="solid"/>
          </a:ln>
        </p:spPr>
      </p:sp>
      <p:sp>
        <p:nvSpPr>
          <p:cNvPr id="112" name="Text 110"/>
          <p:cNvSpPr/>
          <p:nvPr/>
        </p:nvSpPr>
        <p:spPr>
          <a:xfrm>
            <a:off x="868680" y="3200400"/>
            <a:ext cx="4480560" cy="237744"/>
          </a:xfrm>
          <a:prstGeom prst="rect">
            <a:avLst/>
          </a:prstGeom>
          <a:noFill/>
          <a:ln/>
        </p:spPr>
        <p:txBody>
          <a:bodyPr wrap="square" lIns="0" tIns="0" rIns="0" bIns="0" rtlCol="0" anchor="t"/>
          <a:lstStyle/>
          <a:p>
            <a:pPr marL="0" indent="0">
              <a:buNone/>
            </a:pPr>
            <a:r>
              <a:rPr lang="en-US" sz="1100" b="1" dirty="0">
                <a:solidFill>
                  <a:srgbClr val="062A3A"/>
                </a:solidFill>
                <a:latin typeface="Segoe UI" pitchFamily="34" charset="0"/>
                <a:ea typeface="Segoe UI" pitchFamily="34" charset="-122"/>
                <a:cs typeface="Segoe UI" pitchFamily="34" charset="-120"/>
              </a:rPr>
              <a:t>Cách đọc kết quả</a:t>
            </a:r>
            <a:endParaRPr lang="en-US" sz="1100" dirty="0"/>
          </a:p>
        </p:txBody>
      </p:sp>
      <p:sp>
        <p:nvSpPr>
          <p:cNvPr id="113" name="Shape 111"/>
          <p:cNvSpPr/>
          <p:nvPr/>
        </p:nvSpPr>
        <p:spPr>
          <a:xfrm>
            <a:off x="868680" y="3593592"/>
            <a:ext cx="73152" cy="182880"/>
          </a:xfrm>
          <a:prstGeom prst="rect">
            <a:avLst/>
          </a:prstGeom>
          <a:solidFill>
            <a:srgbClr val="4DB8D4"/>
          </a:solidFill>
          <a:ln w="12700">
            <a:solidFill>
              <a:srgbClr val="4DB8D4"/>
            </a:solidFill>
            <a:prstDash val="solid"/>
          </a:ln>
        </p:spPr>
      </p:sp>
      <p:sp>
        <p:nvSpPr>
          <p:cNvPr id="114" name="Text 112"/>
          <p:cNvSpPr/>
          <p:nvPr/>
        </p:nvSpPr>
        <p:spPr>
          <a:xfrm>
            <a:off x="1051560" y="3538728"/>
            <a:ext cx="914400" cy="256032"/>
          </a:xfrm>
          <a:prstGeom prst="rect">
            <a:avLst/>
          </a:prstGeom>
          <a:noFill/>
          <a:ln/>
        </p:spPr>
        <p:txBody>
          <a:bodyPr wrap="square" lIns="0" tIns="0" rIns="0" bIns="0" rtlCol="0" anchor="t"/>
          <a:lstStyle/>
          <a:p>
            <a:pPr marL="0" indent="0">
              <a:buNone/>
            </a:pPr>
            <a:r>
              <a:rPr lang="en-US" sz="900" b="1" dirty="0">
                <a:solidFill>
                  <a:srgbClr val="415A6B"/>
                </a:solidFill>
                <a:latin typeface="Consolas" pitchFamily="34" charset="0"/>
                <a:ea typeface="Consolas" pitchFamily="34" charset="-122"/>
                <a:cs typeface="Consolas" pitchFamily="34" charset="-120"/>
              </a:rPr>
              <a:t>b[1]</a:t>
            </a:r>
            <a:endParaRPr lang="en-US" sz="900" dirty="0"/>
          </a:p>
        </p:txBody>
      </p:sp>
      <p:sp>
        <p:nvSpPr>
          <p:cNvPr id="115" name="Text 113"/>
          <p:cNvSpPr/>
          <p:nvPr/>
        </p:nvSpPr>
        <p:spPr>
          <a:xfrm>
            <a:off x="2011680" y="3538728"/>
            <a:ext cx="3429000" cy="256032"/>
          </a:xfrm>
          <a:prstGeom prst="rect">
            <a:avLst/>
          </a:prstGeom>
          <a:noFill/>
          <a:ln/>
        </p:spPr>
        <p:txBody>
          <a:bodyPr wrap="square" lIns="0" tIns="0" rIns="0" bIns="0" rtlCol="0" anchor="t"/>
          <a:lstStyle/>
          <a:p>
            <a:pPr marL="0" indent="0">
              <a:buNone/>
            </a:pPr>
            <a:r>
              <a:rPr lang="en-US" sz="900" dirty="0">
                <a:solidFill>
                  <a:srgbClr val="415A6B"/>
                </a:solidFill>
                <a:latin typeface="Segoe UI" pitchFamily="34" charset="0"/>
                <a:ea typeface="Segoe UI" pitchFamily="34" charset="-122"/>
                <a:cs typeface="Segoe UI" pitchFamily="34" charset="-120"/>
              </a:rPr>
              <a:t>một hàng → mảng 1-D, shape (4,)</a:t>
            </a:r>
            <a:endParaRPr lang="en-US" sz="900" dirty="0"/>
          </a:p>
        </p:txBody>
      </p:sp>
      <p:sp>
        <p:nvSpPr>
          <p:cNvPr id="116" name="Shape 114"/>
          <p:cNvSpPr/>
          <p:nvPr/>
        </p:nvSpPr>
        <p:spPr>
          <a:xfrm>
            <a:off x="868680" y="3977640"/>
            <a:ext cx="73152" cy="182880"/>
          </a:xfrm>
          <a:prstGeom prst="rect">
            <a:avLst/>
          </a:prstGeom>
          <a:solidFill>
            <a:srgbClr val="1B8EA8"/>
          </a:solidFill>
          <a:ln w="12700">
            <a:solidFill>
              <a:srgbClr val="1B8EA8"/>
            </a:solidFill>
            <a:prstDash val="solid"/>
          </a:ln>
        </p:spPr>
      </p:sp>
      <p:sp>
        <p:nvSpPr>
          <p:cNvPr id="117" name="Text 115"/>
          <p:cNvSpPr/>
          <p:nvPr/>
        </p:nvSpPr>
        <p:spPr>
          <a:xfrm>
            <a:off x="1051560" y="3922776"/>
            <a:ext cx="914400" cy="256032"/>
          </a:xfrm>
          <a:prstGeom prst="rect">
            <a:avLst/>
          </a:prstGeom>
          <a:noFill/>
          <a:ln/>
        </p:spPr>
        <p:txBody>
          <a:bodyPr wrap="square" lIns="0" tIns="0" rIns="0" bIns="0" rtlCol="0" anchor="t"/>
          <a:lstStyle/>
          <a:p>
            <a:pPr marL="0" indent="0">
              <a:buNone/>
            </a:pPr>
            <a:r>
              <a:rPr lang="en-US" sz="900" b="1" dirty="0">
                <a:solidFill>
                  <a:srgbClr val="415A6B"/>
                </a:solidFill>
                <a:latin typeface="Consolas" pitchFamily="34" charset="0"/>
                <a:ea typeface="Consolas" pitchFamily="34" charset="-122"/>
                <a:cs typeface="Consolas" pitchFamily="34" charset="-120"/>
              </a:rPr>
              <a:t>b[:, 2]</a:t>
            </a:r>
            <a:endParaRPr lang="en-US" sz="900" dirty="0"/>
          </a:p>
        </p:txBody>
      </p:sp>
      <p:sp>
        <p:nvSpPr>
          <p:cNvPr id="118" name="Text 116"/>
          <p:cNvSpPr/>
          <p:nvPr/>
        </p:nvSpPr>
        <p:spPr>
          <a:xfrm>
            <a:off x="2011680" y="3922776"/>
            <a:ext cx="3429000" cy="256032"/>
          </a:xfrm>
          <a:prstGeom prst="rect">
            <a:avLst/>
          </a:prstGeom>
          <a:noFill/>
          <a:ln/>
        </p:spPr>
        <p:txBody>
          <a:bodyPr wrap="square" lIns="0" tIns="0" rIns="0" bIns="0" rtlCol="0" anchor="t"/>
          <a:lstStyle/>
          <a:p>
            <a:pPr marL="0" indent="0">
              <a:buNone/>
            </a:pPr>
            <a:r>
              <a:rPr lang="en-US" sz="900" dirty="0">
                <a:solidFill>
                  <a:srgbClr val="415A6B"/>
                </a:solidFill>
                <a:latin typeface="Segoe UI" pitchFamily="34" charset="0"/>
                <a:ea typeface="Segoe UI" pitchFamily="34" charset="-122"/>
                <a:cs typeface="Segoe UI" pitchFamily="34" charset="-120"/>
              </a:rPr>
              <a:t>một cột → mảng 1-D, shape (3,)</a:t>
            </a:r>
            <a:endParaRPr lang="en-US" sz="900" dirty="0"/>
          </a:p>
        </p:txBody>
      </p:sp>
      <p:sp>
        <p:nvSpPr>
          <p:cNvPr id="119" name="Shape 117"/>
          <p:cNvSpPr/>
          <p:nvPr/>
        </p:nvSpPr>
        <p:spPr>
          <a:xfrm>
            <a:off x="868680" y="4361688"/>
            <a:ext cx="73152" cy="182880"/>
          </a:xfrm>
          <a:prstGeom prst="rect">
            <a:avLst/>
          </a:prstGeom>
          <a:solidFill>
            <a:srgbClr val="D96C5F"/>
          </a:solidFill>
          <a:ln w="12700">
            <a:solidFill>
              <a:srgbClr val="D96C5F"/>
            </a:solidFill>
            <a:prstDash val="solid"/>
          </a:ln>
        </p:spPr>
      </p:sp>
      <p:sp>
        <p:nvSpPr>
          <p:cNvPr id="120" name="Text 118"/>
          <p:cNvSpPr/>
          <p:nvPr/>
        </p:nvSpPr>
        <p:spPr>
          <a:xfrm>
            <a:off x="1051560" y="4306824"/>
            <a:ext cx="914400" cy="256032"/>
          </a:xfrm>
          <a:prstGeom prst="rect">
            <a:avLst/>
          </a:prstGeom>
          <a:noFill/>
          <a:ln/>
        </p:spPr>
        <p:txBody>
          <a:bodyPr wrap="square" lIns="0" tIns="0" rIns="0" bIns="0" rtlCol="0" anchor="t"/>
          <a:lstStyle/>
          <a:p>
            <a:pPr marL="0" indent="0">
              <a:buNone/>
            </a:pPr>
            <a:r>
              <a:rPr lang="en-US" sz="900" b="1" dirty="0">
                <a:solidFill>
                  <a:srgbClr val="415A6B"/>
                </a:solidFill>
                <a:latin typeface="Consolas" pitchFamily="34" charset="0"/>
                <a:ea typeface="Consolas" pitchFamily="34" charset="-122"/>
                <a:cs typeface="Consolas" pitchFamily="34" charset="-120"/>
              </a:rPr>
              <a:t>b[0:2, 1:3]</a:t>
            </a:r>
            <a:endParaRPr lang="en-US" sz="900" dirty="0"/>
          </a:p>
        </p:txBody>
      </p:sp>
      <p:sp>
        <p:nvSpPr>
          <p:cNvPr id="121" name="Text 119"/>
          <p:cNvSpPr/>
          <p:nvPr/>
        </p:nvSpPr>
        <p:spPr>
          <a:xfrm>
            <a:off x="2011680" y="4306824"/>
            <a:ext cx="3429000" cy="256032"/>
          </a:xfrm>
          <a:prstGeom prst="rect">
            <a:avLst/>
          </a:prstGeom>
          <a:noFill/>
          <a:ln/>
        </p:spPr>
        <p:txBody>
          <a:bodyPr wrap="square" lIns="0" tIns="0" rIns="0" bIns="0" rtlCol="0" anchor="t"/>
          <a:lstStyle/>
          <a:p>
            <a:pPr marL="0" indent="0">
              <a:buNone/>
            </a:pPr>
            <a:r>
              <a:rPr lang="en-US" sz="900" dirty="0">
                <a:solidFill>
                  <a:srgbClr val="415A6B"/>
                </a:solidFill>
                <a:latin typeface="Segoe UI" pitchFamily="34" charset="0"/>
                <a:ea typeface="Segoe UI" pitchFamily="34" charset="-122"/>
                <a:cs typeface="Segoe UI" pitchFamily="34" charset="-120"/>
              </a:rPr>
              <a:t>khối con → mảng 2-D, shape (2, 2)</a:t>
            </a:r>
            <a:endParaRPr lang="en-US" sz="900" dirty="0"/>
          </a:p>
        </p:txBody>
      </p:sp>
      <p:sp>
        <p:nvSpPr>
          <p:cNvPr id="122" name="Text 120"/>
          <p:cNvSpPr/>
          <p:nvPr/>
        </p:nvSpPr>
        <p:spPr>
          <a:xfrm>
            <a:off x="548640" y="5440680"/>
            <a:ext cx="11064240" cy="411480"/>
          </a:xfrm>
          <a:prstGeom prst="rect">
            <a:avLst/>
          </a:prstGeom>
          <a:noFill/>
          <a:ln/>
        </p:spPr>
        <p:txBody>
          <a:bodyPr wrap="square" lIns="0" tIns="0" rIns="0" bIns="0" rtlCol="0" anchor="t"/>
          <a:lstStyle/>
          <a:p>
            <a:pPr marL="0" indent="0">
              <a:buNone/>
            </a:pPr>
            <a:r>
              <a:rPr lang="en-US" sz="1050" i="1" dirty="0">
                <a:solidFill>
                  <a:srgbClr val="728694"/>
                </a:solidFill>
                <a:latin typeface="Segoe UI" pitchFamily="34" charset="0"/>
                <a:ea typeface="Segoe UI" pitchFamily="34" charset="-122"/>
                <a:cs typeface="Segoe UI" pitchFamily="34" charset="-120"/>
              </a:rPr>
              <a:t>Một cặp ngoặc vuông với dấu phẩy: a[hàng, cột]. Bỏ chỉ số hàng hoặc cột bằng dấu : để lấy cả trục.</a:t>
            </a:r>
            <a:endParaRPr lang="en-US" sz="1050" dirty="0"/>
          </a:p>
        </p:txBody>
      </p:sp>
      <p:sp>
        <p:nvSpPr>
          <p:cNvPr id="123" name="Shape 121"/>
          <p:cNvSpPr/>
          <p:nvPr/>
        </p:nvSpPr>
        <p:spPr>
          <a:xfrm>
            <a:off x="548640" y="6391656"/>
            <a:ext cx="11091672" cy="9144"/>
          </a:xfrm>
          <a:prstGeom prst="rect">
            <a:avLst/>
          </a:prstGeom>
          <a:solidFill>
            <a:srgbClr val="D7E5EC"/>
          </a:solidFill>
          <a:ln w="12700">
            <a:solidFill>
              <a:srgbClr val="D7E5EC"/>
            </a:solidFill>
            <a:prstDash val="solid"/>
          </a:ln>
        </p:spPr>
      </p:sp>
      <p:sp>
        <p:nvSpPr>
          <p:cNvPr id="124" name="Text 122"/>
          <p:cNvSpPr/>
          <p:nvPr/>
        </p:nvSpPr>
        <p:spPr>
          <a:xfrm>
            <a:off x="548640" y="6473952"/>
            <a:ext cx="7772400" cy="182880"/>
          </a:xfrm>
          <a:prstGeom prst="rect">
            <a:avLst/>
          </a:prstGeom>
          <a:noFill/>
          <a:ln/>
        </p:spPr>
        <p:txBody>
          <a:bodyPr wrap="square" lIns="0" tIns="0" rIns="0" bIns="0" rtlCol="0" anchor="t"/>
          <a:lstStyle/>
          <a:p>
            <a:pPr marL="0" indent="0">
              <a:buNone/>
            </a:pPr>
            <a:r>
              <a:rPr lang="en-US" sz="850" dirty="0">
                <a:solidFill>
                  <a:srgbClr val="728694"/>
                </a:solidFill>
                <a:latin typeface="Segoe UI" pitchFamily="34" charset="0"/>
                <a:ea typeface="Segoe UI" pitchFamily="34" charset="-122"/>
                <a:cs typeface="Segoe UI" pitchFamily="34" charset="-120"/>
              </a:rPr>
              <a:t>Tìm hiểu thư viện NumPy trong Python</a:t>
            </a:r>
            <a:endParaRPr lang="en-US" sz="850" dirty="0"/>
          </a:p>
        </p:txBody>
      </p:sp>
      <p:sp>
        <p:nvSpPr>
          <p:cNvPr id="125" name="Text 123"/>
          <p:cNvSpPr/>
          <p:nvPr/>
        </p:nvSpPr>
        <p:spPr>
          <a:xfrm>
            <a:off x="10698480" y="6473952"/>
            <a:ext cx="941832" cy="182880"/>
          </a:xfrm>
          <a:prstGeom prst="rect">
            <a:avLst/>
          </a:prstGeom>
          <a:noFill/>
          <a:ln/>
        </p:spPr>
        <p:txBody>
          <a:bodyPr wrap="square" lIns="0" tIns="0" rIns="0" bIns="0" rtlCol="0" anchor="t"/>
          <a:lstStyle/>
          <a:p>
            <a:pPr marL="0" indent="0" algn="r">
              <a:buNone/>
            </a:pPr>
            <a:r>
              <a:rPr lang="en-US" sz="850" dirty="0">
                <a:solidFill>
                  <a:srgbClr val="728694"/>
                </a:solidFill>
                <a:latin typeface="Segoe UI" pitchFamily="34" charset="0"/>
                <a:ea typeface="Segoe UI" pitchFamily="34" charset="-122"/>
                <a:cs typeface="Segoe UI" pitchFamily="34" charset="-120"/>
              </a:rPr>
              <a:t>14 / 25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301752"/>
            <a:ext cx="10881360" cy="201168"/>
          </a:xfrm>
          <a:prstGeom prst="rect">
            <a:avLst/>
          </a:prstGeom>
          <a:noFill/>
          <a:ln/>
        </p:spPr>
        <p:txBody>
          <a:bodyPr wrap="square" lIns="0" tIns="0" rIns="0" bIns="0" rtlCol="0" anchor="t"/>
          <a:lstStyle/>
          <a:p>
            <a:pPr marL="0" indent="0">
              <a:buNone/>
            </a:pPr>
            <a:r>
              <a:rPr lang="en-US" sz="950" b="1" kern="0" spc="160" dirty="0">
                <a:solidFill>
                  <a:srgbClr val="1B8EA8"/>
                </a:solidFill>
                <a:latin typeface="Segoe UI" pitchFamily="34" charset="0"/>
                <a:ea typeface="Segoe UI" pitchFamily="34" charset="-122"/>
                <a:cs typeface="Segoe UI" pitchFamily="34" charset="-120"/>
              </a:rPr>
              <a:t>04 · TRUY CẬP DỮ LIỆU</a:t>
            </a:r>
            <a:endParaRPr lang="en-US" sz="950" dirty="0"/>
          </a:p>
        </p:txBody>
      </p:sp>
      <p:sp>
        <p:nvSpPr>
          <p:cNvPr id="3" name="Text 1"/>
          <p:cNvSpPr/>
          <p:nvPr/>
        </p:nvSpPr>
        <p:spPr>
          <a:xfrm>
            <a:off x="548640" y="502920"/>
            <a:ext cx="10881360" cy="640080"/>
          </a:xfrm>
          <a:prstGeom prst="rect">
            <a:avLst/>
          </a:prstGeom>
          <a:noFill/>
          <a:ln/>
        </p:spPr>
        <p:txBody>
          <a:bodyPr wrap="square" lIns="0" tIns="0" rIns="0" bIns="0" rtlCol="0" anchor="ctr"/>
          <a:lstStyle/>
          <a:p>
            <a:pPr marL="0" indent="0">
              <a:buNone/>
            </a:pPr>
            <a:r>
              <a:rPr lang="en-US" sz="2800" b="1" dirty="0">
                <a:solidFill>
                  <a:srgbClr val="062A3A"/>
                </a:solidFill>
                <a:latin typeface="Segoe UI" pitchFamily="34" charset="0"/>
                <a:ea typeface="Segoe UI" pitchFamily="34" charset="-122"/>
                <a:cs typeface="Segoe UI" pitchFamily="34" charset="-120"/>
              </a:rPr>
              <a:t>Boolean indexing: lọc theo điều kiện</a:t>
            </a:r>
            <a:endParaRPr lang="en-US" sz="2800" dirty="0"/>
          </a:p>
        </p:txBody>
      </p:sp>
      <p:sp>
        <p:nvSpPr>
          <p:cNvPr id="4" name="Shape 2"/>
          <p:cNvSpPr/>
          <p:nvPr/>
        </p:nvSpPr>
        <p:spPr>
          <a:xfrm>
            <a:off x="548640" y="1225296"/>
            <a:ext cx="868680" cy="41148"/>
          </a:xfrm>
          <a:prstGeom prst="rect">
            <a:avLst/>
          </a:prstGeom>
          <a:solidFill>
            <a:srgbClr val="1B8EA8"/>
          </a:solidFill>
          <a:ln w="12700">
            <a:solidFill>
              <a:srgbClr val="1B8EA8"/>
            </a:solidFill>
            <a:prstDash val="solid"/>
          </a:ln>
        </p:spPr>
      </p:sp>
      <p:sp>
        <p:nvSpPr>
          <p:cNvPr id="5" name="Text 3"/>
          <p:cNvSpPr/>
          <p:nvPr/>
        </p:nvSpPr>
        <p:spPr>
          <a:xfrm>
            <a:off x="640080" y="1389888"/>
            <a:ext cx="1463040" cy="201168"/>
          </a:xfrm>
          <a:prstGeom prst="rect">
            <a:avLst/>
          </a:prstGeom>
          <a:noFill/>
          <a:ln/>
        </p:spPr>
        <p:txBody>
          <a:bodyPr wrap="square" lIns="0" tIns="0" rIns="0" bIns="0" rtlCol="0" anchor="t"/>
          <a:lstStyle/>
          <a:p>
            <a:pPr marL="0" indent="0">
              <a:buNone/>
            </a:pPr>
            <a:r>
              <a:rPr lang="en-US" sz="900" b="1" dirty="0">
                <a:solidFill>
                  <a:srgbClr val="415A6B"/>
                </a:solidFill>
                <a:latin typeface="Consolas" pitchFamily="34" charset="0"/>
                <a:ea typeface="Consolas" pitchFamily="34" charset="-122"/>
                <a:cs typeface="Consolas" pitchFamily="34" charset="-120"/>
              </a:rPr>
              <a:t>b</a:t>
            </a:r>
            <a:endParaRPr lang="en-US" sz="900" dirty="0"/>
          </a:p>
        </p:txBody>
      </p:sp>
      <p:sp>
        <p:nvSpPr>
          <p:cNvPr id="6" name="Text 4"/>
          <p:cNvSpPr/>
          <p:nvPr/>
        </p:nvSpPr>
        <p:spPr>
          <a:xfrm>
            <a:off x="2331720" y="1389888"/>
            <a:ext cx="1554480" cy="201168"/>
          </a:xfrm>
          <a:prstGeom prst="rect">
            <a:avLst/>
          </a:prstGeom>
          <a:noFill/>
          <a:ln/>
        </p:spPr>
        <p:txBody>
          <a:bodyPr wrap="square" lIns="0" tIns="0" rIns="0" bIns="0" rtlCol="0" anchor="t"/>
          <a:lstStyle/>
          <a:p>
            <a:pPr marL="0" indent="0">
              <a:buNone/>
            </a:pPr>
            <a:r>
              <a:rPr lang="en-US" sz="900" b="1" dirty="0">
                <a:solidFill>
                  <a:srgbClr val="415A6B"/>
                </a:solidFill>
                <a:latin typeface="Consolas" pitchFamily="34" charset="0"/>
                <a:ea typeface="Consolas" pitchFamily="34" charset="-122"/>
                <a:cs typeface="Consolas" pitchFamily="34" charset="-120"/>
              </a:rPr>
              <a:t>b &gt; 21</a:t>
            </a:r>
            <a:endParaRPr lang="en-US" sz="900" dirty="0"/>
          </a:p>
        </p:txBody>
      </p:sp>
      <p:sp>
        <p:nvSpPr>
          <p:cNvPr id="7" name="Text 5"/>
          <p:cNvSpPr/>
          <p:nvPr/>
        </p:nvSpPr>
        <p:spPr>
          <a:xfrm>
            <a:off x="4069080" y="1389888"/>
            <a:ext cx="1280160" cy="201168"/>
          </a:xfrm>
          <a:prstGeom prst="rect">
            <a:avLst/>
          </a:prstGeom>
          <a:noFill/>
          <a:ln/>
        </p:spPr>
        <p:txBody>
          <a:bodyPr wrap="square" lIns="0" tIns="0" rIns="0" bIns="0" rtlCol="0" anchor="t"/>
          <a:lstStyle/>
          <a:p>
            <a:pPr marL="0" indent="0">
              <a:buNone/>
            </a:pPr>
            <a:r>
              <a:rPr lang="en-US" sz="900" b="1" dirty="0">
                <a:solidFill>
                  <a:srgbClr val="415A6B"/>
                </a:solidFill>
                <a:latin typeface="Consolas" pitchFamily="34" charset="0"/>
                <a:ea typeface="Consolas" pitchFamily="34" charset="-122"/>
                <a:cs typeface="Consolas" pitchFamily="34" charset="-120"/>
              </a:rPr>
              <a:t>b[b &gt; 21]</a:t>
            </a:r>
            <a:endParaRPr lang="en-US" sz="900" dirty="0"/>
          </a:p>
        </p:txBody>
      </p:sp>
      <p:sp>
        <p:nvSpPr>
          <p:cNvPr id="8" name="Shape 6"/>
          <p:cNvSpPr/>
          <p:nvPr/>
        </p:nvSpPr>
        <p:spPr>
          <a:xfrm>
            <a:off x="640080" y="1691640"/>
            <a:ext cx="411480" cy="338328"/>
          </a:xfrm>
          <a:prstGeom prst="rect">
            <a:avLst/>
          </a:prstGeom>
          <a:solidFill>
            <a:srgbClr val="EAF4F8"/>
          </a:solidFill>
          <a:ln w="9525">
            <a:solidFill>
              <a:srgbClr val="A9CDDB"/>
            </a:solidFill>
            <a:prstDash val="solid"/>
          </a:ln>
        </p:spPr>
      </p:sp>
      <p:sp>
        <p:nvSpPr>
          <p:cNvPr id="9" name="Text 7"/>
          <p:cNvSpPr/>
          <p:nvPr/>
        </p:nvSpPr>
        <p:spPr>
          <a:xfrm>
            <a:off x="640080" y="1691640"/>
            <a:ext cx="411480" cy="338328"/>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10</a:t>
            </a:r>
            <a:endParaRPr lang="en-US" sz="850" dirty="0"/>
          </a:p>
        </p:txBody>
      </p:sp>
      <p:sp>
        <p:nvSpPr>
          <p:cNvPr id="10" name="Shape 8"/>
          <p:cNvSpPr/>
          <p:nvPr/>
        </p:nvSpPr>
        <p:spPr>
          <a:xfrm>
            <a:off x="1051560" y="1691640"/>
            <a:ext cx="411480" cy="338328"/>
          </a:xfrm>
          <a:prstGeom prst="rect">
            <a:avLst/>
          </a:prstGeom>
          <a:solidFill>
            <a:srgbClr val="EAF4F8"/>
          </a:solidFill>
          <a:ln w="9525">
            <a:solidFill>
              <a:srgbClr val="A9CDDB"/>
            </a:solidFill>
            <a:prstDash val="solid"/>
          </a:ln>
        </p:spPr>
      </p:sp>
      <p:sp>
        <p:nvSpPr>
          <p:cNvPr id="11" name="Text 9"/>
          <p:cNvSpPr/>
          <p:nvPr/>
        </p:nvSpPr>
        <p:spPr>
          <a:xfrm>
            <a:off x="1051560" y="1691640"/>
            <a:ext cx="411480" cy="338328"/>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11</a:t>
            </a:r>
            <a:endParaRPr lang="en-US" sz="850" dirty="0"/>
          </a:p>
        </p:txBody>
      </p:sp>
      <p:sp>
        <p:nvSpPr>
          <p:cNvPr id="12" name="Shape 10"/>
          <p:cNvSpPr/>
          <p:nvPr/>
        </p:nvSpPr>
        <p:spPr>
          <a:xfrm>
            <a:off x="1463040" y="1691640"/>
            <a:ext cx="411480" cy="338328"/>
          </a:xfrm>
          <a:prstGeom prst="rect">
            <a:avLst/>
          </a:prstGeom>
          <a:solidFill>
            <a:srgbClr val="EAF4F8"/>
          </a:solidFill>
          <a:ln w="9525">
            <a:solidFill>
              <a:srgbClr val="A9CDDB"/>
            </a:solidFill>
            <a:prstDash val="solid"/>
          </a:ln>
        </p:spPr>
      </p:sp>
      <p:sp>
        <p:nvSpPr>
          <p:cNvPr id="13" name="Text 11"/>
          <p:cNvSpPr/>
          <p:nvPr/>
        </p:nvSpPr>
        <p:spPr>
          <a:xfrm>
            <a:off x="1463040" y="1691640"/>
            <a:ext cx="411480" cy="338328"/>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12</a:t>
            </a:r>
            <a:endParaRPr lang="en-US" sz="850" dirty="0"/>
          </a:p>
        </p:txBody>
      </p:sp>
      <p:sp>
        <p:nvSpPr>
          <p:cNvPr id="14" name="Shape 12"/>
          <p:cNvSpPr/>
          <p:nvPr/>
        </p:nvSpPr>
        <p:spPr>
          <a:xfrm>
            <a:off x="1874520" y="1691640"/>
            <a:ext cx="411480" cy="338328"/>
          </a:xfrm>
          <a:prstGeom prst="rect">
            <a:avLst/>
          </a:prstGeom>
          <a:solidFill>
            <a:srgbClr val="EAF4F8"/>
          </a:solidFill>
          <a:ln w="9525">
            <a:solidFill>
              <a:srgbClr val="A9CDDB"/>
            </a:solidFill>
            <a:prstDash val="solid"/>
          </a:ln>
        </p:spPr>
      </p:sp>
      <p:sp>
        <p:nvSpPr>
          <p:cNvPr id="15" name="Text 13"/>
          <p:cNvSpPr/>
          <p:nvPr/>
        </p:nvSpPr>
        <p:spPr>
          <a:xfrm>
            <a:off x="1874520" y="1691640"/>
            <a:ext cx="411480" cy="338328"/>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13</a:t>
            </a:r>
            <a:endParaRPr lang="en-US" sz="850" dirty="0"/>
          </a:p>
        </p:txBody>
      </p:sp>
      <p:sp>
        <p:nvSpPr>
          <p:cNvPr id="16" name="Shape 14"/>
          <p:cNvSpPr/>
          <p:nvPr/>
        </p:nvSpPr>
        <p:spPr>
          <a:xfrm>
            <a:off x="640080" y="2029968"/>
            <a:ext cx="411480" cy="338328"/>
          </a:xfrm>
          <a:prstGeom prst="rect">
            <a:avLst/>
          </a:prstGeom>
          <a:solidFill>
            <a:srgbClr val="EAF4F8"/>
          </a:solidFill>
          <a:ln w="9525">
            <a:solidFill>
              <a:srgbClr val="A9CDDB"/>
            </a:solidFill>
            <a:prstDash val="solid"/>
          </a:ln>
        </p:spPr>
      </p:sp>
      <p:sp>
        <p:nvSpPr>
          <p:cNvPr id="17" name="Text 15"/>
          <p:cNvSpPr/>
          <p:nvPr/>
        </p:nvSpPr>
        <p:spPr>
          <a:xfrm>
            <a:off x="640080" y="2029968"/>
            <a:ext cx="411480" cy="338328"/>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20</a:t>
            </a:r>
            <a:endParaRPr lang="en-US" sz="850" dirty="0"/>
          </a:p>
        </p:txBody>
      </p:sp>
      <p:sp>
        <p:nvSpPr>
          <p:cNvPr id="18" name="Shape 16"/>
          <p:cNvSpPr/>
          <p:nvPr/>
        </p:nvSpPr>
        <p:spPr>
          <a:xfrm>
            <a:off x="1051560" y="2029968"/>
            <a:ext cx="411480" cy="338328"/>
          </a:xfrm>
          <a:prstGeom prst="rect">
            <a:avLst/>
          </a:prstGeom>
          <a:solidFill>
            <a:srgbClr val="EAF4F8"/>
          </a:solidFill>
          <a:ln w="9525">
            <a:solidFill>
              <a:srgbClr val="A9CDDB"/>
            </a:solidFill>
            <a:prstDash val="solid"/>
          </a:ln>
        </p:spPr>
      </p:sp>
      <p:sp>
        <p:nvSpPr>
          <p:cNvPr id="19" name="Text 17"/>
          <p:cNvSpPr/>
          <p:nvPr/>
        </p:nvSpPr>
        <p:spPr>
          <a:xfrm>
            <a:off x="1051560" y="2029968"/>
            <a:ext cx="411480" cy="338328"/>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21</a:t>
            </a:r>
            <a:endParaRPr lang="en-US" sz="850" dirty="0"/>
          </a:p>
        </p:txBody>
      </p:sp>
      <p:sp>
        <p:nvSpPr>
          <p:cNvPr id="20" name="Shape 18"/>
          <p:cNvSpPr/>
          <p:nvPr/>
        </p:nvSpPr>
        <p:spPr>
          <a:xfrm>
            <a:off x="1463040" y="2029968"/>
            <a:ext cx="411480" cy="338328"/>
          </a:xfrm>
          <a:prstGeom prst="rect">
            <a:avLst/>
          </a:prstGeom>
          <a:solidFill>
            <a:srgbClr val="EAF4F8"/>
          </a:solidFill>
          <a:ln w="9525">
            <a:solidFill>
              <a:srgbClr val="A9CDDB"/>
            </a:solidFill>
            <a:prstDash val="solid"/>
          </a:ln>
        </p:spPr>
      </p:sp>
      <p:sp>
        <p:nvSpPr>
          <p:cNvPr id="21" name="Text 19"/>
          <p:cNvSpPr/>
          <p:nvPr/>
        </p:nvSpPr>
        <p:spPr>
          <a:xfrm>
            <a:off x="1463040" y="2029968"/>
            <a:ext cx="411480" cy="338328"/>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22</a:t>
            </a:r>
            <a:endParaRPr lang="en-US" sz="850" dirty="0"/>
          </a:p>
        </p:txBody>
      </p:sp>
      <p:sp>
        <p:nvSpPr>
          <p:cNvPr id="22" name="Shape 20"/>
          <p:cNvSpPr/>
          <p:nvPr/>
        </p:nvSpPr>
        <p:spPr>
          <a:xfrm>
            <a:off x="1874520" y="2029968"/>
            <a:ext cx="411480" cy="338328"/>
          </a:xfrm>
          <a:prstGeom prst="rect">
            <a:avLst/>
          </a:prstGeom>
          <a:solidFill>
            <a:srgbClr val="EAF4F8"/>
          </a:solidFill>
          <a:ln w="9525">
            <a:solidFill>
              <a:srgbClr val="A9CDDB"/>
            </a:solidFill>
            <a:prstDash val="solid"/>
          </a:ln>
        </p:spPr>
      </p:sp>
      <p:sp>
        <p:nvSpPr>
          <p:cNvPr id="23" name="Text 21"/>
          <p:cNvSpPr/>
          <p:nvPr/>
        </p:nvSpPr>
        <p:spPr>
          <a:xfrm>
            <a:off x="1874520" y="2029968"/>
            <a:ext cx="411480" cy="338328"/>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23</a:t>
            </a:r>
            <a:endParaRPr lang="en-US" sz="850" dirty="0"/>
          </a:p>
        </p:txBody>
      </p:sp>
      <p:sp>
        <p:nvSpPr>
          <p:cNvPr id="24" name="Shape 22"/>
          <p:cNvSpPr/>
          <p:nvPr/>
        </p:nvSpPr>
        <p:spPr>
          <a:xfrm>
            <a:off x="640080" y="2368296"/>
            <a:ext cx="411480" cy="338328"/>
          </a:xfrm>
          <a:prstGeom prst="rect">
            <a:avLst/>
          </a:prstGeom>
          <a:solidFill>
            <a:srgbClr val="EAF4F8"/>
          </a:solidFill>
          <a:ln w="9525">
            <a:solidFill>
              <a:srgbClr val="A9CDDB"/>
            </a:solidFill>
            <a:prstDash val="solid"/>
          </a:ln>
        </p:spPr>
      </p:sp>
      <p:sp>
        <p:nvSpPr>
          <p:cNvPr id="25" name="Text 23"/>
          <p:cNvSpPr/>
          <p:nvPr/>
        </p:nvSpPr>
        <p:spPr>
          <a:xfrm>
            <a:off x="640080" y="2368296"/>
            <a:ext cx="411480" cy="338328"/>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30</a:t>
            </a:r>
            <a:endParaRPr lang="en-US" sz="850" dirty="0"/>
          </a:p>
        </p:txBody>
      </p:sp>
      <p:sp>
        <p:nvSpPr>
          <p:cNvPr id="26" name="Shape 24"/>
          <p:cNvSpPr/>
          <p:nvPr/>
        </p:nvSpPr>
        <p:spPr>
          <a:xfrm>
            <a:off x="1051560" y="2368296"/>
            <a:ext cx="411480" cy="338328"/>
          </a:xfrm>
          <a:prstGeom prst="rect">
            <a:avLst/>
          </a:prstGeom>
          <a:solidFill>
            <a:srgbClr val="EAF4F8"/>
          </a:solidFill>
          <a:ln w="9525">
            <a:solidFill>
              <a:srgbClr val="A9CDDB"/>
            </a:solidFill>
            <a:prstDash val="solid"/>
          </a:ln>
        </p:spPr>
      </p:sp>
      <p:sp>
        <p:nvSpPr>
          <p:cNvPr id="27" name="Text 25"/>
          <p:cNvSpPr/>
          <p:nvPr/>
        </p:nvSpPr>
        <p:spPr>
          <a:xfrm>
            <a:off x="1051560" y="2368296"/>
            <a:ext cx="411480" cy="338328"/>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31</a:t>
            </a:r>
            <a:endParaRPr lang="en-US" sz="850" dirty="0"/>
          </a:p>
        </p:txBody>
      </p:sp>
      <p:sp>
        <p:nvSpPr>
          <p:cNvPr id="28" name="Shape 26"/>
          <p:cNvSpPr/>
          <p:nvPr/>
        </p:nvSpPr>
        <p:spPr>
          <a:xfrm>
            <a:off x="1463040" y="2368296"/>
            <a:ext cx="411480" cy="338328"/>
          </a:xfrm>
          <a:prstGeom prst="rect">
            <a:avLst/>
          </a:prstGeom>
          <a:solidFill>
            <a:srgbClr val="EAF4F8"/>
          </a:solidFill>
          <a:ln w="9525">
            <a:solidFill>
              <a:srgbClr val="A9CDDB"/>
            </a:solidFill>
            <a:prstDash val="solid"/>
          </a:ln>
        </p:spPr>
      </p:sp>
      <p:sp>
        <p:nvSpPr>
          <p:cNvPr id="29" name="Text 27"/>
          <p:cNvSpPr/>
          <p:nvPr/>
        </p:nvSpPr>
        <p:spPr>
          <a:xfrm>
            <a:off x="1463040" y="2368296"/>
            <a:ext cx="411480" cy="338328"/>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32</a:t>
            </a:r>
            <a:endParaRPr lang="en-US" sz="850" dirty="0"/>
          </a:p>
        </p:txBody>
      </p:sp>
      <p:sp>
        <p:nvSpPr>
          <p:cNvPr id="30" name="Shape 28"/>
          <p:cNvSpPr/>
          <p:nvPr/>
        </p:nvSpPr>
        <p:spPr>
          <a:xfrm>
            <a:off x="1874520" y="2368296"/>
            <a:ext cx="411480" cy="338328"/>
          </a:xfrm>
          <a:prstGeom prst="rect">
            <a:avLst/>
          </a:prstGeom>
          <a:solidFill>
            <a:srgbClr val="EAF4F8"/>
          </a:solidFill>
          <a:ln w="9525">
            <a:solidFill>
              <a:srgbClr val="A9CDDB"/>
            </a:solidFill>
            <a:prstDash val="solid"/>
          </a:ln>
        </p:spPr>
      </p:sp>
      <p:sp>
        <p:nvSpPr>
          <p:cNvPr id="31" name="Text 29"/>
          <p:cNvSpPr/>
          <p:nvPr/>
        </p:nvSpPr>
        <p:spPr>
          <a:xfrm>
            <a:off x="1874520" y="2368296"/>
            <a:ext cx="411480" cy="338328"/>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33</a:t>
            </a:r>
            <a:endParaRPr lang="en-US" sz="850" dirty="0"/>
          </a:p>
        </p:txBody>
      </p:sp>
      <p:sp>
        <p:nvSpPr>
          <p:cNvPr id="32" name="Shape 30"/>
          <p:cNvSpPr/>
          <p:nvPr/>
        </p:nvSpPr>
        <p:spPr>
          <a:xfrm>
            <a:off x="2377440" y="1691640"/>
            <a:ext cx="411480" cy="338328"/>
          </a:xfrm>
          <a:prstGeom prst="rect">
            <a:avLst/>
          </a:prstGeom>
          <a:solidFill>
            <a:srgbClr val="F1F7F9"/>
          </a:solidFill>
          <a:ln w="9525">
            <a:solidFill>
              <a:srgbClr val="B9D7E4"/>
            </a:solidFill>
            <a:prstDash val="solid"/>
          </a:ln>
        </p:spPr>
      </p:sp>
      <p:sp>
        <p:nvSpPr>
          <p:cNvPr id="33" name="Text 31"/>
          <p:cNvSpPr/>
          <p:nvPr/>
        </p:nvSpPr>
        <p:spPr>
          <a:xfrm>
            <a:off x="2377440" y="1691640"/>
            <a:ext cx="411480" cy="338328"/>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F</a:t>
            </a:r>
            <a:endParaRPr lang="en-US" sz="850" dirty="0"/>
          </a:p>
        </p:txBody>
      </p:sp>
      <p:sp>
        <p:nvSpPr>
          <p:cNvPr id="34" name="Shape 32"/>
          <p:cNvSpPr/>
          <p:nvPr/>
        </p:nvSpPr>
        <p:spPr>
          <a:xfrm>
            <a:off x="2788920" y="1691640"/>
            <a:ext cx="411480" cy="338328"/>
          </a:xfrm>
          <a:prstGeom prst="rect">
            <a:avLst/>
          </a:prstGeom>
          <a:solidFill>
            <a:srgbClr val="F1F7F9"/>
          </a:solidFill>
          <a:ln w="9525">
            <a:solidFill>
              <a:srgbClr val="B9D7E4"/>
            </a:solidFill>
            <a:prstDash val="solid"/>
          </a:ln>
        </p:spPr>
      </p:sp>
      <p:sp>
        <p:nvSpPr>
          <p:cNvPr id="35" name="Text 33"/>
          <p:cNvSpPr/>
          <p:nvPr/>
        </p:nvSpPr>
        <p:spPr>
          <a:xfrm>
            <a:off x="2788920" y="1691640"/>
            <a:ext cx="411480" cy="338328"/>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F</a:t>
            </a:r>
            <a:endParaRPr lang="en-US" sz="850" dirty="0"/>
          </a:p>
        </p:txBody>
      </p:sp>
      <p:sp>
        <p:nvSpPr>
          <p:cNvPr id="36" name="Shape 34"/>
          <p:cNvSpPr/>
          <p:nvPr/>
        </p:nvSpPr>
        <p:spPr>
          <a:xfrm>
            <a:off x="3200400" y="1691640"/>
            <a:ext cx="411480" cy="338328"/>
          </a:xfrm>
          <a:prstGeom prst="rect">
            <a:avLst/>
          </a:prstGeom>
          <a:solidFill>
            <a:srgbClr val="F1F7F9"/>
          </a:solidFill>
          <a:ln w="9525">
            <a:solidFill>
              <a:srgbClr val="B9D7E4"/>
            </a:solidFill>
            <a:prstDash val="solid"/>
          </a:ln>
        </p:spPr>
      </p:sp>
      <p:sp>
        <p:nvSpPr>
          <p:cNvPr id="37" name="Text 35"/>
          <p:cNvSpPr/>
          <p:nvPr/>
        </p:nvSpPr>
        <p:spPr>
          <a:xfrm>
            <a:off x="3200400" y="1691640"/>
            <a:ext cx="411480" cy="338328"/>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F</a:t>
            </a:r>
            <a:endParaRPr lang="en-US" sz="850" dirty="0"/>
          </a:p>
        </p:txBody>
      </p:sp>
      <p:sp>
        <p:nvSpPr>
          <p:cNvPr id="38" name="Shape 36"/>
          <p:cNvSpPr/>
          <p:nvPr/>
        </p:nvSpPr>
        <p:spPr>
          <a:xfrm>
            <a:off x="3611880" y="1691640"/>
            <a:ext cx="411480" cy="338328"/>
          </a:xfrm>
          <a:prstGeom prst="rect">
            <a:avLst/>
          </a:prstGeom>
          <a:solidFill>
            <a:srgbClr val="F1F7F9"/>
          </a:solidFill>
          <a:ln w="9525">
            <a:solidFill>
              <a:srgbClr val="B9D7E4"/>
            </a:solidFill>
            <a:prstDash val="solid"/>
          </a:ln>
        </p:spPr>
      </p:sp>
      <p:sp>
        <p:nvSpPr>
          <p:cNvPr id="39" name="Text 37"/>
          <p:cNvSpPr/>
          <p:nvPr/>
        </p:nvSpPr>
        <p:spPr>
          <a:xfrm>
            <a:off x="3611880" y="1691640"/>
            <a:ext cx="411480" cy="338328"/>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F</a:t>
            </a:r>
            <a:endParaRPr lang="en-US" sz="850" dirty="0"/>
          </a:p>
        </p:txBody>
      </p:sp>
      <p:sp>
        <p:nvSpPr>
          <p:cNvPr id="40" name="Shape 38"/>
          <p:cNvSpPr/>
          <p:nvPr/>
        </p:nvSpPr>
        <p:spPr>
          <a:xfrm>
            <a:off x="2377440" y="2029968"/>
            <a:ext cx="411480" cy="338328"/>
          </a:xfrm>
          <a:prstGeom prst="rect">
            <a:avLst/>
          </a:prstGeom>
          <a:solidFill>
            <a:srgbClr val="F1F7F9"/>
          </a:solidFill>
          <a:ln w="9525">
            <a:solidFill>
              <a:srgbClr val="B9D7E4"/>
            </a:solidFill>
            <a:prstDash val="solid"/>
          </a:ln>
        </p:spPr>
      </p:sp>
      <p:sp>
        <p:nvSpPr>
          <p:cNvPr id="41" name="Text 39"/>
          <p:cNvSpPr/>
          <p:nvPr/>
        </p:nvSpPr>
        <p:spPr>
          <a:xfrm>
            <a:off x="2377440" y="2029968"/>
            <a:ext cx="411480" cy="338328"/>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F</a:t>
            </a:r>
            <a:endParaRPr lang="en-US" sz="850" dirty="0"/>
          </a:p>
        </p:txBody>
      </p:sp>
      <p:sp>
        <p:nvSpPr>
          <p:cNvPr id="42" name="Shape 40"/>
          <p:cNvSpPr/>
          <p:nvPr/>
        </p:nvSpPr>
        <p:spPr>
          <a:xfrm>
            <a:off x="2788920" y="2029968"/>
            <a:ext cx="411480" cy="338328"/>
          </a:xfrm>
          <a:prstGeom prst="rect">
            <a:avLst/>
          </a:prstGeom>
          <a:solidFill>
            <a:srgbClr val="F1F7F9"/>
          </a:solidFill>
          <a:ln w="9525">
            <a:solidFill>
              <a:srgbClr val="B9D7E4"/>
            </a:solidFill>
            <a:prstDash val="solid"/>
          </a:ln>
        </p:spPr>
      </p:sp>
      <p:sp>
        <p:nvSpPr>
          <p:cNvPr id="43" name="Text 41"/>
          <p:cNvSpPr/>
          <p:nvPr/>
        </p:nvSpPr>
        <p:spPr>
          <a:xfrm>
            <a:off x="2788920" y="2029968"/>
            <a:ext cx="411480" cy="338328"/>
          </a:xfrm>
          <a:prstGeom prst="rect">
            <a:avLst/>
          </a:prstGeom>
          <a:noFill/>
          <a:ln/>
        </p:spPr>
        <p:txBody>
          <a:bodyPr wrap="square" lIns="0" tIns="0" rIns="0" bIns="0" rtlCol="0" anchor="ctr"/>
          <a:lstStyle/>
          <a:p>
            <a:pPr marL="0" indent="0" algn="ctr">
              <a:buNone/>
            </a:pPr>
            <a:r>
              <a:rPr lang="en-US" sz="850" dirty="0">
                <a:solidFill>
                  <a:srgbClr val="062A3A"/>
                </a:solidFill>
                <a:latin typeface="Consolas" pitchFamily="34" charset="0"/>
                <a:ea typeface="Consolas" pitchFamily="34" charset="-122"/>
                <a:cs typeface="Consolas" pitchFamily="34" charset="-120"/>
              </a:rPr>
              <a:t>F</a:t>
            </a:r>
            <a:endParaRPr lang="en-US" sz="850" dirty="0"/>
          </a:p>
        </p:txBody>
      </p:sp>
      <p:sp>
        <p:nvSpPr>
          <p:cNvPr id="44" name="Shape 42"/>
          <p:cNvSpPr/>
          <p:nvPr/>
        </p:nvSpPr>
        <p:spPr>
          <a:xfrm>
            <a:off x="3200400" y="2029968"/>
            <a:ext cx="411480" cy="338328"/>
          </a:xfrm>
          <a:prstGeom prst="rect">
            <a:avLst/>
          </a:prstGeom>
          <a:solidFill>
            <a:srgbClr val="2D8C6F"/>
          </a:solidFill>
          <a:ln w="9525">
            <a:solidFill>
              <a:srgbClr val="B9D7E4"/>
            </a:solidFill>
            <a:prstDash val="solid"/>
          </a:ln>
        </p:spPr>
      </p:sp>
      <p:sp>
        <p:nvSpPr>
          <p:cNvPr id="45" name="Text 43"/>
          <p:cNvSpPr/>
          <p:nvPr/>
        </p:nvSpPr>
        <p:spPr>
          <a:xfrm>
            <a:off x="3200400" y="2029968"/>
            <a:ext cx="411480" cy="338328"/>
          </a:xfrm>
          <a:prstGeom prst="rect">
            <a:avLst/>
          </a:prstGeom>
          <a:noFill/>
          <a:ln/>
        </p:spPr>
        <p:txBody>
          <a:bodyPr wrap="square" lIns="0" tIns="0" rIns="0" bIns="0" rtlCol="0" anchor="ctr"/>
          <a:lstStyle/>
          <a:p>
            <a:pPr marL="0" indent="0" algn="ctr">
              <a:buNone/>
            </a:pPr>
            <a:r>
              <a:rPr lang="en-US" sz="850" dirty="0">
                <a:solidFill>
                  <a:srgbClr val="FFFFFF"/>
                </a:solidFill>
                <a:latin typeface="Consolas" pitchFamily="34" charset="0"/>
                <a:ea typeface="Consolas" pitchFamily="34" charset="-122"/>
                <a:cs typeface="Consolas" pitchFamily="34" charset="-120"/>
              </a:rPr>
              <a:t>T</a:t>
            </a:r>
            <a:endParaRPr lang="en-US" sz="850" dirty="0"/>
          </a:p>
        </p:txBody>
      </p:sp>
      <p:sp>
        <p:nvSpPr>
          <p:cNvPr id="46" name="Shape 44"/>
          <p:cNvSpPr/>
          <p:nvPr/>
        </p:nvSpPr>
        <p:spPr>
          <a:xfrm>
            <a:off x="3611880" y="2029968"/>
            <a:ext cx="411480" cy="338328"/>
          </a:xfrm>
          <a:prstGeom prst="rect">
            <a:avLst/>
          </a:prstGeom>
          <a:solidFill>
            <a:srgbClr val="2D8C6F"/>
          </a:solidFill>
          <a:ln w="9525">
            <a:solidFill>
              <a:srgbClr val="B9D7E4"/>
            </a:solidFill>
            <a:prstDash val="solid"/>
          </a:ln>
        </p:spPr>
      </p:sp>
      <p:sp>
        <p:nvSpPr>
          <p:cNvPr id="47" name="Text 45"/>
          <p:cNvSpPr/>
          <p:nvPr/>
        </p:nvSpPr>
        <p:spPr>
          <a:xfrm>
            <a:off x="3611880" y="2029968"/>
            <a:ext cx="411480" cy="338328"/>
          </a:xfrm>
          <a:prstGeom prst="rect">
            <a:avLst/>
          </a:prstGeom>
          <a:noFill/>
          <a:ln/>
        </p:spPr>
        <p:txBody>
          <a:bodyPr wrap="square" lIns="0" tIns="0" rIns="0" bIns="0" rtlCol="0" anchor="ctr"/>
          <a:lstStyle/>
          <a:p>
            <a:pPr marL="0" indent="0" algn="ctr">
              <a:buNone/>
            </a:pPr>
            <a:r>
              <a:rPr lang="en-US" sz="850" dirty="0">
                <a:solidFill>
                  <a:srgbClr val="FFFFFF"/>
                </a:solidFill>
                <a:latin typeface="Consolas" pitchFamily="34" charset="0"/>
                <a:ea typeface="Consolas" pitchFamily="34" charset="-122"/>
                <a:cs typeface="Consolas" pitchFamily="34" charset="-120"/>
              </a:rPr>
              <a:t>T</a:t>
            </a:r>
            <a:endParaRPr lang="en-US" sz="850" dirty="0"/>
          </a:p>
        </p:txBody>
      </p:sp>
      <p:sp>
        <p:nvSpPr>
          <p:cNvPr id="48" name="Shape 46"/>
          <p:cNvSpPr/>
          <p:nvPr/>
        </p:nvSpPr>
        <p:spPr>
          <a:xfrm>
            <a:off x="2377440" y="2368296"/>
            <a:ext cx="411480" cy="338328"/>
          </a:xfrm>
          <a:prstGeom prst="rect">
            <a:avLst/>
          </a:prstGeom>
          <a:solidFill>
            <a:srgbClr val="2D8C6F"/>
          </a:solidFill>
          <a:ln w="9525">
            <a:solidFill>
              <a:srgbClr val="B9D7E4"/>
            </a:solidFill>
            <a:prstDash val="solid"/>
          </a:ln>
        </p:spPr>
      </p:sp>
      <p:sp>
        <p:nvSpPr>
          <p:cNvPr id="49" name="Text 47"/>
          <p:cNvSpPr/>
          <p:nvPr/>
        </p:nvSpPr>
        <p:spPr>
          <a:xfrm>
            <a:off x="2377440" y="2368296"/>
            <a:ext cx="411480" cy="338328"/>
          </a:xfrm>
          <a:prstGeom prst="rect">
            <a:avLst/>
          </a:prstGeom>
          <a:noFill/>
          <a:ln/>
        </p:spPr>
        <p:txBody>
          <a:bodyPr wrap="square" lIns="0" tIns="0" rIns="0" bIns="0" rtlCol="0" anchor="ctr"/>
          <a:lstStyle/>
          <a:p>
            <a:pPr marL="0" indent="0" algn="ctr">
              <a:buNone/>
            </a:pPr>
            <a:r>
              <a:rPr lang="en-US" sz="850" dirty="0">
                <a:solidFill>
                  <a:srgbClr val="FFFFFF"/>
                </a:solidFill>
                <a:latin typeface="Consolas" pitchFamily="34" charset="0"/>
                <a:ea typeface="Consolas" pitchFamily="34" charset="-122"/>
                <a:cs typeface="Consolas" pitchFamily="34" charset="-120"/>
              </a:rPr>
              <a:t>T</a:t>
            </a:r>
            <a:endParaRPr lang="en-US" sz="850" dirty="0"/>
          </a:p>
        </p:txBody>
      </p:sp>
      <p:sp>
        <p:nvSpPr>
          <p:cNvPr id="50" name="Shape 48"/>
          <p:cNvSpPr/>
          <p:nvPr/>
        </p:nvSpPr>
        <p:spPr>
          <a:xfrm>
            <a:off x="2788920" y="2368296"/>
            <a:ext cx="411480" cy="338328"/>
          </a:xfrm>
          <a:prstGeom prst="rect">
            <a:avLst/>
          </a:prstGeom>
          <a:solidFill>
            <a:srgbClr val="2D8C6F"/>
          </a:solidFill>
          <a:ln w="9525">
            <a:solidFill>
              <a:srgbClr val="B9D7E4"/>
            </a:solidFill>
            <a:prstDash val="solid"/>
          </a:ln>
        </p:spPr>
      </p:sp>
      <p:sp>
        <p:nvSpPr>
          <p:cNvPr id="51" name="Text 49"/>
          <p:cNvSpPr/>
          <p:nvPr/>
        </p:nvSpPr>
        <p:spPr>
          <a:xfrm>
            <a:off x="2788920" y="2368296"/>
            <a:ext cx="411480" cy="338328"/>
          </a:xfrm>
          <a:prstGeom prst="rect">
            <a:avLst/>
          </a:prstGeom>
          <a:noFill/>
          <a:ln/>
        </p:spPr>
        <p:txBody>
          <a:bodyPr wrap="square" lIns="0" tIns="0" rIns="0" bIns="0" rtlCol="0" anchor="ctr"/>
          <a:lstStyle/>
          <a:p>
            <a:pPr marL="0" indent="0" algn="ctr">
              <a:buNone/>
            </a:pPr>
            <a:r>
              <a:rPr lang="en-US" sz="850" dirty="0">
                <a:solidFill>
                  <a:srgbClr val="FFFFFF"/>
                </a:solidFill>
                <a:latin typeface="Consolas" pitchFamily="34" charset="0"/>
                <a:ea typeface="Consolas" pitchFamily="34" charset="-122"/>
                <a:cs typeface="Consolas" pitchFamily="34" charset="-120"/>
              </a:rPr>
              <a:t>T</a:t>
            </a:r>
            <a:endParaRPr lang="en-US" sz="850" dirty="0"/>
          </a:p>
        </p:txBody>
      </p:sp>
      <p:sp>
        <p:nvSpPr>
          <p:cNvPr id="52" name="Shape 50"/>
          <p:cNvSpPr/>
          <p:nvPr/>
        </p:nvSpPr>
        <p:spPr>
          <a:xfrm>
            <a:off x="3200400" y="2368296"/>
            <a:ext cx="411480" cy="338328"/>
          </a:xfrm>
          <a:prstGeom prst="rect">
            <a:avLst/>
          </a:prstGeom>
          <a:solidFill>
            <a:srgbClr val="2D8C6F"/>
          </a:solidFill>
          <a:ln w="9525">
            <a:solidFill>
              <a:srgbClr val="B9D7E4"/>
            </a:solidFill>
            <a:prstDash val="solid"/>
          </a:ln>
        </p:spPr>
      </p:sp>
      <p:sp>
        <p:nvSpPr>
          <p:cNvPr id="53" name="Text 51"/>
          <p:cNvSpPr/>
          <p:nvPr/>
        </p:nvSpPr>
        <p:spPr>
          <a:xfrm>
            <a:off x="3200400" y="2368296"/>
            <a:ext cx="411480" cy="338328"/>
          </a:xfrm>
          <a:prstGeom prst="rect">
            <a:avLst/>
          </a:prstGeom>
          <a:noFill/>
          <a:ln/>
        </p:spPr>
        <p:txBody>
          <a:bodyPr wrap="square" lIns="0" tIns="0" rIns="0" bIns="0" rtlCol="0" anchor="ctr"/>
          <a:lstStyle/>
          <a:p>
            <a:pPr marL="0" indent="0" algn="ctr">
              <a:buNone/>
            </a:pPr>
            <a:r>
              <a:rPr lang="en-US" sz="850" dirty="0">
                <a:solidFill>
                  <a:srgbClr val="FFFFFF"/>
                </a:solidFill>
                <a:latin typeface="Consolas" pitchFamily="34" charset="0"/>
                <a:ea typeface="Consolas" pitchFamily="34" charset="-122"/>
                <a:cs typeface="Consolas" pitchFamily="34" charset="-120"/>
              </a:rPr>
              <a:t>T</a:t>
            </a:r>
            <a:endParaRPr lang="en-US" sz="850" dirty="0"/>
          </a:p>
        </p:txBody>
      </p:sp>
      <p:sp>
        <p:nvSpPr>
          <p:cNvPr id="54" name="Shape 52"/>
          <p:cNvSpPr/>
          <p:nvPr/>
        </p:nvSpPr>
        <p:spPr>
          <a:xfrm>
            <a:off x="3611880" y="2368296"/>
            <a:ext cx="411480" cy="338328"/>
          </a:xfrm>
          <a:prstGeom prst="rect">
            <a:avLst/>
          </a:prstGeom>
          <a:solidFill>
            <a:srgbClr val="2D8C6F"/>
          </a:solidFill>
          <a:ln w="9525">
            <a:solidFill>
              <a:srgbClr val="B9D7E4"/>
            </a:solidFill>
            <a:prstDash val="solid"/>
          </a:ln>
        </p:spPr>
      </p:sp>
      <p:sp>
        <p:nvSpPr>
          <p:cNvPr id="55" name="Text 53"/>
          <p:cNvSpPr/>
          <p:nvPr/>
        </p:nvSpPr>
        <p:spPr>
          <a:xfrm>
            <a:off x="3611880" y="2368296"/>
            <a:ext cx="411480" cy="338328"/>
          </a:xfrm>
          <a:prstGeom prst="rect">
            <a:avLst/>
          </a:prstGeom>
          <a:noFill/>
          <a:ln/>
        </p:spPr>
        <p:txBody>
          <a:bodyPr wrap="square" lIns="0" tIns="0" rIns="0" bIns="0" rtlCol="0" anchor="ctr"/>
          <a:lstStyle/>
          <a:p>
            <a:pPr marL="0" indent="0" algn="ctr">
              <a:buNone/>
            </a:pPr>
            <a:r>
              <a:rPr lang="en-US" sz="850" dirty="0">
                <a:solidFill>
                  <a:srgbClr val="FFFFFF"/>
                </a:solidFill>
                <a:latin typeface="Consolas" pitchFamily="34" charset="0"/>
                <a:ea typeface="Consolas" pitchFamily="34" charset="-122"/>
                <a:cs typeface="Consolas" pitchFamily="34" charset="-120"/>
              </a:rPr>
              <a:t>T</a:t>
            </a:r>
            <a:endParaRPr lang="en-US" sz="850" dirty="0"/>
          </a:p>
        </p:txBody>
      </p:sp>
      <p:sp>
        <p:nvSpPr>
          <p:cNvPr id="56" name="Shape 54"/>
          <p:cNvSpPr/>
          <p:nvPr/>
        </p:nvSpPr>
        <p:spPr>
          <a:xfrm>
            <a:off x="4160520" y="1691640"/>
            <a:ext cx="822960" cy="338328"/>
          </a:xfrm>
          <a:prstGeom prst="rect">
            <a:avLst/>
          </a:prstGeom>
          <a:solidFill>
            <a:srgbClr val="EAF4F8"/>
          </a:solidFill>
          <a:ln w="9525">
            <a:solidFill>
              <a:srgbClr val="A9CDDB"/>
            </a:solidFill>
            <a:prstDash val="solid"/>
          </a:ln>
        </p:spPr>
      </p:sp>
      <p:sp>
        <p:nvSpPr>
          <p:cNvPr id="57" name="Text 55"/>
          <p:cNvSpPr/>
          <p:nvPr/>
        </p:nvSpPr>
        <p:spPr>
          <a:xfrm>
            <a:off x="4160520" y="1691640"/>
            <a:ext cx="822960" cy="338328"/>
          </a:xfrm>
          <a:prstGeom prst="rect">
            <a:avLst/>
          </a:prstGeom>
          <a:noFill/>
          <a:ln/>
        </p:spPr>
        <p:txBody>
          <a:bodyPr wrap="square" lIns="0" tIns="0" rIns="0" bIns="0" rtlCol="0" anchor="ctr"/>
          <a:lstStyle/>
          <a:p>
            <a:pPr marL="0" indent="0" algn="ctr">
              <a:buNone/>
            </a:pPr>
            <a:r>
              <a:rPr lang="en-US" sz="900" b="1" dirty="0">
                <a:solidFill>
                  <a:srgbClr val="2D8C6F"/>
                </a:solidFill>
                <a:latin typeface="Consolas" pitchFamily="34" charset="0"/>
                <a:ea typeface="Consolas" pitchFamily="34" charset="-122"/>
                <a:cs typeface="Consolas" pitchFamily="34" charset="-120"/>
              </a:rPr>
              <a:t>22</a:t>
            </a:r>
            <a:endParaRPr lang="en-US" sz="900" dirty="0"/>
          </a:p>
        </p:txBody>
      </p:sp>
      <p:sp>
        <p:nvSpPr>
          <p:cNvPr id="58" name="Shape 56"/>
          <p:cNvSpPr/>
          <p:nvPr/>
        </p:nvSpPr>
        <p:spPr>
          <a:xfrm>
            <a:off x="4160520" y="2029968"/>
            <a:ext cx="822960" cy="338328"/>
          </a:xfrm>
          <a:prstGeom prst="rect">
            <a:avLst/>
          </a:prstGeom>
          <a:solidFill>
            <a:srgbClr val="EAF4F8"/>
          </a:solidFill>
          <a:ln w="9525">
            <a:solidFill>
              <a:srgbClr val="A9CDDB"/>
            </a:solidFill>
            <a:prstDash val="solid"/>
          </a:ln>
        </p:spPr>
      </p:sp>
      <p:sp>
        <p:nvSpPr>
          <p:cNvPr id="59" name="Text 57"/>
          <p:cNvSpPr/>
          <p:nvPr/>
        </p:nvSpPr>
        <p:spPr>
          <a:xfrm>
            <a:off x="4160520" y="2029968"/>
            <a:ext cx="822960" cy="338328"/>
          </a:xfrm>
          <a:prstGeom prst="rect">
            <a:avLst/>
          </a:prstGeom>
          <a:noFill/>
          <a:ln/>
        </p:spPr>
        <p:txBody>
          <a:bodyPr wrap="square" lIns="0" tIns="0" rIns="0" bIns="0" rtlCol="0" anchor="ctr"/>
          <a:lstStyle/>
          <a:p>
            <a:pPr marL="0" indent="0" algn="ctr">
              <a:buNone/>
            </a:pPr>
            <a:r>
              <a:rPr lang="en-US" sz="900" b="1" dirty="0">
                <a:solidFill>
                  <a:srgbClr val="2D8C6F"/>
                </a:solidFill>
                <a:latin typeface="Consolas" pitchFamily="34" charset="0"/>
                <a:ea typeface="Consolas" pitchFamily="34" charset="-122"/>
                <a:cs typeface="Consolas" pitchFamily="34" charset="-120"/>
              </a:rPr>
              <a:t>23</a:t>
            </a:r>
            <a:endParaRPr lang="en-US" sz="900" dirty="0"/>
          </a:p>
        </p:txBody>
      </p:sp>
      <p:sp>
        <p:nvSpPr>
          <p:cNvPr id="60" name="Shape 58"/>
          <p:cNvSpPr/>
          <p:nvPr/>
        </p:nvSpPr>
        <p:spPr>
          <a:xfrm>
            <a:off x="4160520" y="2368296"/>
            <a:ext cx="822960" cy="338328"/>
          </a:xfrm>
          <a:prstGeom prst="rect">
            <a:avLst/>
          </a:prstGeom>
          <a:solidFill>
            <a:srgbClr val="EAF4F8"/>
          </a:solidFill>
          <a:ln w="9525">
            <a:solidFill>
              <a:srgbClr val="A9CDDB"/>
            </a:solidFill>
            <a:prstDash val="solid"/>
          </a:ln>
        </p:spPr>
      </p:sp>
      <p:sp>
        <p:nvSpPr>
          <p:cNvPr id="61" name="Text 59"/>
          <p:cNvSpPr/>
          <p:nvPr/>
        </p:nvSpPr>
        <p:spPr>
          <a:xfrm>
            <a:off x="4160520" y="2368296"/>
            <a:ext cx="822960" cy="338328"/>
          </a:xfrm>
          <a:prstGeom prst="rect">
            <a:avLst/>
          </a:prstGeom>
          <a:noFill/>
          <a:ln/>
        </p:spPr>
        <p:txBody>
          <a:bodyPr wrap="square" lIns="0" tIns="0" rIns="0" bIns="0" rtlCol="0" anchor="ctr"/>
          <a:lstStyle/>
          <a:p>
            <a:pPr marL="0" indent="0" algn="ctr">
              <a:buNone/>
            </a:pPr>
            <a:r>
              <a:rPr lang="en-US" sz="900" b="1" dirty="0">
                <a:solidFill>
                  <a:srgbClr val="2D8C6F"/>
                </a:solidFill>
                <a:latin typeface="Consolas" pitchFamily="34" charset="0"/>
                <a:ea typeface="Consolas" pitchFamily="34" charset="-122"/>
                <a:cs typeface="Consolas" pitchFamily="34" charset="-120"/>
              </a:rPr>
              <a:t>30</a:t>
            </a:r>
            <a:endParaRPr lang="en-US" sz="900" dirty="0"/>
          </a:p>
        </p:txBody>
      </p:sp>
      <p:sp>
        <p:nvSpPr>
          <p:cNvPr id="62" name="Shape 60"/>
          <p:cNvSpPr/>
          <p:nvPr/>
        </p:nvSpPr>
        <p:spPr>
          <a:xfrm>
            <a:off x="4160520" y="2706624"/>
            <a:ext cx="822960" cy="338328"/>
          </a:xfrm>
          <a:prstGeom prst="rect">
            <a:avLst/>
          </a:prstGeom>
          <a:solidFill>
            <a:srgbClr val="EAF4F8"/>
          </a:solidFill>
          <a:ln w="9525">
            <a:solidFill>
              <a:srgbClr val="A9CDDB"/>
            </a:solidFill>
            <a:prstDash val="solid"/>
          </a:ln>
        </p:spPr>
      </p:sp>
      <p:sp>
        <p:nvSpPr>
          <p:cNvPr id="63" name="Text 61"/>
          <p:cNvSpPr/>
          <p:nvPr/>
        </p:nvSpPr>
        <p:spPr>
          <a:xfrm>
            <a:off x="4160520" y="2706624"/>
            <a:ext cx="822960" cy="338328"/>
          </a:xfrm>
          <a:prstGeom prst="rect">
            <a:avLst/>
          </a:prstGeom>
          <a:noFill/>
          <a:ln/>
        </p:spPr>
        <p:txBody>
          <a:bodyPr wrap="square" lIns="0" tIns="0" rIns="0" bIns="0" rtlCol="0" anchor="ctr"/>
          <a:lstStyle/>
          <a:p>
            <a:pPr marL="0" indent="0" algn="ctr">
              <a:buNone/>
            </a:pPr>
            <a:r>
              <a:rPr lang="en-US" sz="900" b="1" dirty="0">
                <a:solidFill>
                  <a:srgbClr val="2D8C6F"/>
                </a:solidFill>
                <a:latin typeface="Consolas" pitchFamily="34" charset="0"/>
                <a:ea typeface="Consolas" pitchFamily="34" charset="-122"/>
                <a:cs typeface="Consolas" pitchFamily="34" charset="-120"/>
              </a:rPr>
              <a:t>31</a:t>
            </a:r>
            <a:endParaRPr lang="en-US" sz="900" dirty="0"/>
          </a:p>
        </p:txBody>
      </p:sp>
      <p:sp>
        <p:nvSpPr>
          <p:cNvPr id="64" name="Shape 62"/>
          <p:cNvSpPr/>
          <p:nvPr/>
        </p:nvSpPr>
        <p:spPr>
          <a:xfrm>
            <a:off x="4160520" y="3044952"/>
            <a:ext cx="822960" cy="338328"/>
          </a:xfrm>
          <a:prstGeom prst="rect">
            <a:avLst/>
          </a:prstGeom>
          <a:solidFill>
            <a:srgbClr val="EAF4F8"/>
          </a:solidFill>
          <a:ln w="9525">
            <a:solidFill>
              <a:srgbClr val="A9CDDB"/>
            </a:solidFill>
            <a:prstDash val="solid"/>
          </a:ln>
        </p:spPr>
      </p:sp>
      <p:sp>
        <p:nvSpPr>
          <p:cNvPr id="65" name="Text 63"/>
          <p:cNvSpPr/>
          <p:nvPr/>
        </p:nvSpPr>
        <p:spPr>
          <a:xfrm>
            <a:off x="4160520" y="3044952"/>
            <a:ext cx="822960" cy="338328"/>
          </a:xfrm>
          <a:prstGeom prst="rect">
            <a:avLst/>
          </a:prstGeom>
          <a:noFill/>
          <a:ln/>
        </p:spPr>
        <p:txBody>
          <a:bodyPr wrap="square" lIns="0" tIns="0" rIns="0" bIns="0" rtlCol="0" anchor="ctr"/>
          <a:lstStyle/>
          <a:p>
            <a:pPr marL="0" indent="0" algn="ctr">
              <a:buNone/>
            </a:pPr>
            <a:r>
              <a:rPr lang="en-US" sz="900" b="1" dirty="0">
                <a:solidFill>
                  <a:srgbClr val="2D8C6F"/>
                </a:solidFill>
                <a:latin typeface="Consolas" pitchFamily="34" charset="0"/>
                <a:ea typeface="Consolas" pitchFamily="34" charset="-122"/>
                <a:cs typeface="Consolas" pitchFamily="34" charset="-120"/>
              </a:rPr>
              <a:t>32</a:t>
            </a:r>
            <a:endParaRPr lang="en-US" sz="900" dirty="0"/>
          </a:p>
        </p:txBody>
      </p:sp>
      <p:sp>
        <p:nvSpPr>
          <p:cNvPr id="66" name="Shape 64"/>
          <p:cNvSpPr/>
          <p:nvPr/>
        </p:nvSpPr>
        <p:spPr>
          <a:xfrm>
            <a:off x="4160520" y="3383280"/>
            <a:ext cx="822960" cy="338328"/>
          </a:xfrm>
          <a:prstGeom prst="rect">
            <a:avLst/>
          </a:prstGeom>
          <a:solidFill>
            <a:srgbClr val="EAF4F8"/>
          </a:solidFill>
          <a:ln w="9525">
            <a:solidFill>
              <a:srgbClr val="A9CDDB"/>
            </a:solidFill>
            <a:prstDash val="solid"/>
          </a:ln>
        </p:spPr>
      </p:sp>
      <p:sp>
        <p:nvSpPr>
          <p:cNvPr id="67" name="Text 65"/>
          <p:cNvSpPr/>
          <p:nvPr/>
        </p:nvSpPr>
        <p:spPr>
          <a:xfrm>
            <a:off x="4160520" y="3383280"/>
            <a:ext cx="822960" cy="338328"/>
          </a:xfrm>
          <a:prstGeom prst="rect">
            <a:avLst/>
          </a:prstGeom>
          <a:noFill/>
          <a:ln/>
        </p:spPr>
        <p:txBody>
          <a:bodyPr wrap="square" lIns="0" tIns="0" rIns="0" bIns="0" rtlCol="0" anchor="ctr"/>
          <a:lstStyle/>
          <a:p>
            <a:pPr marL="0" indent="0" algn="ctr">
              <a:buNone/>
            </a:pPr>
            <a:r>
              <a:rPr lang="en-US" sz="900" b="1" dirty="0">
                <a:solidFill>
                  <a:srgbClr val="2D8C6F"/>
                </a:solidFill>
                <a:latin typeface="Consolas" pitchFamily="34" charset="0"/>
                <a:ea typeface="Consolas" pitchFamily="34" charset="-122"/>
                <a:cs typeface="Consolas" pitchFamily="34" charset="-120"/>
              </a:rPr>
              <a:t>33</a:t>
            </a:r>
            <a:endParaRPr lang="en-US" sz="900" dirty="0"/>
          </a:p>
        </p:txBody>
      </p:sp>
      <p:sp>
        <p:nvSpPr>
          <p:cNvPr id="68" name="Text 66"/>
          <p:cNvSpPr/>
          <p:nvPr/>
        </p:nvSpPr>
        <p:spPr>
          <a:xfrm>
            <a:off x="640080" y="3246120"/>
            <a:ext cx="3108960" cy="548640"/>
          </a:xfrm>
          <a:prstGeom prst="rect">
            <a:avLst/>
          </a:prstGeom>
          <a:noFill/>
          <a:ln/>
        </p:spPr>
        <p:txBody>
          <a:bodyPr wrap="square" lIns="0" tIns="0" rIns="0" bIns="0" rtlCol="0" anchor="t"/>
          <a:lstStyle/>
          <a:p>
            <a:pPr marL="0" indent="0">
              <a:lnSpc>
                <a:spcPct val="110000"/>
              </a:lnSpc>
              <a:buNone/>
            </a:pPr>
            <a:r>
              <a:rPr lang="en-US" sz="950" dirty="0">
                <a:solidFill>
                  <a:srgbClr val="728694"/>
                </a:solidFill>
                <a:latin typeface="Segoe UI" pitchFamily="34" charset="0"/>
                <a:ea typeface="Segoe UI" pitchFamily="34" charset="-122"/>
                <a:cs typeface="Segoe UI" pitchFamily="34" charset="-120"/>
              </a:rPr>
              <a:t>6 phần tử True</a:t>
            </a:r>
            <a:endParaRPr lang="en-US" sz="950" dirty="0"/>
          </a:p>
          <a:p>
            <a:pPr marL="0" indent="0">
              <a:lnSpc>
                <a:spcPct val="110000"/>
              </a:lnSpc>
              <a:buNone/>
            </a:pPr>
            <a:r>
              <a:rPr lang="en-US" sz="950" dirty="0">
                <a:solidFill>
                  <a:srgbClr val="728694"/>
                </a:solidFill>
                <a:latin typeface="Segoe UI" pitchFamily="34" charset="0"/>
                <a:ea typeface="Segoe UI" pitchFamily="34" charset="-122"/>
                <a:cs typeface="Segoe UI" pitchFamily="34" charset="-120"/>
              </a:rPr>
              <a:t>được nén thành mảng 1-D</a:t>
            </a:r>
            <a:endParaRPr lang="en-US" sz="950" dirty="0"/>
          </a:p>
        </p:txBody>
      </p:sp>
      <p:sp>
        <p:nvSpPr>
          <p:cNvPr id="69" name="Shape 67"/>
          <p:cNvSpPr/>
          <p:nvPr/>
        </p:nvSpPr>
        <p:spPr>
          <a:xfrm>
            <a:off x="5989320" y="1463040"/>
            <a:ext cx="5623560" cy="868680"/>
          </a:xfrm>
          <a:prstGeom prst="roundRect">
            <a:avLst>
              <a:gd name="adj" fmla="val 5263"/>
            </a:avLst>
          </a:prstGeom>
          <a:solidFill>
            <a:srgbClr val="0B2230"/>
          </a:solidFill>
          <a:ln w="9525">
            <a:solidFill>
              <a:srgbClr val="163B4C"/>
            </a:solidFill>
            <a:prstDash val="solid"/>
          </a:ln>
        </p:spPr>
      </p:sp>
      <p:sp>
        <p:nvSpPr>
          <p:cNvPr id="70" name="Shape 68"/>
          <p:cNvSpPr/>
          <p:nvPr/>
        </p:nvSpPr>
        <p:spPr>
          <a:xfrm>
            <a:off x="5989320" y="1463040"/>
            <a:ext cx="5623560" cy="265176"/>
          </a:xfrm>
          <a:prstGeom prst="rect">
            <a:avLst/>
          </a:prstGeom>
          <a:solidFill>
            <a:srgbClr val="103445"/>
          </a:solidFill>
          <a:ln w="12700">
            <a:solidFill>
              <a:srgbClr val="103445"/>
            </a:solidFill>
            <a:prstDash val="solid"/>
          </a:ln>
        </p:spPr>
      </p:sp>
      <p:sp>
        <p:nvSpPr>
          <p:cNvPr id="71" name="Text 69"/>
          <p:cNvSpPr/>
          <p:nvPr/>
        </p:nvSpPr>
        <p:spPr>
          <a:xfrm>
            <a:off x="6135624" y="1513332"/>
            <a:ext cx="4709160" cy="182880"/>
          </a:xfrm>
          <a:prstGeom prst="rect">
            <a:avLst/>
          </a:prstGeom>
          <a:noFill/>
          <a:ln/>
        </p:spPr>
        <p:txBody>
          <a:bodyPr wrap="square" lIns="0" tIns="0" rIns="0" bIns="0" rtlCol="0" anchor="t"/>
          <a:lstStyle/>
          <a:p>
            <a:pPr marL="0" indent="0">
              <a:buNone/>
            </a:pPr>
            <a:r>
              <a:rPr lang="en-US" sz="850" dirty="0">
                <a:solidFill>
                  <a:srgbClr val="8FB6C8"/>
                </a:solidFill>
                <a:latin typeface="Consolas" pitchFamily="34" charset="0"/>
                <a:ea typeface="Consolas" pitchFamily="34" charset="-122"/>
                <a:cs typeface="Consolas" pitchFamily="34" charset="-120"/>
              </a:rPr>
              <a:t>python</a:t>
            </a:r>
            <a:endParaRPr lang="en-US" sz="850" dirty="0"/>
          </a:p>
        </p:txBody>
      </p:sp>
      <p:sp>
        <p:nvSpPr>
          <p:cNvPr id="72" name="Shape 70"/>
          <p:cNvSpPr/>
          <p:nvPr/>
        </p:nvSpPr>
        <p:spPr>
          <a:xfrm>
            <a:off x="11045952" y="1568196"/>
            <a:ext cx="77724" cy="77724"/>
          </a:xfrm>
          <a:prstGeom prst="ellipse">
            <a:avLst/>
          </a:prstGeom>
          <a:solidFill>
            <a:srgbClr val="D96C5F"/>
          </a:solidFill>
          <a:ln w="12700">
            <a:solidFill>
              <a:srgbClr val="D96C5F"/>
            </a:solidFill>
            <a:prstDash val="solid"/>
          </a:ln>
        </p:spPr>
      </p:sp>
      <p:sp>
        <p:nvSpPr>
          <p:cNvPr id="73" name="Shape 71"/>
          <p:cNvSpPr/>
          <p:nvPr/>
        </p:nvSpPr>
        <p:spPr>
          <a:xfrm>
            <a:off x="11201400" y="1568196"/>
            <a:ext cx="77724" cy="77724"/>
          </a:xfrm>
          <a:prstGeom prst="ellipse">
            <a:avLst/>
          </a:prstGeom>
          <a:solidFill>
            <a:srgbClr val="E8A33D"/>
          </a:solidFill>
          <a:ln w="12700">
            <a:solidFill>
              <a:srgbClr val="E8A33D"/>
            </a:solidFill>
            <a:prstDash val="solid"/>
          </a:ln>
        </p:spPr>
      </p:sp>
      <p:sp>
        <p:nvSpPr>
          <p:cNvPr id="74" name="Shape 72"/>
          <p:cNvSpPr/>
          <p:nvPr/>
        </p:nvSpPr>
        <p:spPr>
          <a:xfrm>
            <a:off x="11356848" y="1568196"/>
            <a:ext cx="77724" cy="77724"/>
          </a:xfrm>
          <a:prstGeom prst="ellipse">
            <a:avLst/>
          </a:prstGeom>
          <a:solidFill>
            <a:srgbClr val="2D8C6F"/>
          </a:solidFill>
          <a:ln w="12700">
            <a:solidFill>
              <a:srgbClr val="2D8C6F"/>
            </a:solidFill>
            <a:prstDash val="solid"/>
          </a:ln>
        </p:spPr>
      </p:sp>
      <p:sp>
        <p:nvSpPr>
          <p:cNvPr id="75" name="Text 73"/>
          <p:cNvSpPr/>
          <p:nvPr/>
        </p:nvSpPr>
        <p:spPr>
          <a:xfrm>
            <a:off x="6153912" y="1810512"/>
            <a:ext cx="5330952" cy="448056"/>
          </a:xfrm>
          <a:prstGeom prst="rect">
            <a:avLst/>
          </a:prstGeom>
          <a:noFill/>
          <a:ln/>
        </p:spPr>
        <p:txBody>
          <a:bodyPr wrap="square" lIns="0" tIns="0" rIns="0" bIns="0" rtlCol="0" anchor="t"/>
          <a:lstStyle/>
          <a:p>
            <a:pPr marL="0" indent="0">
              <a:lnSpc>
                <a:spcPct val="102000"/>
              </a:lnSpc>
              <a:buNone/>
            </a:pPr>
            <a:r>
              <a:rPr lang="en-US" sz="1000" dirty="0">
                <a:solidFill>
                  <a:srgbClr val="6FD0E4"/>
                </a:solidFill>
                <a:latin typeface="Consolas" pitchFamily="34" charset="0"/>
                <a:ea typeface="Consolas" pitchFamily="34" charset="-122"/>
                <a:cs typeface="Consolas" pitchFamily="34" charset="-120"/>
              </a:rPr>
              <a:t>print</a:t>
            </a:r>
            <a:r>
              <a:rPr lang="en-US" sz="1000" dirty="0">
                <a:solidFill>
                  <a:srgbClr val="D6E6EF"/>
                </a:solidFill>
                <a:latin typeface="Consolas" pitchFamily="34" charset="0"/>
                <a:ea typeface="Consolas" pitchFamily="34" charset="-122"/>
                <a:cs typeface="Consolas" pitchFamily="34" charset="-120"/>
              </a:rPr>
              <a:t>(b[b &gt; </a:t>
            </a:r>
            <a:r>
              <a:rPr lang="en-US" sz="1000" dirty="0">
                <a:solidFill>
                  <a:srgbClr val="F08A7C"/>
                </a:solidFill>
                <a:latin typeface="Consolas" pitchFamily="34" charset="0"/>
                <a:ea typeface="Consolas" pitchFamily="34" charset="-122"/>
                <a:cs typeface="Consolas" pitchFamily="34" charset="-120"/>
              </a:rPr>
              <a:t>21</a:t>
            </a:r>
            <a:r>
              <a:rPr lang="en-US" sz="1000" dirty="0">
                <a:solidFill>
                  <a:srgbClr val="D6E6EF"/>
                </a:solidFill>
                <a:latin typeface="Consolas" pitchFamily="34" charset="0"/>
                <a:ea typeface="Consolas" pitchFamily="34" charset="-122"/>
                <a:cs typeface="Consolas" pitchFamily="34" charset="-120"/>
              </a:rPr>
              <a:t>])</a:t>
            </a:r>
            <a:endParaRPr lang="en-US" sz="1000" dirty="0"/>
          </a:p>
          <a:p>
            <a:pPr marL="0" indent="0">
              <a:lnSpc>
                <a:spcPct val="102000"/>
              </a:lnSpc>
              <a:buNone/>
            </a:pPr>
            <a:r>
              <a:rPr lang="en-US" sz="1000" dirty="0">
                <a:solidFill>
                  <a:srgbClr val="6FD0E4"/>
                </a:solidFill>
                <a:latin typeface="Consolas" pitchFamily="34" charset="0"/>
                <a:ea typeface="Consolas" pitchFamily="34" charset="-122"/>
                <a:cs typeface="Consolas" pitchFamily="34" charset="-120"/>
              </a:rPr>
              <a:t>print</a:t>
            </a:r>
            <a:r>
              <a:rPr lang="en-US" sz="1000" dirty="0">
                <a:solidFill>
                  <a:srgbClr val="D6E6EF"/>
                </a:solidFill>
                <a:latin typeface="Consolas" pitchFamily="34" charset="0"/>
                <a:ea typeface="Consolas" pitchFamily="34" charset="-122"/>
                <a:cs typeface="Consolas" pitchFamily="34" charset="-120"/>
              </a:rPr>
              <a:t>(b &gt; </a:t>
            </a:r>
            <a:r>
              <a:rPr lang="en-US" sz="1000" dirty="0">
                <a:solidFill>
                  <a:srgbClr val="F08A7C"/>
                </a:solidFill>
                <a:latin typeface="Consolas" pitchFamily="34" charset="0"/>
                <a:ea typeface="Consolas" pitchFamily="34" charset="-122"/>
                <a:cs typeface="Consolas" pitchFamily="34" charset="-120"/>
              </a:rPr>
              <a:t>21</a:t>
            </a:r>
            <a:r>
              <a:rPr lang="en-US" sz="1000" dirty="0">
                <a:solidFill>
                  <a:srgbClr val="D6E6EF"/>
                </a:solidFill>
                <a:latin typeface="Consolas" pitchFamily="34" charset="0"/>
                <a:ea typeface="Consolas" pitchFamily="34" charset="-122"/>
                <a:cs typeface="Consolas" pitchFamily="34" charset="-120"/>
              </a:rPr>
              <a:t>)</a:t>
            </a:r>
            <a:endParaRPr lang="en-US" sz="1000" dirty="0"/>
          </a:p>
        </p:txBody>
      </p:sp>
      <p:sp>
        <p:nvSpPr>
          <p:cNvPr id="76" name="Shape 74"/>
          <p:cNvSpPr/>
          <p:nvPr/>
        </p:nvSpPr>
        <p:spPr>
          <a:xfrm>
            <a:off x="5989320" y="2468880"/>
            <a:ext cx="5623560" cy="2148840"/>
          </a:xfrm>
          <a:prstGeom prst="roundRect">
            <a:avLst>
              <a:gd name="adj" fmla="val 2128"/>
            </a:avLst>
          </a:prstGeom>
          <a:solidFill>
            <a:srgbClr val="FFFFFF"/>
          </a:solidFill>
          <a:ln w="9525">
            <a:solidFill>
              <a:srgbClr val="CFE5EE"/>
            </a:solidFill>
            <a:prstDash val="solid"/>
          </a:ln>
        </p:spPr>
      </p:sp>
      <p:sp>
        <p:nvSpPr>
          <p:cNvPr id="77" name="Text 75"/>
          <p:cNvSpPr/>
          <p:nvPr/>
        </p:nvSpPr>
        <p:spPr>
          <a:xfrm>
            <a:off x="6135624" y="2560320"/>
            <a:ext cx="5349240" cy="164592"/>
          </a:xfrm>
          <a:prstGeom prst="rect">
            <a:avLst/>
          </a:prstGeom>
          <a:noFill/>
          <a:ln/>
        </p:spPr>
        <p:txBody>
          <a:bodyPr wrap="square" lIns="0" tIns="0" rIns="0" bIns="0" rtlCol="0" anchor="t"/>
          <a:lstStyle/>
          <a:p>
            <a:pPr marL="0" indent="0">
              <a:buNone/>
            </a:pPr>
            <a:r>
              <a:rPr lang="en-US" sz="800" b="1" kern="0" spc="120" dirty="0">
                <a:solidFill>
                  <a:srgbClr val="2D8C6F"/>
                </a:solidFill>
                <a:latin typeface="Segoe UI" pitchFamily="34" charset="0"/>
                <a:ea typeface="Segoe UI" pitchFamily="34" charset="-122"/>
                <a:cs typeface="Segoe UI" pitchFamily="34" charset="-120"/>
              </a:rPr>
              <a:t>KẾT QUẢ</a:t>
            </a:r>
            <a:endParaRPr lang="en-US" sz="800" dirty="0"/>
          </a:p>
        </p:txBody>
      </p:sp>
      <p:sp>
        <p:nvSpPr>
          <p:cNvPr id="78" name="Text 76"/>
          <p:cNvSpPr/>
          <p:nvPr/>
        </p:nvSpPr>
        <p:spPr>
          <a:xfrm>
            <a:off x="6135624" y="2779776"/>
            <a:ext cx="5349240" cy="1764792"/>
          </a:xfrm>
          <a:prstGeom prst="rect">
            <a:avLst/>
          </a:prstGeom>
          <a:noFill/>
          <a:ln/>
        </p:spPr>
        <p:txBody>
          <a:bodyPr wrap="square" lIns="0" tIns="0" rIns="0" bIns="0" rtlCol="0" anchor="t"/>
          <a:lstStyle/>
          <a:p>
            <a:pPr marL="0" indent="0">
              <a:lnSpc>
                <a:spcPct val="102000"/>
              </a:lnSpc>
              <a:buNone/>
            </a:pPr>
            <a:r>
              <a:rPr lang="en-US" sz="920" dirty="0">
                <a:solidFill>
                  <a:srgbClr val="062A3A"/>
                </a:solidFill>
                <a:latin typeface="Consolas" pitchFamily="34" charset="0"/>
                <a:ea typeface="Consolas" pitchFamily="34" charset="-122"/>
                <a:cs typeface="Consolas" pitchFamily="34" charset="-120"/>
              </a:rPr>
              <a:t>[22 23 30 31 32 33]</a:t>
            </a:r>
            <a:endParaRPr lang="en-US" sz="920" dirty="0"/>
          </a:p>
          <a:p>
            <a:pPr marL="0" indent="0">
              <a:lnSpc>
                <a:spcPct val="102000"/>
              </a:lnSpc>
              <a:buNone/>
            </a:pPr>
            <a:endParaRPr lang="en-US" sz="920" dirty="0"/>
          </a:p>
          <a:p>
            <a:pPr marL="0" indent="0">
              <a:lnSpc>
                <a:spcPct val="102000"/>
              </a:lnSpc>
              <a:buNone/>
            </a:pPr>
            <a:r>
              <a:rPr lang="en-US" sz="920" dirty="0">
                <a:solidFill>
                  <a:srgbClr val="062A3A"/>
                </a:solidFill>
                <a:latin typeface="Consolas" pitchFamily="34" charset="0"/>
                <a:ea typeface="Consolas" pitchFamily="34" charset="-122"/>
                <a:cs typeface="Consolas" pitchFamily="34" charset="-120"/>
              </a:rPr>
              <a:t>[[False False False False]</a:t>
            </a:r>
            <a:endParaRPr lang="en-US" sz="920" dirty="0"/>
          </a:p>
          <a:p>
            <a:pPr marL="0" indent="0">
              <a:lnSpc>
                <a:spcPct val="102000"/>
              </a:lnSpc>
              <a:buNone/>
            </a:pPr>
            <a:r>
              <a:rPr lang="en-US" sz="920" dirty="0">
                <a:solidFill>
                  <a:srgbClr val="062A3A"/>
                </a:solidFill>
                <a:latin typeface="Consolas" pitchFamily="34" charset="0"/>
                <a:ea typeface="Consolas" pitchFamily="34" charset="-122"/>
                <a:cs typeface="Consolas" pitchFamily="34" charset="-120"/>
              </a:rPr>
              <a:t> [False False  True  True]</a:t>
            </a:r>
            <a:endParaRPr lang="en-US" sz="920" dirty="0"/>
          </a:p>
          <a:p>
            <a:pPr marL="0" indent="0">
              <a:lnSpc>
                <a:spcPct val="102000"/>
              </a:lnSpc>
              <a:buNone/>
            </a:pPr>
            <a:r>
              <a:rPr lang="en-US" sz="920" dirty="0">
                <a:solidFill>
                  <a:srgbClr val="062A3A"/>
                </a:solidFill>
                <a:latin typeface="Consolas" pitchFamily="34" charset="0"/>
                <a:ea typeface="Consolas" pitchFamily="34" charset="-122"/>
                <a:cs typeface="Consolas" pitchFamily="34" charset="-120"/>
              </a:rPr>
              <a:t> [ True  True  True  True]]</a:t>
            </a:r>
            <a:endParaRPr lang="en-US" sz="920" dirty="0"/>
          </a:p>
          <a:p>
            <a:pPr marL="0" indent="0">
              <a:lnSpc>
                <a:spcPct val="102000"/>
              </a:lnSpc>
              <a:buNone/>
            </a:pPr>
            <a:endParaRPr lang="en-US" sz="920" dirty="0"/>
          </a:p>
          <a:p>
            <a:pPr marL="0" indent="0">
              <a:lnSpc>
                <a:spcPct val="102000"/>
              </a:lnSpc>
              <a:buNone/>
            </a:pPr>
            <a:r>
              <a:rPr lang="en-US" sz="920" dirty="0">
                <a:solidFill>
                  <a:srgbClr val="062A3A"/>
                </a:solidFill>
                <a:latin typeface="Consolas" pitchFamily="34" charset="0"/>
                <a:ea typeface="Consolas" pitchFamily="34" charset="-122"/>
                <a:cs typeface="Consolas" pitchFamily="34" charset="-120"/>
              </a:rPr>
              <a:t>Mảng kết quả 1-D vì các phần tử</a:t>
            </a:r>
            <a:endParaRPr lang="en-US" sz="920" dirty="0"/>
          </a:p>
          <a:p>
            <a:pPr marL="0" indent="0">
              <a:lnSpc>
                <a:spcPct val="102000"/>
              </a:lnSpc>
              <a:buNone/>
            </a:pPr>
            <a:r>
              <a:rPr lang="en-US" sz="920" dirty="0">
                <a:solidFill>
                  <a:srgbClr val="062A3A"/>
                </a:solidFill>
                <a:latin typeface="Consolas" pitchFamily="34" charset="0"/>
                <a:ea typeface="Consolas" pitchFamily="34" charset="-122"/>
                <a:cs typeface="Consolas" pitchFamily="34" charset="-120"/>
              </a:rPr>
              <a:t>True được nén lại.</a:t>
            </a:r>
            <a:endParaRPr lang="en-US" sz="920" dirty="0"/>
          </a:p>
        </p:txBody>
      </p:sp>
      <p:sp>
        <p:nvSpPr>
          <p:cNvPr id="79" name="Shape 77"/>
          <p:cNvSpPr/>
          <p:nvPr/>
        </p:nvSpPr>
        <p:spPr>
          <a:xfrm>
            <a:off x="640080" y="3794760"/>
            <a:ext cx="5029200" cy="1325880"/>
          </a:xfrm>
          <a:prstGeom prst="roundRect">
            <a:avLst>
              <a:gd name="adj" fmla="val 4138"/>
            </a:avLst>
          </a:prstGeom>
          <a:solidFill>
            <a:srgbClr val="EAF4F8"/>
          </a:solidFill>
          <a:ln w="9525">
            <a:solidFill>
              <a:srgbClr val="CFE5EE"/>
            </a:solidFill>
            <a:prstDash val="solid"/>
          </a:ln>
        </p:spPr>
      </p:sp>
      <p:sp>
        <p:nvSpPr>
          <p:cNvPr id="80" name="Text 78"/>
          <p:cNvSpPr/>
          <p:nvPr/>
        </p:nvSpPr>
        <p:spPr>
          <a:xfrm>
            <a:off x="841248" y="3913632"/>
            <a:ext cx="4572000" cy="219456"/>
          </a:xfrm>
          <a:prstGeom prst="rect">
            <a:avLst/>
          </a:prstGeom>
          <a:noFill/>
          <a:ln/>
        </p:spPr>
        <p:txBody>
          <a:bodyPr wrap="square" lIns="0" tIns="0" rIns="0" bIns="0" rtlCol="0" anchor="t"/>
          <a:lstStyle/>
          <a:p>
            <a:pPr marL="0" indent="0">
              <a:buNone/>
            </a:pPr>
            <a:r>
              <a:rPr lang="en-US" sz="1050" b="1" dirty="0">
                <a:solidFill>
                  <a:srgbClr val="1B8EA8"/>
                </a:solidFill>
                <a:latin typeface="Segoe UI" pitchFamily="34" charset="0"/>
                <a:ea typeface="Segoe UI" pitchFamily="34" charset="-122"/>
                <a:cs typeface="Segoe UI" pitchFamily="34" charset="-120"/>
              </a:rPr>
              <a:t>Cách đọc</a:t>
            </a:r>
            <a:endParaRPr lang="en-US" sz="1050" dirty="0"/>
          </a:p>
        </p:txBody>
      </p:sp>
      <p:sp>
        <p:nvSpPr>
          <p:cNvPr id="81" name="Text 79"/>
          <p:cNvSpPr/>
          <p:nvPr/>
        </p:nvSpPr>
        <p:spPr>
          <a:xfrm>
            <a:off x="841248" y="4178808"/>
            <a:ext cx="4617720" cy="868680"/>
          </a:xfrm>
          <a:prstGeom prst="rect">
            <a:avLst/>
          </a:prstGeom>
          <a:noFill/>
          <a:ln/>
        </p:spPr>
        <p:txBody>
          <a:bodyPr wrap="square" lIns="0" tIns="0" rIns="0" bIns="0" rtlCol="0" anchor="t"/>
          <a:lstStyle/>
          <a:p>
            <a:pPr marL="0" indent="0">
              <a:lnSpc>
                <a:spcPct val="118000"/>
              </a:lnSpc>
              <a:buNone/>
            </a:pPr>
            <a:r>
              <a:rPr lang="en-US" sz="940" dirty="0">
                <a:solidFill>
                  <a:srgbClr val="415A6B"/>
                </a:solidFill>
                <a:latin typeface="Segoe UI" pitchFamily="34" charset="0"/>
                <a:ea typeface="Segoe UI" pitchFamily="34" charset="-122"/>
                <a:cs typeface="Segoe UI" pitchFamily="34" charset="-120"/>
              </a:rPr>
              <a:t>1  So sánh b &gt; 21 → mảng boolean cùng shape.</a:t>
            </a:r>
            <a:endParaRPr lang="en-US" sz="940" dirty="0"/>
          </a:p>
          <a:p>
            <a:pPr marL="0" indent="0">
              <a:lnSpc>
                <a:spcPct val="118000"/>
              </a:lnSpc>
              <a:buNone/>
            </a:pPr>
            <a:r>
              <a:rPr lang="en-US" sz="940" dirty="0">
                <a:solidFill>
                  <a:srgbClr val="415A6B"/>
                </a:solidFill>
                <a:latin typeface="Segoe UI" pitchFamily="34" charset="0"/>
                <a:ea typeface="Segoe UI" pitchFamily="34" charset="-122"/>
                <a:cs typeface="Segoe UI" pitchFamily="34" charset="-120"/>
              </a:rPr>
              <a:t>2  Dùng mảng boolean làm chỉ số → lấy phần tử True.</a:t>
            </a:r>
            <a:endParaRPr lang="en-US" sz="940" dirty="0"/>
          </a:p>
          <a:p>
            <a:pPr marL="0" indent="0">
              <a:lnSpc>
                <a:spcPct val="118000"/>
              </a:lnSpc>
              <a:buNone/>
            </a:pPr>
            <a:r>
              <a:rPr lang="en-US" sz="940" dirty="0">
                <a:solidFill>
                  <a:srgbClr val="415A6B"/>
                </a:solidFill>
                <a:latin typeface="Segoe UI" pitchFamily="34" charset="0"/>
                <a:ea typeface="Segoe UI" pitchFamily="34" charset="-122"/>
                <a:cs typeface="Segoe UI" pitchFamily="34" charset="-120"/>
              </a:rPr>
              <a:t>3  Kết quả nén thành mảng 1-D, giữ thứ tự đọc.</a:t>
            </a:r>
            <a:endParaRPr lang="en-US" sz="940" dirty="0"/>
          </a:p>
        </p:txBody>
      </p:sp>
      <p:sp>
        <p:nvSpPr>
          <p:cNvPr id="82" name="Text 80"/>
          <p:cNvSpPr/>
          <p:nvPr/>
        </p:nvSpPr>
        <p:spPr>
          <a:xfrm>
            <a:off x="548640" y="5504688"/>
            <a:ext cx="11064240" cy="365760"/>
          </a:xfrm>
          <a:prstGeom prst="rect">
            <a:avLst/>
          </a:prstGeom>
          <a:noFill/>
          <a:ln/>
        </p:spPr>
        <p:txBody>
          <a:bodyPr wrap="square" lIns="0" tIns="0" rIns="0" bIns="0" rtlCol="0" anchor="t"/>
          <a:lstStyle/>
          <a:p>
            <a:pPr marL="0" indent="0">
              <a:buNone/>
            </a:pPr>
            <a:r>
              <a:rPr lang="en-US" sz="1050" i="1" dirty="0">
                <a:solidFill>
                  <a:srgbClr val="728694"/>
                </a:solidFill>
                <a:latin typeface="Segoe UI" pitchFamily="34" charset="0"/>
                <a:ea typeface="Segoe UI" pitchFamily="34" charset="-122"/>
                <a:cs typeface="Segoe UI" pitchFamily="34" charset="-120"/>
              </a:rPr>
              <a:t>Kết hợp điều kiện bằng &amp;, | và ngoặc đơn, ví dụ b[(b &gt; 10) &amp; (b &lt; 30)].</a:t>
            </a:r>
            <a:endParaRPr lang="en-US" sz="1050" dirty="0"/>
          </a:p>
        </p:txBody>
      </p:sp>
      <p:sp>
        <p:nvSpPr>
          <p:cNvPr id="83" name="Shape 81"/>
          <p:cNvSpPr/>
          <p:nvPr/>
        </p:nvSpPr>
        <p:spPr>
          <a:xfrm>
            <a:off x="548640" y="6391656"/>
            <a:ext cx="11091672" cy="9144"/>
          </a:xfrm>
          <a:prstGeom prst="rect">
            <a:avLst/>
          </a:prstGeom>
          <a:solidFill>
            <a:srgbClr val="D7E5EC"/>
          </a:solidFill>
          <a:ln w="12700">
            <a:solidFill>
              <a:srgbClr val="D7E5EC"/>
            </a:solidFill>
            <a:prstDash val="solid"/>
          </a:ln>
        </p:spPr>
      </p:sp>
      <p:sp>
        <p:nvSpPr>
          <p:cNvPr id="84" name="Text 82"/>
          <p:cNvSpPr/>
          <p:nvPr/>
        </p:nvSpPr>
        <p:spPr>
          <a:xfrm>
            <a:off x="548640" y="6473952"/>
            <a:ext cx="7772400" cy="182880"/>
          </a:xfrm>
          <a:prstGeom prst="rect">
            <a:avLst/>
          </a:prstGeom>
          <a:noFill/>
          <a:ln/>
        </p:spPr>
        <p:txBody>
          <a:bodyPr wrap="square" lIns="0" tIns="0" rIns="0" bIns="0" rtlCol="0" anchor="t"/>
          <a:lstStyle/>
          <a:p>
            <a:pPr marL="0" indent="0">
              <a:buNone/>
            </a:pPr>
            <a:r>
              <a:rPr lang="en-US" sz="850" dirty="0">
                <a:solidFill>
                  <a:srgbClr val="728694"/>
                </a:solidFill>
                <a:latin typeface="Segoe UI" pitchFamily="34" charset="0"/>
                <a:ea typeface="Segoe UI" pitchFamily="34" charset="-122"/>
                <a:cs typeface="Segoe UI" pitchFamily="34" charset="-120"/>
              </a:rPr>
              <a:t>Tìm hiểu thư viện NumPy trong Python</a:t>
            </a:r>
            <a:endParaRPr lang="en-US" sz="850" dirty="0"/>
          </a:p>
        </p:txBody>
      </p:sp>
      <p:sp>
        <p:nvSpPr>
          <p:cNvPr id="85" name="Text 83"/>
          <p:cNvSpPr/>
          <p:nvPr/>
        </p:nvSpPr>
        <p:spPr>
          <a:xfrm>
            <a:off x="10698480" y="6473952"/>
            <a:ext cx="941832" cy="182880"/>
          </a:xfrm>
          <a:prstGeom prst="rect">
            <a:avLst/>
          </a:prstGeom>
          <a:noFill/>
          <a:ln/>
        </p:spPr>
        <p:txBody>
          <a:bodyPr wrap="square" lIns="0" tIns="0" rIns="0" bIns="0" rtlCol="0" anchor="t"/>
          <a:lstStyle/>
          <a:p>
            <a:pPr marL="0" indent="0" algn="r">
              <a:buNone/>
            </a:pPr>
            <a:r>
              <a:rPr lang="en-US" sz="850" dirty="0">
                <a:solidFill>
                  <a:srgbClr val="728694"/>
                </a:solidFill>
                <a:latin typeface="Segoe UI" pitchFamily="34" charset="0"/>
                <a:ea typeface="Segoe UI" pitchFamily="34" charset="-122"/>
                <a:cs typeface="Segoe UI" pitchFamily="34" charset="-120"/>
              </a:rPr>
              <a:t>15 / 25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301752"/>
            <a:ext cx="10881360" cy="201168"/>
          </a:xfrm>
          <a:prstGeom prst="rect">
            <a:avLst/>
          </a:prstGeom>
          <a:noFill/>
          <a:ln/>
        </p:spPr>
        <p:txBody>
          <a:bodyPr wrap="square" lIns="0" tIns="0" rIns="0" bIns="0" rtlCol="0" anchor="t"/>
          <a:lstStyle/>
          <a:p>
            <a:pPr marL="0" indent="0">
              <a:buNone/>
            </a:pPr>
            <a:r>
              <a:rPr lang="en-US" sz="950" b="1" kern="0" spc="160" dirty="0">
                <a:solidFill>
                  <a:srgbClr val="1B8EA8"/>
                </a:solidFill>
                <a:latin typeface="Segoe UI" pitchFamily="34" charset="0"/>
                <a:ea typeface="Segoe UI" pitchFamily="34" charset="-122"/>
                <a:cs typeface="Segoe UI" pitchFamily="34" charset="-120"/>
              </a:rPr>
              <a:t>04 · TRUY CẬP DỮ LIỆU</a:t>
            </a:r>
            <a:endParaRPr lang="en-US" sz="950" dirty="0"/>
          </a:p>
        </p:txBody>
      </p:sp>
      <p:sp>
        <p:nvSpPr>
          <p:cNvPr id="3" name="Text 1"/>
          <p:cNvSpPr/>
          <p:nvPr/>
        </p:nvSpPr>
        <p:spPr>
          <a:xfrm>
            <a:off x="548640" y="502920"/>
            <a:ext cx="10881360" cy="640080"/>
          </a:xfrm>
          <a:prstGeom prst="rect">
            <a:avLst/>
          </a:prstGeom>
          <a:noFill/>
          <a:ln/>
        </p:spPr>
        <p:txBody>
          <a:bodyPr wrap="square" lIns="0" tIns="0" rIns="0" bIns="0" rtlCol="0" anchor="ctr"/>
          <a:lstStyle/>
          <a:p>
            <a:pPr marL="0" indent="0">
              <a:buNone/>
            </a:pPr>
            <a:r>
              <a:rPr lang="en-US" sz="2800" b="1" dirty="0">
                <a:solidFill>
                  <a:srgbClr val="062A3A"/>
                </a:solidFill>
                <a:latin typeface="Segoe UI" pitchFamily="34" charset="0"/>
                <a:ea typeface="Segoe UI" pitchFamily="34" charset="-122"/>
                <a:cs typeface="Segoe UI" pitchFamily="34" charset="-120"/>
              </a:rPr>
              <a:t>reshape() và .T: cùng dữ liệu, khác hình dạng</a:t>
            </a:r>
            <a:endParaRPr lang="en-US" sz="2800" dirty="0"/>
          </a:p>
        </p:txBody>
      </p:sp>
      <p:sp>
        <p:nvSpPr>
          <p:cNvPr id="4" name="Shape 2"/>
          <p:cNvSpPr/>
          <p:nvPr/>
        </p:nvSpPr>
        <p:spPr>
          <a:xfrm>
            <a:off x="548640" y="1225296"/>
            <a:ext cx="868680" cy="41148"/>
          </a:xfrm>
          <a:prstGeom prst="rect">
            <a:avLst/>
          </a:prstGeom>
          <a:solidFill>
            <a:srgbClr val="1B8EA8"/>
          </a:solidFill>
          <a:ln w="12700">
            <a:solidFill>
              <a:srgbClr val="1B8EA8"/>
            </a:solidFill>
            <a:prstDash val="solid"/>
          </a:ln>
        </p:spPr>
      </p:sp>
      <p:sp>
        <p:nvSpPr>
          <p:cNvPr id="5" name="Text 3"/>
          <p:cNvSpPr/>
          <p:nvPr/>
        </p:nvSpPr>
        <p:spPr>
          <a:xfrm>
            <a:off x="640080" y="1417320"/>
            <a:ext cx="2926080" cy="201168"/>
          </a:xfrm>
          <a:prstGeom prst="rect">
            <a:avLst/>
          </a:prstGeom>
          <a:noFill/>
          <a:ln/>
        </p:spPr>
        <p:txBody>
          <a:bodyPr wrap="square" lIns="0" tIns="0" rIns="0" bIns="0" rtlCol="0" anchor="t"/>
          <a:lstStyle/>
          <a:p>
            <a:pPr marL="0" indent="0">
              <a:buNone/>
            </a:pPr>
            <a:r>
              <a:rPr lang="en-US" sz="1000" b="1" dirty="0">
                <a:solidFill>
                  <a:srgbClr val="415A6B"/>
                </a:solidFill>
                <a:latin typeface="Segoe UI" pitchFamily="34" charset="0"/>
                <a:ea typeface="Segoe UI" pitchFamily="34" charset="-122"/>
                <a:cs typeface="Segoe UI" pitchFamily="34" charset="-120"/>
              </a:rPr>
              <a:t>1-D  ·  shape (6,)</a:t>
            </a:r>
            <a:endParaRPr lang="en-US" sz="1000" dirty="0"/>
          </a:p>
        </p:txBody>
      </p:sp>
      <p:sp>
        <p:nvSpPr>
          <p:cNvPr id="6" name="Shape 4"/>
          <p:cNvSpPr/>
          <p:nvPr/>
        </p:nvSpPr>
        <p:spPr>
          <a:xfrm>
            <a:off x="640080" y="1691640"/>
            <a:ext cx="475488" cy="475488"/>
          </a:xfrm>
          <a:prstGeom prst="rect">
            <a:avLst/>
          </a:prstGeom>
          <a:solidFill>
            <a:srgbClr val="EAF4F8"/>
          </a:solidFill>
          <a:ln w="9525">
            <a:solidFill>
              <a:srgbClr val="A9CDDB"/>
            </a:solidFill>
            <a:prstDash val="solid"/>
          </a:ln>
        </p:spPr>
      </p:sp>
      <p:sp>
        <p:nvSpPr>
          <p:cNvPr id="7" name="Text 5"/>
          <p:cNvSpPr/>
          <p:nvPr/>
        </p:nvSpPr>
        <p:spPr>
          <a:xfrm>
            <a:off x="640080" y="1691640"/>
            <a:ext cx="475488" cy="475488"/>
          </a:xfrm>
          <a:prstGeom prst="rect">
            <a:avLst/>
          </a:prstGeom>
          <a:noFill/>
          <a:ln/>
        </p:spPr>
        <p:txBody>
          <a:bodyPr wrap="square" lIns="0" tIns="0" rIns="0" bIns="0" rtlCol="0" anchor="ctr"/>
          <a:lstStyle/>
          <a:p>
            <a:pPr marL="0" indent="0" algn="ctr">
              <a:buNone/>
            </a:pPr>
            <a:r>
              <a:rPr lang="en-US" sz="1100" dirty="0">
                <a:solidFill>
                  <a:srgbClr val="062A3A"/>
                </a:solidFill>
                <a:latin typeface="Consolas" pitchFamily="34" charset="0"/>
                <a:ea typeface="Consolas" pitchFamily="34" charset="-122"/>
                <a:cs typeface="Consolas" pitchFamily="34" charset="-120"/>
              </a:rPr>
              <a:t>0</a:t>
            </a:r>
            <a:endParaRPr lang="en-US" sz="1100" dirty="0"/>
          </a:p>
        </p:txBody>
      </p:sp>
      <p:sp>
        <p:nvSpPr>
          <p:cNvPr id="8" name="Shape 6"/>
          <p:cNvSpPr/>
          <p:nvPr/>
        </p:nvSpPr>
        <p:spPr>
          <a:xfrm>
            <a:off x="1115568" y="1691640"/>
            <a:ext cx="475488" cy="475488"/>
          </a:xfrm>
          <a:prstGeom prst="rect">
            <a:avLst/>
          </a:prstGeom>
          <a:solidFill>
            <a:srgbClr val="EAF4F8"/>
          </a:solidFill>
          <a:ln w="9525">
            <a:solidFill>
              <a:srgbClr val="A9CDDB"/>
            </a:solidFill>
            <a:prstDash val="solid"/>
          </a:ln>
        </p:spPr>
      </p:sp>
      <p:sp>
        <p:nvSpPr>
          <p:cNvPr id="9" name="Text 7"/>
          <p:cNvSpPr/>
          <p:nvPr/>
        </p:nvSpPr>
        <p:spPr>
          <a:xfrm>
            <a:off x="1115568" y="1691640"/>
            <a:ext cx="475488" cy="475488"/>
          </a:xfrm>
          <a:prstGeom prst="rect">
            <a:avLst/>
          </a:prstGeom>
          <a:noFill/>
          <a:ln/>
        </p:spPr>
        <p:txBody>
          <a:bodyPr wrap="square" lIns="0" tIns="0" rIns="0" bIns="0" rtlCol="0" anchor="ctr"/>
          <a:lstStyle/>
          <a:p>
            <a:pPr marL="0" indent="0" algn="ctr">
              <a:buNone/>
            </a:pPr>
            <a:r>
              <a:rPr lang="en-US" sz="1100" dirty="0">
                <a:solidFill>
                  <a:srgbClr val="062A3A"/>
                </a:solidFill>
                <a:latin typeface="Consolas" pitchFamily="34" charset="0"/>
                <a:ea typeface="Consolas" pitchFamily="34" charset="-122"/>
                <a:cs typeface="Consolas" pitchFamily="34" charset="-120"/>
              </a:rPr>
              <a:t>1</a:t>
            </a:r>
            <a:endParaRPr lang="en-US" sz="1100" dirty="0"/>
          </a:p>
        </p:txBody>
      </p:sp>
      <p:sp>
        <p:nvSpPr>
          <p:cNvPr id="10" name="Shape 8"/>
          <p:cNvSpPr/>
          <p:nvPr/>
        </p:nvSpPr>
        <p:spPr>
          <a:xfrm>
            <a:off x="1591056" y="1691640"/>
            <a:ext cx="475488" cy="475488"/>
          </a:xfrm>
          <a:prstGeom prst="rect">
            <a:avLst/>
          </a:prstGeom>
          <a:solidFill>
            <a:srgbClr val="EAF4F8"/>
          </a:solidFill>
          <a:ln w="9525">
            <a:solidFill>
              <a:srgbClr val="A9CDDB"/>
            </a:solidFill>
            <a:prstDash val="solid"/>
          </a:ln>
        </p:spPr>
      </p:sp>
      <p:sp>
        <p:nvSpPr>
          <p:cNvPr id="11" name="Text 9"/>
          <p:cNvSpPr/>
          <p:nvPr/>
        </p:nvSpPr>
        <p:spPr>
          <a:xfrm>
            <a:off x="1591056" y="1691640"/>
            <a:ext cx="475488" cy="475488"/>
          </a:xfrm>
          <a:prstGeom prst="rect">
            <a:avLst/>
          </a:prstGeom>
          <a:noFill/>
          <a:ln/>
        </p:spPr>
        <p:txBody>
          <a:bodyPr wrap="square" lIns="0" tIns="0" rIns="0" bIns="0" rtlCol="0" anchor="ctr"/>
          <a:lstStyle/>
          <a:p>
            <a:pPr marL="0" indent="0" algn="ctr">
              <a:buNone/>
            </a:pPr>
            <a:r>
              <a:rPr lang="en-US" sz="1100" dirty="0">
                <a:solidFill>
                  <a:srgbClr val="062A3A"/>
                </a:solidFill>
                <a:latin typeface="Consolas" pitchFamily="34" charset="0"/>
                <a:ea typeface="Consolas" pitchFamily="34" charset="-122"/>
                <a:cs typeface="Consolas" pitchFamily="34" charset="-120"/>
              </a:rPr>
              <a:t>2</a:t>
            </a:r>
            <a:endParaRPr lang="en-US" sz="1100" dirty="0"/>
          </a:p>
        </p:txBody>
      </p:sp>
      <p:sp>
        <p:nvSpPr>
          <p:cNvPr id="12" name="Shape 10"/>
          <p:cNvSpPr/>
          <p:nvPr/>
        </p:nvSpPr>
        <p:spPr>
          <a:xfrm>
            <a:off x="2066544" y="1691640"/>
            <a:ext cx="475488" cy="475488"/>
          </a:xfrm>
          <a:prstGeom prst="rect">
            <a:avLst/>
          </a:prstGeom>
          <a:solidFill>
            <a:srgbClr val="EAF4F8"/>
          </a:solidFill>
          <a:ln w="9525">
            <a:solidFill>
              <a:srgbClr val="A9CDDB"/>
            </a:solidFill>
            <a:prstDash val="solid"/>
          </a:ln>
        </p:spPr>
      </p:sp>
      <p:sp>
        <p:nvSpPr>
          <p:cNvPr id="13" name="Text 11"/>
          <p:cNvSpPr/>
          <p:nvPr/>
        </p:nvSpPr>
        <p:spPr>
          <a:xfrm>
            <a:off x="2066544" y="1691640"/>
            <a:ext cx="475488" cy="475488"/>
          </a:xfrm>
          <a:prstGeom prst="rect">
            <a:avLst/>
          </a:prstGeom>
          <a:noFill/>
          <a:ln/>
        </p:spPr>
        <p:txBody>
          <a:bodyPr wrap="square" lIns="0" tIns="0" rIns="0" bIns="0" rtlCol="0" anchor="ctr"/>
          <a:lstStyle/>
          <a:p>
            <a:pPr marL="0" indent="0" algn="ctr">
              <a:buNone/>
            </a:pPr>
            <a:r>
              <a:rPr lang="en-US" sz="1100" dirty="0">
                <a:solidFill>
                  <a:srgbClr val="062A3A"/>
                </a:solidFill>
                <a:latin typeface="Consolas" pitchFamily="34" charset="0"/>
                <a:ea typeface="Consolas" pitchFamily="34" charset="-122"/>
                <a:cs typeface="Consolas" pitchFamily="34" charset="-120"/>
              </a:rPr>
              <a:t>3</a:t>
            </a:r>
            <a:endParaRPr lang="en-US" sz="1100" dirty="0"/>
          </a:p>
        </p:txBody>
      </p:sp>
      <p:sp>
        <p:nvSpPr>
          <p:cNvPr id="14" name="Shape 12"/>
          <p:cNvSpPr/>
          <p:nvPr/>
        </p:nvSpPr>
        <p:spPr>
          <a:xfrm>
            <a:off x="2542032" y="1691640"/>
            <a:ext cx="475488" cy="475488"/>
          </a:xfrm>
          <a:prstGeom prst="rect">
            <a:avLst/>
          </a:prstGeom>
          <a:solidFill>
            <a:srgbClr val="EAF4F8"/>
          </a:solidFill>
          <a:ln w="9525">
            <a:solidFill>
              <a:srgbClr val="A9CDDB"/>
            </a:solidFill>
            <a:prstDash val="solid"/>
          </a:ln>
        </p:spPr>
      </p:sp>
      <p:sp>
        <p:nvSpPr>
          <p:cNvPr id="15" name="Text 13"/>
          <p:cNvSpPr/>
          <p:nvPr/>
        </p:nvSpPr>
        <p:spPr>
          <a:xfrm>
            <a:off x="2542032" y="1691640"/>
            <a:ext cx="475488" cy="475488"/>
          </a:xfrm>
          <a:prstGeom prst="rect">
            <a:avLst/>
          </a:prstGeom>
          <a:noFill/>
          <a:ln/>
        </p:spPr>
        <p:txBody>
          <a:bodyPr wrap="square" lIns="0" tIns="0" rIns="0" bIns="0" rtlCol="0" anchor="ctr"/>
          <a:lstStyle/>
          <a:p>
            <a:pPr marL="0" indent="0" algn="ctr">
              <a:buNone/>
            </a:pPr>
            <a:r>
              <a:rPr lang="en-US" sz="1100" dirty="0">
                <a:solidFill>
                  <a:srgbClr val="062A3A"/>
                </a:solidFill>
                <a:latin typeface="Consolas" pitchFamily="34" charset="0"/>
                <a:ea typeface="Consolas" pitchFamily="34" charset="-122"/>
                <a:cs typeface="Consolas" pitchFamily="34" charset="-120"/>
              </a:rPr>
              <a:t>4</a:t>
            </a:r>
            <a:endParaRPr lang="en-US" sz="1100" dirty="0"/>
          </a:p>
        </p:txBody>
      </p:sp>
      <p:sp>
        <p:nvSpPr>
          <p:cNvPr id="16" name="Shape 14"/>
          <p:cNvSpPr/>
          <p:nvPr/>
        </p:nvSpPr>
        <p:spPr>
          <a:xfrm>
            <a:off x="3017520" y="1691640"/>
            <a:ext cx="475488" cy="475488"/>
          </a:xfrm>
          <a:prstGeom prst="rect">
            <a:avLst/>
          </a:prstGeom>
          <a:solidFill>
            <a:srgbClr val="EAF4F8"/>
          </a:solidFill>
          <a:ln w="9525">
            <a:solidFill>
              <a:srgbClr val="A9CDDB"/>
            </a:solidFill>
            <a:prstDash val="solid"/>
          </a:ln>
        </p:spPr>
      </p:sp>
      <p:sp>
        <p:nvSpPr>
          <p:cNvPr id="17" name="Text 15"/>
          <p:cNvSpPr/>
          <p:nvPr/>
        </p:nvSpPr>
        <p:spPr>
          <a:xfrm>
            <a:off x="3017520" y="1691640"/>
            <a:ext cx="475488" cy="475488"/>
          </a:xfrm>
          <a:prstGeom prst="rect">
            <a:avLst/>
          </a:prstGeom>
          <a:noFill/>
          <a:ln/>
        </p:spPr>
        <p:txBody>
          <a:bodyPr wrap="square" lIns="0" tIns="0" rIns="0" bIns="0" rtlCol="0" anchor="ctr"/>
          <a:lstStyle/>
          <a:p>
            <a:pPr marL="0" indent="0" algn="ctr">
              <a:buNone/>
            </a:pPr>
            <a:r>
              <a:rPr lang="en-US" sz="1100" dirty="0">
                <a:solidFill>
                  <a:srgbClr val="062A3A"/>
                </a:solidFill>
                <a:latin typeface="Consolas" pitchFamily="34" charset="0"/>
                <a:ea typeface="Consolas" pitchFamily="34" charset="-122"/>
                <a:cs typeface="Consolas" pitchFamily="34" charset="-120"/>
              </a:rPr>
              <a:t>5</a:t>
            </a:r>
            <a:endParaRPr lang="en-US" sz="1100" dirty="0"/>
          </a:p>
        </p:txBody>
      </p:sp>
      <p:sp>
        <p:nvSpPr>
          <p:cNvPr id="18" name="Shape 16"/>
          <p:cNvSpPr/>
          <p:nvPr/>
        </p:nvSpPr>
        <p:spPr>
          <a:xfrm>
            <a:off x="3611880" y="1920240"/>
            <a:ext cx="548640" cy="0"/>
          </a:xfrm>
          <a:prstGeom prst="line">
            <a:avLst/>
          </a:prstGeom>
          <a:noFill/>
          <a:ln w="22225">
            <a:solidFill>
              <a:srgbClr val="1B8EA8"/>
            </a:solidFill>
            <a:prstDash val="solid"/>
            <a:headEnd type="none"/>
            <a:tailEnd type="triangle"/>
          </a:ln>
        </p:spPr>
      </p:sp>
      <p:sp>
        <p:nvSpPr>
          <p:cNvPr id="19" name="Text 17"/>
          <p:cNvSpPr/>
          <p:nvPr/>
        </p:nvSpPr>
        <p:spPr>
          <a:xfrm>
            <a:off x="3520440" y="1417320"/>
            <a:ext cx="1371600" cy="201168"/>
          </a:xfrm>
          <a:prstGeom prst="rect">
            <a:avLst/>
          </a:prstGeom>
          <a:noFill/>
          <a:ln/>
        </p:spPr>
        <p:txBody>
          <a:bodyPr wrap="square" lIns="0" tIns="0" rIns="0" bIns="0" rtlCol="0" anchor="t"/>
          <a:lstStyle/>
          <a:p>
            <a:pPr marL="0" indent="0" algn="ctr">
              <a:buNone/>
            </a:pPr>
            <a:r>
              <a:rPr lang="en-US" sz="900" dirty="0">
                <a:solidFill>
                  <a:srgbClr val="1B8EA8"/>
                </a:solidFill>
                <a:latin typeface="Consolas" pitchFamily="34" charset="0"/>
                <a:ea typeface="Consolas" pitchFamily="34" charset="-122"/>
                <a:cs typeface="Consolas" pitchFamily="34" charset="-120"/>
              </a:rPr>
              <a:t>reshape(2, 3)</a:t>
            </a:r>
            <a:endParaRPr lang="en-US" sz="900" dirty="0"/>
          </a:p>
        </p:txBody>
      </p:sp>
      <p:sp>
        <p:nvSpPr>
          <p:cNvPr id="20" name="Shape 18"/>
          <p:cNvSpPr/>
          <p:nvPr/>
        </p:nvSpPr>
        <p:spPr>
          <a:xfrm>
            <a:off x="4297680" y="1691640"/>
            <a:ext cx="502920" cy="502920"/>
          </a:xfrm>
          <a:prstGeom prst="rect">
            <a:avLst/>
          </a:prstGeom>
          <a:solidFill>
            <a:srgbClr val="D6EEF5"/>
          </a:solidFill>
          <a:ln w="9525">
            <a:solidFill>
              <a:srgbClr val="A9CDDB"/>
            </a:solidFill>
            <a:prstDash val="solid"/>
          </a:ln>
        </p:spPr>
      </p:sp>
      <p:sp>
        <p:nvSpPr>
          <p:cNvPr id="21" name="Text 19"/>
          <p:cNvSpPr/>
          <p:nvPr/>
        </p:nvSpPr>
        <p:spPr>
          <a:xfrm>
            <a:off x="4297680" y="1691640"/>
            <a:ext cx="502920" cy="502920"/>
          </a:xfrm>
          <a:prstGeom prst="rect">
            <a:avLst/>
          </a:prstGeom>
          <a:noFill/>
          <a:ln/>
        </p:spPr>
        <p:txBody>
          <a:bodyPr wrap="square" lIns="0" tIns="0" rIns="0" bIns="0" rtlCol="0" anchor="ctr"/>
          <a:lstStyle/>
          <a:p>
            <a:pPr marL="0" indent="0" algn="ctr">
              <a:buNone/>
            </a:pPr>
            <a:r>
              <a:rPr lang="en-US" sz="1100" dirty="0">
                <a:solidFill>
                  <a:srgbClr val="062A3A"/>
                </a:solidFill>
                <a:latin typeface="Consolas" pitchFamily="34" charset="0"/>
                <a:ea typeface="Consolas" pitchFamily="34" charset="-122"/>
                <a:cs typeface="Consolas" pitchFamily="34" charset="-120"/>
              </a:rPr>
              <a:t>0</a:t>
            </a:r>
            <a:endParaRPr lang="en-US" sz="1100" dirty="0"/>
          </a:p>
        </p:txBody>
      </p:sp>
      <p:sp>
        <p:nvSpPr>
          <p:cNvPr id="22" name="Shape 20"/>
          <p:cNvSpPr/>
          <p:nvPr/>
        </p:nvSpPr>
        <p:spPr>
          <a:xfrm>
            <a:off x="4800600" y="1691640"/>
            <a:ext cx="502920" cy="502920"/>
          </a:xfrm>
          <a:prstGeom prst="rect">
            <a:avLst/>
          </a:prstGeom>
          <a:solidFill>
            <a:srgbClr val="D6EEF5"/>
          </a:solidFill>
          <a:ln w="9525">
            <a:solidFill>
              <a:srgbClr val="A9CDDB"/>
            </a:solidFill>
            <a:prstDash val="solid"/>
          </a:ln>
        </p:spPr>
      </p:sp>
      <p:sp>
        <p:nvSpPr>
          <p:cNvPr id="23" name="Text 21"/>
          <p:cNvSpPr/>
          <p:nvPr/>
        </p:nvSpPr>
        <p:spPr>
          <a:xfrm>
            <a:off x="4800600" y="1691640"/>
            <a:ext cx="502920" cy="502920"/>
          </a:xfrm>
          <a:prstGeom prst="rect">
            <a:avLst/>
          </a:prstGeom>
          <a:noFill/>
          <a:ln/>
        </p:spPr>
        <p:txBody>
          <a:bodyPr wrap="square" lIns="0" tIns="0" rIns="0" bIns="0" rtlCol="0" anchor="ctr"/>
          <a:lstStyle/>
          <a:p>
            <a:pPr marL="0" indent="0" algn="ctr">
              <a:buNone/>
            </a:pPr>
            <a:r>
              <a:rPr lang="en-US" sz="1100" dirty="0">
                <a:solidFill>
                  <a:srgbClr val="062A3A"/>
                </a:solidFill>
                <a:latin typeface="Consolas" pitchFamily="34" charset="0"/>
                <a:ea typeface="Consolas" pitchFamily="34" charset="-122"/>
                <a:cs typeface="Consolas" pitchFamily="34" charset="-120"/>
              </a:rPr>
              <a:t>1</a:t>
            </a:r>
            <a:endParaRPr lang="en-US" sz="1100" dirty="0"/>
          </a:p>
        </p:txBody>
      </p:sp>
      <p:sp>
        <p:nvSpPr>
          <p:cNvPr id="24" name="Shape 22"/>
          <p:cNvSpPr/>
          <p:nvPr/>
        </p:nvSpPr>
        <p:spPr>
          <a:xfrm>
            <a:off x="5303520" y="1691640"/>
            <a:ext cx="502920" cy="502920"/>
          </a:xfrm>
          <a:prstGeom prst="rect">
            <a:avLst/>
          </a:prstGeom>
          <a:solidFill>
            <a:srgbClr val="D6EEF5"/>
          </a:solidFill>
          <a:ln w="9525">
            <a:solidFill>
              <a:srgbClr val="A9CDDB"/>
            </a:solidFill>
            <a:prstDash val="solid"/>
          </a:ln>
        </p:spPr>
      </p:sp>
      <p:sp>
        <p:nvSpPr>
          <p:cNvPr id="25" name="Text 23"/>
          <p:cNvSpPr/>
          <p:nvPr/>
        </p:nvSpPr>
        <p:spPr>
          <a:xfrm>
            <a:off x="5303520" y="1691640"/>
            <a:ext cx="502920" cy="502920"/>
          </a:xfrm>
          <a:prstGeom prst="rect">
            <a:avLst/>
          </a:prstGeom>
          <a:noFill/>
          <a:ln/>
        </p:spPr>
        <p:txBody>
          <a:bodyPr wrap="square" lIns="0" tIns="0" rIns="0" bIns="0" rtlCol="0" anchor="ctr"/>
          <a:lstStyle/>
          <a:p>
            <a:pPr marL="0" indent="0" algn="ctr">
              <a:buNone/>
            </a:pPr>
            <a:r>
              <a:rPr lang="en-US" sz="1100" dirty="0">
                <a:solidFill>
                  <a:srgbClr val="062A3A"/>
                </a:solidFill>
                <a:latin typeface="Consolas" pitchFamily="34" charset="0"/>
                <a:ea typeface="Consolas" pitchFamily="34" charset="-122"/>
                <a:cs typeface="Consolas" pitchFamily="34" charset="-120"/>
              </a:rPr>
              <a:t>2</a:t>
            </a:r>
            <a:endParaRPr lang="en-US" sz="1100" dirty="0"/>
          </a:p>
        </p:txBody>
      </p:sp>
      <p:sp>
        <p:nvSpPr>
          <p:cNvPr id="26" name="Shape 24"/>
          <p:cNvSpPr/>
          <p:nvPr/>
        </p:nvSpPr>
        <p:spPr>
          <a:xfrm>
            <a:off x="4297680" y="2194560"/>
            <a:ext cx="502920" cy="502920"/>
          </a:xfrm>
          <a:prstGeom prst="rect">
            <a:avLst/>
          </a:prstGeom>
          <a:solidFill>
            <a:srgbClr val="D6EEF5"/>
          </a:solidFill>
          <a:ln w="9525">
            <a:solidFill>
              <a:srgbClr val="A9CDDB"/>
            </a:solidFill>
            <a:prstDash val="solid"/>
          </a:ln>
        </p:spPr>
      </p:sp>
      <p:sp>
        <p:nvSpPr>
          <p:cNvPr id="27" name="Text 25"/>
          <p:cNvSpPr/>
          <p:nvPr/>
        </p:nvSpPr>
        <p:spPr>
          <a:xfrm>
            <a:off x="4297680" y="2194560"/>
            <a:ext cx="502920" cy="502920"/>
          </a:xfrm>
          <a:prstGeom prst="rect">
            <a:avLst/>
          </a:prstGeom>
          <a:noFill/>
          <a:ln/>
        </p:spPr>
        <p:txBody>
          <a:bodyPr wrap="square" lIns="0" tIns="0" rIns="0" bIns="0" rtlCol="0" anchor="ctr"/>
          <a:lstStyle/>
          <a:p>
            <a:pPr marL="0" indent="0" algn="ctr">
              <a:buNone/>
            </a:pPr>
            <a:r>
              <a:rPr lang="en-US" sz="1100" dirty="0">
                <a:solidFill>
                  <a:srgbClr val="062A3A"/>
                </a:solidFill>
                <a:latin typeface="Consolas" pitchFamily="34" charset="0"/>
                <a:ea typeface="Consolas" pitchFamily="34" charset="-122"/>
                <a:cs typeface="Consolas" pitchFamily="34" charset="-120"/>
              </a:rPr>
              <a:t>3</a:t>
            </a:r>
            <a:endParaRPr lang="en-US" sz="1100" dirty="0"/>
          </a:p>
        </p:txBody>
      </p:sp>
      <p:sp>
        <p:nvSpPr>
          <p:cNvPr id="28" name="Shape 26"/>
          <p:cNvSpPr/>
          <p:nvPr/>
        </p:nvSpPr>
        <p:spPr>
          <a:xfrm>
            <a:off x="4800600" y="2194560"/>
            <a:ext cx="502920" cy="502920"/>
          </a:xfrm>
          <a:prstGeom prst="rect">
            <a:avLst/>
          </a:prstGeom>
          <a:solidFill>
            <a:srgbClr val="D6EEF5"/>
          </a:solidFill>
          <a:ln w="9525">
            <a:solidFill>
              <a:srgbClr val="A9CDDB"/>
            </a:solidFill>
            <a:prstDash val="solid"/>
          </a:ln>
        </p:spPr>
      </p:sp>
      <p:sp>
        <p:nvSpPr>
          <p:cNvPr id="29" name="Text 27"/>
          <p:cNvSpPr/>
          <p:nvPr/>
        </p:nvSpPr>
        <p:spPr>
          <a:xfrm>
            <a:off x="4800600" y="2194560"/>
            <a:ext cx="502920" cy="502920"/>
          </a:xfrm>
          <a:prstGeom prst="rect">
            <a:avLst/>
          </a:prstGeom>
          <a:noFill/>
          <a:ln/>
        </p:spPr>
        <p:txBody>
          <a:bodyPr wrap="square" lIns="0" tIns="0" rIns="0" bIns="0" rtlCol="0" anchor="ctr"/>
          <a:lstStyle/>
          <a:p>
            <a:pPr marL="0" indent="0" algn="ctr">
              <a:buNone/>
            </a:pPr>
            <a:r>
              <a:rPr lang="en-US" sz="1100" dirty="0">
                <a:solidFill>
                  <a:srgbClr val="062A3A"/>
                </a:solidFill>
                <a:latin typeface="Consolas" pitchFamily="34" charset="0"/>
                <a:ea typeface="Consolas" pitchFamily="34" charset="-122"/>
                <a:cs typeface="Consolas" pitchFamily="34" charset="-120"/>
              </a:rPr>
              <a:t>4</a:t>
            </a:r>
            <a:endParaRPr lang="en-US" sz="1100" dirty="0"/>
          </a:p>
        </p:txBody>
      </p:sp>
      <p:sp>
        <p:nvSpPr>
          <p:cNvPr id="30" name="Shape 28"/>
          <p:cNvSpPr/>
          <p:nvPr/>
        </p:nvSpPr>
        <p:spPr>
          <a:xfrm>
            <a:off x="5303520" y="2194560"/>
            <a:ext cx="502920" cy="502920"/>
          </a:xfrm>
          <a:prstGeom prst="rect">
            <a:avLst/>
          </a:prstGeom>
          <a:solidFill>
            <a:srgbClr val="D6EEF5"/>
          </a:solidFill>
          <a:ln w="9525">
            <a:solidFill>
              <a:srgbClr val="A9CDDB"/>
            </a:solidFill>
            <a:prstDash val="solid"/>
          </a:ln>
        </p:spPr>
      </p:sp>
      <p:sp>
        <p:nvSpPr>
          <p:cNvPr id="31" name="Text 29"/>
          <p:cNvSpPr/>
          <p:nvPr/>
        </p:nvSpPr>
        <p:spPr>
          <a:xfrm>
            <a:off x="5303520" y="2194560"/>
            <a:ext cx="502920" cy="502920"/>
          </a:xfrm>
          <a:prstGeom prst="rect">
            <a:avLst/>
          </a:prstGeom>
          <a:noFill/>
          <a:ln/>
        </p:spPr>
        <p:txBody>
          <a:bodyPr wrap="square" lIns="0" tIns="0" rIns="0" bIns="0" rtlCol="0" anchor="ctr"/>
          <a:lstStyle/>
          <a:p>
            <a:pPr marL="0" indent="0" algn="ctr">
              <a:buNone/>
            </a:pPr>
            <a:r>
              <a:rPr lang="en-US" sz="1100" dirty="0">
                <a:solidFill>
                  <a:srgbClr val="062A3A"/>
                </a:solidFill>
                <a:latin typeface="Consolas" pitchFamily="34" charset="0"/>
                <a:ea typeface="Consolas" pitchFamily="34" charset="-122"/>
                <a:cs typeface="Consolas" pitchFamily="34" charset="-120"/>
              </a:rPr>
              <a:t>5</a:t>
            </a:r>
            <a:endParaRPr lang="en-US" sz="1100" dirty="0"/>
          </a:p>
        </p:txBody>
      </p:sp>
      <p:sp>
        <p:nvSpPr>
          <p:cNvPr id="32" name="Text 30"/>
          <p:cNvSpPr/>
          <p:nvPr/>
        </p:nvSpPr>
        <p:spPr>
          <a:xfrm>
            <a:off x="4297680" y="2761488"/>
            <a:ext cx="1554480" cy="201168"/>
          </a:xfrm>
          <a:prstGeom prst="rect">
            <a:avLst/>
          </a:prstGeom>
          <a:noFill/>
          <a:ln/>
        </p:spPr>
        <p:txBody>
          <a:bodyPr wrap="square" lIns="0" tIns="0" rIns="0" bIns="0" rtlCol="0" anchor="t"/>
          <a:lstStyle/>
          <a:p>
            <a:pPr marL="0" indent="0">
              <a:buNone/>
            </a:pPr>
            <a:r>
              <a:rPr lang="en-US" sz="900" dirty="0">
                <a:solidFill>
                  <a:srgbClr val="728694"/>
                </a:solidFill>
                <a:latin typeface="Consolas" pitchFamily="34" charset="0"/>
                <a:ea typeface="Consolas" pitchFamily="34" charset="-122"/>
                <a:cs typeface="Consolas" pitchFamily="34" charset="-120"/>
              </a:rPr>
              <a:t>shape (2, 3)</a:t>
            </a:r>
            <a:endParaRPr lang="en-US" sz="900" dirty="0"/>
          </a:p>
        </p:txBody>
      </p:sp>
      <p:sp>
        <p:nvSpPr>
          <p:cNvPr id="33" name="Shape 31"/>
          <p:cNvSpPr/>
          <p:nvPr/>
        </p:nvSpPr>
        <p:spPr>
          <a:xfrm>
            <a:off x="5943600" y="1920240"/>
            <a:ext cx="548640" cy="0"/>
          </a:xfrm>
          <a:prstGeom prst="line">
            <a:avLst/>
          </a:prstGeom>
          <a:noFill/>
          <a:ln w="22225">
            <a:solidFill>
              <a:srgbClr val="E8A33D"/>
            </a:solidFill>
            <a:prstDash val="solid"/>
            <a:headEnd type="none"/>
            <a:tailEnd type="triangle"/>
          </a:ln>
        </p:spPr>
      </p:sp>
      <p:sp>
        <p:nvSpPr>
          <p:cNvPr id="34" name="Text 32"/>
          <p:cNvSpPr/>
          <p:nvPr/>
        </p:nvSpPr>
        <p:spPr>
          <a:xfrm>
            <a:off x="5989320" y="1417320"/>
            <a:ext cx="548640" cy="201168"/>
          </a:xfrm>
          <a:prstGeom prst="rect">
            <a:avLst/>
          </a:prstGeom>
          <a:noFill/>
          <a:ln/>
        </p:spPr>
        <p:txBody>
          <a:bodyPr wrap="square" lIns="0" tIns="0" rIns="0" bIns="0" rtlCol="0" anchor="t"/>
          <a:lstStyle/>
          <a:p>
            <a:pPr marL="0" indent="0" algn="ctr">
              <a:buNone/>
            </a:pPr>
            <a:r>
              <a:rPr lang="en-US" sz="1100" b="1" dirty="0">
                <a:solidFill>
                  <a:srgbClr val="E8A33D"/>
                </a:solidFill>
                <a:latin typeface="Consolas" pitchFamily="34" charset="0"/>
                <a:ea typeface="Consolas" pitchFamily="34" charset="-122"/>
                <a:cs typeface="Consolas" pitchFamily="34" charset="-120"/>
              </a:rPr>
              <a:t>.T</a:t>
            </a:r>
            <a:endParaRPr lang="en-US" sz="1100" dirty="0"/>
          </a:p>
        </p:txBody>
      </p:sp>
      <p:sp>
        <p:nvSpPr>
          <p:cNvPr id="35" name="Shape 33"/>
          <p:cNvSpPr/>
          <p:nvPr/>
        </p:nvSpPr>
        <p:spPr>
          <a:xfrm>
            <a:off x="6629400" y="1691640"/>
            <a:ext cx="502920" cy="457200"/>
          </a:xfrm>
          <a:prstGeom prst="rect">
            <a:avLst/>
          </a:prstGeom>
          <a:solidFill>
            <a:srgbClr val="FBEFD9"/>
          </a:solidFill>
          <a:ln w="9525">
            <a:solidFill>
              <a:srgbClr val="E5C28C"/>
            </a:solidFill>
            <a:prstDash val="solid"/>
          </a:ln>
        </p:spPr>
      </p:sp>
      <p:sp>
        <p:nvSpPr>
          <p:cNvPr id="36" name="Text 34"/>
          <p:cNvSpPr/>
          <p:nvPr/>
        </p:nvSpPr>
        <p:spPr>
          <a:xfrm>
            <a:off x="6629400" y="1691640"/>
            <a:ext cx="502920" cy="457200"/>
          </a:xfrm>
          <a:prstGeom prst="rect">
            <a:avLst/>
          </a:prstGeom>
          <a:noFill/>
          <a:ln/>
        </p:spPr>
        <p:txBody>
          <a:bodyPr wrap="square" lIns="0" tIns="0" rIns="0" bIns="0" rtlCol="0" anchor="ctr"/>
          <a:lstStyle/>
          <a:p>
            <a:pPr marL="0" indent="0" algn="ctr">
              <a:buNone/>
            </a:pPr>
            <a:r>
              <a:rPr lang="en-US" sz="1100" dirty="0">
                <a:solidFill>
                  <a:srgbClr val="062A3A"/>
                </a:solidFill>
                <a:latin typeface="Consolas" pitchFamily="34" charset="0"/>
                <a:ea typeface="Consolas" pitchFamily="34" charset="-122"/>
                <a:cs typeface="Consolas" pitchFamily="34" charset="-120"/>
              </a:rPr>
              <a:t>0</a:t>
            </a:r>
            <a:endParaRPr lang="en-US" sz="1100" dirty="0"/>
          </a:p>
        </p:txBody>
      </p:sp>
      <p:sp>
        <p:nvSpPr>
          <p:cNvPr id="37" name="Shape 35"/>
          <p:cNvSpPr/>
          <p:nvPr/>
        </p:nvSpPr>
        <p:spPr>
          <a:xfrm>
            <a:off x="7132320" y="1691640"/>
            <a:ext cx="502920" cy="457200"/>
          </a:xfrm>
          <a:prstGeom prst="rect">
            <a:avLst/>
          </a:prstGeom>
          <a:solidFill>
            <a:srgbClr val="FBEFD9"/>
          </a:solidFill>
          <a:ln w="9525">
            <a:solidFill>
              <a:srgbClr val="E5C28C"/>
            </a:solidFill>
            <a:prstDash val="solid"/>
          </a:ln>
        </p:spPr>
      </p:sp>
      <p:sp>
        <p:nvSpPr>
          <p:cNvPr id="38" name="Text 36"/>
          <p:cNvSpPr/>
          <p:nvPr/>
        </p:nvSpPr>
        <p:spPr>
          <a:xfrm>
            <a:off x="7132320" y="1691640"/>
            <a:ext cx="502920" cy="457200"/>
          </a:xfrm>
          <a:prstGeom prst="rect">
            <a:avLst/>
          </a:prstGeom>
          <a:noFill/>
          <a:ln/>
        </p:spPr>
        <p:txBody>
          <a:bodyPr wrap="square" lIns="0" tIns="0" rIns="0" bIns="0" rtlCol="0" anchor="ctr"/>
          <a:lstStyle/>
          <a:p>
            <a:pPr marL="0" indent="0" algn="ctr">
              <a:buNone/>
            </a:pPr>
            <a:r>
              <a:rPr lang="en-US" sz="1100" dirty="0">
                <a:solidFill>
                  <a:srgbClr val="062A3A"/>
                </a:solidFill>
                <a:latin typeface="Consolas" pitchFamily="34" charset="0"/>
                <a:ea typeface="Consolas" pitchFamily="34" charset="-122"/>
                <a:cs typeface="Consolas" pitchFamily="34" charset="-120"/>
              </a:rPr>
              <a:t>3</a:t>
            </a:r>
            <a:endParaRPr lang="en-US" sz="1100" dirty="0"/>
          </a:p>
        </p:txBody>
      </p:sp>
      <p:sp>
        <p:nvSpPr>
          <p:cNvPr id="39" name="Shape 37"/>
          <p:cNvSpPr/>
          <p:nvPr/>
        </p:nvSpPr>
        <p:spPr>
          <a:xfrm>
            <a:off x="6629400" y="2148840"/>
            <a:ext cx="502920" cy="457200"/>
          </a:xfrm>
          <a:prstGeom prst="rect">
            <a:avLst/>
          </a:prstGeom>
          <a:solidFill>
            <a:srgbClr val="FBEFD9"/>
          </a:solidFill>
          <a:ln w="9525">
            <a:solidFill>
              <a:srgbClr val="E5C28C"/>
            </a:solidFill>
            <a:prstDash val="solid"/>
          </a:ln>
        </p:spPr>
      </p:sp>
      <p:sp>
        <p:nvSpPr>
          <p:cNvPr id="40" name="Text 38"/>
          <p:cNvSpPr/>
          <p:nvPr/>
        </p:nvSpPr>
        <p:spPr>
          <a:xfrm>
            <a:off x="6629400" y="2148840"/>
            <a:ext cx="502920" cy="457200"/>
          </a:xfrm>
          <a:prstGeom prst="rect">
            <a:avLst/>
          </a:prstGeom>
          <a:noFill/>
          <a:ln/>
        </p:spPr>
        <p:txBody>
          <a:bodyPr wrap="square" lIns="0" tIns="0" rIns="0" bIns="0" rtlCol="0" anchor="ctr"/>
          <a:lstStyle/>
          <a:p>
            <a:pPr marL="0" indent="0" algn="ctr">
              <a:buNone/>
            </a:pPr>
            <a:r>
              <a:rPr lang="en-US" sz="1100" dirty="0">
                <a:solidFill>
                  <a:srgbClr val="062A3A"/>
                </a:solidFill>
                <a:latin typeface="Consolas" pitchFamily="34" charset="0"/>
                <a:ea typeface="Consolas" pitchFamily="34" charset="-122"/>
                <a:cs typeface="Consolas" pitchFamily="34" charset="-120"/>
              </a:rPr>
              <a:t>1</a:t>
            </a:r>
            <a:endParaRPr lang="en-US" sz="1100" dirty="0"/>
          </a:p>
        </p:txBody>
      </p:sp>
      <p:sp>
        <p:nvSpPr>
          <p:cNvPr id="41" name="Shape 39"/>
          <p:cNvSpPr/>
          <p:nvPr/>
        </p:nvSpPr>
        <p:spPr>
          <a:xfrm>
            <a:off x="7132320" y="2148840"/>
            <a:ext cx="502920" cy="457200"/>
          </a:xfrm>
          <a:prstGeom prst="rect">
            <a:avLst/>
          </a:prstGeom>
          <a:solidFill>
            <a:srgbClr val="FBEFD9"/>
          </a:solidFill>
          <a:ln w="9525">
            <a:solidFill>
              <a:srgbClr val="E5C28C"/>
            </a:solidFill>
            <a:prstDash val="solid"/>
          </a:ln>
        </p:spPr>
      </p:sp>
      <p:sp>
        <p:nvSpPr>
          <p:cNvPr id="42" name="Text 40"/>
          <p:cNvSpPr/>
          <p:nvPr/>
        </p:nvSpPr>
        <p:spPr>
          <a:xfrm>
            <a:off x="7132320" y="2148840"/>
            <a:ext cx="502920" cy="457200"/>
          </a:xfrm>
          <a:prstGeom prst="rect">
            <a:avLst/>
          </a:prstGeom>
          <a:noFill/>
          <a:ln/>
        </p:spPr>
        <p:txBody>
          <a:bodyPr wrap="square" lIns="0" tIns="0" rIns="0" bIns="0" rtlCol="0" anchor="ctr"/>
          <a:lstStyle/>
          <a:p>
            <a:pPr marL="0" indent="0" algn="ctr">
              <a:buNone/>
            </a:pPr>
            <a:r>
              <a:rPr lang="en-US" sz="1100" dirty="0">
                <a:solidFill>
                  <a:srgbClr val="062A3A"/>
                </a:solidFill>
                <a:latin typeface="Consolas" pitchFamily="34" charset="0"/>
                <a:ea typeface="Consolas" pitchFamily="34" charset="-122"/>
                <a:cs typeface="Consolas" pitchFamily="34" charset="-120"/>
              </a:rPr>
              <a:t>4</a:t>
            </a:r>
            <a:endParaRPr lang="en-US" sz="1100" dirty="0"/>
          </a:p>
        </p:txBody>
      </p:sp>
      <p:sp>
        <p:nvSpPr>
          <p:cNvPr id="43" name="Shape 41"/>
          <p:cNvSpPr/>
          <p:nvPr/>
        </p:nvSpPr>
        <p:spPr>
          <a:xfrm>
            <a:off x="6629400" y="2606040"/>
            <a:ext cx="502920" cy="457200"/>
          </a:xfrm>
          <a:prstGeom prst="rect">
            <a:avLst/>
          </a:prstGeom>
          <a:solidFill>
            <a:srgbClr val="FBEFD9"/>
          </a:solidFill>
          <a:ln w="9525">
            <a:solidFill>
              <a:srgbClr val="E5C28C"/>
            </a:solidFill>
            <a:prstDash val="solid"/>
          </a:ln>
        </p:spPr>
      </p:sp>
      <p:sp>
        <p:nvSpPr>
          <p:cNvPr id="44" name="Text 42"/>
          <p:cNvSpPr/>
          <p:nvPr/>
        </p:nvSpPr>
        <p:spPr>
          <a:xfrm>
            <a:off x="6629400" y="2606040"/>
            <a:ext cx="502920" cy="457200"/>
          </a:xfrm>
          <a:prstGeom prst="rect">
            <a:avLst/>
          </a:prstGeom>
          <a:noFill/>
          <a:ln/>
        </p:spPr>
        <p:txBody>
          <a:bodyPr wrap="square" lIns="0" tIns="0" rIns="0" bIns="0" rtlCol="0" anchor="ctr"/>
          <a:lstStyle/>
          <a:p>
            <a:pPr marL="0" indent="0" algn="ctr">
              <a:buNone/>
            </a:pPr>
            <a:r>
              <a:rPr lang="en-US" sz="1100" dirty="0">
                <a:solidFill>
                  <a:srgbClr val="062A3A"/>
                </a:solidFill>
                <a:latin typeface="Consolas" pitchFamily="34" charset="0"/>
                <a:ea typeface="Consolas" pitchFamily="34" charset="-122"/>
                <a:cs typeface="Consolas" pitchFamily="34" charset="-120"/>
              </a:rPr>
              <a:t>2</a:t>
            </a:r>
            <a:endParaRPr lang="en-US" sz="1100" dirty="0"/>
          </a:p>
        </p:txBody>
      </p:sp>
      <p:sp>
        <p:nvSpPr>
          <p:cNvPr id="45" name="Shape 43"/>
          <p:cNvSpPr/>
          <p:nvPr/>
        </p:nvSpPr>
        <p:spPr>
          <a:xfrm>
            <a:off x="7132320" y="2606040"/>
            <a:ext cx="502920" cy="457200"/>
          </a:xfrm>
          <a:prstGeom prst="rect">
            <a:avLst/>
          </a:prstGeom>
          <a:solidFill>
            <a:srgbClr val="FBEFD9"/>
          </a:solidFill>
          <a:ln w="9525">
            <a:solidFill>
              <a:srgbClr val="E5C28C"/>
            </a:solidFill>
            <a:prstDash val="solid"/>
          </a:ln>
        </p:spPr>
      </p:sp>
      <p:sp>
        <p:nvSpPr>
          <p:cNvPr id="46" name="Text 44"/>
          <p:cNvSpPr/>
          <p:nvPr/>
        </p:nvSpPr>
        <p:spPr>
          <a:xfrm>
            <a:off x="7132320" y="2606040"/>
            <a:ext cx="502920" cy="457200"/>
          </a:xfrm>
          <a:prstGeom prst="rect">
            <a:avLst/>
          </a:prstGeom>
          <a:noFill/>
          <a:ln/>
        </p:spPr>
        <p:txBody>
          <a:bodyPr wrap="square" lIns="0" tIns="0" rIns="0" bIns="0" rtlCol="0" anchor="ctr"/>
          <a:lstStyle/>
          <a:p>
            <a:pPr marL="0" indent="0" algn="ctr">
              <a:buNone/>
            </a:pPr>
            <a:r>
              <a:rPr lang="en-US" sz="1100" dirty="0">
                <a:solidFill>
                  <a:srgbClr val="062A3A"/>
                </a:solidFill>
                <a:latin typeface="Consolas" pitchFamily="34" charset="0"/>
                <a:ea typeface="Consolas" pitchFamily="34" charset="-122"/>
                <a:cs typeface="Consolas" pitchFamily="34" charset="-120"/>
              </a:rPr>
              <a:t>5</a:t>
            </a:r>
            <a:endParaRPr lang="en-US" sz="1100" dirty="0"/>
          </a:p>
        </p:txBody>
      </p:sp>
      <p:sp>
        <p:nvSpPr>
          <p:cNvPr id="47" name="Text 45"/>
          <p:cNvSpPr/>
          <p:nvPr/>
        </p:nvSpPr>
        <p:spPr>
          <a:xfrm>
            <a:off x="6629400" y="3127248"/>
            <a:ext cx="1371600" cy="201168"/>
          </a:xfrm>
          <a:prstGeom prst="rect">
            <a:avLst/>
          </a:prstGeom>
          <a:noFill/>
          <a:ln/>
        </p:spPr>
        <p:txBody>
          <a:bodyPr wrap="square" lIns="0" tIns="0" rIns="0" bIns="0" rtlCol="0" anchor="t"/>
          <a:lstStyle/>
          <a:p>
            <a:pPr marL="0" indent="0">
              <a:buNone/>
            </a:pPr>
            <a:r>
              <a:rPr lang="en-US" sz="900" dirty="0">
                <a:solidFill>
                  <a:srgbClr val="728694"/>
                </a:solidFill>
                <a:latin typeface="Consolas" pitchFamily="34" charset="0"/>
                <a:ea typeface="Consolas" pitchFamily="34" charset="-122"/>
                <a:cs typeface="Consolas" pitchFamily="34" charset="-120"/>
              </a:rPr>
              <a:t>shape (3, 2)</a:t>
            </a:r>
            <a:endParaRPr lang="en-US" sz="900" dirty="0"/>
          </a:p>
        </p:txBody>
      </p:sp>
      <p:sp>
        <p:nvSpPr>
          <p:cNvPr id="48" name="Shape 46"/>
          <p:cNvSpPr/>
          <p:nvPr/>
        </p:nvSpPr>
        <p:spPr>
          <a:xfrm>
            <a:off x="8732520" y="1554480"/>
            <a:ext cx="2880360" cy="1463040"/>
          </a:xfrm>
          <a:prstGeom prst="roundRect">
            <a:avLst>
              <a:gd name="adj" fmla="val 3750"/>
            </a:avLst>
          </a:prstGeom>
          <a:solidFill>
            <a:srgbClr val="EAF4F8"/>
          </a:solidFill>
          <a:ln w="9525">
            <a:solidFill>
              <a:srgbClr val="CFE5EE"/>
            </a:solidFill>
            <a:prstDash val="solid"/>
          </a:ln>
        </p:spPr>
      </p:sp>
      <p:sp>
        <p:nvSpPr>
          <p:cNvPr id="49" name="Text 47"/>
          <p:cNvSpPr/>
          <p:nvPr/>
        </p:nvSpPr>
        <p:spPr>
          <a:xfrm>
            <a:off x="8915400" y="1691640"/>
            <a:ext cx="2468880" cy="228600"/>
          </a:xfrm>
          <a:prstGeom prst="rect">
            <a:avLst/>
          </a:prstGeom>
          <a:noFill/>
          <a:ln/>
        </p:spPr>
        <p:txBody>
          <a:bodyPr wrap="square" lIns="0" tIns="0" rIns="0" bIns="0" rtlCol="0" anchor="t"/>
          <a:lstStyle/>
          <a:p>
            <a:pPr marL="0" indent="0">
              <a:buNone/>
            </a:pPr>
            <a:r>
              <a:rPr lang="en-US" sz="1100" b="1" dirty="0">
                <a:solidFill>
                  <a:srgbClr val="1B8EA8"/>
                </a:solidFill>
                <a:latin typeface="Segoe UI" pitchFamily="34" charset="0"/>
                <a:ea typeface="Segoe UI" pitchFamily="34" charset="-122"/>
                <a:cs typeface="Segoe UI" pitchFamily="34" charset="-120"/>
              </a:rPr>
              <a:t>Mẹo -1</a:t>
            </a:r>
            <a:endParaRPr lang="en-US" sz="1100" dirty="0"/>
          </a:p>
        </p:txBody>
      </p:sp>
      <p:sp>
        <p:nvSpPr>
          <p:cNvPr id="50" name="Text 48"/>
          <p:cNvSpPr/>
          <p:nvPr/>
        </p:nvSpPr>
        <p:spPr>
          <a:xfrm>
            <a:off x="8915400" y="1965960"/>
            <a:ext cx="2514600" cy="868680"/>
          </a:xfrm>
          <a:prstGeom prst="rect">
            <a:avLst/>
          </a:prstGeom>
          <a:noFill/>
          <a:ln/>
        </p:spPr>
        <p:txBody>
          <a:bodyPr wrap="square" lIns="0" tIns="0" rIns="0" bIns="0" rtlCol="0" anchor="t"/>
          <a:lstStyle/>
          <a:p>
            <a:pPr marL="0" indent="0">
              <a:lnSpc>
                <a:spcPct val="115000"/>
              </a:lnSpc>
              <a:buNone/>
            </a:pPr>
            <a:r>
              <a:rPr lang="en-US" sz="950" dirty="0">
                <a:solidFill>
                  <a:srgbClr val="415A6B"/>
                </a:solidFill>
                <a:latin typeface="Segoe UI" pitchFamily="34" charset="0"/>
                <a:ea typeface="Segoe UI" pitchFamily="34" charset="-122"/>
                <a:cs typeface="Segoe UI" pitchFamily="34" charset="-120"/>
              </a:rPr>
              <a:t>reshape(3, -1) để NumPy tự suy ra chiều còn lại: kết quả (3, 4).</a:t>
            </a:r>
            <a:endParaRPr lang="en-US" sz="950" dirty="0"/>
          </a:p>
        </p:txBody>
      </p:sp>
      <p:sp>
        <p:nvSpPr>
          <p:cNvPr id="51" name="Shape 49"/>
          <p:cNvSpPr/>
          <p:nvPr/>
        </p:nvSpPr>
        <p:spPr>
          <a:xfrm>
            <a:off x="548640" y="3611880"/>
            <a:ext cx="5760720" cy="1737360"/>
          </a:xfrm>
          <a:prstGeom prst="roundRect">
            <a:avLst>
              <a:gd name="adj" fmla="val 2632"/>
            </a:avLst>
          </a:prstGeom>
          <a:solidFill>
            <a:srgbClr val="0B2230"/>
          </a:solidFill>
          <a:ln w="9525">
            <a:solidFill>
              <a:srgbClr val="163B4C"/>
            </a:solidFill>
            <a:prstDash val="solid"/>
          </a:ln>
        </p:spPr>
      </p:sp>
      <p:sp>
        <p:nvSpPr>
          <p:cNvPr id="52" name="Shape 50"/>
          <p:cNvSpPr/>
          <p:nvPr/>
        </p:nvSpPr>
        <p:spPr>
          <a:xfrm>
            <a:off x="548640" y="3611880"/>
            <a:ext cx="5760720" cy="265176"/>
          </a:xfrm>
          <a:prstGeom prst="rect">
            <a:avLst/>
          </a:prstGeom>
          <a:solidFill>
            <a:srgbClr val="103445"/>
          </a:solidFill>
          <a:ln w="12700">
            <a:solidFill>
              <a:srgbClr val="103445"/>
            </a:solidFill>
            <a:prstDash val="solid"/>
          </a:ln>
        </p:spPr>
      </p:sp>
      <p:sp>
        <p:nvSpPr>
          <p:cNvPr id="53" name="Text 51"/>
          <p:cNvSpPr/>
          <p:nvPr/>
        </p:nvSpPr>
        <p:spPr>
          <a:xfrm>
            <a:off x="694944" y="3662172"/>
            <a:ext cx="4846320" cy="182880"/>
          </a:xfrm>
          <a:prstGeom prst="rect">
            <a:avLst/>
          </a:prstGeom>
          <a:noFill/>
          <a:ln/>
        </p:spPr>
        <p:txBody>
          <a:bodyPr wrap="square" lIns="0" tIns="0" rIns="0" bIns="0" rtlCol="0" anchor="t"/>
          <a:lstStyle/>
          <a:p>
            <a:pPr marL="0" indent="0">
              <a:buNone/>
            </a:pPr>
            <a:r>
              <a:rPr lang="en-US" sz="850" dirty="0">
                <a:solidFill>
                  <a:srgbClr val="8FB6C8"/>
                </a:solidFill>
                <a:latin typeface="Consolas" pitchFamily="34" charset="0"/>
                <a:ea typeface="Consolas" pitchFamily="34" charset="-122"/>
                <a:cs typeface="Consolas" pitchFamily="34" charset="-120"/>
              </a:rPr>
              <a:t>python</a:t>
            </a:r>
            <a:endParaRPr lang="en-US" sz="850" dirty="0"/>
          </a:p>
        </p:txBody>
      </p:sp>
      <p:sp>
        <p:nvSpPr>
          <p:cNvPr id="54" name="Shape 52"/>
          <p:cNvSpPr/>
          <p:nvPr/>
        </p:nvSpPr>
        <p:spPr>
          <a:xfrm>
            <a:off x="5742432" y="3717036"/>
            <a:ext cx="77724" cy="77724"/>
          </a:xfrm>
          <a:prstGeom prst="ellipse">
            <a:avLst/>
          </a:prstGeom>
          <a:solidFill>
            <a:srgbClr val="D96C5F"/>
          </a:solidFill>
          <a:ln w="12700">
            <a:solidFill>
              <a:srgbClr val="D96C5F"/>
            </a:solidFill>
            <a:prstDash val="solid"/>
          </a:ln>
        </p:spPr>
      </p:sp>
      <p:sp>
        <p:nvSpPr>
          <p:cNvPr id="55" name="Shape 53"/>
          <p:cNvSpPr/>
          <p:nvPr/>
        </p:nvSpPr>
        <p:spPr>
          <a:xfrm>
            <a:off x="5897880" y="3717036"/>
            <a:ext cx="77724" cy="77724"/>
          </a:xfrm>
          <a:prstGeom prst="ellipse">
            <a:avLst/>
          </a:prstGeom>
          <a:solidFill>
            <a:srgbClr val="E8A33D"/>
          </a:solidFill>
          <a:ln w="12700">
            <a:solidFill>
              <a:srgbClr val="E8A33D"/>
            </a:solidFill>
            <a:prstDash val="solid"/>
          </a:ln>
        </p:spPr>
      </p:sp>
      <p:sp>
        <p:nvSpPr>
          <p:cNvPr id="56" name="Shape 54"/>
          <p:cNvSpPr/>
          <p:nvPr/>
        </p:nvSpPr>
        <p:spPr>
          <a:xfrm>
            <a:off x="6053328" y="3717036"/>
            <a:ext cx="77724" cy="77724"/>
          </a:xfrm>
          <a:prstGeom prst="ellipse">
            <a:avLst/>
          </a:prstGeom>
          <a:solidFill>
            <a:srgbClr val="2D8C6F"/>
          </a:solidFill>
          <a:ln w="12700">
            <a:solidFill>
              <a:srgbClr val="2D8C6F"/>
            </a:solidFill>
            <a:prstDash val="solid"/>
          </a:ln>
        </p:spPr>
      </p:sp>
      <p:sp>
        <p:nvSpPr>
          <p:cNvPr id="57" name="Text 55"/>
          <p:cNvSpPr/>
          <p:nvPr/>
        </p:nvSpPr>
        <p:spPr>
          <a:xfrm>
            <a:off x="713232" y="3959352"/>
            <a:ext cx="5468112" cy="1316736"/>
          </a:xfrm>
          <a:prstGeom prst="rect">
            <a:avLst/>
          </a:prstGeom>
          <a:noFill/>
          <a:ln/>
        </p:spPr>
        <p:txBody>
          <a:bodyPr wrap="square" lIns="0" tIns="0" rIns="0" bIns="0" rtlCol="0" anchor="t"/>
          <a:lstStyle/>
          <a:p>
            <a:pPr marL="0" indent="0">
              <a:lnSpc>
                <a:spcPct val="102000"/>
              </a:lnSpc>
              <a:buNone/>
            </a:pPr>
            <a:r>
              <a:rPr lang="en-US" sz="1000" dirty="0">
                <a:solidFill>
                  <a:srgbClr val="D6E6EF"/>
                </a:solidFill>
                <a:latin typeface="Consolas" pitchFamily="34" charset="0"/>
                <a:ea typeface="Consolas" pitchFamily="34" charset="-122"/>
                <a:cs typeface="Consolas" pitchFamily="34" charset="-120"/>
              </a:rPr>
              <a:t>r = </a:t>
            </a:r>
            <a:r>
              <a:rPr lang="en-US" sz="1000" dirty="0">
                <a:solidFill>
                  <a:srgbClr val="8AD9C0"/>
                </a:solidFill>
                <a:latin typeface="Consolas" pitchFamily="34" charset="0"/>
                <a:ea typeface="Consolas" pitchFamily="34" charset="-122"/>
                <a:cs typeface="Consolas" pitchFamily="34" charset="-120"/>
              </a:rPr>
              <a:t>np</a:t>
            </a:r>
            <a:r>
              <a:rPr lang="en-US" sz="1000" dirty="0">
                <a:solidFill>
                  <a:srgbClr val="D6E6EF"/>
                </a:solidFill>
                <a:latin typeface="Consolas" pitchFamily="34" charset="0"/>
                <a:ea typeface="Consolas" pitchFamily="34" charset="-122"/>
                <a:cs typeface="Consolas" pitchFamily="34" charset="-120"/>
              </a:rPr>
              <a:t>.arange(</a:t>
            </a:r>
            <a:r>
              <a:rPr lang="en-US" sz="1000" dirty="0">
                <a:solidFill>
                  <a:srgbClr val="F08A7C"/>
                </a:solidFill>
                <a:latin typeface="Consolas" pitchFamily="34" charset="0"/>
                <a:ea typeface="Consolas" pitchFamily="34" charset="-122"/>
                <a:cs typeface="Consolas" pitchFamily="34" charset="-120"/>
              </a:rPr>
              <a:t>6</a:t>
            </a:r>
            <a:r>
              <a:rPr lang="en-US" sz="1000" dirty="0">
                <a:solidFill>
                  <a:srgbClr val="D6E6EF"/>
                </a:solidFill>
                <a:latin typeface="Consolas" pitchFamily="34" charset="0"/>
                <a:ea typeface="Consolas" pitchFamily="34" charset="-122"/>
                <a:cs typeface="Consolas" pitchFamily="34" charset="-120"/>
              </a:rPr>
              <a:t>).reshape(</a:t>
            </a:r>
            <a:r>
              <a:rPr lang="en-US" sz="1000" dirty="0">
                <a:solidFill>
                  <a:srgbClr val="F08A7C"/>
                </a:solidFill>
                <a:latin typeface="Consolas" pitchFamily="34" charset="0"/>
                <a:ea typeface="Consolas" pitchFamily="34" charset="-122"/>
                <a:cs typeface="Consolas" pitchFamily="34" charset="-120"/>
              </a:rPr>
              <a:t>2</a:t>
            </a:r>
            <a:r>
              <a:rPr lang="en-US" sz="1000" dirty="0">
                <a:solidFill>
                  <a:srgbClr val="D6E6EF"/>
                </a:solidFill>
                <a:latin typeface="Consolas" pitchFamily="34" charset="0"/>
                <a:ea typeface="Consolas" pitchFamily="34" charset="-122"/>
                <a:cs typeface="Consolas" pitchFamily="34" charset="-120"/>
              </a:rPr>
              <a:t>, </a:t>
            </a:r>
            <a:r>
              <a:rPr lang="en-US" sz="1000" dirty="0">
                <a:solidFill>
                  <a:srgbClr val="F08A7C"/>
                </a:solidFill>
                <a:latin typeface="Consolas" pitchFamily="34" charset="0"/>
                <a:ea typeface="Consolas" pitchFamily="34" charset="-122"/>
                <a:cs typeface="Consolas" pitchFamily="34" charset="-120"/>
              </a:rPr>
              <a:t>3</a:t>
            </a:r>
            <a:r>
              <a:rPr lang="en-US" sz="1000" dirty="0">
                <a:solidFill>
                  <a:srgbClr val="D6E6EF"/>
                </a:solidFill>
                <a:latin typeface="Consolas" pitchFamily="34" charset="0"/>
                <a:ea typeface="Consolas" pitchFamily="34" charset="-122"/>
                <a:cs typeface="Consolas" pitchFamily="34" charset="-120"/>
              </a:rPr>
              <a:t>)</a:t>
            </a:r>
            <a:endParaRPr lang="en-US" sz="1000" dirty="0"/>
          </a:p>
          <a:p>
            <a:pPr marL="0" indent="0">
              <a:lnSpc>
                <a:spcPct val="102000"/>
              </a:lnSpc>
              <a:buNone/>
            </a:pPr>
            <a:r>
              <a:rPr lang="en-US" sz="1000" dirty="0">
                <a:solidFill>
                  <a:srgbClr val="6FD0E4"/>
                </a:solidFill>
                <a:latin typeface="Consolas" pitchFamily="34" charset="0"/>
                <a:ea typeface="Consolas" pitchFamily="34" charset="-122"/>
                <a:cs typeface="Consolas" pitchFamily="34" charset="-120"/>
              </a:rPr>
              <a:t>print</a:t>
            </a:r>
            <a:r>
              <a:rPr lang="en-US" sz="1000" dirty="0">
                <a:solidFill>
                  <a:srgbClr val="D6E6EF"/>
                </a:solidFill>
                <a:latin typeface="Consolas" pitchFamily="34" charset="0"/>
                <a:ea typeface="Consolas" pitchFamily="34" charset="-122"/>
                <a:cs typeface="Consolas" pitchFamily="34" charset="-120"/>
              </a:rPr>
              <a:t>(r)</a:t>
            </a:r>
            <a:endParaRPr lang="en-US" sz="1000" dirty="0"/>
          </a:p>
          <a:p>
            <a:pPr marL="0" indent="0">
              <a:lnSpc>
                <a:spcPct val="102000"/>
              </a:lnSpc>
              <a:buNone/>
            </a:pPr>
            <a:r>
              <a:rPr lang="en-US" sz="1000" dirty="0">
                <a:solidFill>
                  <a:srgbClr val="6FD0E4"/>
                </a:solidFill>
                <a:latin typeface="Consolas" pitchFamily="34" charset="0"/>
                <a:ea typeface="Consolas" pitchFamily="34" charset="-122"/>
                <a:cs typeface="Consolas" pitchFamily="34" charset="-120"/>
              </a:rPr>
              <a:t>print</a:t>
            </a:r>
            <a:r>
              <a:rPr lang="en-US" sz="1000" dirty="0">
                <a:solidFill>
                  <a:srgbClr val="D6E6EF"/>
                </a:solidFill>
                <a:latin typeface="Consolas" pitchFamily="34" charset="0"/>
                <a:ea typeface="Consolas" pitchFamily="34" charset="-122"/>
                <a:cs typeface="Consolas" pitchFamily="34" charset="-120"/>
              </a:rPr>
              <a:t>(r.T)</a:t>
            </a:r>
            <a:endParaRPr lang="en-US" sz="1000" dirty="0"/>
          </a:p>
          <a:p>
            <a:pPr marL="0" indent="0">
              <a:lnSpc>
                <a:spcPct val="102000"/>
              </a:lnSpc>
              <a:buNone/>
            </a:pPr>
            <a:r>
              <a:rPr lang="en-US" sz="1000" dirty="0">
                <a:solidFill>
                  <a:srgbClr val="6FD0E4"/>
                </a:solidFill>
                <a:latin typeface="Consolas" pitchFamily="34" charset="0"/>
                <a:ea typeface="Consolas" pitchFamily="34" charset="-122"/>
                <a:cs typeface="Consolas" pitchFamily="34" charset="-120"/>
              </a:rPr>
              <a:t>print</a:t>
            </a:r>
            <a:r>
              <a:rPr lang="en-US" sz="1000" dirty="0">
                <a:solidFill>
                  <a:srgbClr val="D6E6EF"/>
                </a:solidFill>
                <a:latin typeface="Consolas" pitchFamily="34" charset="0"/>
                <a:ea typeface="Consolas" pitchFamily="34" charset="-122"/>
                <a:cs typeface="Consolas" pitchFamily="34" charset="-120"/>
              </a:rPr>
              <a:t>(</a:t>
            </a:r>
            <a:r>
              <a:rPr lang="en-US" sz="1000" dirty="0">
                <a:solidFill>
                  <a:srgbClr val="8AD9C0"/>
                </a:solidFill>
                <a:latin typeface="Consolas" pitchFamily="34" charset="0"/>
                <a:ea typeface="Consolas" pitchFamily="34" charset="-122"/>
                <a:cs typeface="Consolas" pitchFamily="34" charset="-120"/>
              </a:rPr>
              <a:t>np</a:t>
            </a:r>
            <a:r>
              <a:rPr lang="en-US" sz="1000" dirty="0">
                <a:solidFill>
                  <a:srgbClr val="D6E6EF"/>
                </a:solidFill>
                <a:latin typeface="Consolas" pitchFamily="34" charset="0"/>
                <a:ea typeface="Consolas" pitchFamily="34" charset="-122"/>
                <a:cs typeface="Consolas" pitchFamily="34" charset="-120"/>
              </a:rPr>
              <a:t>.arange(</a:t>
            </a:r>
            <a:r>
              <a:rPr lang="en-US" sz="1000" dirty="0">
                <a:solidFill>
                  <a:srgbClr val="F08A7C"/>
                </a:solidFill>
                <a:latin typeface="Consolas" pitchFamily="34" charset="0"/>
                <a:ea typeface="Consolas" pitchFamily="34" charset="-122"/>
                <a:cs typeface="Consolas" pitchFamily="34" charset="-120"/>
              </a:rPr>
              <a:t>12</a:t>
            </a:r>
            <a:r>
              <a:rPr lang="en-US" sz="1000" dirty="0">
                <a:solidFill>
                  <a:srgbClr val="D6E6EF"/>
                </a:solidFill>
                <a:latin typeface="Consolas" pitchFamily="34" charset="0"/>
                <a:ea typeface="Consolas" pitchFamily="34" charset="-122"/>
                <a:cs typeface="Consolas" pitchFamily="34" charset="-120"/>
              </a:rPr>
              <a:t>).reshape(</a:t>
            </a:r>
            <a:r>
              <a:rPr lang="en-US" sz="1000" dirty="0">
                <a:solidFill>
                  <a:srgbClr val="F08A7C"/>
                </a:solidFill>
                <a:latin typeface="Consolas" pitchFamily="34" charset="0"/>
                <a:ea typeface="Consolas" pitchFamily="34" charset="-122"/>
                <a:cs typeface="Consolas" pitchFamily="34" charset="-120"/>
              </a:rPr>
              <a:t>3</a:t>
            </a:r>
            <a:r>
              <a:rPr lang="en-US" sz="1000" dirty="0">
                <a:solidFill>
                  <a:srgbClr val="D6E6EF"/>
                </a:solidFill>
                <a:latin typeface="Consolas" pitchFamily="34" charset="0"/>
                <a:ea typeface="Consolas" pitchFamily="34" charset="-122"/>
                <a:cs typeface="Consolas" pitchFamily="34" charset="-120"/>
              </a:rPr>
              <a:t>, -</a:t>
            </a:r>
            <a:r>
              <a:rPr lang="en-US" sz="1000" dirty="0">
                <a:solidFill>
                  <a:srgbClr val="F08A7C"/>
                </a:solidFill>
                <a:latin typeface="Consolas" pitchFamily="34" charset="0"/>
                <a:ea typeface="Consolas" pitchFamily="34" charset="-122"/>
                <a:cs typeface="Consolas" pitchFamily="34" charset="-120"/>
              </a:rPr>
              <a:t>1</a:t>
            </a:r>
            <a:r>
              <a:rPr lang="en-US" sz="1000" dirty="0">
                <a:solidFill>
                  <a:srgbClr val="D6E6EF"/>
                </a:solidFill>
                <a:latin typeface="Consolas" pitchFamily="34" charset="0"/>
                <a:ea typeface="Consolas" pitchFamily="34" charset="-122"/>
                <a:cs typeface="Consolas" pitchFamily="34" charset="-120"/>
              </a:rPr>
              <a:t>).shape)</a:t>
            </a:r>
            <a:endParaRPr lang="en-US" sz="1000" dirty="0"/>
          </a:p>
        </p:txBody>
      </p:sp>
      <p:sp>
        <p:nvSpPr>
          <p:cNvPr id="58" name="Shape 56"/>
          <p:cNvSpPr/>
          <p:nvPr/>
        </p:nvSpPr>
        <p:spPr>
          <a:xfrm>
            <a:off x="6492240" y="3611880"/>
            <a:ext cx="5120640" cy="1737360"/>
          </a:xfrm>
          <a:prstGeom prst="roundRect">
            <a:avLst>
              <a:gd name="adj" fmla="val 2632"/>
            </a:avLst>
          </a:prstGeom>
          <a:solidFill>
            <a:srgbClr val="FFFFFF"/>
          </a:solidFill>
          <a:ln w="9525">
            <a:solidFill>
              <a:srgbClr val="CFE5EE"/>
            </a:solidFill>
            <a:prstDash val="solid"/>
          </a:ln>
        </p:spPr>
      </p:sp>
      <p:sp>
        <p:nvSpPr>
          <p:cNvPr id="59" name="Text 57"/>
          <p:cNvSpPr/>
          <p:nvPr/>
        </p:nvSpPr>
        <p:spPr>
          <a:xfrm>
            <a:off x="6638544" y="3703320"/>
            <a:ext cx="4846320" cy="164592"/>
          </a:xfrm>
          <a:prstGeom prst="rect">
            <a:avLst/>
          </a:prstGeom>
          <a:noFill/>
          <a:ln/>
        </p:spPr>
        <p:txBody>
          <a:bodyPr wrap="square" lIns="0" tIns="0" rIns="0" bIns="0" rtlCol="0" anchor="t"/>
          <a:lstStyle/>
          <a:p>
            <a:pPr marL="0" indent="0">
              <a:buNone/>
            </a:pPr>
            <a:r>
              <a:rPr lang="en-US" sz="800" b="1" kern="0" spc="120" dirty="0">
                <a:solidFill>
                  <a:srgbClr val="2D8C6F"/>
                </a:solidFill>
                <a:latin typeface="Segoe UI" pitchFamily="34" charset="0"/>
                <a:ea typeface="Segoe UI" pitchFamily="34" charset="-122"/>
                <a:cs typeface="Segoe UI" pitchFamily="34" charset="-120"/>
              </a:rPr>
              <a:t>KẾT QUẢ</a:t>
            </a:r>
            <a:endParaRPr lang="en-US" sz="800" dirty="0"/>
          </a:p>
        </p:txBody>
      </p:sp>
      <p:sp>
        <p:nvSpPr>
          <p:cNvPr id="60" name="Text 58"/>
          <p:cNvSpPr/>
          <p:nvPr/>
        </p:nvSpPr>
        <p:spPr>
          <a:xfrm>
            <a:off x="6638544" y="3922776"/>
            <a:ext cx="4846320" cy="1353312"/>
          </a:xfrm>
          <a:prstGeom prst="rect">
            <a:avLst/>
          </a:prstGeom>
          <a:noFill/>
          <a:ln/>
        </p:spPr>
        <p:txBody>
          <a:bodyPr wrap="square" lIns="0" tIns="0" rIns="0" bIns="0" rtlCol="0" anchor="t"/>
          <a:lstStyle/>
          <a:p>
            <a:pPr marL="0" indent="0">
              <a:lnSpc>
                <a:spcPct val="102000"/>
              </a:lnSpc>
              <a:buNone/>
            </a:pPr>
            <a:r>
              <a:rPr lang="en-US" sz="950" dirty="0">
                <a:solidFill>
                  <a:srgbClr val="062A3A"/>
                </a:solidFill>
                <a:latin typeface="Consolas" pitchFamily="34" charset="0"/>
                <a:ea typeface="Consolas" pitchFamily="34" charset="-122"/>
                <a:cs typeface="Consolas" pitchFamily="34" charset="-120"/>
              </a:rPr>
              <a:t>[[0 1 2]</a:t>
            </a:r>
            <a:endParaRPr lang="en-US" sz="950" dirty="0"/>
          </a:p>
          <a:p>
            <a:pPr marL="0" indent="0">
              <a:lnSpc>
                <a:spcPct val="102000"/>
              </a:lnSpc>
              <a:buNone/>
            </a:pPr>
            <a:r>
              <a:rPr lang="en-US" sz="950" dirty="0">
                <a:solidFill>
                  <a:srgbClr val="062A3A"/>
                </a:solidFill>
                <a:latin typeface="Consolas" pitchFamily="34" charset="0"/>
                <a:ea typeface="Consolas" pitchFamily="34" charset="-122"/>
                <a:cs typeface="Consolas" pitchFamily="34" charset="-120"/>
              </a:rPr>
              <a:t> [3 4 5]]</a:t>
            </a:r>
            <a:endParaRPr lang="en-US" sz="950" dirty="0"/>
          </a:p>
          <a:p>
            <a:pPr marL="0" indent="0">
              <a:lnSpc>
                <a:spcPct val="102000"/>
              </a:lnSpc>
              <a:buNone/>
            </a:pPr>
            <a:endParaRPr lang="en-US" sz="950" dirty="0"/>
          </a:p>
          <a:p>
            <a:pPr marL="0" indent="0">
              <a:lnSpc>
                <a:spcPct val="102000"/>
              </a:lnSpc>
              <a:buNone/>
            </a:pPr>
            <a:r>
              <a:rPr lang="en-US" sz="950" dirty="0">
                <a:solidFill>
                  <a:srgbClr val="062A3A"/>
                </a:solidFill>
                <a:latin typeface="Consolas" pitchFamily="34" charset="0"/>
                <a:ea typeface="Consolas" pitchFamily="34" charset="-122"/>
                <a:cs typeface="Consolas" pitchFamily="34" charset="-120"/>
              </a:rPr>
              <a:t>[[0 3]</a:t>
            </a:r>
            <a:endParaRPr lang="en-US" sz="950" dirty="0"/>
          </a:p>
          <a:p>
            <a:pPr marL="0" indent="0">
              <a:lnSpc>
                <a:spcPct val="102000"/>
              </a:lnSpc>
              <a:buNone/>
            </a:pPr>
            <a:r>
              <a:rPr lang="en-US" sz="950" dirty="0">
                <a:solidFill>
                  <a:srgbClr val="062A3A"/>
                </a:solidFill>
                <a:latin typeface="Consolas" pitchFamily="34" charset="0"/>
                <a:ea typeface="Consolas" pitchFamily="34" charset="-122"/>
                <a:cs typeface="Consolas" pitchFamily="34" charset="-120"/>
              </a:rPr>
              <a:t> [1 4]</a:t>
            </a:r>
            <a:endParaRPr lang="en-US" sz="950" dirty="0"/>
          </a:p>
          <a:p>
            <a:pPr marL="0" indent="0">
              <a:lnSpc>
                <a:spcPct val="102000"/>
              </a:lnSpc>
              <a:buNone/>
            </a:pPr>
            <a:r>
              <a:rPr lang="en-US" sz="950" dirty="0">
                <a:solidFill>
                  <a:srgbClr val="062A3A"/>
                </a:solidFill>
                <a:latin typeface="Consolas" pitchFamily="34" charset="0"/>
                <a:ea typeface="Consolas" pitchFamily="34" charset="-122"/>
                <a:cs typeface="Consolas" pitchFamily="34" charset="-120"/>
              </a:rPr>
              <a:t> [2 5]]</a:t>
            </a:r>
            <a:endParaRPr lang="en-US" sz="950" dirty="0"/>
          </a:p>
          <a:p>
            <a:pPr marL="0" indent="0">
              <a:lnSpc>
                <a:spcPct val="102000"/>
              </a:lnSpc>
              <a:buNone/>
            </a:pPr>
            <a:endParaRPr lang="en-US" sz="950" dirty="0"/>
          </a:p>
          <a:p>
            <a:pPr marL="0" indent="0">
              <a:lnSpc>
                <a:spcPct val="102000"/>
              </a:lnSpc>
              <a:buNone/>
            </a:pPr>
            <a:r>
              <a:rPr lang="en-US" sz="950" dirty="0">
                <a:solidFill>
                  <a:srgbClr val="062A3A"/>
                </a:solidFill>
                <a:latin typeface="Consolas" pitchFamily="34" charset="0"/>
                <a:ea typeface="Consolas" pitchFamily="34" charset="-122"/>
                <a:cs typeface="Consolas" pitchFamily="34" charset="-120"/>
              </a:rPr>
              <a:t>(3, 4)</a:t>
            </a:r>
            <a:endParaRPr lang="en-US" sz="950" dirty="0"/>
          </a:p>
        </p:txBody>
      </p:sp>
      <p:sp>
        <p:nvSpPr>
          <p:cNvPr id="61" name="Text 59"/>
          <p:cNvSpPr/>
          <p:nvPr/>
        </p:nvSpPr>
        <p:spPr>
          <a:xfrm>
            <a:off x="548640" y="5532120"/>
            <a:ext cx="11064240" cy="274320"/>
          </a:xfrm>
          <a:prstGeom prst="rect">
            <a:avLst/>
          </a:prstGeom>
          <a:noFill/>
          <a:ln/>
        </p:spPr>
        <p:txBody>
          <a:bodyPr wrap="square" lIns="0" tIns="0" rIns="0" bIns="0" rtlCol="0" anchor="t"/>
          <a:lstStyle/>
          <a:p>
            <a:pPr marL="0" indent="0">
              <a:buNone/>
            </a:pPr>
            <a:r>
              <a:rPr lang="en-US" sz="1000" i="1" dirty="0">
                <a:solidFill>
                  <a:srgbClr val="728694"/>
                </a:solidFill>
                <a:latin typeface="Segoe UI" pitchFamily="34" charset="0"/>
                <a:ea typeface="Segoe UI" pitchFamily="34" charset="-122"/>
                <a:cs typeface="Segoe UI" pitchFamily="34" charset="-120"/>
              </a:rPr>
              <a:t>Tổng số phần tử phải giữ nguyên: 6 = 2 × 3; 6 = 3 × 2. .T hoán vị hàng thành cột.</a:t>
            </a:r>
            <a:endParaRPr lang="en-US" sz="1000" dirty="0"/>
          </a:p>
        </p:txBody>
      </p:sp>
      <p:sp>
        <p:nvSpPr>
          <p:cNvPr id="62" name="Shape 60"/>
          <p:cNvSpPr/>
          <p:nvPr/>
        </p:nvSpPr>
        <p:spPr>
          <a:xfrm>
            <a:off x="548640" y="6391656"/>
            <a:ext cx="11091672" cy="9144"/>
          </a:xfrm>
          <a:prstGeom prst="rect">
            <a:avLst/>
          </a:prstGeom>
          <a:solidFill>
            <a:srgbClr val="D7E5EC"/>
          </a:solidFill>
          <a:ln w="12700">
            <a:solidFill>
              <a:srgbClr val="D7E5EC"/>
            </a:solidFill>
            <a:prstDash val="solid"/>
          </a:ln>
        </p:spPr>
      </p:sp>
      <p:sp>
        <p:nvSpPr>
          <p:cNvPr id="63" name="Text 61"/>
          <p:cNvSpPr/>
          <p:nvPr/>
        </p:nvSpPr>
        <p:spPr>
          <a:xfrm>
            <a:off x="548640" y="6473952"/>
            <a:ext cx="7772400" cy="182880"/>
          </a:xfrm>
          <a:prstGeom prst="rect">
            <a:avLst/>
          </a:prstGeom>
          <a:noFill/>
          <a:ln/>
        </p:spPr>
        <p:txBody>
          <a:bodyPr wrap="square" lIns="0" tIns="0" rIns="0" bIns="0" rtlCol="0" anchor="t"/>
          <a:lstStyle/>
          <a:p>
            <a:pPr marL="0" indent="0">
              <a:buNone/>
            </a:pPr>
            <a:r>
              <a:rPr lang="en-US" sz="850" dirty="0">
                <a:solidFill>
                  <a:srgbClr val="728694"/>
                </a:solidFill>
                <a:latin typeface="Segoe UI" pitchFamily="34" charset="0"/>
                <a:ea typeface="Segoe UI" pitchFamily="34" charset="-122"/>
                <a:cs typeface="Segoe UI" pitchFamily="34" charset="-120"/>
              </a:rPr>
              <a:t>Tìm hiểu thư viện NumPy trong Python</a:t>
            </a:r>
            <a:endParaRPr lang="en-US" sz="850" dirty="0"/>
          </a:p>
        </p:txBody>
      </p:sp>
      <p:sp>
        <p:nvSpPr>
          <p:cNvPr id="64" name="Text 62"/>
          <p:cNvSpPr/>
          <p:nvPr/>
        </p:nvSpPr>
        <p:spPr>
          <a:xfrm>
            <a:off x="10698480" y="6473952"/>
            <a:ext cx="941832" cy="182880"/>
          </a:xfrm>
          <a:prstGeom prst="rect">
            <a:avLst/>
          </a:prstGeom>
          <a:noFill/>
          <a:ln/>
        </p:spPr>
        <p:txBody>
          <a:bodyPr wrap="square" lIns="0" tIns="0" rIns="0" bIns="0" rtlCol="0" anchor="t"/>
          <a:lstStyle/>
          <a:p>
            <a:pPr marL="0" indent="0" algn="r">
              <a:buNone/>
            </a:pPr>
            <a:r>
              <a:rPr lang="en-US" sz="850" dirty="0">
                <a:solidFill>
                  <a:srgbClr val="728694"/>
                </a:solidFill>
                <a:latin typeface="Segoe UI" pitchFamily="34" charset="0"/>
                <a:ea typeface="Segoe UI" pitchFamily="34" charset="-122"/>
                <a:cs typeface="Segoe UI" pitchFamily="34" charset="-120"/>
              </a:rPr>
              <a:t>16 / 25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301752"/>
            <a:ext cx="10881360" cy="201168"/>
          </a:xfrm>
          <a:prstGeom prst="rect">
            <a:avLst/>
          </a:prstGeom>
          <a:noFill/>
          <a:ln/>
        </p:spPr>
        <p:txBody>
          <a:bodyPr wrap="square" lIns="0" tIns="0" rIns="0" bIns="0" rtlCol="0" anchor="t"/>
          <a:lstStyle/>
          <a:p>
            <a:pPr marL="0" indent="0">
              <a:buNone/>
            </a:pPr>
            <a:r>
              <a:rPr lang="en-US" sz="950" b="1" kern="0" spc="160" dirty="0">
                <a:solidFill>
                  <a:srgbClr val="1B8EA8"/>
                </a:solidFill>
                <a:latin typeface="Segoe UI" pitchFamily="34" charset="0"/>
                <a:ea typeface="Segoe UI" pitchFamily="34" charset="-122"/>
                <a:cs typeface="Segoe UI" pitchFamily="34" charset="-120"/>
              </a:rPr>
              <a:t>05 · TÍNH TOÁN</a:t>
            </a:r>
            <a:endParaRPr lang="en-US" sz="950" dirty="0"/>
          </a:p>
        </p:txBody>
      </p:sp>
      <p:sp>
        <p:nvSpPr>
          <p:cNvPr id="3" name="Text 1"/>
          <p:cNvSpPr/>
          <p:nvPr/>
        </p:nvSpPr>
        <p:spPr>
          <a:xfrm>
            <a:off x="548640" y="502920"/>
            <a:ext cx="10881360" cy="640080"/>
          </a:xfrm>
          <a:prstGeom prst="rect">
            <a:avLst/>
          </a:prstGeom>
          <a:noFill/>
          <a:ln/>
        </p:spPr>
        <p:txBody>
          <a:bodyPr wrap="square" lIns="0" tIns="0" rIns="0" bIns="0" rtlCol="0" anchor="ctr"/>
          <a:lstStyle/>
          <a:p>
            <a:pPr marL="0" indent="0">
              <a:buNone/>
            </a:pPr>
            <a:r>
              <a:rPr lang="en-US" sz="2800" b="1" dirty="0">
                <a:solidFill>
                  <a:srgbClr val="062A3A"/>
                </a:solidFill>
                <a:latin typeface="Segoe UI" pitchFamily="34" charset="0"/>
                <a:ea typeface="Segoe UI" pitchFamily="34" charset="-122"/>
                <a:cs typeface="Segoe UI" pitchFamily="34" charset="-120"/>
              </a:rPr>
              <a:t>Phép toán theo từng phần tử</a:t>
            </a:r>
            <a:endParaRPr lang="en-US" sz="2800" dirty="0"/>
          </a:p>
        </p:txBody>
      </p:sp>
      <p:sp>
        <p:nvSpPr>
          <p:cNvPr id="4" name="Shape 2"/>
          <p:cNvSpPr/>
          <p:nvPr/>
        </p:nvSpPr>
        <p:spPr>
          <a:xfrm>
            <a:off x="548640" y="1225296"/>
            <a:ext cx="868680" cy="41148"/>
          </a:xfrm>
          <a:prstGeom prst="rect">
            <a:avLst/>
          </a:prstGeom>
          <a:solidFill>
            <a:srgbClr val="1B8EA8"/>
          </a:solidFill>
          <a:ln w="12700">
            <a:solidFill>
              <a:srgbClr val="1B8EA8"/>
            </a:solidFill>
            <a:prstDash val="solid"/>
          </a:ln>
        </p:spPr>
      </p:sp>
      <p:sp>
        <p:nvSpPr>
          <p:cNvPr id="5" name="Shape 3"/>
          <p:cNvSpPr/>
          <p:nvPr/>
        </p:nvSpPr>
        <p:spPr>
          <a:xfrm>
            <a:off x="914400" y="1691640"/>
            <a:ext cx="566928" cy="475488"/>
          </a:xfrm>
          <a:prstGeom prst="rect">
            <a:avLst/>
          </a:prstGeom>
          <a:solidFill>
            <a:srgbClr val="EAF4F8"/>
          </a:solidFill>
          <a:ln w="9525">
            <a:solidFill>
              <a:srgbClr val="A9CDDB"/>
            </a:solidFill>
            <a:prstDash val="solid"/>
          </a:ln>
        </p:spPr>
      </p:sp>
      <p:sp>
        <p:nvSpPr>
          <p:cNvPr id="6" name="Text 4"/>
          <p:cNvSpPr/>
          <p:nvPr/>
        </p:nvSpPr>
        <p:spPr>
          <a:xfrm>
            <a:off x="914400" y="1691640"/>
            <a:ext cx="566928" cy="475488"/>
          </a:xfrm>
          <a:prstGeom prst="rect">
            <a:avLst/>
          </a:prstGeom>
          <a:noFill/>
          <a:ln/>
        </p:spPr>
        <p:txBody>
          <a:bodyPr wrap="square" lIns="0" tIns="0" rIns="0" bIns="0" rtlCol="0" anchor="ctr"/>
          <a:lstStyle/>
          <a:p>
            <a:pPr marL="0" indent="0" algn="ctr">
              <a:buNone/>
            </a:pPr>
            <a:r>
              <a:rPr lang="en-US" sz="1200" dirty="0">
                <a:solidFill>
                  <a:srgbClr val="062A3A"/>
                </a:solidFill>
                <a:latin typeface="Consolas" pitchFamily="34" charset="0"/>
                <a:ea typeface="Consolas" pitchFamily="34" charset="-122"/>
                <a:cs typeface="Consolas" pitchFamily="34" charset="-120"/>
              </a:rPr>
              <a:t>1</a:t>
            </a:r>
            <a:endParaRPr lang="en-US" sz="1200" dirty="0"/>
          </a:p>
        </p:txBody>
      </p:sp>
      <p:sp>
        <p:nvSpPr>
          <p:cNvPr id="7" name="Shape 5"/>
          <p:cNvSpPr/>
          <p:nvPr/>
        </p:nvSpPr>
        <p:spPr>
          <a:xfrm>
            <a:off x="1481328" y="1691640"/>
            <a:ext cx="566928" cy="475488"/>
          </a:xfrm>
          <a:prstGeom prst="rect">
            <a:avLst/>
          </a:prstGeom>
          <a:solidFill>
            <a:srgbClr val="EAF4F8"/>
          </a:solidFill>
          <a:ln w="9525">
            <a:solidFill>
              <a:srgbClr val="A9CDDB"/>
            </a:solidFill>
            <a:prstDash val="solid"/>
          </a:ln>
        </p:spPr>
      </p:sp>
      <p:sp>
        <p:nvSpPr>
          <p:cNvPr id="8" name="Text 6"/>
          <p:cNvSpPr/>
          <p:nvPr/>
        </p:nvSpPr>
        <p:spPr>
          <a:xfrm>
            <a:off x="1481328" y="1691640"/>
            <a:ext cx="566928" cy="475488"/>
          </a:xfrm>
          <a:prstGeom prst="rect">
            <a:avLst/>
          </a:prstGeom>
          <a:noFill/>
          <a:ln/>
        </p:spPr>
        <p:txBody>
          <a:bodyPr wrap="square" lIns="0" tIns="0" rIns="0" bIns="0" rtlCol="0" anchor="ctr"/>
          <a:lstStyle/>
          <a:p>
            <a:pPr marL="0" indent="0" algn="ctr">
              <a:buNone/>
            </a:pPr>
            <a:r>
              <a:rPr lang="en-US" sz="1200" dirty="0">
                <a:solidFill>
                  <a:srgbClr val="062A3A"/>
                </a:solidFill>
                <a:latin typeface="Consolas" pitchFamily="34" charset="0"/>
                <a:ea typeface="Consolas" pitchFamily="34" charset="-122"/>
                <a:cs typeface="Consolas" pitchFamily="34" charset="-120"/>
              </a:rPr>
              <a:t>2</a:t>
            </a:r>
            <a:endParaRPr lang="en-US" sz="1200" dirty="0"/>
          </a:p>
        </p:txBody>
      </p:sp>
      <p:sp>
        <p:nvSpPr>
          <p:cNvPr id="9" name="Shape 7"/>
          <p:cNvSpPr/>
          <p:nvPr/>
        </p:nvSpPr>
        <p:spPr>
          <a:xfrm>
            <a:off x="2048256" y="1691640"/>
            <a:ext cx="566928" cy="475488"/>
          </a:xfrm>
          <a:prstGeom prst="rect">
            <a:avLst/>
          </a:prstGeom>
          <a:solidFill>
            <a:srgbClr val="EAF4F8"/>
          </a:solidFill>
          <a:ln w="9525">
            <a:solidFill>
              <a:srgbClr val="A9CDDB"/>
            </a:solidFill>
            <a:prstDash val="solid"/>
          </a:ln>
        </p:spPr>
      </p:sp>
      <p:sp>
        <p:nvSpPr>
          <p:cNvPr id="10" name="Text 8"/>
          <p:cNvSpPr/>
          <p:nvPr/>
        </p:nvSpPr>
        <p:spPr>
          <a:xfrm>
            <a:off x="2048256" y="1691640"/>
            <a:ext cx="566928" cy="475488"/>
          </a:xfrm>
          <a:prstGeom prst="rect">
            <a:avLst/>
          </a:prstGeom>
          <a:noFill/>
          <a:ln/>
        </p:spPr>
        <p:txBody>
          <a:bodyPr wrap="square" lIns="0" tIns="0" rIns="0" bIns="0" rtlCol="0" anchor="ctr"/>
          <a:lstStyle/>
          <a:p>
            <a:pPr marL="0" indent="0" algn="ctr">
              <a:buNone/>
            </a:pPr>
            <a:r>
              <a:rPr lang="en-US" sz="1200" dirty="0">
                <a:solidFill>
                  <a:srgbClr val="062A3A"/>
                </a:solidFill>
                <a:latin typeface="Consolas" pitchFamily="34" charset="0"/>
                <a:ea typeface="Consolas" pitchFamily="34" charset="-122"/>
                <a:cs typeface="Consolas" pitchFamily="34" charset="-120"/>
              </a:rPr>
              <a:t>3</a:t>
            </a:r>
            <a:endParaRPr lang="en-US" sz="1200" dirty="0"/>
          </a:p>
        </p:txBody>
      </p:sp>
      <p:sp>
        <p:nvSpPr>
          <p:cNvPr id="11" name="Shape 9"/>
          <p:cNvSpPr/>
          <p:nvPr/>
        </p:nvSpPr>
        <p:spPr>
          <a:xfrm>
            <a:off x="914400" y="2788920"/>
            <a:ext cx="566928" cy="475488"/>
          </a:xfrm>
          <a:prstGeom prst="rect">
            <a:avLst/>
          </a:prstGeom>
          <a:solidFill>
            <a:srgbClr val="EAF4F8"/>
          </a:solidFill>
          <a:ln w="9525">
            <a:solidFill>
              <a:srgbClr val="A9CDDB"/>
            </a:solidFill>
            <a:prstDash val="solid"/>
          </a:ln>
        </p:spPr>
      </p:sp>
      <p:sp>
        <p:nvSpPr>
          <p:cNvPr id="12" name="Text 10"/>
          <p:cNvSpPr/>
          <p:nvPr/>
        </p:nvSpPr>
        <p:spPr>
          <a:xfrm>
            <a:off x="914400" y="2788920"/>
            <a:ext cx="566928" cy="475488"/>
          </a:xfrm>
          <a:prstGeom prst="rect">
            <a:avLst/>
          </a:prstGeom>
          <a:noFill/>
          <a:ln/>
        </p:spPr>
        <p:txBody>
          <a:bodyPr wrap="square" lIns="0" tIns="0" rIns="0" bIns="0" rtlCol="0" anchor="ctr"/>
          <a:lstStyle/>
          <a:p>
            <a:pPr marL="0" indent="0" algn="ctr">
              <a:buNone/>
            </a:pPr>
            <a:r>
              <a:rPr lang="en-US" sz="1200" dirty="0">
                <a:solidFill>
                  <a:srgbClr val="062A3A"/>
                </a:solidFill>
                <a:latin typeface="Consolas" pitchFamily="34" charset="0"/>
                <a:ea typeface="Consolas" pitchFamily="34" charset="-122"/>
                <a:cs typeface="Consolas" pitchFamily="34" charset="-120"/>
              </a:rPr>
              <a:t>4</a:t>
            </a:r>
            <a:endParaRPr lang="en-US" sz="1200" dirty="0"/>
          </a:p>
        </p:txBody>
      </p:sp>
      <p:sp>
        <p:nvSpPr>
          <p:cNvPr id="13" name="Shape 11"/>
          <p:cNvSpPr/>
          <p:nvPr/>
        </p:nvSpPr>
        <p:spPr>
          <a:xfrm>
            <a:off x="1481328" y="2788920"/>
            <a:ext cx="566928" cy="475488"/>
          </a:xfrm>
          <a:prstGeom prst="rect">
            <a:avLst/>
          </a:prstGeom>
          <a:solidFill>
            <a:srgbClr val="EAF4F8"/>
          </a:solidFill>
          <a:ln w="9525">
            <a:solidFill>
              <a:srgbClr val="A9CDDB"/>
            </a:solidFill>
            <a:prstDash val="solid"/>
          </a:ln>
        </p:spPr>
      </p:sp>
      <p:sp>
        <p:nvSpPr>
          <p:cNvPr id="14" name="Text 12"/>
          <p:cNvSpPr/>
          <p:nvPr/>
        </p:nvSpPr>
        <p:spPr>
          <a:xfrm>
            <a:off x="1481328" y="2788920"/>
            <a:ext cx="566928" cy="475488"/>
          </a:xfrm>
          <a:prstGeom prst="rect">
            <a:avLst/>
          </a:prstGeom>
          <a:noFill/>
          <a:ln/>
        </p:spPr>
        <p:txBody>
          <a:bodyPr wrap="square" lIns="0" tIns="0" rIns="0" bIns="0" rtlCol="0" anchor="ctr"/>
          <a:lstStyle/>
          <a:p>
            <a:pPr marL="0" indent="0" algn="ctr">
              <a:buNone/>
            </a:pPr>
            <a:r>
              <a:rPr lang="en-US" sz="1200" dirty="0">
                <a:solidFill>
                  <a:srgbClr val="062A3A"/>
                </a:solidFill>
                <a:latin typeface="Consolas" pitchFamily="34" charset="0"/>
                <a:ea typeface="Consolas" pitchFamily="34" charset="-122"/>
                <a:cs typeface="Consolas" pitchFamily="34" charset="-120"/>
              </a:rPr>
              <a:t>5</a:t>
            </a:r>
            <a:endParaRPr lang="en-US" sz="1200" dirty="0"/>
          </a:p>
        </p:txBody>
      </p:sp>
      <p:sp>
        <p:nvSpPr>
          <p:cNvPr id="15" name="Shape 13"/>
          <p:cNvSpPr/>
          <p:nvPr/>
        </p:nvSpPr>
        <p:spPr>
          <a:xfrm>
            <a:off x="2048256" y="2788920"/>
            <a:ext cx="566928" cy="475488"/>
          </a:xfrm>
          <a:prstGeom prst="rect">
            <a:avLst/>
          </a:prstGeom>
          <a:solidFill>
            <a:srgbClr val="EAF4F8"/>
          </a:solidFill>
          <a:ln w="9525">
            <a:solidFill>
              <a:srgbClr val="A9CDDB"/>
            </a:solidFill>
            <a:prstDash val="solid"/>
          </a:ln>
        </p:spPr>
      </p:sp>
      <p:sp>
        <p:nvSpPr>
          <p:cNvPr id="16" name="Text 14"/>
          <p:cNvSpPr/>
          <p:nvPr/>
        </p:nvSpPr>
        <p:spPr>
          <a:xfrm>
            <a:off x="2048256" y="2788920"/>
            <a:ext cx="566928" cy="475488"/>
          </a:xfrm>
          <a:prstGeom prst="rect">
            <a:avLst/>
          </a:prstGeom>
          <a:noFill/>
          <a:ln/>
        </p:spPr>
        <p:txBody>
          <a:bodyPr wrap="square" lIns="0" tIns="0" rIns="0" bIns="0" rtlCol="0" anchor="ctr"/>
          <a:lstStyle/>
          <a:p>
            <a:pPr marL="0" indent="0" algn="ctr">
              <a:buNone/>
            </a:pPr>
            <a:r>
              <a:rPr lang="en-US" sz="1200" dirty="0">
                <a:solidFill>
                  <a:srgbClr val="062A3A"/>
                </a:solidFill>
                <a:latin typeface="Consolas" pitchFamily="34" charset="0"/>
                <a:ea typeface="Consolas" pitchFamily="34" charset="-122"/>
                <a:cs typeface="Consolas" pitchFamily="34" charset="-120"/>
              </a:rPr>
              <a:t>6</a:t>
            </a:r>
            <a:endParaRPr lang="en-US" sz="1200" dirty="0"/>
          </a:p>
        </p:txBody>
      </p:sp>
      <p:sp>
        <p:nvSpPr>
          <p:cNvPr id="17" name="Shape 15"/>
          <p:cNvSpPr/>
          <p:nvPr/>
        </p:nvSpPr>
        <p:spPr>
          <a:xfrm>
            <a:off x="914400" y="3977640"/>
            <a:ext cx="566928" cy="475488"/>
          </a:xfrm>
          <a:prstGeom prst="rect">
            <a:avLst/>
          </a:prstGeom>
          <a:solidFill>
            <a:srgbClr val="1B8EA8"/>
          </a:solidFill>
          <a:ln w="9525">
            <a:solidFill>
              <a:srgbClr val="A9CDDB"/>
            </a:solidFill>
            <a:prstDash val="solid"/>
          </a:ln>
        </p:spPr>
      </p:sp>
      <p:sp>
        <p:nvSpPr>
          <p:cNvPr id="18" name="Text 16"/>
          <p:cNvSpPr/>
          <p:nvPr/>
        </p:nvSpPr>
        <p:spPr>
          <a:xfrm>
            <a:off x="914400" y="3977640"/>
            <a:ext cx="566928" cy="475488"/>
          </a:xfrm>
          <a:prstGeom prst="rect">
            <a:avLst/>
          </a:prstGeom>
          <a:noFill/>
          <a:ln/>
        </p:spPr>
        <p:txBody>
          <a:bodyPr wrap="square" lIns="0" tIns="0" rIns="0" bIns="0" rtlCol="0" anchor="ctr"/>
          <a:lstStyle/>
          <a:p>
            <a:pPr marL="0" indent="0" algn="ctr">
              <a:buNone/>
            </a:pPr>
            <a:r>
              <a:rPr lang="en-US" sz="1200" dirty="0">
                <a:solidFill>
                  <a:srgbClr val="FFFFFF"/>
                </a:solidFill>
                <a:latin typeface="Consolas" pitchFamily="34" charset="0"/>
                <a:ea typeface="Consolas" pitchFamily="34" charset="-122"/>
                <a:cs typeface="Consolas" pitchFamily="34" charset="-120"/>
              </a:rPr>
              <a:t>5</a:t>
            </a:r>
            <a:endParaRPr lang="en-US" sz="1200" dirty="0"/>
          </a:p>
        </p:txBody>
      </p:sp>
      <p:sp>
        <p:nvSpPr>
          <p:cNvPr id="19" name="Shape 17"/>
          <p:cNvSpPr/>
          <p:nvPr/>
        </p:nvSpPr>
        <p:spPr>
          <a:xfrm>
            <a:off x="1481328" y="3977640"/>
            <a:ext cx="566928" cy="475488"/>
          </a:xfrm>
          <a:prstGeom prst="rect">
            <a:avLst/>
          </a:prstGeom>
          <a:solidFill>
            <a:srgbClr val="1B8EA8"/>
          </a:solidFill>
          <a:ln w="9525">
            <a:solidFill>
              <a:srgbClr val="A9CDDB"/>
            </a:solidFill>
            <a:prstDash val="solid"/>
          </a:ln>
        </p:spPr>
      </p:sp>
      <p:sp>
        <p:nvSpPr>
          <p:cNvPr id="20" name="Text 18"/>
          <p:cNvSpPr/>
          <p:nvPr/>
        </p:nvSpPr>
        <p:spPr>
          <a:xfrm>
            <a:off x="1481328" y="3977640"/>
            <a:ext cx="566928" cy="475488"/>
          </a:xfrm>
          <a:prstGeom prst="rect">
            <a:avLst/>
          </a:prstGeom>
          <a:noFill/>
          <a:ln/>
        </p:spPr>
        <p:txBody>
          <a:bodyPr wrap="square" lIns="0" tIns="0" rIns="0" bIns="0" rtlCol="0" anchor="ctr"/>
          <a:lstStyle/>
          <a:p>
            <a:pPr marL="0" indent="0" algn="ctr">
              <a:buNone/>
            </a:pPr>
            <a:r>
              <a:rPr lang="en-US" sz="1200" dirty="0">
                <a:solidFill>
                  <a:srgbClr val="FFFFFF"/>
                </a:solidFill>
                <a:latin typeface="Consolas" pitchFamily="34" charset="0"/>
                <a:ea typeface="Consolas" pitchFamily="34" charset="-122"/>
                <a:cs typeface="Consolas" pitchFamily="34" charset="-120"/>
              </a:rPr>
              <a:t>7</a:t>
            </a:r>
            <a:endParaRPr lang="en-US" sz="1200" dirty="0"/>
          </a:p>
        </p:txBody>
      </p:sp>
      <p:sp>
        <p:nvSpPr>
          <p:cNvPr id="21" name="Shape 19"/>
          <p:cNvSpPr/>
          <p:nvPr/>
        </p:nvSpPr>
        <p:spPr>
          <a:xfrm>
            <a:off x="2048256" y="3977640"/>
            <a:ext cx="566928" cy="475488"/>
          </a:xfrm>
          <a:prstGeom prst="rect">
            <a:avLst/>
          </a:prstGeom>
          <a:solidFill>
            <a:srgbClr val="1B8EA8"/>
          </a:solidFill>
          <a:ln w="9525">
            <a:solidFill>
              <a:srgbClr val="A9CDDB"/>
            </a:solidFill>
            <a:prstDash val="solid"/>
          </a:ln>
        </p:spPr>
      </p:sp>
      <p:sp>
        <p:nvSpPr>
          <p:cNvPr id="22" name="Text 20"/>
          <p:cNvSpPr/>
          <p:nvPr/>
        </p:nvSpPr>
        <p:spPr>
          <a:xfrm>
            <a:off x="2048256" y="3977640"/>
            <a:ext cx="566928" cy="475488"/>
          </a:xfrm>
          <a:prstGeom prst="rect">
            <a:avLst/>
          </a:prstGeom>
          <a:noFill/>
          <a:ln/>
        </p:spPr>
        <p:txBody>
          <a:bodyPr wrap="square" lIns="0" tIns="0" rIns="0" bIns="0" rtlCol="0" anchor="ctr"/>
          <a:lstStyle/>
          <a:p>
            <a:pPr marL="0" indent="0" algn="ctr">
              <a:buNone/>
            </a:pPr>
            <a:r>
              <a:rPr lang="en-US" sz="1200" dirty="0">
                <a:solidFill>
                  <a:srgbClr val="FFFFFF"/>
                </a:solidFill>
                <a:latin typeface="Consolas" pitchFamily="34" charset="0"/>
                <a:ea typeface="Consolas" pitchFamily="34" charset="-122"/>
                <a:cs typeface="Consolas" pitchFamily="34" charset="-120"/>
              </a:rPr>
              <a:t>9</a:t>
            </a:r>
            <a:endParaRPr lang="en-US" sz="1200" dirty="0"/>
          </a:p>
        </p:txBody>
      </p:sp>
      <p:sp>
        <p:nvSpPr>
          <p:cNvPr id="23" name="Text 21"/>
          <p:cNvSpPr/>
          <p:nvPr/>
        </p:nvSpPr>
        <p:spPr>
          <a:xfrm>
            <a:off x="914400" y="2304288"/>
            <a:ext cx="365760" cy="274320"/>
          </a:xfrm>
          <a:prstGeom prst="rect">
            <a:avLst/>
          </a:prstGeom>
          <a:noFill/>
          <a:ln/>
        </p:spPr>
        <p:txBody>
          <a:bodyPr wrap="square" lIns="0" tIns="0" rIns="0" bIns="0" rtlCol="0" anchor="t"/>
          <a:lstStyle/>
          <a:p>
            <a:pPr marL="0" indent="0" algn="ctr">
              <a:buNone/>
            </a:pPr>
            <a:r>
              <a:rPr lang="en-US" sz="1800" b="1" dirty="0">
                <a:solidFill>
                  <a:srgbClr val="1B8EA8"/>
                </a:solidFill>
                <a:latin typeface="Segoe UI" pitchFamily="34" charset="0"/>
                <a:ea typeface="Segoe UI" pitchFamily="34" charset="-122"/>
                <a:cs typeface="Segoe UI" pitchFamily="34" charset="-120"/>
              </a:rPr>
              <a:t>+</a:t>
            </a:r>
            <a:endParaRPr lang="en-US" sz="1800" dirty="0"/>
          </a:p>
        </p:txBody>
      </p:sp>
      <p:sp>
        <p:nvSpPr>
          <p:cNvPr id="24" name="Shape 22"/>
          <p:cNvSpPr/>
          <p:nvPr/>
        </p:nvSpPr>
        <p:spPr>
          <a:xfrm>
            <a:off x="1920240" y="3337560"/>
            <a:ext cx="0" cy="502920"/>
          </a:xfrm>
          <a:prstGeom prst="line">
            <a:avLst/>
          </a:prstGeom>
          <a:noFill/>
          <a:ln w="22225">
            <a:solidFill>
              <a:srgbClr val="1B8EA8"/>
            </a:solidFill>
            <a:prstDash val="solid"/>
            <a:headEnd type="none"/>
            <a:tailEnd type="triangle"/>
          </a:ln>
        </p:spPr>
      </p:sp>
      <p:sp>
        <p:nvSpPr>
          <p:cNvPr id="25" name="Text 23"/>
          <p:cNvSpPr/>
          <p:nvPr/>
        </p:nvSpPr>
        <p:spPr>
          <a:xfrm>
            <a:off x="640080" y="1783080"/>
            <a:ext cx="228600" cy="274320"/>
          </a:xfrm>
          <a:prstGeom prst="rect">
            <a:avLst/>
          </a:prstGeom>
          <a:noFill/>
          <a:ln/>
        </p:spPr>
        <p:txBody>
          <a:bodyPr wrap="square" lIns="0" tIns="0" rIns="0" bIns="0" rtlCol="0" anchor="t"/>
          <a:lstStyle/>
          <a:p>
            <a:pPr marL="0" indent="0">
              <a:buNone/>
            </a:pPr>
            <a:r>
              <a:rPr lang="en-US" sz="1100" b="1" dirty="0">
                <a:solidFill>
                  <a:srgbClr val="728694"/>
                </a:solidFill>
                <a:latin typeface="Consolas" pitchFamily="34" charset="0"/>
                <a:ea typeface="Consolas" pitchFamily="34" charset="-122"/>
                <a:cs typeface="Consolas" pitchFamily="34" charset="-120"/>
              </a:rPr>
              <a:t>x</a:t>
            </a:r>
            <a:endParaRPr lang="en-US" sz="1100" dirty="0"/>
          </a:p>
        </p:txBody>
      </p:sp>
      <p:sp>
        <p:nvSpPr>
          <p:cNvPr id="26" name="Text 24"/>
          <p:cNvSpPr/>
          <p:nvPr/>
        </p:nvSpPr>
        <p:spPr>
          <a:xfrm>
            <a:off x="640080" y="2880360"/>
            <a:ext cx="228600" cy="274320"/>
          </a:xfrm>
          <a:prstGeom prst="rect">
            <a:avLst/>
          </a:prstGeom>
          <a:noFill/>
          <a:ln/>
        </p:spPr>
        <p:txBody>
          <a:bodyPr wrap="square" lIns="0" tIns="0" rIns="0" bIns="0" rtlCol="0" anchor="t"/>
          <a:lstStyle/>
          <a:p>
            <a:pPr marL="0" indent="0">
              <a:buNone/>
            </a:pPr>
            <a:r>
              <a:rPr lang="en-US" sz="1100" b="1" dirty="0">
                <a:solidFill>
                  <a:srgbClr val="728694"/>
                </a:solidFill>
                <a:latin typeface="Consolas" pitchFamily="34" charset="0"/>
                <a:ea typeface="Consolas" pitchFamily="34" charset="-122"/>
                <a:cs typeface="Consolas" pitchFamily="34" charset="-120"/>
              </a:rPr>
              <a:t>y</a:t>
            </a:r>
            <a:endParaRPr lang="en-US" sz="1100" dirty="0"/>
          </a:p>
        </p:txBody>
      </p:sp>
      <p:sp>
        <p:nvSpPr>
          <p:cNvPr id="27" name="Shape 25"/>
          <p:cNvSpPr/>
          <p:nvPr/>
        </p:nvSpPr>
        <p:spPr>
          <a:xfrm>
            <a:off x="4160520" y="1463040"/>
            <a:ext cx="7452360" cy="2606040"/>
          </a:xfrm>
          <a:prstGeom prst="roundRect">
            <a:avLst>
              <a:gd name="adj" fmla="val 1754"/>
            </a:avLst>
          </a:prstGeom>
          <a:solidFill>
            <a:srgbClr val="0B2230"/>
          </a:solidFill>
          <a:ln w="9525">
            <a:solidFill>
              <a:srgbClr val="163B4C"/>
            </a:solidFill>
            <a:prstDash val="solid"/>
          </a:ln>
        </p:spPr>
      </p:sp>
      <p:sp>
        <p:nvSpPr>
          <p:cNvPr id="28" name="Shape 26"/>
          <p:cNvSpPr/>
          <p:nvPr/>
        </p:nvSpPr>
        <p:spPr>
          <a:xfrm>
            <a:off x="4160520" y="1463040"/>
            <a:ext cx="7452360" cy="265176"/>
          </a:xfrm>
          <a:prstGeom prst="rect">
            <a:avLst/>
          </a:prstGeom>
          <a:solidFill>
            <a:srgbClr val="103445"/>
          </a:solidFill>
          <a:ln w="12700">
            <a:solidFill>
              <a:srgbClr val="103445"/>
            </a:solidFill>
            <a:prstDash val="solid"/>
          </a:ln>
        </p:spPr>
      </p:sp>
      <p:sp>
        <p:nvSpPr>
          <p:cNvPr id="29" name="Text 27"/>
          <p:cNvSpPr/>
          <p:nvPr/>
        </p:nvSpPr>
        <p:spPr>
          <a:xfrm>
            <a:off x="4306824" y="1513332"/>
            <a:ext cx="6537960" cy="182880"/>
          </a:xfrm>
          <a:prstGeom prst="rect">
            <a:avLst/>
          </a:prstGeom>
          <a:noFill/>
          <a:ln/>
        </p:spPr>
        <p:txBody>
          <a:bodyPr wrap="square" lIns="0" tIns="0" rIns="0" bIns="0" rtlCol="0" anchor="t"/>
          <a:lstStyle/>
          <a:p>
            <a:pPr marL="0" indent="0">
              <a:buNone/>
            </a:pPr>
            <a:r>
              <a:rPr lang="en-US" sz="850" dirty="0">
                <a:solidFill>
                  <a:srgbClr val="8FB6C8"/>
                </a:solidFill>
                <a:latin typeface="Consolas" pitchFamily="34" charset="0"/>
                <a:ea typeface="Consolas" pitchFamily="34" charset="-122"/>
                <a:cs typeface="Consolas" pitchFamily="34" charset="-120"/>
              </a:rPr>
              <a:t>python</a:t>
            </a:r>
            <a:endParaRPr lang="en-US" sz="850" dirty="0"/>
          </a:p>
        </p:txBody>
      </p:sp>
      <p:sp>
        <p:nvSpPr>
          <p:cNvPr id="30" name="Shape 28"/>
          <p:cNvSpPr/>
          <p:nvPr/>
        </p:nvSpPr>
        <p:spPr>
          <a:xfrm>
            <a:off x="11045952" y="1568196"/>
            <a:ext cx="77724" cy="77724"/>
          </a:xfrm>
          <a:prstGeom prst="ellipse">
            <a:avLst/>
          </a:prstGeom>
          <a:solidFill>
            <a:srgbClr val="D96C5F"/>
          </a:solidFill>
          <a:ln w="12700">
            <a:solidFill>
              <a:srgbClr val="D96C5F"/>
            </a:solidFill>
            <a:prstDash val="solid"/>
          </a:ln>
        </p:spPr>
      </p:sp>
      <p:sp>
        <p:nvSpPr>
          <p:cNvPr id="31" name="Shape 29"/>
          <p:cNvSpPr/>
          <p:nvPr/>
        </p:nvSpPr>
        <p:spPr>
          <a:xfrm>
            <a:off x="11201400" y="1568196"/>
            <a:ext cx="77724" cy="77724"/>
          </a:xfrm>
          <a:prstGeom prst="ellipse">
            <a:avLst/>
          </a:prstGeom>
          <a:solidFill>
            <a:srgbClr val="E8A33D"/>
          </a:solidFill>
          <a:ln w="12700">
            <a:solidFill>
              <a:srgbClr val="E8A33D"/>
            </a:solidFill>
            <a:prstDash val="solid"/>
          </a:ln>
        </p:spPr>
      </p:sp>
      <p:sp>
        <p:nvSpPr>
          <p:cNvPr id="32" name="Shape 30"/>
          <p:cNvSpPr/>
          <p:nvPr/>
        </p:nvSpPr>
        <p:spPr>
          <a:xfrm>
            <a:off x="11356848" y="1568196"/>
            <a:ext cx="77724" cy="77724"/>
          </a:xfrm>
          <a:prstGeom prst="ellipse">
            <a:avLst/>
          </a:prstGeom>
          <a:solidFill>
            <a:srgbClr val="2D8C6F"/>
          </a:solidFill>
          <a:ln w="12700">
            <a:solidFill>
              <a:srgbClr val="2D8C6F"/>
            </a:solidFill>
            <a:prstDash val="solid"/>
          </a:ln>
        </p:spPr>
      </p:sp>
      <p:sp>
        <p:nvSpPr>
          <p:cNvPr id="33" name="Text 31"/>
          <p:cNvSpPr/>
          <p:nvPr/>
        </p:nvSpPr>
        <p:spPr>
          <a:xfrm>
            <a:off x="4325112" y="1810512"/>
            <a:ext cx="7159752" cy="2185416"/>
          </a:xfrm>
          <a:prstGeom prst="rect">
            <a:avLst/>
          </a:prstGeom>
          <a:noFill/>
          <a:ln/>
        </p:spPr>
        <p:txBody>
          <a:bodyPr wrap="square" lIns="0" tIns="0" rIns="0" bIns="0" rtlCol="0" anchor="t"/>
          <a:lstStyle/>
          <a:p>
            <a:pPr marL="0" indent="0">
              <a:lnSpc>
                <a:spcPct val="102000"/>
              </a:lnSpc>
              <a:buNone/>
            </a:pPr>
            <a:r>
              <a:rPr lang="en-US" sz="980" dirty="0">
                <a:solidFill>
                  <a:srgbClr val="D6E6EF"/>
                </a:solidFill>
                <a:latin typeface="Consolas" pitchFamily="34" charset="0"/>
                <a:ea typeface="Consolas" pitchFamily="34" charset="-122"/>
                <a:cs typeface="Consolas" pitchFamily="34" charset="-120"/>
              </a:rPr>
              <a:t>x = </a:t>
            </a:r>
            <a:r>
              <a:rPr lang="en-US" sz="980" dirty="0">
                <a:solidFill>
                  <a:srgbClr val="8AD9C0"/>
                </a:solidFill>
                <a:latin typeface="Consolas" pitchFamily="34" charset="0"/>
                <a:ea typeface="Consolas" pitchFamily="34" charset="-122"/>
                <a:cs typeface="Consolas" pitchFamily="34" charset="-120"/>
              </a:rPr>
              <a:t>np</a:t>
            </a:r>
            <a:r>
              <a:rPr lang="en-US" sz="980" dirty="0">
                <a:solidFill>
                  <a:srgbClr val="D6E6EF"/>
                </a:solidFill>
                <a:latin typeface="Consolas" pitchFamily="34" charset="0"/>
                <a:ea typeface="Consolas" pitchFamily="34" charset="-122"/>
                <a:cs typeface="Consolas" pitchFamily="34" charset="-120"/>
              </a:rPr>
              <a:t>.array([</a:t>
            </a:r>
            <a:r>
              <a:rPr lang="en-US" sz="980" dirty="0">
                <a:solidFill>
                  <a:srgbClr val="F08A7C"/>
                </a:solidFill>
                <a:latin typeface="Consolas" pitchFamily="34" charset="0"/>
                <a:ea typeface="Consolas" pitchFamily="34" charset="-122"/>
                <a:cs typeface="Consolas" pitchFamily="34" charset="-120"/>
              </a:rPr>
              <a:t>1</a:t>
            </a:r>
            <a:r>
              <a:rPr lang="en-US" sz="980" dirty="0">
                <a:solidFill>
                  <a:srgbClr val="D6E6EF"/>
                </a:solidFill>
                <a:latin typeface="Consolas" pitchFamily="34" charset="0"/>
                <a:ea typeface="Consolas" pitchFamily="34" charset="-122"/>
                <a:cs typeface="Consolas" pitchFamily="34" charset="-120"/>
              </a:rPr>
              <a:t>, </a:t>
            </a:r>
            <a:r>
              <a:rPr lang="en-US" sz="980" dirty="0">
                <a:solidFill>
                  <a:srgbClr val="F08A7C"/>
                </a:solidFill>
                <a:latin typeface="Consolas" pitchFamily="34" charset="0"/>
                <a:ea typeface="Consolas" pitchFamily="34" charset="-122"/>
                <a:cs typeface="Consolas" pitchFamily="34" charset="-120"/>
              </a:rPr>
              <a:t>2</a:t>
            </a:r>
            <a:r>
              <a:rPr lang="en-US" sz="980" dirty="0">
                <a:solidFill>
                  <a:srgbClr val="D6E6EF"/>
                </a:solidFill>
                <a:latin typeface="Consolas" pitchFamily="34" charset="0"/>
                <a:ea typeface="Consolas" pitchFamily="34" charset="-122"/>
                <a:cs typeface="Consolas" pitchFamily="34" charset="-120"/>
              </a:rPr>
              <a:t>, </a:t>
            </a:r>
            <a:r>
              <a:rPr lang="en-US" sz="980" dirty="0">
                <a:solidFill>
                  <a:srgbClr val="F08A7C"/>
                </a:solidFill>
                <a:latin typeface="Consolas" pitchFamily="34" charset="0"/>
                <a:ea typeface="Consolas" pitchFamily="34" charset="-122"/>
                <a:cs typeface="Consolas" pitchFamily="34" charset="-120"/>
              </a:rPr>
              <a:t>3</a:t>
            </a:r>
            <a:r>
              <a:rPr lang="en-US" sz="980" dirty="0">
                <a:solidFill>
                  <a:srgbClr val="D6E6EF"/>
                </a:solidFill>
                <a:latin typeface="Consolas" pitchFamily="34" charset="0"/>
                <a:ea typeface="Consolas" pitchFamily="34" charset="-122"/>
                <a:cs typeface="Consolas" pitchFamily="34" charset="-120"/>
              </a:rPr>
              <a:t>])</a:t>
            </a:r>
            <a:endParaRPr lang="en-US" sz="980" dirty="0"/>
          </a:p>
          <a:p>
            <a:pPr marL="0" indent="0">
              <a:lnSpc>
                <a:spcPct val="102000"/>
              </a:lnSpc>
              <a:buNone/>
            </a:pPr>
            <a:r>
              <a:rPr lang="en-US" sz="980" dirty="0">
                <a:solidFill>
                  <a:srgbClr val="D6E6EF"/>
                </a:solidFill>
                <a:latin typeface="Consolas" pitchFamily="34" charset="0"/>
                <a:ea typeface="Consolas" pitchFamily="34" charset="-122"/>
                <a:cs typeface="Consolas" pitchFamily="34" charset="-120"/>
              </a:rPr>
              <a:t>y = </a:t>
            </a:r>
            <a:r>
              <a:rPr lang="en-US" sz="980" dirty="0">
                <a:solidFill>
                  <a:srgbClr val="8AD9C0"/>
                </a:solidFill>
                <a:latin typeface="Consolas" pitchFamily="34" charset="0"/>
                <a:ea typeface="Consolas" pitchFamily="34" charset="-122"/>
                <a:cs typeface="Consolas" pitchFamily="34" charset="-120"/>
              </a:rPr>
              <a:t>np</a:t>
            </a:r>
            <a:r>
              <a:rPr lang="en-US" sz="980" dirty="0">
                <a:solidFill>
                  <a:srgbClr val="D6E6EF"/>
                </a:solidFill>
                <a:latin typeface="Consolas" pitchFamily="34" charset="0"/>
                <a:ea typeface="Consolas" pitchFamily="34" charset="-122"/>
                <a:cs typeface="Consolas" pitchFamily="34" charset="-120"/>
              </a:rPr>
              <a:t>.array([</a:t>
            </a:r>
            <a:r>
              <a:rPr lang="en-US" sz="980" dirty="0">
                <a:solidFill>
                  <a:srgbClr val="F08A7C"/>
                </a:solidFill>
                <a:latin typeface="Consolas" pitchFamily="34" charset="0"/>
                <a:ea typeface="Consolas" pitchFamily="34" charset="-122"/>
                <a:cs typeface="Consolas" pitchFamily="34" charset="-120"/>
              </a:rPr>
              <a:t>4</a:t>
            </a:r>
            <a:r>
              <a:rPr lang="en-US" sz="980" dirty="0">
                <a:solidFill>
                  <a:srgbClr val="D6E6EF"/>
                </a:solidFill>
                <a:latin typeface="Consolas" pitchFamily="34" charset="0"/>
                <a:ea typeface="Consolas" pitchFamily="34" charset="-122"/>
                <a:cs typeface="Consolas" pitchFamily="34" charset="-120"/>
              </a:rPr>
              <a:t>, </a:t>
            </a:r>
            <a:r>
              <a:rPr lang="en-US" sz="980" dirty="0">
                <a:solidFill>
                  <a:srgbClr val="F08A7C"/>
                </a:solidFill>
                <a:latin typeface="Consolas" pitchFamily="34" charset="0"/>
                <a:ea typeface="Consolas" pitchFamily="34" charset="-122"/>
                <a:cs typeface="Consolas" pitchFamily="34" charset="-120"/>
              </a:rPr>
              <a:t>5</a:t>
            </a:r>
            <a:r>
              <a:rPr lang="en-US" sz="980" dirty="0">
                <a:solidFill>
                  <a:srgbClr val="D6E6EF"/>
                </a:solidFill>
                <a:latin typeface="Consolas" pitchFamily="34" charset="0"/>
                <a:ea typeface="Consolas" pitchFamily="34" charset="-122"/>
                <a:cs typeface="Consolas" pitchFamily="34" charset="-120"/>
              </a:rPr>
              <a:t>, </a:t>
            </a:r>
            <a:r>
              <a:rPr lang="en-US" sz="980" dirty="0">
                <a:solidFill>
                  <a:srgbClr val="F08A7C"/>
                </a:solidFill>
                <a:latin typeface="Consolas" pitchFamily="34" charset="0"/>
                <a:ea typeface="Consolas" pitchFamily="34" charset="-122"/>
                <a:cs typeface="Consolas" pitchFamily="34" charset="-120"/>
              </a:rPr>
              <a:t>6</a:t>
            </a:r>
            <a:r>
              <a:rPr lang="en-US" sz="980" dirty="0">
                <a:solidFill>
                  <a:srgbClr val="D6E6EF"/>
                </a:solidFill>
                <a:latin typeface="Consolas" pitchFamily="34" charset="0"/>
                <a:ea typeface="Consolas" pitchFamily="34" charset="-122"/>
                <a:cs typeface="Consolas" pitchFamily="34" charset="-120"/>
              </a:rPr>
              <a:t>])</a:t>
            </a:r>
            <a:endParaRPr lang="en-US" sz="980" dirty="0"/>
          </a:p>
          <a:p>
            <a:pPr marL="0" indent="0">
              <a:lnSpc>
                <a:spcPct val="102000"/>
              </a:lnSpc>
              <a:buNone/>
            </a:pPr>
            <a:r>
              <a:rPr lang="en-US" sz="980" dirty="0">
                <a:solidFill>
                  <a:srgbClr val="6FD0E4"/>
                </a:solidFill>
                <a:latin typeface="Consolas" pitchFamily="34" charset="0"/>
                <a:ea typeface="Consolas" pitchFamily="34" charset="-122"/>
                <a:cs typeface="Consolas" pitchFamily="34" charset="-120"/>
              </a:rPr>
              <a:t>print</a:t>
            </a:r>
            <a:r>
              <a:rPr lang="en-US" sz="980" dirty="0">
                <a:solidFill>
                  <a:srgbClr val="D6E6EF"/>
                </a:solidFill>
                <a:latin typeface="Consolas" pitchFamily="34" charset="0"/>
                <a:ea typeface="Consolas" pitchFamily="34" charset="-122"/>
                <a:cs typeface="Consolas" pitchFamily="34" charset="-120"/>
              </a:rPr>
              <a:t>(x + y)   </a:t>
            </a:r>
            <a:r>
              <a:rPr lang="en-US" sz="980" i="1" dirty="0">
                <a:solidFill>
                  <a:srgbClr val="6F93A3"/>
                </a:solidFill>
                <a:latin typeface="Consolas" pitchFamily="34" charset="0"/>
                <a:ea typeface="Consolas" pitchFamily="34" charset="-122"/>
                <a:cs typeface="Consolas" pitchFamily="34" charset="-120"/>
              </a:rPr>
              <a:t># [5 7 9]</a:t>
            </a:r>
            <a:endParaRPr lang="en-US" sz="980" dirty="0"/>
          </a:p>
          <a:p>
            <a:pPr marL="0" indent="0">
              <a:lnSpc>
                <a:spcPct val="102000"/>
              </a:lnSpc>
              <a:buNone/>
            </a:pPr>
            <a:r>
              <a:rPr lang="en-US" sz="980" dirty="0">
                <a:solidFill>
                  <a:srgbClr val="6FD0E4"/>
                </a:solidFill>
                <a:latin typeface="Consolas" pitchFamily="34" charset="0"/>
                <a:ea typeface="Consolas" pitchFamily="34" charset="-122"/>
                <a:cs typeface="Consolas" pitchFamily="34" charset="-120"/>
              </a:rPr>
              <a:t>print</a:t>
            </a:r>
            <a:r>
              <a:rPr lang="en-US" sz="980" dirty="0">
                <a:solidFill>
                  <a:srgbClr val="D6E6EF"/>
                </a:solidFill>
                <a:latin typeface="Consolas" pitchFamily="34" charset="0"/>
                <a:ea typeface="Consolas" pitchFamily="34" charset="-122"/>
                <a:cs typeface="Consolas" pitchFamily="34" charset="-120"/>
              </a:rPr>
              <a:t>(x - y)   </a:t>
            </a:r>
            <a:r>
              <a:rPr lang="en-US" sz="980" i="1" dirty="0">
                <a:solidFill>
                  <a:srgbClr val="6F93A3"/>
                </a:solidFill>
                <a:latin typeface="Consolas" pitchFamily="34" charset="0"/>
                <a:ea typeface="Consolas" pitchFamily="34" charset="-122"/>
                <a:cs typeface="Consolas" pitchFamily="34" charset="-120"/>
              </a:rPr>
              <a:t># [-3 -3 -3]</a:t>
            </a:r>
            <a:endParaRPr lang="en-US" sz="980" dirty="0"/>
          </a:p>
          <a:p>
            <a:pPr marL="0" indent="0">
              <a:lnSpc>
                <a:spcPct val="102000"/>
              </a:lnSpc>
              <a:buNone/>
            </a:pPr>
            <a:r>
              <a:rPr lang="en-US" sz="980" dirty="0">
                <a:solidFill>
                  <a:srgbClr val="6FD0E4"/>
                </a:solidFill>
                <a:latin typeface="Consolas" pitchFamily="34" charset="0"/>
                <a:ea typeface="Consolas" pitchFamily="34" charset="-122"/>
                <a:cs typeface="Consolas" pitchFamily="34" charset="-120"/>
              </a:rPr>
              <a:t>print</a:t>
            </a:r>
            <a:r>
              <a:rPr lang="en-US" sz="980" dirty="0">
                <a:solidFill>
                  <a:srgbClr val="D6E6EF"/>
                </a:solidFill>
                <a:latin typeface="Consolas" pitchFamily="34" charset="0"/>
                <a:ea typeface="Consolas" pitchFamily="34" charset="-122"/>
                <a:cs typeface="Consolas" pitchFamily="34" charset="-120"/>
              </a:rPr>
              <a:t>(x * y)   </a:t>
            </a:r>
            <a:r>
              <a:rPr lang="en-US" sz="980" i="1" dirty="0">
                <a:solidFill>
                  <a:srgbClr val="6F93A3"/>
                </a:solidFill>
                <a:latin typeface="Consolas" pitchFamily="34" charset="0"/>
                <a:ea typeface="Consolas" pitchFamily="34" charset="-122"/>
                <a:cs typeface="Consolas" pitchFamily="34" charset="-120"/>
              </a:rPr>
              <a:t># [ 4 10 18]</a:t>
            </a:r>
            <a:endParaRPr lang="en-US" sz="980" dirty="0"/>
          </a:p>
          <a:p>
            <a:pPr marL="0" indent="0">
              <a:lnSpc>
                <a:spcPct val="102000"/>
              </a:lnSpc>
              <a:buNone/>
            </a:pPr>
            <a:r>
              <a:rPr lang="en-US" sz="980" dirty="0">
                <a:solidFill>
                  <a:srgbClr val="6FD0E4"/>
                </a:solidFill>
                <a:latin typeface="Consolas" pitchFamily="34" charset="0"/>
                <a:ea typeface="Consolas" pitchFamily="34" charset="-122"/>
                <a:cs typeface="Consolas" pitchFamily="34" charset="-120"/>
              </a:rPr>
              <a:t>print</a:t>
            </a:r>
            <a:r>
              <a:rPr lang="en-US" sz="980" dirty="0">
                <a:solidFill>
                  <a:srgbClr val="D6E6EF"/>
                </a:solidFill>
                <a:latin typeface="Consolas" pitchFamily="34" charset="0"/>
                <a:ea typeface="Consolas" pitchFamily="34" charset="-122"/>
                <a:cs typeface="Consolas" pitchFamily="34" charset="-120"/>
              </a:rPr>
              <a:t>(x / y)   </a:t>
            </a:r>
            <a:r>
              <a:rPr lang="en-US" sz="980" i="1" dirty="0">
                <a:solidFill>
                  <a:srgbClr val="6F93A3"/>
                </a:solidFill>
                <a:latin typeface="Consolas" pitchFamily="34" charset="0"/>
                <a:ea typeface="Consolas" pitchFamily="34" charset="-122"/>
                <a:cs typeface="Consolas" pitchFamily="34" charset="-120"/>
              </a:rPr>
              <a:t># [0.25 0.4  0.5 ]</a:t>
            </a:r>
            <a:endParaRPr lang="en-US" sz="980" dirty="0"/>
          </a:p>
          <a:p>
            <a:pPr marL="0" indent="0">
              <a:lnSpc>
                <a:spcPct val="102000"/>
              </a:lnSpc>
              <a:buNone/>
            </a:pPr>
            <a:r>
              <a:rPr lang="en-US" sz="980" dirty="0">
                <a:solidFill>
                  <a:srgbClr val="6FD0E4"/>
                </a:solidFill>
                <a:latin typeface="Consolas" pitchFamily="34" charset="0"/>
                <a:ea typeface="Consolas" pitchFamily="34" charset="-122"/>
                <a:cs typeface="Consolas" pitchFamily="34" charset="-120"/>
              </a:rPr>
              <a:t>print</a:t>
            </a:r>
            <a:r>
              <a:rPr lang="en-US" sz="980" dirty="0">
                <a:solidFill>
                  <a:srgbClr val="D6E6EF"/>
                </a:solidFill>
                <a:latin typeface="Consolas" pitchFamily="34" charset="0"/>
                <a:ea typeface="Consolas" pitchFamily="34" charset="-122"/>
                <a:cs typeface="Consolas" pitchFamily="34" charset="-120"/>
              </a:rPr>
              <a:t>(x ** </a:t>
            </a:r>
            <a:r>
              <a:rPr lang="en-US" sz="980" dirty="0">
                <a:solidFill>
                  <a:srgbClr val="F08A7C"/>
                </a:solidFill>
                <a:latin typeface="Consolas" pitchFamily="34" charset="0"/>
                <a:ea typeface="Consolas" pitchFamily="34" charset="-122"/>
                <a:cs typeface="Consolas" pitchFamily="34" charset="-120"/>
              </a:rPr>
              <a:t>2</a:t>
            </a:r>
            <a:r>
              <a:rPr lang="en-US" sz="980" dirty="0">
                <a:solidFill>
                  <a:srgbClr val="D6E6EF"/>
                </a:solidFill>
                <a:latin typeface="Consolas" pitchFamily="34" charset="0"/>
                <a:ea typeface="Consolas" pitchFamily="34" charset="-122"/>
                <a:cs typeface="Consolas" pitchFamily="34" charset="-120"/>
              </a:rPr>
              <a:t>)  </a:t>
            </a:r>
            <a:r>
              <a:rPr lang="en-US" sz="980" i="1" dirty="0">
                <a:solidFill>
                  <a:srgbClr val="6F93A3"/>
                </a:solidFill>
                <a:latin typeface="Consolas" pitchFamily="34" charset="0"/>
                <a:ea typeface="Consolas" pitchFamily="34" charset="-122"/>
                <a:cs typeface="Consolas" pitchFamily="34" charset="-120"/>
              </a:rPr>
              <a:t># [1 4 9]</a:t>
            </a:r>
            <a:endParaRPr lang="en-US" sz="980" dirty="0"/>
          </a:p>
          <a:p>
            <a:pPr marL="0" indent="0">
              <a:lnSpc>
                <a:spcPct val="102000"/>
              </a:lnSpc>
              <a:buNone/>
            </a:pPr>
            <a:r>
              <a:rPr lang="en-US" sz="980" dirty="0">
                <a:solidFill>
                  <a:srgbClr val="6FD0E4"/>
                </a:solidFill>
                <a:latin typeface="Consolas" pitchFamily="34" charset="0"/>
                <a:ea typeface="Consolas" pitchFamily="34" charset="-122"/>
                <a:cs typeface="Consolas" pitchFamily="34" charset="-120"/>
              </a:rPr>
              <a:t>print</a:t>
            </a:r>
            <a:r>
              <a:rPr lang="en-US" sz="980" dirty="0">
                <a:solidFill>
                  <a:srgbClr val="D6E6EF"/>
                </a:solidFill>
                <a:latin typeface="Consolas" pitchFamily="34" charset="0"/>
                <a:ea typeface="Consolas" pitchFamily="34" charset="-122"/>
                <a:cs typeface="Consolas" pitchFamily="34" charset="-120"/>
              </a:rPr>
              <a:t>(x // </a:t>
            </a:r>
            <a:r>
              <a:rPr lang="en-US" sz="980" dirty="0">
                <a:solidFill>
                  <a:srgbClr val="F08A7C"/>
                </a:solidFill>
                <a:latin typeface="Consolas" pitchFamily="34" charset="0"/>
                <a:ea typeface="Consolas" pitchFamily="34" charset="-122"/>
                <a:cs typeface="Consolas" pitchFamily="34" charset="-120"/>
              </a:rPr>
              <a:t>2</a:t>
            </a:r>
            <a:r>
              <a:rPr lang="en-US" sz="980" dirty="0">
                <a:solidFill>
                  <a:srgbClr val="D6E6EF"/>
                </a:solidFill>
                <a:latin typeface="Consolas" pitchFamily="34" charset="0"/>
                <a:ea typeface="Consolas" pitchFamily="34" charset="-122"/>
                <a:cs typeface="Consolas" pitchFamily="34" charset="-120"/>
              </a:rPr>
              <a:t>)  </a:t>
            </a:r>
            <a:r>
              <a:rPr lang="en-US" sz="980" i="1" dirty="0">
                <a:solidFill>
                  <a:srgbClr val="6F93A3"/>
                </a:solidFill>
                <a:latin typeface="Consolas" pitchFamily="34" charset="0"/>
                <a:ea typeface="Consolas" pitchFamily="34" charset="-122"/>
                <a:cs typeface="Consolas" pitchFamily="34" charset="-120"/>
              </a:rPr>
              <a:t># [0 1 1]</a:t>
            </a:r>
            <a:endParaRPr lang="en-US" sz="980" dirty="0"/>
          </a:p>
          <a:p>
            <a:pPr marL="0" indent="0">
              <a:lnSpc>
                <a:spcPct val="102000"/>
              </a:lnSpc>
              <a:buNone/>
            </a:pPr>
            <a:r>
              <a:rPr lang="en-US" sz="980" dirty="0">
                <a:solidFill>
                  <a:srgbClr val="6FD0E4"/>
                </a:solidFill>
                <a:latin typeface="Consolas" pitchFamily="34" charset="0"/>
                <a:ea typeface="Consolas" pitchFamily="34" charset="-122"/>
                <a:cs typeface="Consolas" pitchFamily="34" charset="-120"/>
              </a:rPr>
              <a:t>print</a:t>
            </a:r>
            <a:r>
              <a:rPr lang="en-US" sz="980" dirty="0">
                <a:solidFill>
                  <a:srgbClr val="D6E6EF"/>
                </a:solidFill>
                <a:latin typeface="Consolas" pitchFamily="34" charset="0"/>
                <a:ea typeface="Consolas" pitchFamily="34" charset="-122"/>
                <a:cs typeface="Consolas" pitchFamily="34" charset="-120"/>
              </a:rPr>
              <a:t>(x % </a:t>
            </a:r>
            <a:r>
              <a:rPr lang="en-US" sz="980" dirty="0">
                <a:solidFill>
                  <a:srgbClr val="F08A7C"/>
                </a:solidFill>
                <a:latin typeface="Consolas" pitchFamily="34" charset="0"/>
                <a:ea typeface="Consolas" pitchFamily="34" charset="-122"/>
                <a:cs typeface="Consolas" pitchFamily="34" charset="-120"/>
              </a:rPr>
              <a:t>2</a:t>
            </a:r>
            <a:r>
              <a:rPr lang="en-US" sz="980" dirty="0">
                <a:solidFill>
                  <a:srgbClr val="D6E6EF"/>
                </a:solidFill>
                <a:latin typeface="Consolas" pitchFamily="34" charset="0"/>
                <a:ea typeface="Consolas" pitchFamily="34" charset="-122"/>
                <a:cs typeface="Consolas" pitchFamily="34" charset="-120"/>
              </a:rPr>
              <a:t>)   </a:t>
            </a:r>
            <a:r>
              <a:rPr lang="en-US" sz="980" i="1" dirty="0">
                <a:solidFill>
                  <a:srgbClr val="6F93A3"/>
                </a:solidFill>
                <a:latin typeface="Consolas" pitchFamily="34" charset="0"/>
                <a:ea typeface="Consolas" pitchFamily="34" charset="-122"/>
                <a:cs typeface="Consolas" pitchFamily="34" charset="-120"/>
              </a:rPr>
              <a:t># [1 0 1]</a:t>
            </a:r>
            <a:endParaRPr lang="en-US" sz="980" dirty="0"/>
          </a:p>
        </p:txBody>
      </p:sp>
      <p:sp>
        <p:nvSpPr>
          <p:cNvPr id="34" name="Shape 32"/>
          <p:cNvSpPr/>
          <p:nvPr/>
        </p:nvSpPr>
        <p:spPr>
          <a:xfrm>
            <a:off x="4160520" y="4206240"/>
            <a:ext cx="7452360" cy="1051560"/>
          </a:xfrm>
          <a:prstGeom prst="roundRect">
            <a:avLst>
              <a:gd name="adj" fmla="val 4348"/>
            </a:avLst>
          </a:prstGeom>
          <a:solidFill>
            <a:srgbClr val="FFFFFF"/>
          </a:solidFill>
          <a:ln w="9525">
            <a:solidFill>
              <a:srgbClr val="CFE5EE"/>
            </a:solidFill>
            <a:prstDash val="solid"/>
          </a:ln>
        </p:spPr>
      </p:sp>
      <p:sp>
        <p:nvSpPr>
          <p:cNvPr id="35" name="Text 33"/>
          <p:cNvSpPr/>
          <p:nvPr/>
        </p:nvSpPr>
        <p:spPr>
          <a:xfrm>
            <a:off x="4306824" y="4297680"/>
            <a:ext cx="7178040" cy="164592"/>
          </a:xfrm>
          <a:prstGeom prst="rect">
            <a:avLst/>
          </a:prstGeom>
          <a:noFill/>
          <a:ln/>
        </p:spPr>
        <p:txBody>
          <a:bodyPr wrap="square" lIns="0" tIns="0" rIns="0" bIns="0" rtlCol="0" anchor="t"/>
          <a:lstStyle/>
          <a:p>
            <a:pPr marL="0" indent="0">
              <a:buNone/>
            </a:pPr>
            <a:r>
              <a:rPr lang="en-US" sz="800" b="1" kern="0" spc="120" dirty="0">
                <a:solidFill>
                  <a:srgbClr val="2D8C6F"/>
                </a:solidFill>
                <a:latin typeface="Segoe UI" pitchFamily="34" charset="0"/>
                <a:ea typeface="Segoe UI" pitchFamily="34" charset="-122"/>
                <a:cs typeface="Segoe UI" pitchFamily="34" charset="-120"/>
              </a:rPr>
              <a:t>KẾT QUẢ</a:t>
            </a:r>
            <a:endParaRPr lang="en-US" sz="800" dirty="0"/>
          </a:p>
        </p:txBody>
      </p:sp>
      <p:sp>
        <p:nvSpPr>
          <p:cNvPr id="36" name="Text 34"/>
          <p:cNvSpPr/>
          <p:nvPr/>
        </p:nvSpPr>
        <p:spPr>
          <a:xfrm>
            <a:off x="4306824" y="4517136"/>
            <a:ext cx="7178040" cy="667512"/>
          </a:xfrm>
          <a:prstGeom prst="rect">
            <a:avLst/>
          </a:prstGeom>
          <a:noFill/>
          <a:ln/>
        </p:spPr>
        <p:txBody>
          <a:bodyPr wrap="square" lIns="0" tIns="0" rIns="0" bIns="0" rtlCol="0" anchor="t"/>
          <a:lstStyle/>
          <a:p>
            <a:pPr marL="0" indent="0">
              <a:lnSpc>
                <a:spcPct val="102000"/>
              </a:lnSpc>
              <a:buNone/>
            </a:pPr>
            <a:r>
              <a:rPr lang="en-US" sz="950" dirty="0">
                <a:solidFill>
                  <a:srgbClr val="062A3A"/>
                </a:solidFill>
                <a:latin typeface="Consolas" pitchFamily="34" charset="0"/>
                <a:ea typeface="Consolas" pitchFamily="34" charset="-122"/>
                <a:cs typeface="Consolas" pitchFamily="34" charset="-120"/>
              </a:rPr>
              <a:t>[5 7 9]   [-3 -3 -3]   [ 4 10 18]   [0.25 0.4  0.5 ]</a:t>
            </a:r>
            <a:endParaRPr lang="en-US" sz="950" dirty="0"/>
          </a:p>
          <a:p>
            <a:pPr marL="0" indent="0">
              <a:lnSpc>
                <a:spcPct val="102000"/>
              </a:lnSpc>
              <a:buNone/>
            </a:pPr>
            <a:r>
              <a:rPr lang="en-US" sz="950" dirty="0">
                <a:solidFill>
                  <a:srgbClr val="062A3A"/>
                </a:solidFill>
                <a:latin typeface="Consolas" pitchFamily="34" charset="0"/>
                <a:ea typeface="Consolas" pitchFamily="34" charset="-122"/>
                <a:cs typeface="Consolas" pitchFamily="34" charset="-120"/>
              </a:rPr>
              <a:t>[1 4 9]   [0 1 1]   [1 0 1]</a:t>
            </a:r>
            <a:endParaRPr lang="en-US" sz="950" dirty="0"/>
          </a:p>
        </p:txBody>
      </p:sp>
      <p:sp>
        <p:nvSpPr>
          <p:cNvPr id="37" name="Text 35"/>
          <p:cNvSpPr/>
          <p:nvPr/>
        </p:nvSpPr>
        <p:spPr>
          <a:xfrm>
            <a:off x="548640" y="5486400"/>
            <a:ext cx="11064240" cy="411480"/>
          </a:xfrm>
          <a:prstGeom prst="rect">
            <a:avLst/>
          </a:prstGeom>
          <a:noFill/>
          <a:ln/>
        </p:spPr>
        <p:txBody>
          <a:bodyPr wrap="square" lIns="0" tIns="0" rIns="0" bIns="0" rtlCol="0" anchor="t"/>
          <a:lstStyle/>
          <a:p>
            <a:pPr marL="0" indent="0">
              <a:buNone/>
            </a:pPr>
            <a:r>
              <a:rPr lang="en-US" sz="1050" i="1" dirty="0">
                <a:solidFill>
                  <a:srgbClr val="728694"/>
                </a:solidFill>
                <a:latin typeface="Segoe UI" pitchFamily="34" charset="0"/>
                <a:ea typeface="Segoe UI" pitchFamily="34" charset="-122"/>
                <a:cs typeface="Segoe UI" pitchFamily="34" charset="-120"/>
              </a:rPr>
              <a:t>Mỗi toán tử áp cho từng cặp phần tử; kết quả cùng shape (sau broadcasting). / luôn trả về số thực, // là chia lấy phần nguyên.</a:t>
            </a:r>
            <a:endParaRPr lang="en-US" sz="1050" dirty="0"/>
          </a:p>
        </p:txBody>
      </p:sp>
      <p:sp>
        <p:nvSpPr>
          <p:cNvPr id="38" name="Shape 36"/>
          <p:cNvSpPr/>
          <p:nvPr/>
        </p:nvSpPr>
        <p:spPr>
          <a:xfrm>
            <a:off x="548640" y="6391656"/>
            <a:ext cx="11091672" cy="9144"/>
          </a:xfrm>
          <a:prstGeom prst="rect">
            <a:avLst/>
          </a:prstGeom>
          <a:solidFill>
            <a:srgbClr val="D7E5EC"/>
          </a:solidFill>
          <a:ln w="12700">
            <a:solidFill>
              <a:srgbClr val="D7E5EC"/>
            </a:solidFill>
            <a:prstDash val="solid"/>
          </a:ln>
        </p:spPr>
      </p:sp>
      <p:sp>
        <p:nvSpPr>
          <p:cNvPr id="39" name="Text 37"/>
          <p:cNvSpPr/>
          <p:nvPr/>
        </p:nvSpPr>
        <p:spPr>
          <a:xfrm>
            <a:off x="548640" y="6473952"/>
            <a:ext cx="7772400" cy="182880"/>
          </a:xfrm>
          <a:prstGeom prst="rect">
            <a:avLst/>
          </a:prstGeom>
          <a:noFill/>
          <a:ln/>
        </p:spPr>
        <p:txBody>
          <a:bodyPr wrap="square" lIns="0" tIns="0" rIns="0" bIns="0" rtlCol="0" anchor="t"/>
          <a:lstStyle/>
          <a:p>
            <a:pPr marL="0" indent="0">
              <a:buNone/>
            </a:pPr>
            <a:r>
              <a:rPr lang="en-US" sz="850" dirty="0">
                <a:solidFill>
                  <a:srgbClr val="728694"/>
                </a:solidFill>
                <a:latin typeface="Segoe UI" pitchFamily="34" charset="0"/>
                <a:ea typeface="Segoe UI" pitchFamily="34" charset="-122"/>
                <a:cs typeface="Segoe UI" pitchFamily="34" charset="-120"/>
              </a:rPr>
              <a:t>Tìm hiểu thư viện NumPy trong Python</a:t>
            </a:r>
            <a:endParaRPr lang="en-US" sz="850" dirty="0"/>
          </a:p>
        </p:txBody>
      </p:sp>
      <p:sp>
        <p:nvSpPr>
          <p:cNvPr id="40" name="Text 38"/>
          <p:cNvSpPr/>
          <p:nvPr/>
        </p:nvSpPr>
        <p:spPr>
          <a:xfrm>
            <a:off x="10698480" y="6473952"/>
            <a:ext cx="941832" cy="182880"/>
          </a:xfrm>
          <a:prstGeom prst="rect">
            <a:avLst/>
          </a:prstGeom>
          <a:noFill/>
          <a:ln/>
        </p:spPr>
        <p:txBody>
          <a:bodyPr wrap="square" lIns="0" tIns="0" rIns="0" bIns="0" rtlCol="0" anchor="t"/>
          <a:lstStyle/>
          <a:p>
            <a:pPr marL="0" indent="0" algn="r">
              <a:buNone/>
            </a:pPr>
            <a:r>
              <a:rPr lang="en-US" sz="850" dirty="0">
                <a:solidFill>
                  <a:srgbClr val="728694"/>
                </a:solidFill>
                <a:latin typeface="Segoe UI" pitchFamily="34" charset="0"/>
                <a:ea typeface="Segoe UI" pitchFamily="34" charset="-122"/>
                <a:cs typeface="Segoe UI" pitchFamily="34" charset="-120"/>
              </a:rPr>
              <a:t>17 / 25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301752"/>
            <a:ext cx="10881360" cy="201168"/>
          </a:xfrm>
          <a:prstGeom prst="rect">
            <a:avLst/>
          </a:prstGeom>
          <a:noFill/>
          <a:ln/>
        </p:spPr>
        <p:txBody>
          <a:bodyPr wrap="square" lIns="0" tIns="0" rIns="0" bIns="0" rtlCol="0" anchor="t"/>
          <a:lstStyle/>
          <a:p>
            <a:pPr marL="0" indent="0">
              <a:buNone/>
            </a:pPr>
            <a:r>
              <a:rPr lang="en-US" sz="950" b="1" kern="0" spc="160" dirty="0">
                <a:solidFill>
                  <a:srgbClr val="1B8EA8"/>
                </a:solidFill>
                <a:latin typeface="Segoe UI" pitchFamily="34" charset="0"/>
                <a:ea typeface="Segoe UI" pitchFamily="34" charset="-122"/>
                <a:cs typeface="Segoe UI" pitchFamily="34" charset="-120"/>
              </a:rPr>
              <a:t>05 · TÍNH TOÁN</a:t>
            </a:r>
            <a:endParaRPr lang="en-US" sz="950" dirty="0"/>
          </a:p>
        </p:txBody>
      </p:sp>
      <p:sp>
        <p:nvSpPr>
          <p:cNvPr id="3" name="Text 1"/>
          <p:cNvSpPr/>
          <p:nvPr/>
        </p:nvSpPr>
        <p:spPr>
          <a:xfrm>
            <a:off x="548640" y="502920"/>
            <a:ext cx="10881360" cy="640080"/>
          </a:xfrm>
          <a:prstGeom prst="rect">
            <a:avLst/>
          </a:prstGeom>
          <a:noFill/>
          <a:ln/>
        </p:spPr>
        <p:txBody>
          <a:bodyPr wrap="square" lIns="0" tIns="0" rIns="0" bIns="0" rtlCol="0" anchor="ctr"/>
          <a:lstStyle/>
          <a:p>
            <a:pPr marL="0" indent="0">
              <a:buNone/>
            </a:pPr>
            <a:r>
              <a:rPr lang="en-US" sz="2800" b="1" dirty="0">
                <a:solidFill>
                  <a:srgbClr val="062A3A"/>
                </a:solidFill>
                <a:latin typeface="Segoe UI" pitchFamily="34" charset="0"/>
                <a:ea typeface="Segoe UI" pitchFamily="34" charset="-122"/>
                <a:cs typeface="Segoe UI" pitchFamily="34" charset="-120"/>
              </a:rPr>
              <a:t>Toán tử * và @ khác nhau thế nào?</a:t>
            </a:r>
            <a:endParaRPr lang="en-US" sz="2800" dirty="0"/>
          </a:p>
        </p:txBody>
      </p:sp>
      <p:sp>
        <p:nvSpPr>
          <p:cNvPr id="4" name="Shape 2"/>
          <p:cNvSpPr/>
          <p:nvPr/>
        </p:nvSpPr>
        <p:spPr>
          <a:xfrm>
            <a:off x="548640" y="1225296"/>
            <a:ext cx="868680" cy="41148"/>
          </a:xfrm>
          <a:prstGeom prst="rect">
            <a:avLst/>
          </a:prstGeom>
          <a:solidFill>
            <a:srgbClr val="1B8EA8"/>
          </a:solidFill>
          <a:ln w="12700">
            <a:solidFill>
              <a:srgbClr val="1B8EA8"/>
            </a:solidFill>
            <a:prstDash val="solid"/>
          </a:ln>
        </p:spPr>
      </p:sp>
      <p:sp>
        <p:nvSpPr>
          <p:cNvPr id="5" name="Text 3"/>
          <p:cNvSpPr/>
          <p:nvPr/>
        </p:nvSpPr>
        <p:spPr>
          <a:xfrm>
            <a:off x="640080" y="1618488"/>
            <a:ext cx="1188720" cy="201168"/>
          </a:xfrm>
          <a:prstGeom prst="rect">
            <a:avLst/>
          </a:prstGeom>
          <a:noFill/>
          <a:ln/>
        </p:spPr>
        <p:txBody>
          <a:bodyPr wrap="square" lIns="0" tIns="0" rIns="0" bIns="0" rtlCol="0" anchor="t"/>
          <a:lstStyle/>
          <a:p>
            <a:pPr marL="0" indent="0" algn="ctr">
              <a:buNone/>
            </a:pPr>
            <a:r>
              <a:rPr lang="en-US" sz="900" b="1" dirty="0">
                <a:solidFill>
                  <a:srgbClr val="415A6B"/>
                </a:solidFill>
                <a:latin typeface="Consolas" pitchFamily="34" charset="0"/>
                <a:ea typeface="Consolas" pitchFamily="34" charset="-122"/>
                <a:cs typeface="Consolas" pitchFamily="34" charset="-120"/>
              </a:rPr>
              <a:t>A</a:t>
            </a:r>
            <a:endParaRPr lang="en-US" sz="900" dirty="0"/>
          </a:p>
        </p:txBody>
      </p:sp>
      <p:sp>
        <p:nvSpPr>
          <p:cNvPr id="6" name="Shape 4"/>
          <p:cNvSpPr/>
          <p:nvPr/>
        </p:nvSpPr>
        <p:spPr>
          <a:xfrm>
            <a:off x="640080" y="1874520"/>
            <a:ext cx="438912" cy="384048"/>
          </a:xfrm>
          <a:prstGeom prst="rect">
            <a:avLst/>
          </a:prstGeom>
          <a:solidFill>
            <a:srgbClr val="E8A33D"/>
          </a:solidFill>
          <a:ln w="9525">
            <a:solidFill>
              <a:srgbClr val="A9CDDB"/>
            </a:solidFill>
            <a:prstDash val="solid"/>
          </a:ln>
        </p:spPr>
      </p:sp>
      <p:sp>
        <p:nvSpPr>
          <p:cNvPr id="7" name="Text 5"/>
          <p:cNvSpPr/>
          <p:nvPr/>
        </p:nvSpPr>
        <p:spPr>
          <a:xfrm>
            <a:off x="640080" y="1874520"/>
            <a:ext cx="438912" cy="384048"/>
          </a:xfrm>
          <a:prstGeom prst="rect">
            <a:avLst/>
          </a:prstGeom>
          <a:noFill/>
          <a:ln/>
        </p:spPr>
        <p:txBody>
          <a:bodyPr wrap="square" lIns="0" tIns="0" rIns="0" bIns="0" rtlCol="0" anchor="ctr"/>
          <a:lstStyle/>
          <a:p>
            <a:pPr marL="0" indent="0" algn="ctr">
              <a:buNone/>
            </a:pPr>
            <a:r>
              <a:rPr lang="en-US" sz="1050" dirty="0">
                <a:solidFill>
                  <a:srgbClr val="FFFFFF"/>
                </a:solidFill>
                <a:latin typeface="Consolas" pitchFamily="34" charset="0"/>
                <a:ea typeface="Consolas" pitchFamily="34" charset="-122"/>
                <a:cs typeface="Consolas" pitchFamily="34" charset="-120"/>
              </a:rPr>
              <a:t>1</a:t>
            </a:r>
            <a:endParaRPr lang="en-US" sz="1050" dirty="0"/>
          </a:p>
        </p:txBody>
      </p:sp>
      <p:sp>
        <p:nvSpPr>
          <p:cNvPr id="8" name="Shape 6"/>
          <p:cNvSpPr/>
          <p:nvPr/>
        </p:nvSpPr>
        <p:spPr>
          <a:xfrm>
            <a:off x="1078992" y="1874520"/>
            <a:ext cx="438912" cy="384048"/>
          </a:xfrm>
          <a:prstGeom prst="rect">
            <a:avLst/>
          </a:prstGeom>
          <a:solidFill>
            <a:srgbClr val="EAF4F8"/>
          </a:solidFill>
          <a:ln w="9525">
            <a:solidFill>
              <a:srgbClr val="A9CDDB"/>
            </a:solidFill>
            <a:prstDash val="solid"/>
          </a:ln>
        </p:spPr>
      </p:sp>
      <p:sp>
        <p:nvSpPr>
          <p:cNvPr id="9" name="Text 7"/>
          <p:cNvSpPr/>
          <p:nvPr/>
        </p:nvSpPr>
        <p:spPr>
          <a:xfrm>
            <a:off x="1078992" y="1874520"/>
            <a:ext cx="438912" cy="384048"/>
          </a:xfrm>
          <a:prstGeom prst="rect">
            <a:avLst/>
          </a:prstGeom>
          <a:noFill/>
          <a:ln/>
        </p:spPr>
        <p:txBody>
          <a:bodyPr wrap="square" lIns="0" tIns="0" rIns="0" bIns="0" rtlCol="0" anchor="ctr"/>
          <a:lstStyle/>
          <a:p>
            <a:pPr marL="0" indent="0" algn="ctr">
              <a:buNone/>
            </a:pPr>
            <a:r>
              <a:rPr lang="en-US" sz="1050" dirty="0">
                <a:solidFill>
                  <a:srgbClr val="062A3A"/>
                </a:solidFill>
                <a:latin typeface="Consolas" pitchFamily="34" charset="0"/>
                <a:ea typeface="Consolas" pitchFamily="34" charset="-122"/>
                <a:cs typeface="Consolas" pitchFamily="34" charset="-120"/>
              </a:rPr>
              <a:t>2</a:t>
            </a:r>
            <a:endParaRPr lang="en-US" sz="1050" dirty="0"/>
          </a:p>
        </p:txBody>
      </p:sp>
      <p:sp>
        <p:nvSpPr>
          <p:cNvPr id="10" name="Shape 8"/>
          <p:cNvSpPr/>
          <p:nvPr/>
        </p:nvSpPr>
        <p:spPr>
          <a:xfrm>
            <a:off x="640080" y="2258568"/>
            <a:ext cx="438912" cy="384048"/>
          </a:xfrm>
          <a:prstGeom prst="rect">
            <a:avLst/>
          </a:prstGeom>
          <a:solidFill>
            <a:srgbClr val="EAF4F8"/>
          </a:solidFill>
          <a:ln w="9525">
            <a:solidFill>
              <a:srgbClr val="A9CDDB"/>
            </a:solidFill>
            <a:prstDash val="solid"/>
          </a:ln>
        </p:spPr>
      </p:sp>
      <p:sp>
        <p:nvSpPr>
          <p:cNvPr id="11" name="Text 9"/>
          <p:cNvSpPr/>
          <p:nvPr/>
        </p:nvSpPr>
        <p:spPr>
          <a:xfrm>
            <a:off x="640080" y="2258568"/>
            <a:ext cx="438912" cy="384048"/>
          </a:xfrm>
          <a:prstGeom prst="rect">
            <a:avLst/>
          </a:prstGeom>
          <a:noFill/>
          <a:ln/>
        </p:spPr>
        <p:txBody>
          <a:bodyPr wrap="square" lIns="0" tIns="0" rIns="0" bIns="0" rtlCol="0" anchor="ctr"/>
          <a:lstStyle/>
          <a:p>
            <a:pPr marL="0" indent="0" algn="ctr">
              <a:buNone/>
            </a:pPr>
            <a:r>
              <a:rPr lang="en-US" sz="1050" dirty="0">
                <a:solidFill>
                  <a:srgbClr val="062A3A"/>
                </a:solidFill>
                <a:latin typeface="Consolas" pitchFamily="34" charset="0"/>
                <a:ea typeface="Consolas" pitchFamily="34" charset="-122"/>
                <a:cs typeface="Consolas" pitchFamily="34" charset="-120"/>
              </a:rPr>
              <a:t>3</a:t>
            </a:r>
            <a:endParaRPr lang="en-US" sz="1050" dirty="0"/>
          </a:p>
        </p:txBody>
      </p:sp>
      <p:sp>
        <p:nvSpPr>
          <p:cNvPr id="12" name="Shape 10"/>
          <p:cNvSpPr/>
          <p:nvPr/>
        </p:nvSpPr>
        <p:spPr>
          <a:xfrm>
            <a:off x="1078992" y="2258568"/>
            <a:ext cx="438912" cy="384048"/>
          </a:xfrm>
          <a:prstGeom prst="rect">
            <a:avLst/>
          </a:prstGeom>
          <a:solidFill>
            <a:srgbClr val="EAF4F8"/>
          </a:solidFill>
          <a:ln w="9525">
            <a:solidFill>
              <a:srgbClr val="A9CDDB"/>
            </a:solidFill>
            <a:prstDash val="solid"/>
          </a:ln>
        </p:spPr>
      </p:sp>
      <p:sp>
        <p:nvSpPr>
          <p:cNvPr id="13" name="Text 11"/>
          <p:cNvSpPr/>
          <p:nvPr/>
        </p:nvSpPr>
        <p:spPr>
          <a:xfrm>
            <a:off x="1078992" y="2258568"/>
            <a:ext cx="438912" cy="384048"/>
          </a:xfrm>
          <a:prstGeom prst="rect">
            <a:avLst/>
          </a:prstGeom>
          <a:noFill/>
          <a:ln/>
        </p:spPr>
        <p:txBody>
          <a:bodyPr wrap="square" lIns="0" tIns="0" rIns="0" bIns="0" rtlCol="0" anchor="ctr"/>
          <a:lstStyle/>
          <a:p>
            <a:pPr marL="0" indent="0" algn="ctr">
              <a:buNone/>
            </a:pPr>
            <a:r>
              <a:rPr lang="en-US" sz="1050" dirty="0">
                <a:solidFill>
                  <a:srgbClr val="062A3A"/>
                </a:solidFill>
                <a:latin typeface="Consolas" pitchFamily="34" charset="0"/>
                <a:ea typeface="Consolas" pitchFamily="34" charset="-122"/>
                <a:cs typeface="Consolas" pitchFamily="34" charset="-120"/>
              </a:rPr>
              <a:t>4</a:t>
            </a:r>
            <a:endParaRPr lang="en-US" sz="1050" dirty="0"/>
          </a:p>
        </p:txBody>
      </p:sp>
      <p:sp>
        <p:nvSpPr>
          <p:cNvPr id="14" name="Text 12"/>
          <p:cNvSpPr/>
          <p:nvPr/>
        </p:nvSpPr>
        <p:spPr>
          <a:xfrm>
            <a:off x="1627632" y="2286000"/>
            <a:ext cx="274320" cy="274320"/>
          </a:xfrm>
          <a:prstGeom prst="rect">
            <a:avLst/>
          </a:prstGeom>
          <a:noFill/>
          <a:ln/>
        </p:spPr>
        <p:txBody>
          <a:bodyPr wrap="square" lIns="0" tIns="0" rIns="0" bIns="0" rtlCol="0" anchor="t"/>
          <a:lstStyle/>
          <a:p>
            <a:pPr marL="0" indent="0" algn="ctr">
              <a:buNone/>
            </a:pPr>
            <a:r>
              <a:rPr lang="en-US" sz="1600" b="1" dirty="0">
                <a:solidFill>
                  <a:srgbClr val="1B8EA8"/>
                </a:solidFill>
                <a:latin typeface="Segoe UI" pitchFamily="34" charset="0"/>
                <a:ea typeface="Segoe UI" pitchFamily="34" charset="-122"/>
                <a:cs typeface="Segoe UI" pitchFamily="34" charset="-120"/>
              </a:rPr>
              <a:t>*</a:t>
            </a:r>
            <a:endParaRPr lang="en-US" sz="1600" dirty="0"/>
          </a:p>
        </p:txBody>
      </p:sp>
      <p:sp>
        <p:nvSpPr>
          <p:cNvPr id="15" name="Text 13"/>
          <p:cNvSpPr/>
          <p:nvPr/>
        </p:nvSpPr>
        <p:spPr>
          <a:xfrm>
            <a:off x="1965960" y="1618488"/>
            <a:ext cx="1188720" cy="201168"/>
          </a:xfrm>
          <a:prstGeom prst="rect">
            <a:avLst/>
          </a:prstGeom>
          <a:noFill/>
          <a:ln/>
        </p:spPr>
        <p:txBody>
          <a:bodyPr wrap="square" lIns="0" tIns="0" rIns="0" bIns="0" rtlCol="0" anchor="t"/>
          <a:lstStyle/>
          <a:p>
            <a:pPr marL="0" indent="0" algn="ctr">
              <a:buNone/>
            </a:pPr>
            <a:r>
              <a:rPr lang="en-US" sz="900" b="1" dirty="0">
                <a:solidFill>
                  <a:srgbClr val="415A6B"/>
                </a:solidFill>
                <a:latin typeface="Consolas" pitchFamily="34" charset="0"/>
                <a:ea typeface="Consolas" pitchFamily="34" charset="-122"/>
                <a:cs typeface="Consolas" pitchFamily="34" charset="-120"/>
              </a:rPr>
              <a:t>B</a:t>
            </a:r>
            <a:endParaRPr lang="en-US" sz="900" dirty="0"/>
          </a:p>
        </p:txBody>
      </p:sp>
      <p:sp>
        <p:nvSpPr>
          <p:cNvPr id="16" name="Shape 14"/>
          <p:cNvSpPr/>
          <p:nvPr/>
        </p:nvSpPr>
        <p:spPr>
          <a:xfrm>
            <a:off x="1965960" y="1874520"/>
            <a:ext cx="438912" cy="384048"/>
          </a:xfrm>
          <a:prstGeom prst="rect">
            <a:avLst/>
          </a:prstGeom>
          <a:solidFill>
            <a:srgbClr val="E8A33D"/>
          </a:solidFill>
          <a:ln w="9525">
            <a:solidFill>
              <a:srgbClr val="A9CDDB"/>
            </a:solidFill>
            <a:prstDash val="solid"/>
          </a:ln>
        </p:spPr>
      </p:sp>
      <p:sp>
        <p:nvSpPr>
          <p:cNvPr id="17" name="Text 15"/>
          <p:cNvSpPr/>
          <p:nvPr/>
        </p:nvSpPr>
        <p:spPr>
          <a:xfrm>
            <a:off x="1965960" y="1874520"/>
            <a:ext cx="438912" cy="384048"/>
          </a:xfrm>
          <a:prstGeom prst="rect">
            <a:avLst/>
          </a:prstGeom>
          <a:noFill/>
          <a:ln/>
        </p:spPr>
        <p:txBody>
          <a:bodyPr wrap="square" lIns="0" tIns="0" rIns="0" bIns="0" rtlCol="0" anchor="ctr"/>
          <a:lstStyle/>
          <a:p>
            <a:pPr marL="0" indent="0" algn="ctr">
              <a:buNone/>
            </a:pPr>
            <a:r>
              <a:rPr lang="en-US" sz="1050" dirty="0">
                <a:solidFill>
                  <a:srgbClr val="FFFFFF"/>
                </a:solidFill>
                <a:latin typeface="Consolas" pitchFamily="34" charset="0"/>
                <a:ea typeface="Consolas" pitchFamily="34" charset="-122"/>
                <a:cs typeface="Consolas" pitchFamily="34" charset="-120"/>
              </a:rPr>
              <a:t>5</a:t>
            </a:r>
            <a:endParaRPr lang="en-US" sz="1050" dirty="0"/>
          </a:p>
        </p:txBody>
      </p:sp>
      <p:sp>
        <p:nvSpPr>
          <p:cNvPr id="18" name="Shape 16"/>
          <p:cNvSpPr/>
          <p:nvPr/>
        </p:nvSpPr>
        <p:spPr>
          <a:xfrm>
            <a:off x="2404872" y="1874520"/>
            <a:ext cx="438912" cy="384048"/>
          </a:xfrm>
          <a:prstGeom prst="rect">
            <a:avLst/>
          </a:prstGeom>
          <a:solidFill>
            <a:srgbClr val="EAF4F8"/>
          </a:solidFill>
          <a:ln w="9525">
            <a:solidFill>
              <a:srgbClr val="A9CDDB"/>
            </a:solidFill>
            <a:prstDash val="solid"/>
          </a:ln>
        </p:spPr>
      </p:sp>
      <p:sp>
        <p:nvSpPr>
          <p:cNvPr id="19" name="Text 17"/>
          <p:cNvSpPr/>
          <p:nvPr/>
        </p:nvSpPr>
        <p:spPr>
          <a:xfrm>
            <a:off x="2404872" y="1874520"/>
            <a:ext cx="438912" cy="384048"/>
          </a:xfrm>
          <a:prstGeom prst="rect">
            <a:avLst/>
          </a:prstGeom>
          <a:noFill/>
          <a:ln/>
        </p:spPr>
        <p:txBody>
          <a:bodyPr wrap="square" lIns="0" tIns="0" rIns="0" bIns="0" rtlCol="0" anchor="ctr"/>
          <a:lstStyle/>
          <a:p>
            <a:pPr marL="0" indent="0" algn="ctr">
              <a:buNone/>
            </a:pPr>
            <a:r>
              <a:rPr lang="en-US" sz="1050" dirty="0">
                <a:solidFill>
                  <a:srgbClr val="062A3A"/>
                </a:solidFill>
                <a:latin typeface="Consolas" pitchFamily="34" charset="0"/>
                <a:ea typeface="Consolas" pitchFamily="34" charset="-122"/>
                <a:cs typeface="Consolas" pitchFamily="34" charset="-120"/>
              </a:rPr>
              <a:t>6</a:t>
            </a:r>
            <a:endParaRPr lang="en-US" sz="1050" dirty="0"/>
          </a:p>
        </p:txBody>
      </p:sp>
      <p:sp>
        <p:nvSpPr>
          <p:cNvPr id="20" name="Shape 18"/>
          <p:cNvSpPr/>
          <p:nvPr/>
        </p:nvSpPr>
        <p:spPr>
          <a:xfrm>
            <a:off x="1965960" y="2258568"/>
            <a:ext cx="438912" cy="384048"/>
          </a:xfrm>
          <a:prstGeom prst="rect">
            <a:avLst/>
          </a:prstGeom>
          <a:solidFill>
            <a:srgbClr val="EAF4F8"/>
          </a:solidFill>
          <a:ln w="9525">
            <a:solidFill>
              <a:srgbClr val="A9CDDB"/>
            </a:solidFill>
            <a:prstDash val="solid"/>
          </a:ln>
        </p:spPr>
      </p:sp>
      <p:sp>
        <p:nvSpPr>
          <p:cNvPr id="21" name="Text 19"/>
          <p:cNvSpPr/>
          <p:nvPr/>
        </p:nvSpPr>
        <p:spPr>
          <a:xfrm>
            <a:off x="1965960" y="2258568"/>
            <a:ext cx="438912" cy="384048"/>
          </a:xfrm>
          <a:prstGeom prst="rect">
            <a:avLst/>
          </a:prstGeom>
          <a:noFill/>
          <a:ln/>
        </p:spPr>
        <p:txBody>
          <a:bodyPr wrap="square" lIns="0" tIns="0" rIns="0" bIns="0" rtlCol="0" anchor="ctr"/>
          <a:lstStyle/>
          <a:p>
            <a:pPr marL="0" indent="0" algn="ctr">
              <a:buNone/>
            </a:pPr>
            <a:r>
              <a:rPr lang="en-US" sz="1050" dirty="0">
                <a:solidFill>
                  <a:srgbClr val="062A3A"/>
                </a:solidFill>
                <a:latin typeface="Consolas" pitchFamily="34" charset="0"/>
                <a:ea typeface="Consolas" pitchFamily="34" charset="-122"/>
                <a:cs typeface="Consolas" pitchFamily="34" charset="-120"/>
              </a:rPr>
              <a:t>7</a:t>
            </a:r>
            <a:endParaRPr lang="en-US" sz="1050" dirty="0"/>
          </a:p>
        </p:txBody>
      </p:sp>
      <p:sp>
        <p:nvSpPr>
          <p:cNvPr id="22" name="Shape 20"/>
          <p:cNvSpPr/>
          <p:nvPr/>
        </p:nvSpPr>
        <p:spPr>
          <a:xfrm>
            <a:off x="2404872" y="2258568"/>
            <a:ext cx="438912" cy="384048"/>
          </a:xfrm>
          <a:prstGeom prst="rect">
            <a:avLst/>
          </a:prstGeom>
          <a:solidFill>
            <a:srgbClr val="EAF4F8"/>
          </a:solidFill>
          <a:ln w="9525">
            <a:solidFill>
              <a:srgbClr val="A9CDDB"/>
            </a:solidFill>
            <a:prstDash val="solid"/>
          </a:ln>
        </p:spPr>
      </p:sp>
      <p:sp>
        <p:nvSpPr>
          <p:cNvPr id="23" name="Text 21"/>
          <p:cNvSpPr/>
          <p:nvPr/>
        </p:nvSpPr>
        <p:spPr>
          <a:xfrm>
            <a:off x="2404872" y="2258568"/>
            <a:ext cx="438912" cy="384048"/>
          </a:xfrm>
          <a:prstGeom prst="rect">
            <a:avLst/>
          </a:prstGeom>
          <a:noFill/>
          <a:ln/>
        </p:spPr>
        <p:txBody>
          <a:bodyPr wrap="square" lIns="0" tIns="0" rIns="0" bIns="0" rtlCol="0" anchor="ctr"/>
          <a:lstStyle/>
          <a:p>
            <a:pPr marL="0" indent="0" algn="ctr">
              <a:buNone/>
            </a:pPr>
            <a:r>
              <a:rPr lang="en-US" sz="1050" dirty="0">
                <a:solidFill>
                  <a:srgbClr val="062A3A"/>
                </a:solidFill>
                <a:latin typeface="Consolas" pitchFamily="34" charset="0"/>
                <a:ea typeface="Consolas" pitchFamily="34" charset="-122"/>
                <a:cs typeface="Consolas" pitchFamily="34" charset="-120"/>
              </a:rPr>
              <a:t>8</a:t>
            </a:r>
            <a:endParaRPr lang="en-US" sz="1050" dirty="0"/>
          </a:p>
        </p:txBody>
      </p:sp>
      <p:sp>
        <p:nvSpPr>
          <p:cNvPr id="24" name="Text 22"/>
          <p:cNvSpPr/>
          <p:nvPr/>
        </p:nvSpPr>
        <p:spPr>
          <a:xfrm>
            <a:off x="2944368" y="2286000"/>
            <a:ext cx="274320" cy="274320"/>
          </a:xfrm>
          <a:prstGeom prst="rect">
            <a:avLst/>
          </a:prstGeom>
          <a:noFill/>
          <a:ln/>
        </p:spPr>
        <p:txBody>
          <a:bodyPr wrap="square" lIns="0" tIns="0" rIns="0" bIns="0" rtlCol="0" anchor="t"/>
          <a:lstStyle/>
          <a:p>
            <a:pPr marL="0" indent="0" algn="ctr">
              <a:buNone/>
            </a:pPr>
            <a:r>
              <a:rPr lang="en-US" sz="1600" dirty="0">
                <a:solidFill>
                  <a:srgbClr val="728694"/>
                </a:solidFill>
                <a:latin typeface="Segoe UI" pitchFamily="34" charset="0"/>
                <a:ea typeface="Segoe UI" pitchFamily="34" charset="-122"/>
                <a:cs typeface="Segoe UI" pitchFamily="34" charset="-120"/>
              </a:rPr>
              <a:t>=</a:t>
            </a:r>
            <a:endParaRPr lang="en-US" sz="1600" dirty="0"/>
          </a:p>
        </p:txBody>
      </p:sp>
      <p:sp>
        <p:nvSpPr>
          <p:cNvPr id="25" name="Text 23"/>
          <p:cNvSpPr/>
          <p:nvPr/>
        </p:nvSpPr>
        <p:spPr>
          <a:xfrm>
            <a:off x="3310128" y="1618488"/>
            <a:ext cx="1188720" cy="201168"/>
          </a:xfrm>
          <a:prstGeom prst="rect">
            <a:avLst/>
          </a:prstGeom>
          <a:noFill/>
          <a:ln/>
        </p:spPr>
        <p:txBody>
          <a:bodyPr wrap="square" lIns="0" tIns="0" rIns="0" bIns="0" rtlCol="0" anchor="t"/>
          <a:lstStyle/>
          <a:p>
            <a:pPr marL="0" indent="0" algn="ctr">
              <a:buNone/>
            </a:pPr>
            <a:r>
              <a:rPr lang="en-US" sz="900" b="1" dirty="0">
                <a:solidFill>
                  <a:srgbClr val="415A6B"/>
                </a:solidFill>
                <a:latin typeface="Consolas" pitchFamily="34" charset="0"/>
                <a:ea typeface="Consolas" pitchFamily="34" charset="-122"/>
                <a:cs typeface="Consolas" pitchFamily="34" charset="-120"/>
              </a:rPr>
              <a:t>A * B</a:t>
            </a:r>
            <a:endParaRPr lang="en-US" sz="900" dirty="0"/>
          </a:p>
        </p:txBody>
      </p:sp>
      <p:sp>
        <p:nvSpPr>
          <p:cNvPr id="26" name="Shape 24"/>
          <p:cNvSpPr/>
          <p:nvPr/>
        </p:nvSpPr>
        <p:spPr>
          <a:xfrm>
            <a:off x="3310128" y="1874520"/>
            <a:ext cx="438912" cy="384048"/>
          </a:xfrm>
          <a:prstGeom prst="rect">
            <a:avLst/>
          </a:prstGeom>
          <a:solidFill>
            <a:srgbClr val="E8A33D"/>
          </a:solidFill>
          <a:ln w="9525">
            <a:solidFill>
              <a:srgbClr val="A9CDDB"/>
            </a:solidFill>
            <a:prstDash val="solid"/>
          </a:ln>
        </p:spPr>
      </p:sp>
      <p:sp>
        <p:nvSpPr>
          <p:cNvPr id="27" name="Text 25"/>
          <p:cNvSpPr/>
          <p:nvPr/>
        </p:nvSpPr>
        <p:spPr>
          <a:xfrm>
            <a:off x="3310128" y="1874520"/>
            <a:ext cx="438912" cy="384048"/>
          </a:xfrm>
          <a:prstGeom prst="rect">
            <a:avLst/>
          </a:prstGeom>
          <a:noFill/>
          <a:ln/>
        </p:spPr>
        <p:txBody>
          <a:bodyPr wrap="square" lIns="0" tIns="0" rIns="0" bIns="0" rtlCol="0" anchor="ctr"/>
          <a:lstStyle/>
          <a:p>
            <a:pPr marL="0" indent="0" algn="ctr">
              <a:buNone/>
            </a:pPr>
            <a:r>
              <a:rPr lang="en-US" sz="1050" dirty="0">
                <a:solidFill>
                  <a:srgbClr val="FFFFFF"/>
                </a:solidFill>
                <a:latin typeface="Consolas" pitchFamily="34" charset="0"/>
                <a:ea typeface="Consolas" pitchFamily="34" charset="-122"/>
                <a:cs typeface="Consolas" pitchFamily="34" charset="-120"/>
              </a:rPr>
              <a:t>5</a:t>
            </a:r>
            <a:endParaRPr lang="en-US" sz="1050" dirty="0"/>
          </a:p>
        </p:txBody>
      </p:sp>
      <p:sp>
        <p:nvSpPr>
          <p:cNvPr id="28" name="Shape 26"/>
          <p:cNvSpPr/>
          <p:nvPr/>
        </p:nvSpPr>
        <p:spPr>
          <a:xfrm>
            <a:off x="3749040" y="1874520"/>
            <a:ext cx="438912" cy="384048"/>
          </a:xfrm>
          <a:prstGeom prst="rect">
            <a:avLst/>
          </a:prstGeom>
          <a:solidFill>
            <a:srgbClr val="EAF4F8"/>
          </a:solidFill>
          <a:ln w="9525">
            <a:solidFill>
              <a:srgbClr val="A9CDDB"/>
            </a:solidFill>
            <a:prstDash val="solid"/>
          </a:ln>
        </p:spPr>
      </p:sp>
      <p:sp>
        <p:nvSpPr>
          <p:cNvPr id="29" name="Text 27"/>
          <p:cNvSpPr/>
          <p:nvPr/>
        </p:nvSpPr>
        <p:spPr>
          <a:xfrm>
            <a:off x="3749040" y="1874520"/>
            <a:ext cx="438912" cy="384048"/>
          </a:xfrm>
          <a:prstGeom prst="rect">
            <a:avLst/>
          </a:prstGeom>
          <a:noFill/>
          <a:ln/>
        </p:spPr>
        <p:txBody>
          <a:bodyPr wrap="square" lIns="0" tIns="0" rIns="0" bIns="0" rtlCol="0" anchor="ctr"/>
          <a:lstStyle/>
          <a:p>
            <a:pPr marL="0" indent="0" algn="ctr">
              <a:buNone/>
            </a:pPr>
            <a:r>
              <a:rPr lang="en-US" sz="1050" dirty="0">
                <a:solidFill>
                  <a:srgbClr val="062A3A"/>
                </a:solidFill>
                <a:latin typeface="Consolas" pitchFamily="34" charset="0"/>
                <a:ea typeface="Consolas" pitchFamily="34" charset="-122"/>
                <a:cs typeface="Consolas" pitchFamily="34" charset="-120"/>
              </a:rPr>
              <a:t>12</a:t>
            </a:r>
            <a:endParaRPr lang="en-US" sz="1050" dirty="0"/>
          </a:p>
        </p:txBody>
      </p:sp>
      <p:sp>
        <p:nvSpPr>
          <p:cNvPr id="30" name="Shape 28"/>
          <p:cNvSpPr/>
          <p:nvPr/>
        </p:nvSpPr>
        <p:spPr>
          <a:xfrm>
            <a:off x="3310128" y="2258568"/>
            <a:ext cx="438912" cy="384048"/>
          </a:xfrm>
          <a:prstGeom prst="rect">
            <a:avLst/>
          </a:prstGeom>
          <a:solidFill>
            <a:srgbClr val="EAF4F8"/>
          </a:solidFill>
          <a:ln w="9525">
            <a:solidFill>
              <a:srgbClr val="A9CDDB"/>
            </a:solidFill>
            <a:prstDash val="solid"/>
          </a:ln>
        </p:spPr>
      </p:sp>
      <p:sp>
        <p:nvSpPr>
          <p:cNvPr id="31" name="Text 29"/>
          <p:cNvSpPr/>
          <p:nvPr/>
        </p:nvSpPr>
        <p:spPr>
          <a:xfrm>
            <a:off x="3310128" y="2258568"/>
            <a:ext cx="438912" cy="384048"/>
          </a:xfrm>
          <a:prstGeom prst="rect">
            <a:avLst/>
          </a:prstGeom>
          <a:noFill/>
          <a:ln/>
        </p:spPr>
        <p:txBody>
          <a:bodyPr wrap="square" lIns="0" tIns="0" rIns="0" bIns="0" rtlCol="0" anchor="ctr"/>
          <a:lstStyle/>
          <a:p>
            <a:pPr marL="0" indent="0" algn="ctr">
              <a:buNone/>
            </a:pPr>
            <a:r>
              <a:rPr lang="en-US" sz="1050" dirty="0">
                <a:solidFill>
                  <a:srgbClr val="062A3A"/>
                </a:solidFill>
                <a:latin typeface="Consolas" pitchFamily="34" charset="0"/>
                <a:ea typeface="Consolas" pitchFamily="34" charset="-122"/>
                <a:cs typeface="Consolas" pitchFamily="34" charset="-120"/>
              </a:rPr>
              <a:t>21</a:t>
            </a:r>
            <a:endParaRPr lang="en-US" sz="1050" dirty="0"/>
          </a:p>
        </p:txBody>
      </p:sp>
      <p:sp>
        <p:nvSpPr>
          <p:cNvPr id="32" name="Shape 30"/>
          <p:cNvSpPr/>
          <p:nvPr/>
        </p:nvSpPr>
        <p:spPr>
          <a:xfrm>
            <a:off x="3749040" y="2258568"/>
            <a:ext cx="438912" cy="384048"/>
          </a:xfrm>
          <a:prstGeom prst="rect">
            <a:avLst/>
          </a:prstGeom>
          <a:solidFill>
            <a:srgbClr val="EAF4F8"/>
          </a:solidFill>
          <a:ln w="9525">
            <a:solidFill>
              <a:srgbClr val="A9CDDB"/>
            </a:solidFill>
            <a:prstDash val="solid"/>
          </a:ln>
        </p:spPr>
      </p:sp>
      <p:sp>
        <p:nvSpPr>
          <p:cNvPr id="33" name="Text 31"/>
          <p:cNvSpPr/>
          <p:nvPr/>
        </p:nvSpPr>
        <p:spPr>
          <a:xfrm>
            <a:off x="3749040" y="2258568"/>
            <a:ext cx="438912" cy="384048"/>
          </a:xfrm>
          <a:prstGeom prst="rect">
            <a:avLst/>
          </a:prstGeom>
          <a:noFill/>
          <a:ln/>
        </p:spPr>
        <p:txBody>
          <a:bodyPr wrap="square" lIns="0" tIns="0" rIns="0" bIns="0" rtlCol="0" anchor="ctr"/>
          <a:lstStyle/>
          <a:p>
            <a:pPr marL="0" indent="0" algn="ctr">
              <a:buNone/>
            </a:pPr>
            <a:r>
              <a:rPr lang="en-US" sz="1050" dirty="0">
                <a:solidFill>
                  <a:srgbClr val="062A3A"/>
                </a:solidFill>
                <a:latin typeface="Consolas" pitchFamily="34" charset="0"/>
                <a:ea typeface="Consolas" pitchFamily="34" charset="-122"/>
                <a:cs typeface="Consolas" pitchFamily="34" charset="-120"/>
              </a:rPr>
              <a:t>32</a:t>
            </a:r>
            <a:endParaRPr lang="en-US" sz="1050" dirty="0"/>
          </a:p>
        </p:txBody>
      </p:sp>
      <p:sp>
        <p:nvSpPr>
          <p:cNvPr id="34" name="Text 32"/>
          <p:cNvSpPr/>
          <p:nvPr/>
        </p:nvSpPr>
        <p:spPr>
          <a:xfrm>
            <a:off x="640080" y="2999232"/>
            <a:ext cx="3108960" cy="201168"/>
          </a:xfrm>
          <a:prstGeom prst="rect">
            <a:avLst/>
          </a:prstGeom>
          <a:noFill/>
          <a:ln/>
        </p:spPr>
        <p:txBody>
          <a:bodyPr wrap="square" lIns="0" tIns="0" rIns="0" bIns="0" rtlCol="0" anchor="t"/>
          <a:lstStyle/>
          <a:p>
            <a:pPr marL="0" indent="0">
              <a:buNone/>
            </a:pPr>
            <a:r>
              <a:rPr lang="en-US" sz="850" i="1" dirty="0">
                <a:solidFill>
                  <a:srgbClr val="728694"/>
                </a:solidFill>
                <a:latin typeface="Segoe UI" pitchFamily="34" charset="0"/>
                <a:ea typeface="Segoe UI" pitchFamily="34" charset="-122"/>
                <a:cs typeface="Segoe UI" pitchFamily="34" charset="-120"/>
              </a:rPr>
              <a:t>từng cặp ô cùng vị trí</a:t>
            </a:r>
            <a:endParaRPr lang="en-US" sz="850" dirty="0"/>
          </a:p>
        </p:txBody>
      </p:sp>
      <p:sp>
        <p:nvSpPr>
          <p:cNvPr id="35" name="Text 33"/>
          <p:cNvSpPr/>
          <p:nvPr/>
        </p:nvSpPr>
        <p:spPr>
          <a:xfrm>
            <a:off x="640080" y="3904488"/>
            <a:ext cx="1188720" cy="201168"/>
          </a:xfrm>
          <a:prstGeom prst="rect">
            <a:avLst/>
          </a:prstGeom>
          <a:noFill/>
          <a:ln/>
        </p:spPr>
        <p:txBody>
          <a:bodyPr wrap="square" lIns="0" tIns="0" rIns="0" bIns="0" rtlCol="0" anchor="t"/>
          <a:lstStyle/>
          <a:p>
            <a:pPr marL="0" indent="0" algn="ctr">
              <a:buNone/>
            </a:pPr>
            <a:r>
              <a:rPr lang="en-US" sz="900" b="1" dirty="0">
                <a:solidFill>
                  <a:srgbClr val="415A6B"/>
                </a:solidFill>
                <a:latin typeface="Consolas" pitchFamily="34" charset="0"/>
                <a:ea typeface="Consolas" pitchFamily="34" charset="-122"/>
                <a:cs typeface="Consolas" pitchFamily="34" charset="-120"/>
              </a:rPr>
              <a:t>A</a:t>
            </a:r>
            <a:endParaRPr lang="en-US" sz="900" dirty="0"/>
          </a:p>
        </p:txBody>
      </p:sp>
      <p:sp>
        <p:nvSpPr>
          <p:cNvPr id="36" name="Shape 34"/>
          <p:cNvSpPr/>
          <p:nvPr/>
        </p:nvSpPr>
        <p:spPr>
          <a:xfrm>
            <a:off x="640080" y="4160520"/>
            <a:ext cx="438912" cy="384048"/>
          </a:xfrm>
          <a:prstGeom prst="rect">
            <a:avLst/>
          </a:prstGeom>
          <a:solidFill>
            <a:srgbClr val="4DB8D4"/>
          </a:solidFill>
          <a:ln w="9525">
            <a:solidFill>
              <a:srgbClr val="A9CDDB"/>
            </a:solidFill>
            <a:prstDash val="solid"/>
          </a:ln>
        </p:spPr>
      </p:sp>
      <p:sp>
        <p:nvSpPr>
          <p:cNvPr id="37" name="Text 35"/>
          <p:cNvSpPr/>
          <p:nvPr/>
        </p:nvSpPr>
        <p:spPr>
          <a:xfrm>
            <a:off x="640080" y="4160520"/>
            <a:ext cx="438912" cy="384048"/>
          </a:xfrm>
          <a:prstGeom prst="rect">
            <a:avLst/>
          </a:prstGeom>
          <a:noFill/>
          <a:ln/>
        </p:spPr>
        <p:txBody>
          <a:bodyPr wrap="square" lIns="0" tIns="0" rIns="0" bIns="0" rtlCol="0" anchor="ctr"/>
          <a:lstStyle/>
          <a:p>
            <a:pPr marL="0" indent="0" algn="ctr">
              <a:buNone/>
            </a:pPr>
            <a:r>
              <a:rPr lang="en-US" sz="1050" dirty="0">
                <a:solidFill>
                  <a:srgbClr val="FFFFFF"/>
                </a:solidFill>
                <a:latin typeface="Consolas" pitchFamily="34" charset="0"/>
                <a:ea typeface="Consolas" pitchFamily="34" charset="-122"/>
                <a:cs typeface="Consolas" pitchFamily="34" charset="-120"/>
              </a:rPr>
              <a:t>1</a:t>
            </a:r>
            <a:endParaRPr lang="en-US" sz="1050" dirty="0"/>
          </a:p>
        </p:txBody>
      </p:sp>
      <p:sp>
        <p:nvSpPr>
          <p:cNvPr id="38" name="Shape 36"/>
          <p:cNvSpPr/>
          <p:nvPr/>
        </p:nvSpPr>
        <p:spPr>
          <a:xfrm>
            <a:off x="1078992" y="4160520"/>
            <a:ext cx="438912" cy="384048"/>
          </a:xfrm>
          <a:prstGeom prst="rect">
            <a:avLst/>
          </a:prstGeom>
          <a:solidFill>
            <a:srgbClr val="4DB8D4"/>
          </a:solidFill>
          <a:ln w="9525">
            <a:solidFill>
              <a:srgbClr val="A9CDDB"/>
            </a:solidFill>
            <a:prstDash val="solid"/>
          </a:ln>
        </p:spPr>
      </p:sp>
      <p:sp>
        <p:nvSpPr>
          <p:cNvPr id="39" name="Text 37"/>
          <p:cNvSpPr/>
          <p:nvPr/>
        </p:nvSpPr>
        <p:spPr>
          <a:xfrm>
            <a:off x="1078992" y="4160520"/>
            <a:ext cx="438912" cy="384048"/>
          </a:xfrm>
          <a:prstGeom prst="rect">
            <a:avLst/>
          </a:prstGeom>
          <a:noFill/>
          <a:ln/>
        </p:spPr>
        <p:txBody>
          <a:bodyPr wrap="square" lIns="0" tIns="0" rIns="0" bIns="0" rtlCol="0" anchor="ctr"/>
          <a:lstStyle/>
          <a:p>
            <a:pPr marL="0" indent="0" algn="ctr">
              <a:buNone/>
            </a:pPr>
            <a:r>
              <a:rPr lang="en-US" sz="1050" dirty="0">
                <a:solidFill>
                  <a:srgbClr val="FFFFFF"/>
                </a:solidFill>
                <a:latin typeface="Consolas" pitchFamily="34" charset="0"/>
                <a:ea typeface="Consolas" pitchFamily="34" charset="-122"/>
                <a:cs typeface="Consolas" pitchFamily="34" charset="-120"/>
              </a:rPr>
              <a:t>2</a:t>
            </a:r>
            <a:endParaRPr lang="en-US" sz="1050" dirty="0"/>
          </a:p>
        </p:txBody>
      </p:sp>
      <p:sp>
        <p:nvSpPr>
          <p:cNvPr id="40" name="Shape 38"/>
          <p:cNvSpPr/>
          <p:nvPr/>
        </p:nvSpPr>
        <p:spPr>
          <a:xfrm>
            <a:off x="640080" y="4544568"/>
            <a:ext cx="438912" cy="384048"/>
          </a:xfrm>
          <a:prstGeom prst="rect">
            <a:avLst/>
          </a:prstGeom>
          <a:solidFill>
            <a:srgbClr val="EAF4F8"/>
          </a:solidFill>
          <a:ln w="9525">
            <a:solidFill>
              <a:srgbClr val="A9CDDB"/>
            </a:solidFill>
            <a:prstDash val="solid"/>
          </a:ln>
        </p:spPr>
      </p:sp>
      <p:sp>
        <p:nvSpPr>
          <p:cNvPr id="41" name="Text 39"/>
          <p:cNvSpPr/>
          <p:nvPr/>
        </p:nvSpPr>
        <p:spPr>
          <a:xfrm>
            <a:off x="640080" y="4544568"/>
            <a:ext cx="438912" cy="384048"/>
          </a:xfrm>
          <a:prstGeom prst="rect">
            <a:avLst/>
          </a:prstGeom>
          <a:noFill/>
          <a:ln/>
        </p:spPr>
        <p:txBody>
          <a:bodyPr wrap="square" lIns="0" tIns="0" rIns="0" bIns="0" rtlCol="0" anchor="ctr"/>
          <a:lstStyle/>
          <a:p>
            <a:pPr marL="0" indent="0" algn="ctr">
              <a:buNone/>
            </a:pPr>
            <a:r>
              <a:rPr lang="en-US" sz="1050" dirty="0">
                <a:solidFill>
                  <a:srgbClr val="062A3A"/>
                </a:solidFill>
                <a:latin typeface="Consolas" pitchFamily="34" charset="0"/>
                <a:ea typeface="Consolas" pitchFamily="34" charset="-122"/>
                <a:cs typeface="Consolas" pitchFamily="34" charset="-120"/>
              </a:rPr>
              <a:t>3</a:t>
            </a:r>
            <a:endParaRPr lang="en-US" sz="1050" dirty="0"/>
          </a:p>
        </p:txBody>
      </p:sp>
      <p:sp>
        <p:nvSpPr>
          <p:cNvPr id="42" name="Shape 40"/>
          <p:cNvSpPr/>
          <p:nvPr/>
        </p:nvSpPr>
        <p:spPr>
          <a:xfrm>
            <a:off x="1078992" y="4544568"/>
            <a:ext cx="438912" cy="384048"/>
          </a:xfrm>
          <a:prstGeom prst="rect">
            <a:avLst/>
          </a:prstGeom>
          <a:solidFill>
            <a:srgbClr val="EAF4F8"/>
          </a:solidFill>
          <a:ln w="9525">
            <a:solidFill>
              <a:srgbClr val="A9CDDB"/>
            </a:solidFill>
            <a:prstDash val="solid"/>
          </a:ln>
        </p:spPr>
      </p:sp>
      <p:sp>
        <p:nvSpPr>
          <p:cNvPr id="43" name="Text 41"/>
          <p:cNvSpPr/>
          <p:nvPr/>
        </p:nvSpPr>
        <p:spPr>
          <a:xfrm>
            <a:off x="1078992" y="4544568"/>
            <a:ext cx="438912" cy="384048"/>
          </a:xfrm>
          <a:prstGeom prst="rect">
            <a:avLst/>
          </a:prstGeom>
          <a:noFill/>
          <a:ln/>
        </p:spPr>
        <p:txBody>
          <a:bodyPr wrap="square" lIns="0" tIns="0" rIns="0" bIns="0" rtlCol="0" anchor="ctr"/>
          <a:lstStyle/>
          <a:p>
            <a:pPr marL="0" indent="0" algn="ctr">
              <a:buNone/>
            </a:pPr>
            <a:r>
              <a:rPr lang="en-US" sz="1050" dirty="0">
                <a:solidFill>
                  <a:srgbClr val="062A3A"/>
                </a:solidFill>
                <a:latin typeface="Consolas" pitchFamily="34" charset="0"/>
                <a:ea typeface="Consolas" pitchFamily="34" charset="-122"/>
                <a:cs typeface="Consolas" pitchFamily="34" charset="-120"/>
              </a:rPr>
              <a:t>4</a:t>
            </a:r>
            <a:endParaRPr lang="en-US" sz="1050" dirty="0"/>
          </a:p>
        </p:txBody>
      </p:sp>
      <p:sp>
        <p:nvSpPr>
          <p:cNvPr id="44" name="Text 42"/>
          <p:cNvSpPr/>
          <p:nvPr/>
        </p:nvSpPr>
        <p:spPr>
          <a:xfrm>
            <a:off x="1627632" y="4572000"/>
            <a:ext cx="274320" cy="274320"/>
          </a:xfrm>
          <a:prstGeom prst="rect">
            <a:avLst/>
          </a:prstGeom>
          <a:noFill/>
          <a:ln/>
        </p:spPr>
        <p:txBody>
          <a:bodyPr wrap="square" lIns="0" tIns="0" rIns="0" bIns="0" rtlCol="0" anchor="t"/>
          <a:lstStyle/>
          <a:p>
            <a:pPr marL="0" indent="0" algn="ctr">
              <a:buNone/>
            </a:pPr>
            <a:r>
              <a:rPr lang="en-US" sz="1600" b="1" dirty="0">
                <a:solidFill>
                  <a:srgbClr val="E8A33D"/>
                </a:solidFill>
                <a:latin typeface="Segoe UI" pitchFamily="34" charset="0"/>
                <a:ea typeface="Segoe UI" pitchFamily="34" charset="-122"/>
                <a:cs typeface="Segoe UI" pitchFamily="34" charset="-120"/>
              </a:rPr>
              <a:t>@</a:t>
            </a:r>
            <a:endParaRPr lang="en-US" sz="1600" dirty="0"/>
          </a:p>
        </p:txBody>
      </p:sp>
      <p:sp>
        <p:nvSpPr>
          <p:cNvPr id="45" name="Text 43"/>
          <p:cNvSpPr/>
          <p:nvPr/>
        </p:nvSpPr>
        <p:spPr>
          <a:xfrm>
            <a:off x="1965960" y="3904488"/>
            <a:ext cx="1188720" cy="201168"/>
          </a:xfrm>
          <a:prstGeom prst="rect">
            <a:avLst/>
          </a:prstGeom>
          <a:noFill/>
          <a:ln/>
        </p:spPr>
        <p:txBody>
          <a:bodyPr wrap="square" lIns="0" tIns="0" rIns="0" bIns="0" rtlCol="0" anchor="t"/>
          <a:lstStyle/>
          <a:p>
            <a:pPr marL="0" indent="0" algn="ctr">
              <a:buNone/>
            </a:pPr>
            <a:r>
              <a:rPr lang="en-US" sz="900" b="1" dirty="0">
                <a:solidFill>
                  <a:srgbClr val="415A6B"/>
                </a:solidFill>
                <a:latin typeface="Consolas" pitchFamily="34" charset="0"/>
                <a:ea typeface="Consolas" pitchFamily="34" charset="-122"/>
                <a:cs typeface="Consolas" pitchFamily="34" charset="-120"/>
              </a:rPr>
              <a:t>B</a:t>
            </a:r>
            <a:endParaRPr lang="en-US" sz="900" dirty="0"/>
          </a:p>
        </p:txBody>
      </p:sp>
      <p:sp>
        <p:nvSpPr>
          <p:cNvPr id="46" name="Shape 44"/>
          <p:cNvSpPr/>
          <p:nvPr/>
        </p:nvSpPr>
        <p:spPr>
          <a:xfrm>
            <a:off x="1965960" y="4160520"/>
            <a:ext cx="438912" cy="384048"/>
          </a:xfrm>
          <a:prstGeom prst="rect">
            <a:avLst/>
          </a:prstGeom>
          <a:solidFill>
            <a:srgbClr val="4DB8D4"/>
          </a:solidFill>
          <a:ln w="9525">
            <a:solidFill>
              <a:srgbClr val="A9CDDB"/>
            </a:solidFill>
            <a:prstDash val="solid"/>
          </a:ln>
        </p:spPr>
      </p:sp>
      <p:sp>
        <p:nvSpPr>
          <p:cNvPr id="47" name="Text 45"/>
          <p:cNvSpPr/>
          <p:nvPr/>
        </p:nvSpPr>
        <p:spPr>
          <a:xfrm>
            <a:off x="1965960" y="4160520"/>
            <a:ext cx="438912" cy="384048"/>
          </a:xfrm>
          <a:prstGeom prst="rect">
            <a:avLst/>
          </a:prstGeom>
          <a:noFill/>
          <a:ln/>
        </p:spPr>
        <p:txBody>
          <a:bodyPr wrap="square" lIns="0" tIns="0" rIns="0" bIns="0" rtlCol="0" anchor="ctr"/>
          <a:lstStyle/>
          <a:p>
            <a:pPr marL="0" indent="0" algn="ctr">
              <a:buNone/>
            </a:pPr>
            <a:r>
              <a:rPr lang="en-US" sz="1050" dirty="0">
                <a:solidFill>
                  <a:srgbClr val="FFFFFF"/>
                </a:solidFill>
                <a:latin typeface="Consolas" pitchFamily="34" charset="0"/>
                <a:ea typeface="Consolas" pitchFamily="34" charset="-122"/>
                <a:cs typeface="Consolas" pitchFamily="34" charset="-120"/>
              </a:rPr>
              <a:t>5</a:t>
            </a:r>
            <a:endParaRPr lang="en-US" sz="1050" dirty="0"/>
          </a:p>
        </p:txBody>
      </p:sp>
      <p:sp>
        <p:nvSpPr>
          <p:cNvPr id="48" name="Shape 46"/>
          <p:cNvSpPr/>
          <p:nvPr/>
        </p:nvSpPr>
        <p:spPr>
          <a:xfrm>
            <a:off x="2404872" y="4160520"/>
            <a:ext cx="438912" cy="384048"/>
          </a:xfrm>
          <a:prstGeom prst="rect">
            <a:avLst/>
          </a:prstGeom>
          <a:solidFill>
            <a:srgbClr val="EAF4F8"/>
          </a:solidFill>
          <a:ln w="9525">
            <a:solidFill>
              <a:srgbClr val="A9CDDB"/>
            </a:solidFill>
            <a:prstDash val="solid"/>
          </a:ln>
        </p:spPr>
      </p:sp>
      <p:sp>
        <p:nvSpPr>
          <p:cNvPr id="49" name="Text 47"/>
          <p:cNvSpPr/>
          <p:nvPr/>
        </p:nvSpPr>
        <p:spPr>
          <a:xfrm>
            <a:off x="2404872" y="4160520"/>
            <a:ext cx="438912" cy="384048"/>
          </a:xfrm>
          <a:prstGeom prst="rect">
            <a:avLst/>
          </a:prstGeom>
          <a:noFill/>
          <a:ln/>
        </p:spPr>
        <p:txBody>
          <a:bodyPr wrap="square" lIns="0" tIns="0" rIns="0" bIns="0" rtlCol="0" anchor="ctr"/>
          <a:lstStyle/>
          <a:p>
            <a:pPr marL="0" indent="0" algn="ctr">
              <a:buNone/>
            </a:pPr>
            <a:r>
              <a:rPr lang="en-US" sz="1050" dirty="0">
                <a:solidFill>
                  <a:srgbClr val="062A3A"/>
                </a:solidFill>
                <a:latin typeface="Consolas" pitchFamily="34" charset="0"/>
                <a:ea typeface="Consolas" pitchFamily="34" charset="-122"/>
                <a:cs typeface="Consolas" pitchFamily="34" charset="-120"/>
              </a:rPr>
              <a:t>6</a:t>
            </a:r>
            <a:endParaRPr lang="en-US" sz="1050" dirty="0"/>
          </a:p>
        </p:txBody>
      </p:sp>
      <p:sp>
        <p:nvSpPr>
          <p:cNvPr id="50" name="Shape 48"/>
          <p:cNvSpPr/>
          <p:nvPr/>
        </p:nvSpPr>
        <p:spPr>
          <a:xfrm>
            <a:off x="1965960" y="4544568"/>
            <a:ext cx="438912" cy="384048"/>
          </a:xfrm>
          <a:prstGeom prst="rect">
            <a:avLst/>
          </a:prstGeom>
          <a:solidFill>
            <a:srgbClr val="4DB8D4"/>
          </a:solidFill>
          <a:ln w="9525">
            <a:solidFill>
              <a:srgbClr val="A9CDDB"/>
            </a:solidFill>
            <a:prstDash val="solid"/>
          </a:ln>
        </p:spPr>
      </p:sp>
      <p:sp>
        <p:nvSpPr>
          <p:cNvPr id="51" name="Text 49"/>
          <p:cNvSpPr/>
          <p:nvPr/>
        </p:nvSpPr>
        <p:spPr>
          <a:xfrm>
            <a:off x="1965960" y="4544568"/>
            <a:ext cx="438912" cy="384048"/>
          </a:xfrm>
          <a:prstGeom prst="rect">
            <a:avLst/>
          </a:prstGeom>
          <a:noFill/>
          <a:ln/>
        </p:spPr>
        <p:txBody>
          <a:bodyPr wrap="square" lIns="0" tIns="0" rIns="0" bIns="0" rtlCol="0" anchor="ctr"/>
          <a:lstStyle/>
          <a:p>
            <a:pPr marL="0" indent="0" algn="ctr">
              <a:buNone/>
            </a:pPr>
            <a:r>
              <a:rPr lang="en-US" sz="1050" dirty="0">
                <a:solidFill>
                  <a:srgbClr val="FFFFFF"/>
                </a:solidFill>
                <a:latin typeface="Consolas" pitchFamily="34" charset="0"/>
                <a:ea typeface="Consolas" pitchFamily="34" charset="-122"/>
                <a:cs typeface="Consolas" pitchFamily="34" charset="-120"/>
              </a:rPr>
              <a:t>7</a:t>
            </a:r>
            <a:endParaRPr lang="en-US" sz="1050" dirty="0"/>
          </a:p>
        </p:txBody>
      </p:sp>
      <p:sp>
        <p:nvSpPr>
          <p:cNvPr id="52" name="Shape 50"/>
          <p:cNvSpPr/>
          <p:nvPr/>
        </p:nvSpPr>
        <p:spPr>
          <a:xfrm>
            <a:off x="2404872" y="4544568"/>
            <a:ext cx="438912" cy="384048"/>
          </a:xfrm>
          <a:prstGeom prst="rect">
            <a:avLst/>
          </a:prstGeom>
          <a:solidFill>
            <a:srgbClr val="EAF4F8"/>
          </a:solidFill>
          <a:ln w="9525">
            <a:solidFill>
              <a:srgbClr val="A9CDDB"/>
            </a:solidFill>
            <a:prstDash val="solid"/>
          </a:ln>
        </p:spPr>
      </p:sp>
      <p:sp>
        <p:nvSpPr>
          <p:cNvPr id="53" name="Text 51"/>
          <p:cNvSpPr/>
          <p:nvPr/>
        </p:nvSpPr>
        <p:spPr>
          <a:xfrm>
            <a:off x="2404872" y="4544568"/>
            <a:ext cx="438912" cy="384048"/>
          </a:xfrm>
          <a:prstGeom prst="rect">
            <a:avLst/>
          </a:prstGeom>
          <a:noFill/>
          <a:ln/>
        </p:spPr>
        <p:txBody>
          <a:bodyPr wrap="square" lIns="0" tIns="0" rIns="0" bIns="0" rtlCol="0" anchor="ctr"/>
          <a:lstStyle/>
          <a:p>
            <a:pPr marL="0" indent="0" algn="ctr">
              <a:buNone/>
            </a:pPr>
            <a:r>
              <a:rPr lang="en-US" sz="1050" dirty="0">
                <a:solidFill>
                  <a:srgbClr val="062A3A"/>
                </a:solidFill>
                <a:latin typeface="Consolas" pitchFamily="34" charset="0"/>
                <a:ea typeface="Consolas" pitchFamily="34" charset="-122"/>
                <a:cs typeface="Consolas" pitchFamily="34" charset="-120"/>
              </a:rPr>
              <a:t>8</a:t>
            </a:r>
            <a:endParaRPr lang="en-US" sz="1050" dirty="0"/>
          </a:p>
        </p:txBody>
      </p:sp>
      <p:sp>
        <p:nvSpPr>
          <p:cNvPr id="54" name="Text 52"/>
          <p:cNvSpPr/>
          <p:nvPr/>
        </p:nvSpPr>
        <p:spPr>
          <a:xfrm>
            <a:off x="2944368" y="4572000"/>
            <a:ext cx="274320" cy="274320"/>
          </a:xfrm>
          <a:prstGeom prst="rect">
            <a:avLst/>
          </a:prstGeom>
          <a:noFill/>
          <a:ln/>
        </p:spPr>
        <p:txBody>
          <a:bodyPr wrap="square" lIns="0" tIns="0" rIns="0" bIns="0" rtlCol="0" anchor="t"/>
          <a:lstStyle/>
          <a:p>
            <a:pPr marL="0" indent="0" algn="ctr">
              <a:buNone/>
            </a:pPr>
            <a:r>
              <a:rPr lang="en-US" sz="1600" dirty="0">
                <a:solidFill>
                  <a:srgbClr val="728694"/>
                </a:solidFill>
                <a:latin typeface="Segoe UI" pitchFamily="34" charset="0"/>
                <a:ea typeface="Segoe UI" pitchFamily="34" charset="-122"/>
                <a:cs typeface="Segoe UI" pitchFamily="34" charset="-120"/>
              </a:rPr>
              <a:t>=</a:t>
            </a:r>
            <a:endParaRPr lang="en-US" sz="1600" dirty="0"/>
          </a:p>
        </p:txBody>
      </p:sp>
      <p:sp>
        <p:nvSpPr>
          <p:cNvPr id="55" name="Text 53"/>
          <p:cNvSpPr/>
          <p:nvPr/>
        </p:nvSpPr>
        <p:spPr>
          <a:xfrm>
            <a:off x="3310128" y="3904488"/>
            <a:ext cx="1188720" cy="201168"/>
          </a:xfrm>
          <a:prstGeom prst="rect">
            <a:avLst/>
          </a:prstGeom>
          <a:noFill/>
          <a:ln/>
        </p:spPr>
        <p:txBody>
          <a:bodyPr wrap="square" lIns="0" tIns="0" rIns="0" bIns="0" rtlCol="0" anchor="t"/>
          <a:lstStyle/>
          <a:p>
            <a:pPr marL="0" indent="0" algn="ctr">
              <a:buNone/>
            </a:pPr>
            <a:r>
              <a:rPr lang="en-US" sz="900" b="1" dirty="0">
                <a:solidFill>
                  <a:srgbClr val="415A6B"/>
                </a:solidFill>
                <a:latin typeface="Consolas" pitchFamily="34" charset="0"/>
                <a:ea typeface="Consolas" pitchFamily="34" charset="-122"/>
                <a:cs typeface="Consolas" pitchFamily="34" charset="-120"/>
              </a:rPr>
              <a:t>A @ B</a:t>
            </a:r>
            <a:endParaRPr lang="en-US" sz="900" dirty="0"/>
          </a:p>
        </p:txBody>
      </p:sp>
      <p:sp>
        <p:nvSpPr>
          <p:cNvPr id="56" name="Shape 54"/>
          <p:cNvSpPr/>
          <p:nvPr/>
        </p:nvSpPr>
        <p:spPr>
          <a:xfrm>
            <a:off x="3310128" y="4160520"/>
            <a:ext cx="438912" cy="384048"/>
          </a:xfrm>
          <a:prstGeom prst="rect">
            <a:avLst/>
          </a:prstGeom>
          <a:solidFill>
            <a:srgbClr val="E8A33D"/>
          </a:solidFill>
          <a:ln w="9525">
            <a:solidFill>
              <a:srgbClr val="A9CDDB"/>
            </a:solidFill>
            <a:prstDash val="solid"/>
          </a:ln>
        </p:spPr>
      </p:sp>
      <p:sp>
        <p:nvSpPr>
          <p:cNvPr id="57" name="Text 55"/>
          <p:cNvSpPr/>
          <p:nvPr/>
        </p:nvSpPr>
        <p:spPr>
          <a:xfrm>
            <a:off x="3310128" y="4160520"/>
            <a:ext cx="438912" cy="384048"/>
          </a:xfrm>
          <a:prstGeom prst="rect">
            <a:avLst/>
          </a:prstGeom>
          <a:noFill/>
          <a:ln/>
        </p:spPr>
        <p:txBody>
          <a:bodyPr wrap="square" lIns="0" tIns="0" rIns="0" bIns="0" rtlCol="0" anchor="ctr"/>
          <a:lstStyle/>
          <a:p>
            <a:pPr marL="0" indent="0" algn="ctr">
              <a:buNone/>
            </a:pPr>
            <a:r>
              <a:rPr lang="en-US" sz="1050" dirty="0">
                <a:solidFill>
                  <a:srgbClr val="FFFFFF"/>
                </a:solidFill>
                <a:latin typeface="Consolas" pitchFamily="34" charset="0"/>
                <a:ea typeface="Consolas" pitchFamily="34" charset="-122"/>
                <a:cs typeface="Consolas" pitchFamily="34" charset="-120"/>
              </a:rPr>
              <a:t>19</a:t>
            </a:r>
            <a:endParaRPr lang="en-US" sz="1050" dirty="0"/>
          </a:p>
        </p:txBody>
      </p:sp>
      <p:sp>
        <p:nvSpPr>
          <p:cNvPr id="58" name="Shape 56"/>
          <p:cNvSpPr/>
          <p:nvPr/>
        </p:nvSpPr>
        <p:spPr>
          <a:xfrm>
            <a:off x="3749040" y="4160520"/>
            <a:ext cx="438912" cy="384048"/>
          </a:xfrm>
          <a:prstGeom prst="rect">
            <a:avLst/>
          </a:prstGeom>
          <a:solidFill>
            <a:srgbClr val="EAF4F8"/>
          </a:solidFill>
          <a:ln w="9525">
            <a:solidFill>
              <a:srgbClr val="A9CDDB"/>
            </a:solidFill>
            <a:prstDash val="solid"/>
          </a:ln>
        </p:spPr>
      </p:sp>
      <p:sp>
        <p:nvSpPr>
          <p:cNvPr id="59" name="Text 57"/>
          <p:cNvSpPr/>
          <p:nvPr/>
        </p:nvSpPr>
        <p:spPr>
          <a:xfrm>
            <a:off x="3749040" y="4160520"/>
            <a:ext cx="438912" cy="384048"/>
          </a:xfrm>
          <a:prstGeom prst="rect">
            <a:avLst/>
          </a:prstGeom>
          <a:noFill/>
          <a:ln/>
        </p:spPr>
        <p:txBody>
          <a:bodyPr wrap="square" lIns="0" tIns="0" rIns="0" bIns="0" rtlCol="0" anchor="ctr"/>
          <a:lstStyle/>
          <a:p>
            <a:pPr marL="0" indent="0" algn="ctr">
              <a:buNone/>
            </a:pPr>
            <a:r>
              <a:rPr lang="en-US" sz="1050" dirty="0">
                <a:solidFill>
                  <a:srgbClr val="062A3A"/>
                </a:solidFill>
                <a:latin typeface="Consolas" pitchFamily="34" charset="0"/>
                <a:ea typeface="Consolas" pitchFamily="34" charset="-122"/>
                <a:cs typeface="Consolas" pitchFamily="34" charset="-120"/>
              </a:rPr>
              <a:t>22</a:t>
            </a:r>
            <a:endParaRPr lang="en-US" sz="1050" dirty="0"/>
          </a:p>
        </p:txBody>
      </p:sp>
      <p:sp>
        <p:nvSpPr>
          <p:cNvPr id="60" name="Shape 58"/>
          <p:cNvSpPr/>
          <p:nvPr/>
        </p:nvSpPr>
        <p:spPr>
          <a:xfrm>
            <a:off x="3310128" y="4544568"/>
            <a:ext cx="438912" cy="384048"/>
          </a:xfrm>
          <a:prstGeom prst="rect">
            <a:avLst/>
          </a:prstGeom>
          <a:solidFill>
            <a:srgbClr val="EAF4F8"/>
          </a:solidFill>
          <a:ln w="9525">
            <a:solidFill>
              <a:srgbClr val="A9CDDB"/>
            </a:solidFill>
            <a:prstDash val="solid"/>
          </a:ln>
        </p:spPr>
      </p:sp>
      <p:sp>
        <p:nvSpPr>
          <p:cNvPr id="61" name="Text 59"/>
          <p:cNvSpPr/>
          <p:nvPr/>
        </p:nvSpPr>
        <p:spPr>
          <a:xfrm>
            <a:off x="3310128" y="4544568"/>
            <a:ext cx="438912" cy="384048"/>
          </a:xfrm>
          <a:prstGeom prst="rect">
            <a:avLst/>
          </a:prstGeom>
          <a:noFill/>
          <a:ln/>
        </p:spPr>
        <p:txBody>
          <a:bodyPr wrap="square" lIns="0" tIns="0" rIns="0" bIns="0" rtlCol="0" anchor="ctr"/>
          <a:lstStyle/>
          <a:p>
            <a:pPr marL="0" indent="0" algn="ctr">
              <a:buNone/>
            </a:pPr>
            <a:r>
              <a:rPr lang="en-US" sz="1050" dirty="0">
                <a:solidFill>
                  <a:srgbClr val="062A3A"/>
                </a:solidFill>
                <a:latin typeface="Consolas" pitchFamily="34" charset="0"/>
                <a:ea typeface="Consolas" pitchFamily="34" charset="-122"/>
                <a:cs typeface="Consolas" pitchFamily="34" charset="-120"/>
              </a:rPr>
              <a:t>43</a:t>
            </a:r>
            <a:endParaRPr lang="en-US" sz="1050" dirty="0"/>
          </a:p>
        </p:txBody>
      </p:sp>
      <p:sp>
        <p:nvSpPr>
          <p:cNvPr id="62" name="Shape 60"/>
          <p:cNvSpPr/>
          <p:nvPr/>
        </p:nvSpPr>
        <p:spPr>
          <a:xfrm>
            <a:off x="3749040" y="4544568"/>
            <a:ext cx="438912" cy="384048"/>
          </a:xfrm>
          <a:prstGeom prst="rect">
            <a:avLst/>
          </a:prstGeom>
          <a:solidFill>
            <a:srgbClr val="EAF4F8"/>
          </a:solidFill>
          <a:ln w="9525">
            <a:solidFill>
              <a:srgbClr val="A9CDDB"/>
            </a:solidFill>
            <a:prstDash val="solid"/>
          </a:ln>
        </p:spPr>
      </p:sp>
      <p:sp>
        <p:nvSpPr>
          <p:cNvPr id="63" name="Text 61"/>
          <p:cNvSpPr/>
          <p:nvPr/>
        </p:nvSpPr>
        <p:spPr>
          <a:xfrm>
            <a:off x="3749040" y="4544568"/>
            <a:ext cx="438912" cy="384048"/>
          </a:xfrm>
          <a:prstGeom prst="rect">
            <a:avLst/>
          </a:prstGeom>
          <a:noFill/>
          <a:ln/>
        </p:spPr>
        <p:txBody>
          <a:bodyPr wrap="square" lIns="0" tIns="0" rIns="0" bIns="0" rtlCol="0" anchor="ctr"/>
          <a:lstStyle/>
          <a:p>
            <a:pPr marL="0" indent="0" algn="ctr">
              <a:buNone/>
            </a:pPr>
            <a:r>
              <a:rPr lang="en-US" sz="1050" dirty="0">
                <a:solidFill>
                  <a:srgbClr val="062A3A"/>
                </a:solidFill>
                <a:latin typeface="Consolas" pitchFamily="34" charset="0"/>
                <a:ea typeface="Consolas" pitchFamily="34" charset="-122"/>
                <a:cs typeface="Consolas" pitchFamily="34" charset="-120"/>
              </a:rPr>
              <a:t>50</a:t>
            </a:r>
            <a:endParaRPr lang="en-US" sz="1050" dirty="0"/>
          </a:p>
        </p:txBody>
      </p:sp>
      <p:sp>
        <p:nvSpPr>
          <p:cNvPr id="64" name="Text 62"/>
          <p:cNvSpPr/>
          <p:nvPr/>
        </p:nvSpPr>
        <p:spPr>
          <a:xfrm>
            <a:off x="640080" y="5303520"/>
            <a:ext cx="3200400" cy="219456"/>
          </a:xfrm>
          <a:prstGeom prst="rect">
            <a:avLst/>
          </a:prstGeom>
          <a:noFill/>
          <a:ln/>
        </p:spPr>
        <p:txBody>
          <a:bodyPr wrap="square" lIns="0" tIns="0" rIns="0" bIns="0" rtlCol="0" anchor="t"/>
          <a:lstStyle/>
          <a:p>
            <a:pPr marL="0" indent="0">
              <a:buNone/>
            </a:pPr>
            <a:r>
              <a:rPr lang="en-US" sz="850" i="1" dirty="0">
                <a:solidFill>
                  <a:srgbClr val="728694"/>
                </a:solidFill>
                <a:latin typeface="Segoe UI" pitchFamily="34" charset="0"/>
                <a:ea typeface="Segoe UI" pitchFamily="34" charset="-122"/>
                <a:cs typeface="Segoe UI" pitchFamily="34" charset="-120"/>
              </a:rPr>
              <a:t>hàng × cột: 1×5 + 2×7 = 19</a:t>
            </a:r>
            <a:endParaRPr lang="en-US" sz="850" dirty="0"/>
          </a:p>
        </p:txBody>
      </p:sp>
      <p:sp>
        <p:nvSpPr>
          <p:cNvPr id="65" name="Shape 63"/>
          <p:cNvSpPr/>
          <p:nvPr/>
        </p:nvSpPr>
        <p:spPr>
          <a:xfrm>
            <a:off x="4526280" y="1463040"/>
            <a:ext cx="7086600" cy="1600200"/>
          </a:xfrm>
          <a:prstGeom prst="roundRect">
            <a:avLst>
              <a:gd name="adj" fmla="val 2857"/>
            </a:avLst>
          </a:prstGeom>
          <a:solidFill>
            <a:srgbClr val="0B2230"/>
          </a:solidFill>
          <a:ln w="9525">
            <a:solidFill>
              <a:srgbClr val="163B4C"/>
            </a:solidFill>
            <a:prstDash val="solid"/>
          </a:ln>
        </p:spPr>
      </p:sp>
      <p:sp>
        <p:nvSpPr>
          <p:cNvPr id="66" name="Shape 64"/>
          <p:cNvSpPr/>
          <p:nvPr/>
        </p:nvSpPr>
        <p:spPr>
          <a:xfrm>
            <a:off x="4526280" y="1463040"/>
            <a:ext cx="7086600" cy="265176"/>
          </a:xfrm>
          <a:prstGeom prst="rect">
            <a:avLst/>
          </a:prstGeom>
          <a:solidFill>
            <a:srgbClr val="103445"/>
          </a:solidFill>
          <a:ln w="12700">
            <a:solidFill>
              <a:srgbClr val="103445"/>
            </a:solidFill>
            <a:prstDash val="solid"/>
          </a:ln>
        </p:spPr>
      </p:sp>
      <p:sp>
        <p:nvSpPr>
          <p:cNvPr id="67" name="Text 65"/>
          <p:cNvSpPr/>
          <p:nvPr/>
        </p:nvSpPr>
        <p:spPr>
          <a:xfrm>
            <a:off x="4672584" y="1513332"/>
            <a:ext cx="6172200" cy="182880"/>
          </a:xfrm>
          <a:prstGeom prst="rect">
            <a:avLst/>
          </a:prstGeom>
          <a:noFill/>
          <a:ln/>
        </p:spPr>
        <p:txBody>
          <a:bodyPr wrap="square" lIns="0" tIns="0" rIns="0" bIns="0" rtlCol="0" anchor="t"/>
          <a:lstStyle/>
          <a:p>
            <a:pPr marL="0" indent="0">
              <a:buNone/>
            </a:pPr>
            <a:r>
              <a:rPr lang="en-US" sz="850" dirty="0">
                <a:solidFill>
                  <a:srgbClr val="8FB6C8"/>
                </a:solidFill>
                <a:latin typeface="Consolas" pitchFamily="34" charset="0"/>
                <a:ea typeface="Consolas" pitchFamily="34" charset="-122"/>
                <a:cs typeface="Consolas" pitchFamily="34" charset="-120"/>
              </a:rPr>
              <a:t>python</a:t>
            </a:r>
            <a:endParaRPr lang="en-US" sz="850" dirty="0"/>
          </a:p>
        </p:txBody>
      </p:sp>
      <p:sp>
        <p:nvSpPr>
          <p:cNvPr id="68" name="Shape 66"/>
          <p:cNvSpPr/>
          <p:nvPr/>
        </p:nvSpPr>
        <p:spPr>
          <a:xfrm>
            <a:off x="11045952" y="1568196"/>
            <a:ext cx="77724" cy="77724"/>
          </a:xfrm>
          <a:prstGeom prst="ellipse">
            <a:avLst/>
          </a:prstGeom>
          <a:solidFill>
            <a:srgbClr val="D96C5F"/>
          </a:solidFill>
          <a:ln w="12700">
            <a:solidFill>
              <a:srgbClr val="D96C5F"/>
            </a:solidFill>
            <a:prstDash val="solid"/>
          </a:ln>
        </p:spPr>
      </p:sp>
      <p:sp>
        <p:nvSpPr>
          <p:cNvPr id="69" name="Shape 67"/>
          <p:cNvSpPr/>
          <p:nvPr/>
        </p:nvSpPr>
        <p:spPr>
          <a:xfrm>
            <a:off x="11201400" y="1568196"/>
            <a:ext cx="77724" cy="77724"/>
          </a:xfrm>
          <a:prstGeom prst="ellipse">
            <a:avLst/>
          </a:prstGeom>
          <a:solidFill>
            <a:srgbClr val="E8A33D"/>
          </a:solidFill>
          <a:ln w="12700">
            <a:solidFill>
              <a:srgbClr val="E8A33D"/>
            </a:solidFill>
            <a:prstDash val="solid"/>
          </a:ln>
        </p:spPr>
      </p:sp>
      <p:sp>
        <p:nvSpPr>
          <p:cNvPr id="70" name="Shape 68"/>
          <p:cNvSpPr/>
          <p:nvPr/>
        </p:nvSpPr>
        <p:spPr>
          <a:xfrm>
            <a:off x="11356848" y="1568196"/>
            <a:ext cx="77724" cy="77724"/>
          </a:xfrm>
          <a:prstGeom prst="ellipse">
            <a:avLst/>
          </a:prstGeom>
          <a:solidFill>
            <a:srgbClr val="2D8C6F"/>
          </a:solidFill>
          <a:ln w="12700">
            <a:solidFill>
              <a:srgbClr val="2D8C6F"/>
            </a:solidFill>
            <a:prstDash val="solid"/>
          </a:ln>
        </p:spPr>
      </p:sp>
      <p:sp>
        <p:nvSpPr>
          <p:cNvPr id="71" name="Text 69"/>
          <p:cNvSpPr/>
          <p:nvPr/>
        </p:nvSpPr>
        <p:spPr>
          <a:xfrm>
            <a:off x="4690872" y="1810512"/>
            <a:ext cx="6793992" cy="1179576"/>
          </a:xfrm>
          <a:prstGeom prst="rect">
            <a:avLst/>
          </a:prstGeom>
          <a:noFill/>
          <a:ln/>
        </p:spPr>
        <p:txBody>
          <a:bodyPr wrap="square" lIns="0" tIns="0" rIns="0" bIns="0" rtlCol="0" anchor="t"/>
          <a:lstStyle/>
          <a:p>
            <a:pPr marL="0" indent="0">
              <a:lnSpc>
                <a:spcPct val="102000"/>
              </a:lnSpc>
              <a:buNone/>
            </a:pPr>
            <a:r>
              <a:rPr lang="en-US" sz="1050" dirty="0">
                <a:solidFill>
                  <a:srgbClr val="D6E6EF"/>
                </a:solidFill>
                <a:latin typeface="Consolas" pitchFamily="34" charset="0"/>
                <a:ea typeface="Consolas" pitchFamily="34" charset="-122"/>
                <a:cs typeface="Consolas" pitchFamily="34" charset="-120"/>
              </a:rPr>
              <a:t>A = </a:t>
            </a:r>
            <a:r>
              <a:rPr lang="en-US" sz="1050" dirty="0">
                <a:solidFill>
                  <a:srgbClr val="8AD9C0"/>
                </a:solidFill>
                <a:latin typeface="Consolas" pitchFamily="34" charset="0"/>
                <a:ea typeface="Consolas" pitchFamily="34" charset="-122"/>
                <a:cs typeface="Consolas" pitchFamily="34" charset="-120"/>
              </a:rPr>
              <a:t>np</a:t>
            </a:r>
            <a:r>
              <a:rPr lang="en-US" sz="1050" dirty="0">
                <a:solidFill>
                  <a:srgbClr val="D6E6EF"/>
                </a:solidFill>
                <a:latin typeface="Consolas" pitchFamily="34" charset="0"/>
                <a:ea typeface="Consolas" pitchFamily="34" charset="-122"/>
                <a:cs typeface="Consolas" pitchFamily="34" charset="-120"/>
              </a:rPr>
              <a:t>.array([[</a:t>
            </a:r>
            <a:r>
              <a:rPr lang="en-US" sz="1050" dirty="0">
                <a:solidFill>
                  <a:srgbClr val="F08A7C"/>
                </a:solidFill>
                <a:latin typeface="Consolas" pitchFamily="34" charset="0"/>
                <a:ea typeface="Consolas" pitchFamily="34" charset="-122"/>
                <a:cs typeface="Consolas" pitchFamily="34" charset="-120"/>
              </a:rPr>
              <a:t>1</a:t>
            </a:r>
            <a:r>
              <a:rPr lang="en-US" sz="1050" dirty="0">
                <a:solidFill>
                  <a:srgbClr val="D6E6EF"/>
                </a:solidFill>
                <a:latin typeface="Consolas" pitchFamily="34" charset="0"/>
                <a:ea typeface="Consolas" pitchFamily="34" charset="-122"/>
                <a:cs typeface="Consolas" pitchFamily="34" charset="-120"/>
              </a:rPr>
              <a:t>, </a:t>
            </a:r>
            <a:r>
              <a:rPr lang="en-US" sz="1050" dirty="0">
                <a:solidFill>
                  <a:srgbClr val="F08A7C"/>
                </a:solidFill>
                <a:latin typeface="Consolas" pitchFamily="34" charset="0"/>
                <a:ea typeface="Consolas" pitchFamily="34" charset="-122"/>
                <a:cs typeface="Consolas" pitchFamily="34" charset="-120"/>
              </a:rPr>
              <a:t>2</a:t>
            </a:r>
            <a:r>
              <a:rPr lang="en-US" sz="1050" dirty="0">
                <a:solidFill>
                  <a:srgbClr val="D6E6EF"/>
                </a:solidFill>
                <a:latin typeface="Consolas" pitchFamily="34" charset="0"/>
                <a:ea typeface="Consolas" pitchFamily="34" charset="-122"/>
                <a:cs typeface="Consolas" pitchFamily="34" charset="-120"/>
              </a:rPr>
              <a:t>], [</a:t>
            </a:r>
            <a:r>
              <a:rPr lang="en-US" sz="1050" dirty="0">
                <a:solidFill>
                  <a:srgbClr val="F08A7C"/>
                </a:solidFill>
                <a:latin typeface="Consolas" pitchFamily="34" charset="0"/>
                <a:ea typeface="Consolas" pitchFamily="34" charset="-122"/>
                <a:cs typeface="Consolas" pitchFamily="34" charset="-120"/>
              </a:rPr>
              <a:t>3</a:t>
            </a:r>
            <a:r>
              <a:rPr lang="en-US" sz="1050" dirty="0">
                <a:solidFill>
                  <a:srgbClr val="D6E6EF"/>
                </a:solidFill>
                <a:latin typeface="Consolas" pitchFamily="34" charset="0"/>
                <a:ea typeface="Consolas" pitchFamily="34" charset="-122"/>
                <a:cs typeface="Consolas" pitchFamily="34" charset="-120"/>
              </a:rPr>
              <a:t>, </a:t>
            </a:r>
            <a:r>
              <a:rPr lang="en-US" sz="1050" dirty="0">
                <a:solidFill>
                  <a:srgbClr val="F08A7C"/>
                </a:solidFill>
                <a:latin typeface="Consolas" pitchFamily="34" charset="0"/>
                <a:ea typeface="Consolas" pitchFamily="34" charset="-122"/>
                <a:cs typeface="Consolas" pitchFamily="34" charset="-120"/>
              </a:rPr>
              <a:t>4</a:t>
            </a:r>
            <a:r>
              <a:rPr lang="en-US" sz="1050" dirty="0">
                <a:solidFill>
                  <a:srgbClr val="D6E6EF"/>
                </a:solidFill>
                <a:latin typeface="Consolas" pitchFamily="34" charset="0"/>
                <a:ea typeface="Consolas" pitchFamily="34" charset="-122"/>
                <a:cs typeface="Consolas" pitchFamily="34" charset="-120"/>
              </a:rPr>
              <a:t>]])</a:t>
            </a:r>
            <a:endParaRPr lang="en-US" sz="1050" dirty="0"/>
          </a:p>
          <a:p>
            <a:pPr marL="0" indent="0">
              <a:lnSpc>
                <a:spcPct val="102000"/>
              </a:lnSpc>
              <a:buNone/>
            </a:pPr>
            <a:r>
              <a:rPr lang="en-US" sz="1050" dirty="0">
                <a:solidFill>
                  <a:srgbClr val="D6E6EF"/>
                </a:solidFill>
                <a:latin typeface="Consolas" pitchFamily="34" charset="0"/>
                <a:ea typeface="Consolas" pitchFamily="34" charset="-122"/>
                <a:cs typeface="Consolas" pitchFamily="34" charset="-120"/>
              </a:rPr>
              <a:t>B = </a:t>
            </a:r>
            <a:r>
              <a:rPr lang="en-US" sz="1050" dirty="0">
                <a:solidFill>
                  <a:srgbClr val="8AD9C0"/>
                </a:solidFill>
                <a:latin typeface="Consolas" pitchFamily="34" charset="0"/>
                <a:ea typeface="Consolas" pitchFamily="34" charset="-122"/>
                <a:cs typeface="Consolas" pitchFamily="34" charset="-120"/>
              </a:rPr>
              <a:t>np</a:t>
            </a:r>
            <a:r>
              <a:rPr lang="en-US" sz="1050" dirty="0">
                <a:solidFill>
                  <a:srgbClr val="D6E6EF"/>
                </a:solidFill>
                <a:latin typeface="Consolas" pitchFamily="34" charset="0"/>
                <a:ea typeface="Consolas" pitchFamily="34" charset="-122"/>
                <a:cs typeface="Consolas" pitchFamily="34" charset="-120"/>
              </a:rPr>
              <a:t>.array([[</a:t>
            </a:r>
            <a:r>
              <a:rPr lang="en-US" sz="1050" dirty="0">
                <a:solidFill>
                  <a:srgbClr val="F08A7C"/>
                </a:solidFill>
                <a:latin typeface="Consolas" pitchFamily="34" charset="0"/>
                <a:ea typeface="Consolas" pitchFamily="34" charset="-122"/>
                <a:cs typeface="Consolas" pitchFamily="34" charset="-120"/>
              </a:rPr>
              <a:t>5</a:t>
            </a:r>
            <a:r>
              <a:rPr lang="en-US" sz="1050" dirty="0">
                <a:solidFill>
                  <a:srgbClr val="D6E6EF"/>
                </a:solidFill>
                <a:latin typeface="Consolas" pitchFamily="34" charset="0"/>
                <a:ea typeface="Consolas" pitchFamily="34" charset="-122"/>
                <a:cs typeface="Consolas" pitchFamily="34" charset="-120"/>
              </a:rPr>
              <a:t>, </a:t>
            </a:r>
            <a:r>
              <a:rPr lang="en-US" sz="1050" dirty="0">
                <a:solidFill>
                  <a:srgbClr val="F08A7C"/>
                </a:solidFill>
                <a:latin typeface="Consolas" pitchFamily="34" charset="0"/>
                <a:ea typeface="Consolas" pitchFamily="34" charset="-122"/>
                <a:cs typeface="Consolas" pitchFamily="34" charset="-120"/>
              </a:rPr>
              <a:t>6</a:t>
            </a:r>
            <a:r>
              <a:rPr lang="en-US" sz="1050" dirty="0">
                <a:solidFill>
                  <a:srgbClr val="D6E6EF"/>
                </a:solidFill>
                <a:latin typeface="Consolas" pitchFamily="34" charset="0"/>
                <a:ea typeface="Consolas" pitchFamily="34" charset="-122"/>
                <a:cs typeface="Consolas" pitchFamily="34" charset="-120"/>
              </a:rPr>
              <a:t>], [</a:t>
            </a:r>
            <a:r>
              <a:rPr lang="en-US" sz="1050" dirty="0">
                <a:solidFill>
                  <a:srgbClr val="F08A7C"/>
                </a:solidFill>
                <a:latin typeface="Consolas" pitchFamily="34" charset="0"/>
                <a:ea typeface="Consolas" pitchFamily="34" charset="-122"/>
                <a:cs typeface="Consolas" pitchFamily="34" charset="-120"/>
              </a:rPr>
              <a:t>7</a:t>
            </a:r>
            <a:r>
              <a:rPr lang="en-US" sz="1050" dirty="0">
                <a:solidFill>
                  <a:srgbClr val="D6E6EF"/>
                </a:solidFill>
                <a:latin typeface="Consolas" pitchFamily="34" charset="0"/>
                <a:ea typeface="Consolas" pitchFamily="34" charset="-122"/>
                <a:cs typeface="Consolas" pitchFamily="34" charset="-120"/>
              </a:rPr>
              <a:t>, </a:t>
            </a:r>
            <a:r>
              <a:rPr lang="en-US" sz="1050" dirty="0">
                <a:solidFill>
                  <a:srgbClr val="F08A7C"/>
                </a:solidFill>
                <a:latin typeface="Consolas" pitchFamily="34" charset="0"/>
                <a:ea typeface="Consolas" pitchFamily="34" charset="-122"/>
                <a:cs typeface="Consolas" pitchFamily="34" charset="-120"/>
              </a:rPr>
              <a:t>8</a:t>
            </a:r>
            <a:r>
              <a:rPr lang="en-US" sz="1050" dirty="0">
                <a:solidFill>
                  <a:srgbClr val="D6E6EF"/>
                </a:solidFill>
                <a:latin typeface="Consolas" pitchFamily="34" charset="0"/>
                <a:ea typeface="Consolas" pitchFamily="34" charset="-122"/>
                <a:cs typeface="Consolas" pitchFamily="34" charset="-120"/>
              </a:rPr>
              <a:t>]])</a:t>
            </a:r>
            <a:endParaRPr lang="en-US" sz="1050" dirty="0"/>
          </a:p>
          <a:p>
            <a:pPr marL="0" indent="0">
              <a:lnSpc>
                <a:spcPct val="102000"/>
              </a:lnSpc>
              <a:buNone/>
            </a:pPr>
            <a:r>
              <a:rPr lang="en-US" sz="1050" dirty="0">
                <a:solidFill>
                  <a:srgbClr val="6FD0E4"/>
                </a:solidFill>
                <a:latin typeface="Consolas" pitchFamily="34" charset="0"/>
                <a:ea typeface="Consolas" pitchFamily="34" charset="-122"/>
                <a:cs typeface="Consolas" pitchFamily="34" charset="-120"/>
              </a:rPr>
              <a:t>print</a:t>
            </a:r>
            <a:r>
              <a:rPr lang="en-US" sz="1050" dirty="0">
                <a:solidFill>
                  <a:srgbClr val="D6E6EF"/>
                </a:solidFill>
                <a:latin typeface="Consolas" pitchFamily="34" charset="0"/>
                <a:ea typeface="Consolas" pitchFamily="34" charset="-122"/>
                <a:cs typeface="Consolas" pitchFamily="34" charset="-120"/>
              </a:rPr>
              <a:t>(A * B)</a:t>
            </a:r>
            <a:endParaRPr lang="en-US" sz="1050" dirty="0"/>
          </a:p>
          <a:p>
            <a:pPr marL="0" indent="0">
              <a:lnSpc>
                <a:spcPct val="102000"/>
              </a:lnSpc>
              <a:buNone/>
            </a:pPr>
            <a:r>
              <a:rPr lang="en-US" sz="1050" dirty="0">
                <a:solidFill>
                  <a:srgbClr val="6FD0E4"/>
                </a:solidFill>
                <a:latin typeface="Consolas" pitchFamily="34" charset="0"/>
                <a:ea typeface="Consolas" pitchFamily="34" charset="-122"/>
                <a:cs typeface="Consolas" pitchFamily="34" charset="-120"/>
              </a:rPr>
              <a:t>print</a:t>
            </a:r>
            <a:r>
              <a:rPr lang="en-US" sz="1050" dirty="0">
                <a:solidFill>
                  <a:srgbClr val="D6E6EF"/>
                </a:solidFill>
                <a:latin typeface="Consolas" pitchFamily="34" charset="0"/>
                <a:ea typeface="Consolas" pitchFamily="34" charset="-122"/>
                <a:cs typeface="Consolas" pitchFamily="34" charset="-120"/>
              </a:rPr>
              <a:t>(A @ B)</a:t>
            </a:r>
            <a:endParaRPr lang="en-US" sz="1050" dirty="0"/>
          </a:p>
        </p:txBody>
      </p:sp>
      <p:sp>
        <p:nvSpPr>
          <p:cNvPr id="72" name="Shape 70"/>
          <p:cNvSpPr/>
          <p:nvPr/>
        </p:nvSpPr>
        <p:spPr>
          <a:xfrm>
            <a:off x="4526280" y="3200400"/>
            <a:ext cx="7086600" cy="1325880"/>
          </a:xfrm>
          <a:prstGeom prst="roundRect">
            <a:avLst>
              <a:gd name="adj" fmla="val 3448"/>
            </a:avLst>
          </a:prstGeom>
          <a:solidFill>
            <a:srgbClr val="FFFFFF"/>
          </a:solidFill>
          <a:ln w="9525">
            <a:solidFill>
              <a:srgbClr val="CFE5EE"/>
            </a:solidFill>
            <a:prstDash val="solid"/>
          </a:ln>
        </p:spPr>
      </p:sp>
      <p:sp>
        <p:nvSpPr>
          <p:cNvPr id="73" name="Text 71"/>
          <p:cNvSpPr/>
          <p:nvPr/>
        </p:nvSpPr>
        <p:spPr>
          <a:xfrm>
            <a:off x="4672584" y="3291840"/>
            <a:ext cx="6812280" cy="164592"/>
          </a:xfrm>
          <a:prstGeom prst="rect">
            <a:avLst/>
          </a:prstGeom>
          <a:noFill/>
          <a:ln/>
        </p:spPr>
        <p:txBody>
          <a:bodyPr wrap="square" lIns="0" tIns="0" rIns="0" bIns="0" rtlCol="0" anchor="t"/>
          <a:lstStyle/>
          <a:p>
            <a:pPr marL="0" indent="0">
              <a:buNone/>
            </a:pPr>
            <a:r>
              <a:rPr lang="en-US" sz="800" b="1" kern="0" spc="120" dirty="0">
                <a:solidFill>
                  <a:srgbClr val="2D8C6F"/>
                </a:solidFill>
                <a:latin typeface="Segoe UI" pitchFamily="34" charset="0"/>
                <a:ea typeface="Segoe UI" pitchFamily="34" charset="-122"/>
                <a:cs typeface="Segoe UI" pitchFamily="34" charset="-120"/>
              </a:rPr>
              <a:t>KẾT QUẢ</a:t>
            </a:r>
            <a:endParaRPr lang="en-US" sz="800" dirty="0"/>
          </a:p>
        </p:txBody>
      </p:sp>
      <p:sp>
        <p:nvSpPr>
          <p:cNvPr id="74" name="Text 72"/>
          <p:cNvSpPr/>
          <p:nvPr/>
        </p:nvSpPr>
        <p:spPr>
          <a:xfrm>
            <a:off x="4672584" y="3511296"/>
            <a:ext cx="6812280" cy="941832"/>
          </a:xfrm>
          <a:prstGeom prst="rect">
            <a:avLst/>
          </a:prstGeom>
          <a:noFill/>
          <a:ln/>
        </p:spPr>
        <p:txBody>
          <a:bodyPr wrap="square" lIns="0" tIns="0" rIns="0" bIns="0" rtlCol="0" anchor="t"/>
          <a:lstStyle/>
          <a:p>
            <a:pPr marL="0" indent="0">
              <a:lnSpc>
                <a:spcPct val="102000"/>
              </a:lnSpc>
              <a:buNone/>
            </a:pPr>
            <a:r>
              <a:rPr lang="en-US" sz="1050" dirty="0">
                <a:solidFill>
                  <a:srgbClr val="062A3A"/>
                </a:solidFill>
                <a:latin typeface="Consolas" pitchFamily="34" charset="0"/>
                <a:ea typeface="Consolas" pitchFamily="34" charset="-122"/>
                <a:cs typeface="Consolas" pitchFamily="34" charset="-120"/>
              </a:rPr>
              <a:t>[[ 5 12]</a:t>
            </a:r>
            <a:endParaRPr lang="en-US" sz="1050" dirty="0"/>
          </a:p>
          <a:p>
            <a:pPr marL="0" indent="0">
              <a:lnSpc>
                <a:spcPct val="102000"/>
              </a:lnSpc>
              <a:buNone/>
            </a:pPr>
            <a:r>
              <a:rPr lang="en-US" sz="1050" dirty="0">
                <a:solidFill>
                  <a:srgbClr val="062A3A"/>
                </a:solidFill>
                <a:latin typeface="Consolas" pitchFamily="34" charset="0"/>
                <a:ea typeface="Consolas" pitchFamily="34" charset="-122"/>
                <a:cs typeface="Consolas" pitchFamily="34" charset="-120"/>
              </a:rPr>
              <a:t> [21 32]]</a:t>
            </a:r>
            <a:endParaRPr lang="en-US" sz="1050" dirty="0"/>
          </a:p>
          <a:p>
            <a:pPr marL="0" indent="0">
              <a:lnSpc>
                <a:spcPct val="102000"/>
              </a:lnSpc>
              <a:buNone/>
            </a:pPr>
            <a:r>
              <a:rPr lang="en-US" sz="1050" dirty="0">
                <a:solidFill>
                  <a:srgbClr val="062A3A"/>
                </a:solidFill>
                <a:latin typeface="Consolas" pitchFamily="34" charset="0"/>
                <a:ea typeface="Consolas" pitchFamily="34" charset="-122"/>
                <a:cs typeface="Consolas" pitchFamily="34" charset="-120"/>
              </a:rPr>
              <a:t>[[19 22]</a:t>
            </a:r>
            <a:endParaRPr lang="en-US" sz="1050" dirty="0"/>
          </a:p>
          <a:p>
            <a:pPr marL="0" indent="0">
              <a:lnSpc>
                <a:spcPct val="102000"/>
              </a:lnSpc>
              <a:buNone/>
            </a:pPr>
            <a:r>
              <a:rPr lang="en-US" sz="1050" dirty="0">
                <a:solidFill>
                  <a:srgbClr val="062A3A"/>
                </a:solidFill>
                <a:latin typeface="Consolas" pitchFamily="34" charset="0"/>
                <a:ea typeface="Consolas" pitchFamily="34" charset="-122"/>
                <a:cs typeface="Consolas" pitchFamily="34" charset="-120"/>
              </a:rPr>
              <a:t> [43 50]]</a:t>
            </a:r>
            <a:endParaRPr lang="en-US" sz="105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4526280" y="4681728"/>
          <a:ext cx="7086600" cy="914400"/>
        </p:xfrm>
        <a:graphic>
          <a:graphicData uri="http://schemas.openxmlformats.org/drawingml/2006/table">
            <a:tbl>
              <a:tblPr/>
              <a:tblGrid>
                <a:gridCol w="8229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3886200">
                  <a:extLst>
                    <a:ext uri="{9D8B030D-6E8A-4147-A177-3AD203B41FA5}">
                      <a16:colId xmlns:a16="http://schemas.microsoft.com/office/drawing/2014/main" val="20002"/>
                    </a:ext>
                  </a:extLst>
                </a:gridCol>
              </a:tblGrid>
              <a:tr h="292608">
                <a:tc>
                  <a:txBody>
                    <a:bodyPr/>
                    <a:lstStyle/>
                    <a:p>
                      <a:pPr marL="0" indent="0">
                        <a:buNone/>
                      </a:pPr>
                      <a:r>
                        <a:rPr lang="en-US" sz="880" b="1" dirty="0">
                          <a:solidFill>
                            <a:srgbClr val="FFFFFF"/>
                          </a:solidFill>
                          <a:latin typeface="Segoe UI" pitchFamily="34" charset="0"/>
                          <a:ea typeface="Segoe UI" pitchFamily="34" charset="-122"/>
                          <a:cs typeface="Segoe UI" pitchFamily="34" charset="-120"/>
                        </a:rPr>
                        <a:t>Toán tử</a:t>
                      </a:r>
                      <a:endParaRPr lang="en-US" sz="88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tc>
                  <a:txBody>
                    <a:bodyPr/>
                    <a:lstStyle/>
                    <a:p>
                      <a:pPr marL="0" indent="0">
                        <a:buNone/>
                      </a:pPr>
                      <a:r>
                        <a:rPr lang="en-US" sz="880" b="1" dirty="0">
                          <a:solidFill>
                            <a:srgbClr val="FFFFFF"/>
                          </a:solidFill>
                          <a:latin typeface="Segoe UI" pitchFamily="34" charset="0"/>
                          <a:ea typeface="Segoe UI" pitchFamily="34" charset="-122"/>
                          <a:cs typeface="Segoe UI" pitchFamily="34" charset="-120"/>
                        </a:rPr>
                        <a:t>Ý nghĩa</a:t>
                      </a:r>
                      <a:endParaRPr lang="en-US" sz="88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tc>
                  <a:txBody>
                    <a:bodyPr/>
                    <a:lstStyle/>
                    <a:p>
                      <a:pPr marL="0" indent="0">
                        <a:buNone/>
                      </a:pPr>
                      <a:r>
                        <a:rPr lang="en-US" sz="880" b="1" dirty="0">
                          <a:solidFill>
                            <a:srgbClr val="FFFFFF"/>
                          </a:solidFill>
                          <a:latin typeface="Segoe UI" pitchFamily="34" charset="0"/>
                          <a:ea typeface="Segoe UI" pitchFamily="34" charset="-122"/>
                          <a:cs typeface="Segoe UI" pitchFamily="34" charset="-120"/>
                        </a:rPr>
                        <a:t>Điều kiện shape</a:t>
                      </a:r>
                      <a:endParaRPr lang="en-US" sz="88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extLst>
                  <a:ext uri="{0D108BD9-81ED-4DB2-BD59-A6C34878D82A}">
                    <a16:rowId xmlns:a16="http://schemas.microsoft.com/office/drawing/2014/main" val="10000"/>
                  </a:ext>
                </a:extLst>
              </a:tr>
              <a:tr h="310896">
                <a:tc>
                  <a:txBody>
                    <a:bodyPr/>
                    <a:lstStyle/>
                    <a:p>
                      <a:pPr marL="0" indent="0">
                        <a:buNone/>
                      </a:pPr>
                      <a:r>
                        <a:rPr lang="en-US" sz="880" b="1" dirty="0">
                          <a:solidFill>
                            <a:srgbClr val="062A3A"/>
                          </a:solidFill>
                          <a:latin typeface="Consolas" pitchFamily="34" charset="0"/>
                          <a:ea typeface="Consolas" pitchFamily="34" charset="-122"/>
                          <a:cs typeface="Consolas" pitchFamily="34" charset="-120"/>
                        </a:rPr>
                        <a:t>*</a:t>
                      </a:r>
                      <a:endParaRPr lang="en-US" sz="880" dirty="0">
                        <a:latin typeface="Consolas" charset="0"/>
                        <a:ea typeface="Consolas" charset="0"/>
                        <a:cs typeface="Consolas"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marL="0" indent="0">
                        <a:buNone/>
                      </a:pPr>
                      <a:r>
                        <a:rPr lang="en-US" sz="880" dirty="0">
                          <a:solidFill>
                            <a:srgbClr val="415A6B"/>
                          </a:solidFill>
                          <a:latin typeface="Segoe UI" pitchFamily="34" charset="0"/>
                          <a:ea typeface="Segoe UI" pitchFamily="34" charset="-122"/>
                          <a:cs typeface="Segoe UI" pitchFamily="34" charset="-120"/>
                        </a:rPr>
                        <a:t>Nhân từng phần tử</a:t>
                      </a:r>
                      <a:endParaRPr lang="en-US" sz="88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marL="0" indent="0">
                        <a:buNone/>
                      </a:pPr>
                      <a:r>
                        <a:rPr lang="en-US" sz="880" dirty="0">
                          <a:solidFill>
                            <a:srgbClr val="415A6B"/>
                          </a:solidFill>
                          <a:latin typeface="Segoe UI" pitchFamily="34" charset="0"/>
                          <a:ea typeface="Segoe UI" pitchFamily="34" charset="-122"/>
                          <a:cs typeface="Segoe UI" pitchFamily="34" charset="-120"/>
                        </a:rPr>
                        <a:t>Cùng shape hoặc broadcast được</a:t>
                      </a:r>
                      <a:endParaRPr lang="en-US" sz="88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880" b="1" dirty="0">
                          <a:solidFill>
                            <a:srgbClr val="062A3A"/>
                          </a:solidFill>
                          <a:latin typeface="Consolas" pitchFamily="34" charset="0"/>
                          <a:ea typeface="Consolas" pitchFamily="34" charset="-122"/>
                          <a:cs typeface="Consolas" pitchFamily="34" charset="-120"/>
                        </a:rPr>
                        <a:t>@</a:t>
                      </a:r>
                      <a:endParaRPr lang="en-US" sz="880" dirty="0">
                        <a:latin typeface="Consolas" charset="0"/>
                        <a:ea typeface="Consolas" charset="0"/>
                        <a:cs typeface="Consolas"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marL="0" indent="0">
                        <a:buNone/>
                      </a:pPr>
                      <a:r>
                        <a:rPr lang="en-US" sz="880" dirty="0">
                          <a:solidFill>
                            <a:srgbClr val="415A6B"/>
                          </a:solidFill>
                          <a:latin typeface="Segoe UI" pitchFamily="34" charset="0"/>
                          <a:ea typeface="Segoe UI" pitchFamily="34" charset="-122"/>
                          <a:cs typeface="Segoe UI" pitchFamily="34" charset="-120"/>
                        </a:rPr>
                        <a:t>Nhân ma trận</a:t>
                      </a:r>
                      <a:endParaRPr lang="en-US" sz="88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marL="0" indent="0">
                        <a:buNone/>
                      </a:pPr>
                      <a:r>
                        <a:rPr lang="en-US" sz="880" dirty="0">
                          <a:solidFill>
                            <a:srgbClr val="415A6B"/>
                          </a:solidFill>
                          <a:latin typeface="Segoe UI" pitchFamily="34" charset="0"/>
                          <a:ea typeface="Segoe UI" pitchFamily="34" charset="-122"/>
                          <a:cs typeface="Segoe UI" pitchFamily="34" charset="-120"/>
                        </a:rPr>
                        <a:t>Số cột của A = số hàng của B</a:t>
                      </a:r>
                      <a:endParaRPr lang="en-US" sz="88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extLst>
                  <a:ext uri="{0D108BD9-81ED-4DB2-BD59-A6C34878D82A}">
                    <a16:rowId xmlns:a16="http://schemas.microsoft.com/office/drawing/2014/main" val="10002"/>
                  </a:ext>
                </a:extLst>
              </a:tr>
            </a:tbl>
          </a:graphicData>
        </a:graphic>
      </p:graphicFrame>
      <p:sp>
        <p:nvSpPr>
          <p:cNvPr id="76" name="Shape 73"/>
          <p:cNvSpPr/>
          <p:nvPr/>
        </p:nvSpPr>
        <p:spPr>
          <a:xfrm>
            <a:off x="548640" y="6391656"/>
            <a:ext cx="11091672" cy="9144"/>
          </a:xfrm>
          <a:prstGeom prst="rect">
            <a:avLst/>
          </a:prstGeom>
          <a:solidFill>
            <a:srgbClr val="D7E5EC"/>
          </a:solidFill>
          <a:ln w="12700">
            <a:solidFill>
              <a:srgbClr val="D7E5EC"/>
            </a:solidFill>
            <a:prstDash val="solid"/>
          </a:ln>
        </p:spPr>
      </p:sp>
      <p:sp>
        <p:nvSpPr>
          <p:cNvPr id="77" name="Text 74"/>
          <p:cNvSpPr/>
          <p:nvPr/>
        </p:nvSpPr>
        <p:spPr>
          <a:xfrm>
            <a:off x="548640" y="6473952"/>
            <a:ext cx="7772400" cy="182880"/>
          </a:xfrm>
          <a:prstGeom prst="rect">
            <a:avLst/>
          </a:prstGeom>
          <a:noFill/>
          <a:ln/>
        </p:spPr>
        <p:txBody>
          <a:bodyPr wrap="square" lIns="0" tIns="0" rIns="0" bIns="0" rtlCol="0" anchor="t"/>
          <a:lstStyle/>
          <a:p>
            <a:pPr marL="0" indent="0">
              <a:buNone/>
            </a:pPr>
            <a:r>
              <a:rPr lang="en-US" sz="850" dirty="0">
                <a:solidFill>
                  <a:srgbClr val="728694"/>
                </a:solidFill>
                <a:latin typeface="Segoe UI" pitchFamily="34" charset="0"/>
                <a:ea typeface="Segoe UI" pitchFamily="34" charset="-122"/>
                <a:cs typeface="Segoe UI" pitchFamily="34" charset="-120"/>
              </a:rPr>
              <a:t>Tìm hiểu thư viện NumPy trong Python</a:t>
            </a:r>
            <a:endParaRPr lang="en-US" sz="850" dirty="0"/>
          </a:p>
        </p:txBody>
      </p:sp>
      <p:sp>
        <p:nvSpPr>
          <p:cNvPr id="78" name="Text 75"/>
          <p:cNvSpPr/>
          <p:nvPr/>
        </p:nvSpPr>
        <p:spPr>
          <a:xfrm>
            <a:off x="10698480" y="6473952"/>
            <a:ext cx="941832" cy="182880"/>
          </a:xfrm>
          <a:prstGeom prst="rect">
            <a:avLst/>
          </a:prstGeom>
          <a:noFill/>
          <a:ln/>
        </p:spPr>
        <p:txBody>
          <a:bodyPr wrap="square" lIns="0" tIns="0" rIns="0" bIns="0" rtlCol="0" anchor="t"/>
          <a:lstStyle/>
          <a:p>
            <a:pPr marL="0" indent="0" algn="r">
              <a:buNone/>
            </a:pPr>
            <a:r>
              <a:rPr lang="en-US" sz="850" dirty="0">
                <a:solidFill>
                  <a:srgbClr val="728694"/>
                </a:solidFill>
                <a:latin typeface="Segoe UI" pitchFamily="34" charset="0"/>
                <a:ea typeface="Segoe UI" pitchFamily="34" charset="-122"/>
                <a:cs typeface="Segoe UI" pitchFamily="34" charset="-120"/>
              </a:rPr>
              <a:t>18 / 25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301752"/>
            <a:ext cx="10881360" cy="201168"/>
          </a:xfrm>
          <a:prstGeom prst="rect">
            <a:avLst/>
          </a:prstGeom>
          <a:noFill/>
          <a:ln/>
        </p:spPr>
        <p:txBody>
          <a:bodyPr wrap="square" lIns="0" tIns="0" rIns="0" bIns="0" rtlCol="0" anchor="t"/>
          <a:lstStyle/>
          <a:p>
            <a:pPr marL="0" indent="0">
              <a:buNone/>
            </a:pPr>
            <a:r>
              <a:rPr lang="en-US" sz="950" b="1" kern="0" spc="160" dirty="0">
                <a:solidFill>
                  <a:srgbClr val="1B8EA8"/>
                </a:solidFill>
                <a:latin typeface="Segoe UI" pitchFamily="34" charset="0"/>
                <a:ea typeface="Segoe UI" pitchFamily="34" charset="-122"/>
                <a:cs typeface="Segoe UI" pitchFamily="34" charset="-120"/>
              </a:rPr>
              <a:t>05 · TÍNH TOÁN</a:t>
            </a:r>
            <a:endParaRPr lang="en-US" sz="950" dirty="0"/>
          </a:p>
        </p:txBody>
      </p:sp>
      <p:sp>
        <p:nvSpPr>
          <p:cNvPr id="3" name="Text 1"/>
          <p:cNvSpPr/>
          <p:nvPr/>
        </p:nvSpPr>
        <p:spPr>
          <a:xfrm>
            <a:off x="548640" y="502920"/>
            <a:ext cx="10881360" cy="640080"/>
          </a:xfrm>
          <a:prstGeom prst="rect">
            <a:avLst/>
          </a:prstGeom>
          <a:noFill/>
          <a:ln/>
        </p:spPr>
        <p:txBody>
          <a:bodyPr wrap="square" lIns="0" tIns="0" rIns="0" bIns="0" rtlCol="0" anchor="ctr"/>
          <a:lstStyle/>
          <a:p>
            <a:pPr marL="0" indent="0">
              <a:buNone/>
            </a:pPr>
            <a:r>
              <a:rPr lang="en-US" sz="2800" b="1" dirty="0">
                <a:solidFill>
                  <a:srgbClr val="062A3A"/>
                </a:solidFill>
                <a:latin typeface="Segoe UI" pitchFamily="34" charset="0"/>
                <a:ea typeface="Segoe UI" pitchFamily="34" charset="-122"/>
                <a:cs typeface="Segoe UI" pitchFamily="34" charset="-120"/>
              </a:rPr>
              <a:t>Hàm tổng hợp và ý nghĩa của axis</a:t>
            </a:r>
            <a:endParaRPr lang="en-US" sz="2800" dirty="0"/>
          </a:p>
        </p:txBody>
      </p:sp>
      <p:sp>
        <p:nvSpPr>
          <p:cNvPr id="4" name="Shape 2"/>
          <p:cNvSpPr/>
          <p:nvPr/>
        </p:nvSpPr>
        <p:spPr>
          <a:xfrm>
            <a:off x="548640" y="1225296"/>
            <a:ext cx="868680" cy="41148"/>
          </a:xfrm>
          <a:prstGeom prst="rect">
            <a:avLst/>
          </a:prstGeom>
          <a:solidFill>
            <a:srgbClr val="1B8EA8"/>
          </a:solidFill>
          <a:ln w="12700">
            <a:solidFill>
              <a:srgbClr val="1B8EA8"/>
            </a:solidFill>
            <a:prstDash val="solid"/>
          </a:ln>
        </p:spPr>
      </p:sp>
      <p:sp>
        <p:nvSpPr>
          <p:cNvPr id="5" name="Shape 3"/>
          <p:cNvSpPr/>
          <p:nvPr/>
        </p:nvSpPr>
        <p:spPr>
          <a:xfrm>
            <a:off x="1051560" y="1965960"/>
            <a:ext cx="566928" cy="457200"/>
          </a:xfrm>
          <a:prstGeom prst="rect">
            <a:avLst/>
          </a:prstGeom>
          <a:solidFill>
            <a:srgbClr val="EAF4F8"/>
          </a:solidFill>
          <a:ln w="9525">
            <a:solidFill>
              <a:srgbClr val="A9CDDB"/>
            </a:solidFill>
            <a:prstDash val="solid"/>
          </a:ln>
        </p:spPr>
      </p:sp>
      <p:sp>
        <p:nvSpPr>
          <p:cNvPr id="6" name="Text 4"/>
          <p:cNvSpPr/>
          <p:nvPr/>
        </p:nvSpPr>
        <p:spPr>
          <a:xfrm>
            <a:off x="1051560" y="1965960"/>
            <a:ext cx="566928" cy="457200"/>
          </a:xfrm>
          <a:prstGeom prst="rect">
            <a:avLst/>
          </a:prstGeom>
          <a:noFill/>
          <a:ln/>
        </p:spPr>
        <p:txBody>
          <a:bodyPr wrap="square" lIns="0" tIns="0" rIns="0" bIns="0" rtlCol="0" anchor="ctr"/>
          <a:lstStyle/>
          <a:p>
            <a:pPr marL="0" indent="0" algn="ctr">
              <a:buNone/>
            </a:pPr>
            <a:r>
              <a:rPr lang="en-US" sz="1200" dirty="0">
                <a:solidFill>
                  <a:srgbClr val="062A3A"/>
                </a:solidFill>
                <a:latin typeface="Consolas" pitchFamily="34" charset="0"/>
                <a:ea typeface="Consolas" pitchFamily="34" charset="-122"/>
                <a:cs typeface="Consolas" pitchFamily="34" charset="-120"/>
              </a:rPr>
              <a:t>1</a:t>
            </a:r>
            <a:endParaRPr lang="en-US" sz="1200" dirty="0"/>
          </a:p>
        </p:txBody>
      </p:sp>
      <p:sp>
        <p:nvSpPr>
          <p:cNvPr id="7" name="Shape 5"/>
          <p:cNvSpPr/>
          <p:nvPr/>
        </p:nvSpPr>
        <p:spPr>
          <a:xfrm>
            <a:off x="1618488" y="1965960"/>
            <a:ext cx="566928" cy="457200"/>
          </a:xfrm>
          <a:prstGeom prst="rect">
            <a:avLst/>
          </a:prstGeom>
          <a:solidFill>
            <a:srgbClr val="EAF4F8"/>
          </a:solidFill>
          <a:ln w="9525">
            <a:solidFill>
              <a:srgbClr val="A9CDDB"/>
            </a:solidFill>
            <a:prstDash val="solid"/>
          </a:ln>
        </p:spPr>
      </p:sp>
      <p:sp>
        <p:nvSpPr>
          <p:cNvPr id="8" name="Text 6"/>
          <p:cNvSpPr/>
          <p:nvPr/>
        </p:nvSpPr>
        <p:spPr>
          <a:xfrm>
            <a:off x="1618488" y="1965960"/>
            <a:ext cx="566928" cy="457200"/>
          </a:xfrm>
          <a:prstGeom prst="rect">
            <a:avLst/>
          </a:prstGeom>
          <a:noFill/>
          <a:ln/>
        </p:spPr>
        <p:txBody>
          <a:bodyPr wrap="square" lIns="0" tIns="0" rIns="0" bIns="0" rtlCol="0" anchor="ctr"/>
          <a:lstStyle/>
          <a:p>
            <a:pPr marL="0" indent="0" algn="ctr">
              <a:buNone/>
            </a:pPr>
            <a:r>
              <a:rPr lang="en-US" sz="1200" dirty="0">
                <a:solidFill>
                  <a:srgbClr val="062A3A"/>
                </a:solidFill>
                <a:latin typeface="Consolas" pitchFamily="34" charset="0"/>
                <a:ea typeface="Consolas" pitchFamily="34" charset="-122"/>
                <a:cs typeface="Consolas" pitchFamily="34" charset="-120"/>
              </a:rPr>
              <a:t>2</a:t>
            </a:r>
            <a:endParaRPr lang="en-US" sz="1200" dirty="0"/>
          </a:p>
        </p:txBody>
      </p:sp>
      <p:sp>
        <p:nvSpPr>
          <p:cNvPr id="9" name="Shape 7"/>
          <p:cNvSpPr/>
          <p:nvPr/>
        </p:nvSpPr>
        <p:spPr>
          <a:xfrm>
            <a:off x="2185416" y="1965960"/>
            <a:ext cx="566928" cy="457200"/>
          </a:xfrm>
          <a:prstGeom prst="rect">
            <a:avLst/>
          </a:prstGeom>
          <a:solidFill>
            <a:srgbClr val="EAF4F8"/>
          </a:solidFill>
          <a:ln w="9525">
            <a:solidFill>
              <a:srgbClr val="A9CDDB"/>
            </a:solidFill>
            <a:prstDash val="solid"/>
          </a:ln>
        </p:spPr>
      </p:sp>
      <p:sp>
        <p:nvSpPr>
          <p:cNvPr id="10" name="Text 8"/>
          <p:cNvSpPr/>
          <p:nvPr/>
        </p:nvSpPr>
        <p:spPr>
          <a:xfrm>
            <a:off x="2185416" y="1965960"/>
            <a:ext cx="566928" cy="457200"/>
          </a:xfrm>
          <a:prstGeom prst="rect">
            <a:avLst/>
          </a:prstGeom>
          <a:noFill/>
          <a:ln/>
        </p:spPr>
        <p:txBody>
          <a:bodyPr wrap="square" lIns="0" tIns="0" rIns="0" bIns="0" rtlCol="0" anchor="ctr"/>
          <a:lstStyle/>
          <a:p>
            <a:pPr marL="0" indent="0" algn="ctr">
              <a:buNone/>
            </a:pPr>
            <a:r>
              <a:rPr lang="en-US" sz="1200" dirty="0">
                <a:solidFill>
                  <a:srgbClr val="062A3A"/>
                </a:solidFill>
                <a:latin typeface="Consolas" pitchFamily="34" charset="0"/>
                <a:ea typeface="Consolas" pitchFamily="34" charset="-122"/>
                <a:cs typeface="Consolas" pitchFamily="34" charset="-120"/>
              </a:rPr>
              <a:t>3</a:t>
            </a:r>
            <a:endParaRPr lang="en-US" sz="1200" dirty="0"/>
          </a:p>
        </p:txBody>
      </p:sp>
      <p:sp>
        <p:nvSpPr>
          <p:cNvPr id="11" name="Shape 9"/>
          <p:cNvSpPr/>
          <p:nvPr/>
        </p:nvSpPr>
        <p:spPr>
          <a:xfrm>
            <a:off x="1051560" y="2423160"/>
            <a:ext cx="566928" cy="457200"/>
          </a:xfrm>
          <a:prstGeom prst="rect">
            <a:avLst/>
          </a:prstGeom>
          <a:solidFill>
            <a:srgbClr val="EAF4F8"/>
          </a:solidFill>
          <a:ln w="9525">
            <a:solidFill>
              <a:srgbClr val="A9CDDB"/>
            </a:solidFill>
            <a:prstDash val="solid"/>
          </a:ln>
        </p:spPr>
      </p:sp>
      <p:sp>
        <p:nvSpPr>
          <p:cNvPr id="12" name="Text 10"/>
          <p:cNvSpPr/>
          <p:nvPr/>
        </p:nvSpPr>
        <p:spPr>
          <a:xfrm>
            <a:off x="1051560" y="2423160"/>
            <a:ext cx="566928" cy="457200"/>
          </a:xfrm>
          <a:prstGeom prst="rect">
            <a:avLst/>
          </a:prstGeom>
          <a:noFill/>
          <a:ln/>
        </p:spPr>
        <p:txBody>
          <a:bodyPr wrap="square" lIns="0" tIns="0" rIns="0" bIns="0" rtlCol="0" anchor="ctr"/>
          <a:lstStyle/>
          <a:p>
            <a:pPr marL="0" indent="0" algn="ctr">
              <a:buNone/>
            </a:pPr>
            <a:r>
              <a:rPr lang="en-US" sz="1200" dirty="0">
                <a:solidFill>
                  <a:srgbClr val="062A3A"/>
                </a:solidFill>
                <a:latin typeface="Consolas" pitchFamily="34" charset="0"/>
                <a:ea typeface="Consolas" pitchFamily="34" charset="-122"/>
                <a:cs typeface="Consolas" pitchFamily="34" charset="-120"/>
              </a:rPr>
              <a:t>4</a:t>
            </a:r>
            <a:endParaRPr lang="en-US" sz="1200" dirty="0"/>
          </a:p>
        </p:txBody>
      </p:sp>
      <p:sp>
        <p:nvSpPr>
          <p:cNvPr id="13" name="Shape 11"/>
          <p:cNvSpPr/>
          <p:nvPr/>
        </p:nvSpPr>
        <p:spPr>
          <a:xfrm>
            <a:off x="1618488" y="2423160"/>
            <a:ext cx="566928" cy="457200"/>
          </a:xfrm>
          <a:prstGeom prst="rect">
            <a:avLst/>
          </a:prstGeom>
          <a:solidFill>
            <a:srgbClr val="EAF4F8"/>
          </a:solidFill>
          <a:ln w="9525">
            <a:solidFill>
              <a:srgbClr val="A9CDDB"/>
            </a:solidFill>
            <a:prstDash val="solid"/>
          </a:ln>
        </p:spPr>
      </p:sp>
      <p:sp>
        <p:nvSpPr>
          <p:cNvPr id="14" name="Text 12"/>
          <p:cNvSpPr/>
          <p:nvPr/>
        </p:nvSpPr>
        <p:spPr>
          <a:xfrm>
            <a:off x="1618488" y="2423160"/>
            <a:ext cx="566928" cy="457200"/>
          </a:xfrm>
          <a:prstGeom prst="rect">
            <a:avLst/>
          </a:prstGeom>
          <a:noFill/>
          <a:ln/>
        </p:spPr>
        <p:txBody>
          <a:bodyPr wrap="square" lIns="0" tIns="0" rIns="0" bIns="0" rtlCol="0" anchor="ctr"/>
          <a:lstStyle/>
          <a:p>
            <a:pPr marL="0" indent="0" algn="ctr">
              <a:buNone/>
            </a:pPr>
            <a:r>
              <a:rPr lang="en-US" sz="1200" dirty="0">
                <a:solidFill>
                  <a:srgbClr val="062A3A"/>
                </a:solidFill>
                <a:latin typeface="Consolas" pitchFamily="34" charset="0"/>
                <a:ea typeface="Consolas" pitchFamily="34" charset="-122"/>
                <a:cs typeface="Consolas" pitchFamily="34" charset="-120"/>
              </a:rPr>
              <a:t>5</a:t>
            </a:r>
            <a:endParaRPr lang="en-US" sz="1200" dirty="0"/>
          </a:p>
        </p:txBody>
      </p:sp>
      <p:sp>
        <p:nvSpPr>
          <p:cNvPr id="15" name="Shape 13"/>
          <p:cNvSpPr/>
          <p:nvPr/>
        </p:nvSpPr>
        <p:spPr>
          <a:xfrm>
            <a:off x="2185416" y="2423160"/>
            <a:ext cx="566928" cy="457200"/>
          </a:xfrm>
          <a:prstGeom prst="rect">
            <a:avLst/>
          </a:prstGeom>
          <a:solidFill>
            <a:srgbClr val="EAF4F8"/>
          </a:solidFill>
          <a:ln w="9525">
            <a:solidFill>
              <a:srgbClr val="A9CDDB"/>
            </a:solidFill>
            <a:prstDash val="solid"/>
          </a:ln>
        </p:spPr>
      </p:sp>
      <p:sp>
        <p:nvSpPr>
          <p:cNvPr id="16" name="Text 14"/>
          <p:cNvSpPr/>
          <p:nvPr/>
        </p:nvSpPr>
        <p:spPr>
          <a:xfrm>
            <a:off x="2185416" y="2423160"/>
            <a:ext cx="566928" cy="457200"/>
          </a:xfrm>
          <a:prstGeom prst="rect">
            <a:avLst/>
          </a:prstGeom>
          <a:noFill/>
          <a:ln/>
        </p:spPr>
        <p:txBody>
          <a:bodyPr wrap="square" lIns="0" tIns="0" rIns="0" bIns="0" rtlCol="0" anchor="ctr"/>
          <a:lstStyle/>
          <a:p>
            <a:pPr marL="0" indent="0" algn="ctr">
              <a:buNone/>
            </a:pPr>
            <a:r>
              <a:rPr lang="en-US" sz="1200" dirty="0">
                <a:solidFill>
                  <a:srgbClr val="062A3A"/>
                </a:solidFill>
                <a:latin typeface="Consolas" pitchFamily="34" charset="0"/>
                <a:ea typeface="Consolas" pitchFamily="34" charset="-122"/>
                <a:cs typeface="Consolas" pitchFamily="34" charset="-120"/>
              </a:rPr>
              <a:t>6</a:t>
            </a:r>
            <a:endParaRPr lang="en-US" sz="1200" dirty="0"/>
          </a:p>
        </p:txBody>
      </p:sp>
      <p:sp>
        <p:nvSpPr>
          <p:cNvPr id="17" name="Text 15"/>
          <p:cNvSpPr/>
          <p:nvPr/>
        </p:nvSpPr>
        <p:spPr>
          <a:xfrm>
            <a:off x="640080" y="1691640"/>
            <a:ext cx="365760" cy="201168"/>
          </a:xfrm>
          <a:prstGeom prst="rect">
            <a:avLst/>
          </a:prstGeom>
          <a:noFill/>
          <a:ln/>
        </p:spPr>
        <p:txBody>
          <a:bodyPr wrap="square" lIns="0" tIns="0" rIns="0" bIns="0" rtlCol="0" anchor="t"/>
          <a:lstStyle/>
          <a:p>
            <a:pPr marL="0" indent="0">
              <a:buNone/>
            </a:pPr>
            <a:r>
              <a:rPr lang="en-US" sz="1000" b="1" dirty="0">
                <a:solidFill>
                  <a:srgbClr val="415A6B"/>
                </a:solidFill>
                <a:latin typeface="Consolas" pitchFamily="34" charset="0"/>
                <a:ea typeface="Consolas" pitchFamily="34" charset="-122"/>
                <a:cs typeface="Consolas" pitchFamily="34" charset="-120"/>
              </a:rPr>
              <a:t>m</a:t>
            </a:r>
            <a:endParaRPr lang="en-US" sz="1000" dirty="0"/>
          </a:p>
        </p:txBody>
      </p:sp>
      <p:sp>
        <p:nvSpPr>
          <p:cNvPr id="18" name="Shape 16"/>
          <p:cNvSpPr/>
          <p:nvPr/>
        </p:nvSpPr>
        <p:spPr>
          <a:xfrm>
            <a:off x="795528" y="2057400"/>
            <a:ext cx="0" cy="868680"/>
          </a:xfrm>
          <a:prstGeom prst="line">
            <a:avLst/>
          </a:prstGeom>
          <a:noFill/>
          <a:ln w="19050">
            <a:solidFill>
              <a:srgbClr val="1B8EA8"/>
            </a:solidFill>
            <a:prstDash val="solid"/>
            <a:headEnd type="triangle"/>
            <a:tailEnd type="triangle"/>
          </a:ln>
        </p:spPr>
      </p:sp>
      <p:sp>
        <p:nvSpPr>
          <p:cNvPr id="19" name="Text 17"/>
          <p:cNvSpPr/>
          <p:nvPr/>
        </p:nvSpPr>
        <p:spPr>
          <a:xfrm>
            <a:off x="411480" y="3044952"/>
            <a:ext cx="868680" cy="219456"/>
          </a:xfrm>
          <a:prstGeom prst="rect">
            <a:avLst/>
          </a:prstGeom>
          <a:noFill/>
          <a:ln/>
        </p:spPr>
        <p:txBody>
          <a:bodyPr wrap="square" lIns="0" tIns="0" rIns="0" bIns="0" rtlCol="0" anchor="t"/>
          <a:lstStyle/>
          <a:p>
            <a:pPr marL="0" indent="0" algn="ctr">
              <a:buNone/>
            </a:pPr>
            <a:r>
              <a:rPr lang="en-US" sz="800" b="1" dirty="0">
                <a:solidFill>
                  <a:srgbClr val="1B8EA8"/>
                </a:solidFill>
                <a:latin typeface="Consolas" pitchFamily="34" charset="0"/>
                <a:ea typeface="Consolas" pitchFamily="34" charset="-122"/>
                <a:cs typeface="Consolas" pitchFamily="34" charset="-120"/>
              </a:rPr>
              <a:t>axis = 0</a:t>
            </a:r>
            <a:endParaRPr lang="en-US" sz="800" dirty="0"/>
          </a:p>
        </p:txBody>
      </p:sp>
      <p:sp>
        <p:nvSpPr>
          <p:cNvPr id="20" name="Shape 18"/>
          <p:cNvSpPr/>
          <p:nvPr/>
        </p:nvSpPr>
        <p:spPr>
          <a:xfrm>
            <a:off x="1143000" y="1737360"/>
            <a:ext cx="1691640" cy="0"/>
          </a:xfrm>
          <a:prstGeom prst="line">
            <a:avLst/>
          </a:prstGeom>
          <a:noFill/>
          <a:ln w="19050">
            <a:solidFill>
              <a:srgbClr val="E8A33D"/>
            </a:solidFill>
            <a:prstDash val="solid"/>
            <a:headEnd type="triangle"/>
            <a:tailEnd type="triangle"/>
          </a:ln>
        </p:spPr>
      </p:sp>
      <p:sp>
        <p:nvSpPr>
          <p:cNvPr id="21" name="Text 19"/>
          <p:cNvSpPr/>
          <p:nvPr/>
        </p:nvSpPr>
        <p:spPr>
          <a:xfrm>
            <a:off x="2898648" y="1636776"/>
            <a:ext cx="731520" cy="201168"/>
          </a:xfrm>
          <a:prstGeom prst="rect">
            <a:avLst/>
          </a:prstGeom>
          <a:noFill/>
          <a:ln/>
        </p:spPr>
        <p:txBody>
          <a:bodyPr wrap="square" lIns="0" tIns="0" rIns="0" bIns="0" rtlCol="0" anchor="t"/>
          <a:lstStyle/>
          <a:p>
            <a:pPr marL="0" indent="0">
              <a:buNone/>
            </a:pPr>
            <a:r>
              <a:rPr lang="en-US" sz="800" b="1" dirty="0">
                <a:solidFill>
                  <a:srgbClr val="B7771B"/>
                </a:solidFill>
                <a:latin typeface="Consolas" pitchFamily="34" charset="0"/>
                <a:ea typeface="Consolas" pitchFamily="34" charset="-122"/>
                <a:cs typeface="Consolas" pitchFamily="34" charset="-120"/>
              </a:rPr>
              <a:t>axis = 1</a:t>
            </a:r>
            <a:endParaRPr lang="en-US" sz="800" dirty="0"/>
          </a:p>
        </p:txBody>
      </p:sp>
      <p:sp>
        <p:nvSpPr>
          <p:cNvPr id="22" name="Text 20"/>
          <p:cNvSpPr/>
          <p:nvPr/>
        </p:nvSpPr>
        <p:spPr>
          <a:xfrm>
            <a:off x="960120" y="3291840"/>
            <a:ext cx="2011680" cy="274320"/>
          </a:xfrm>
          <a:prstGeom prst="rect">
            <a:avLst/>
          </a:prstGeom>
          <a:noFill/>
          <a:ln/>
        </p:spPr>
        <p:txBody>
          <a:bodyPr wrap="square" lIns="0" tIns="0" rIns="0" bIns="0" rtlCol="0" anchor="t"/>
          <a:lstStyle/>
          <a:p>
            <a:pPr marL="0" indent="0">
              <a:buNone/>
            </a:pPr>
            <a:r>
              <a:rPr lang="en-US" sz="1300" b="1" dirty="0">
                <a:solidFill>
                  <a:srgbClr val="1B8EA8"/>
                </a:solidFill>
                <a:latin typeface="Consolas" pitchFamily="34" charset="0"/>
                <a:ea typeface="Consolas" pitchFamily="34" charset="-122"/>
                <a:cs typeface="Consolas" pitchFamily="34" charset="-120"/>
              </a:rPr>
              <a:t>[5 7 9]</a:t>
            </a:r>
            <a:endParaRPr lang="en-US" sz="1300" dirty="0"/>
          </a:p>
        </p:txBody>
      </p:sp>
      <p:sp>
        <p:nvSpPr>
          <p:cNvPr id="23" name="Text 21"/>
          <p:cNvSpPr/>
          <p:nvPr/>
        </p:nvSpPr>
        <p:spPr>
          <a:xfrm>
            <a:off x="2980944" y="2286000"/>
            <a:ext cx="1280160" cy="274320"/>
          </a:xfrm>
          <a:prstGeom prst="rect">
            <a:avLst/>
          </a:prstGeom>
          <a:noFill/>
          <a:ln/>
        </p:spPr>
        <p:txBody>
          <a:bodyPr wrap="square" lIns="0" tIns="0" rIns="0" bIns="0" rtlCol="0" anchor="t"/>
          <a:lstStyle/>
          <a:p>
            <a:pPr marL="0" indent="0">
              <a:buNone/>
            </a:pPr>
            <a:r>
              <a:rPr lang="en-US" sz="1300" b="1" dirty="0">
                <a:solidFill>
                  <a:srgbClr val="B7771B"/>
                </a:solidFill>
                <a:latin typeface="Consolas" pitchFamily="34" charset="0"/>
                <a:ea typeface="Consolas" pitchFamily="34" charset="-122"/>
                <a:cs typeface="Consolas" pitchFamily="34" charset="-120"/>
              </a:rPr>
              <a:t>[ 6 15]</a:t>
            </a:r>
            <a:endParaRPr lang="en-US" sz="1300" dirty="0"/>
          </a:p>
        </p:txBody>
      </p:sp>
      <p:sp>
        <p:nvSpPr>
          <p:cNvPr id="24" name="Text 22"/>
          <p:cNvSpPr/>
          <p:nvPr/>
        </p:nvSpPr>
        <p:spPr>
          <a:xfrm>
            <a:off x="960120" y="3566160"/>
            <a:ext cx="2103120" cy="201168"/>
          </a:xfrm>
          <a:prstGeom prst="rect">
            <a:avLst/>
          </a:prstGeom>
          <a:noFill/>
          <a:ln/>
        </p:spPr>
        <p:txBody>
          <a:bodyPr wrap="square" lIns="0" tIns="0" rIns="0" bIns="0" rtlCol="0" anchor="t"/>
          <a:lstStyle/>
          <a:p>
            <a:pPr marL="0" indent="0">
              <a:buNone/>
            </a:pPr>
            <a:r>
              <a:rPr lang="en-US" sz="850" dirty="0">
                <a:solidFill>
                  <a:srgbClr val="728694"/>
                </a:solidFill>
                <a:latin typeface="Segoe UI" pitchFamily="34" charset="0"/>
                <a:ea typeface="Segoe UI" pitchFamily="34" charset="-122"/>
                <a:cs typeface="Segoe UI" pitchFamily="34" charset="-120"/>
              </a:rPr>
              <a:t>kết quả theo cột</a:t>
            </a:r>
            <a:endParaRPr lang="en-US" sz="850" dirty="0"/>
          </a:p>
        </p:txBody>
      </p:sp>
      <p:sp>
        <p:nvSpPr>
          <p:cNvPr id="25" name="Text 23"/>
          <p:cNvSpPr/>
          <p:nvPr/>
        </p:nvSpPr>
        <p:spPr>
          <a:xfrm>
            <a:off x="2980944" y="2587752"/>
            <a:ext cx="1417320" cy="201168"/>
          </a:xfrm>
          <a:prstGeom prst="rect">
            <a:avLst/>
          </a:prstGeom>
          <a:noFill/>
          <a:ln/>
        </p:spPr>
        <p:txBody>
          <a:bodyPr wrap="square" lIns="0" tIns="0" rIns="0" bIns="0" rtlCol="0" anchor="t"/>
          <a:lstStyle/>
          <a:p>
            <a:pPr marL="0" indent="0">
              <a:buNone/>
            </a:pPr>
            <a:r>
              <a:rPr lang="en-US" sz="850" dirty="0">
                <a:solidFill>
                  <a:srgbClr val="728694"/>
                </a:solidFill>
                <a:latin typeface="Segoe UI" pitchFamily="34" charset="0"/>
                <a:ea typeface="Segoe UI" pitchFamily="34" charset="-122"/>
                <a:cs typeface="Segoe UI" pitchFamily="34" charset="-120"/>
              </a:rPr>
              <a:t>kết quả theo hàng</a:t>
            </a:r>
            <a:endParaRPr lang="en-US" sz="850" dirty="0"/>
          </a:p>
        </p:txBody>
      </p:sp>
      <p:sp>
        <p:nvSpPr>
          <p:cNvPr id="26" name="Shape 24"/>
          <p:cNvSpPr/>
          <p:nvPr/>
        </p:nvSpPr>
        <p:spPr>
          <a:xfrm>
            <a:off x="5166360" y="1463040"/>
            <a:ext cx="6446520" cy="2148840"/>
          </a:xfrm>
          <a:prstGeom prst="roundRect">
            <a:avLst>
              <a:gd name="adj" fmla="val 2128"/>
            </a:avLst>
          </a:prstGeom>
          <a:solidFill>
            <a:srgbClr val="0B2230"/>
          </a:solidFill>
          <a:ln w="9525">
            <a:solidFill>
              <a:srgbClr val="163B4C"/>
            </a:solidFill>
            <a:prstDash val="solid"/>
          </a:ln>
        </p:spPr>
      </p:sp>
      <p:sp>
        <p:nvSpPr>
          <p:cNvPr id="27" name="Shape 25"/>
          <p:cNvSpPr/>
          <p:nvPr/>
        </p:nvSpPr>
        <p:spPr>
          <a:xfrm>
            <a:off x="5166360" y="1463040"/>
            <a:ext cx="6446520" cy="265176"/>
          </a:xfrm>
          <a:prstGeom prst="rect">
            <a:avLst/>
          </a:prstGeom>
          <a:solidFill>
            <a:srgbClr val="103445"/>
          </a:solidFill>
          <a:ln w="12700">
            <a:solidFill>
              <a:srgbClr val="103445"/>
            </a:solidFill>
            <a:prstDash val="solid"/>
          </a:ln>
        </p:spPr>
      </p:sp>
      <p:sp>
        <p:nvSpPr>
          <p:cNvPr id="28" name="Text 26"/>
          <p:cNvSpPr/>
          <p:nvPr/>
        </p:nvSpPr>
        <p:spPr>
          <a:xfrm>
            <a:off x="5312664" y="1513332"/>
            <a:ext cx="5532120" cy="182880"/>
          </a:xfrm>
          <a:prstGeom prst="rect">
            <a:avLst/>
          </a:prstGeom>
          <a:noFill/>
          <a:ln/>
        </p:spPr>
        <p:txBody>
          <a:bodyPr wrap="square" lIns="0" tIns="0" rIns="0" bIns="0" rtlCol="0" anchor="t"/>
          <a:lstStyle/>
          <a:p>
            <a:pPr marL="0" indent="0">
              <a:buNone/>
            </a:pPr>
            <a:r>
              <a:rPr lang="en-US" sz="850" dirty="0">
                <a:solidFill>
                  <a:srgbClr val="8FB6C8"/>
                </a:solidFill>
                <a:latin typeface="Consolas" pitchFamily="34" charset="0"/>
                <a:ea typeface="Consolas" pitchFamily="34" charset="-122"/>
                <a:cs typeface="Consolas" pitchFamily="34" charset="-120"/>
              </a:rPr>
              <a:t>python</a:t>
            </a:r>
            <a:endParaRPr lang="en-US" sz="850" dirty="0"/>
          </a:p>
        </p:txBody>
      </p:sp>
      <p:sp>
        <p:nvSpPr>
          <p:cNvPr id="29" name="Shape 27"/>
          <p:cNvSpPr/>
          <p:nvPr/>
        </p:nvSpPr>
        <p:spPr>
          <a:xfrm>
            <a:off x="11045952" y="1568196"/>
            <a:ext cx="77724" cy="77724"/>
          </a:xfrm>
          <a:prstGeom prst="ellipse">
            <a:avLst/>
          </a:prstGeom>
          <a:solidFill>
            <a:srgbClr val="D96C5F"/>
          </a:solidFill>
          <a:ln w="12700">
            <a:solidFill>
              <a:srgbClr val="D96C5F"/>
            </a:solidFill>
            <a:prstDash val="solid"/>
          </a:ln>
        </p:spPr>
      </p:sp>
      <p:sp>
        <p:nvSpPr>
          <p:cNvPr id="30" name="Shape 28"/>
          <p:cNvSpPr/>
          <p:nvPr/>
        </p:nvSpPr>
        <p:spPr>
          <a:xfrm>
            <a:off x="11201400" y="1568196"/>
            <a:ext cx="77724" cy="77724"/>
          </a:xfrm>
          <a:prstGeom prst="ellipse">
            <a:avLst/>
          </a:prstGeom>
          <a:solidFill>
            <a:srgbClr val="E8A33D"/>
          </a:solidFill>
          <a:ln w="12700">
            <a:solidFill>
              <a:srgbClr val="E8A33D"/>
            </a:solidFill>
            <a:prstDash val="solid"/>
          </a:ln>
        </p:spPr>
      </p:sp>
      <p:sp>
        <p:nvSpPr>
          <p:cNvPr id="31" name="Shape 29"/>
          <p:cNvSpPr/>
          <p:nvPr/>
        </p:nvSpPr>
        <p:spPr>
          <a:xfrm>
            <a:off x="11356848" y="1568196"/>
            <a:ext cx="77724" cy="77724"/>
          </a:xfrm>
          <a:prstGeom prst="ellipse">
            <a:avLst/>
          </a:prstGeom>
          <a:solidFill>
            <a:srgbClr val="2D8C6F"/>
          </a:solidFill>
          <a:ln w="12700">
            <a:solidFill>
              <a:srgbClr val="2D8C6F"/>
            </a:solidFill>
            <a:prstDash val="solid"/>
          </a:ln>
        </p:spPr>
      </p:sp>
      <p:sp>
        <p:nvSpPr>
          <p:cNvPr id="32" name="Text 30"/>
          <p:cNvSpPr/>
          <p:nvPr/>
        </p:nvSpPr>
        <p:spPr>
          <a:xfrm>
            <a:off x="5330952" y="1810512"/>
            <a:ext cx="6153912" cy="1728216"/>
          </a:xfrm>
          <a:prstGeom prst="rect">
            <a:avLst/>
          </a:prstGeom>
          <a:noFill/>
          <a:ln/>
        </p:spPr>
        <p:txBody>
          <a:bodyPr wrap="square" lIns="0" tIns="0" rIns="0" bIns="0" rtlCol="0" anchor="t"/>
          <a:lstStyle/>
          <a:p>
            <a:pPr marL="0" indent="0">
              <a:lnSpc>
                <a:spcPct val="102000"/>
              </a:lnSpc>
              <a:buNone/>
            </a:pPr>
            <a:r>
              <a:rPr lang="en-US" sz="980" dirty="0">
                <a:solidFill>
                  <a:srgbClr val="6FD0E4"/>
                </a:solidFill>
                <a:latin typeface="Consolas" pitchFamily="34" charset="0"/>
                <a:ea typeface="Consolas" pitchFamily="34" charset="-122"/>
                <a:cs typeface="Consolas" pitchFamily="34" charset="-120"/>
              </a:rPr>
              <a:t>print</a:t>
            </a:r>
            <a:r>
              <a:rPr lang="en-US" sz="980" dirty="0">
                <a:solidFill>
                  <a:srgbClr val="D6E6EF"/>
                </a:solidFill>
                <a:latin typeface="Consolas" pitchFamily="34" charset="0"/>
                <a:ea typeface="Consolas" pitchFamily="34" charset="-122"/>
                <a:cs typeface="Consolas" pitchFamily="34" charset="-120"/>
              </a:rPr>
              <a:t>(</a:t>
            </a:r>
            <a:r>
              <a:rPr lang="en-US" sz="980" dirty="0">
                <a:solidFill>
                  <a:srgbClr val="8AD9C0"/>
                </a:solidFill>
                <a:latin typeface="Consolas" pitchFamily="34" charset="0"/>
                <a:ea typeface="Consolas" pitchFamily="34" charset="-122"/>
                <a:cs typeface="Consolas" pitchFamily="34" charset="-120"/>
              </a:rPr>
              <a:t>np</a:t>
            </a:r>
            <a:r>
              <a:rPr lang="en-US" sz="980" dirty="0">
                <a:solidFill>
                  <a:srgbClr val="D6E6EF"/>
                </a:solidFill>
                <a:latin typeface="Consolas" pitchFamily="34" charset="0"/>
                <a:ea typeface="Consolas" pitchFamily="34" charset="-122"/>
                <a:cs typeface="Consolas" pitchFamily="34" charset="-120"/>
              </a:rPr>
              <a:t>.sum(m))           </a:t>
            </a:r>
            <a:r>
              <a:rPr lang="en-US" sz="980" i="1" dirty="0">
                <a:solidFill>
                  <a:srgbClr val="6F93A3"/>
                </a:solidFill>
                <a:latin typeface="Consolas" pitchFamily="34" charset="0"/>
                <a:ea typeface="Consolas" pitchFamily="34" charset="-122"/>
                <a:cs typeface="Consolas" pitchFamily="34" charset="-120"/>
              </a:rPr>
              <a:t># 21</a:t>
            </a:r>
            <a:endParaRPr lang="en-US" sz="980" dirty="0"/>
          </a:p>
          <a:p>
            <a:pPr marL="0" indent="0">
              <a:lnSpc>
                <a:spcPct val="102000"/>
              </a:lnSpc>
              <a:buNone/>
            </a:pPr>
            <a:r>
              <a:rPr lang="en-US" sz="980" dirty="0">
                <a:solidFill>
                  <a:srgbClr val="6FD0E4"/>
                </a:solidFill>
                <a:latin typeface="Consolas" pitchFamily="34" charset="0"/>
                <a:ea typeface="Consolas" pitchFamily="34" charset="-122"/>
                <a:cs typeface="Consolas" pitchFamily="34" charset="-120"/>
              </a:rPr>
              <a:t>print</a:t>
            </a:r>
            <a:r>
              <a:rPr lang="en-US" sz="980" dirty="0">
                <a:solidFill>
                  <a:srgbClr val="D6E6EF"/>
                </a:solidFill>
                <a:latin typeface="Consolas" pitchFamily="34" charset="0"/>
                <a:ea typeface="Consolas" pitchFamily="34" charset="-122"/>
                <a:cs typeface="Consolas" pitchFamily="34" charset="-120"/>
              </a:rPr>
              <a:t>(</a:t>
            </a:r>
            <a:r>
              <a:rPr lang="en-US" sz="980" dirty="0">
                <a:solidFill>
                  <a:srgbClr val="8AD9C0"/>
                </a:solidFill>
                <a:latin typeface="Consolas" pitchFamily="34" charset="0"/>
                <a:ea typeface="Consolas" pitchFamily="34" charset="-122"/>
                <a:cs typeface="Consolas" pitchFamily="34" charset="-120"/>
              </a:rPr>
              <a:t>np</a:t>
            </a:r>
            <a:r>
              <a:rPr lang="en-US" sz="980" dirty="0">
                <a:solidFill>
                  <a:srgbClr val="D6E6EF"/>
                </a:solidFill>
                <a:latin typeface="Consolas" pitchFamily="34" charset="0"/>
                <a:ea typeface="Consolas" pitchFamily="34" charset="-122"/>
                <a:cs typeface="Consolas" pitchFamily="34" charset="-120"/>
              </a:rPr>
              <a:t>.sum(m, axis=</a:t>
            </a:r>
            <a:r>
              <a:rPr lang="en-US" sz="980" dirty="0">
                <a:solidFill>
                  <a:srgbClr val="F08A7C"/>
                </a:solidFill>
                <a:latin typeface="Consolas" pitchFamily="34" charset="0"/>
                <a:ea typeface="Consolas" pitchFamily="34" charset="-122"/>
                <a:cs typeface="Consolas" pitchFamily="34" charset="-120"/>
              </a:rPr>
              <a:t>0</a:t>
            </a:r>
            <a:r>
              <a:rPr lang="en-US" sz="980" dirty="0">
                <a:solidFill>
                  <a:srgbClr val="D6E6EF"/>
                </a:solidFill>
                <a:latin typeface="Consolas" pitchFamily="34" charset="0"/>
                <a:ea typeface="Consolas" pitchFamily="34" charset="-122"/>
                <a:cs typeface="Consolas" pitchFamily="34" charset="-120"/>
              </a:rPr>
              <a:t>))   </a:t>
            </a:r>
            <a:r>
              <a:rPr lang="en-US" sz="980" i="1" dirty="0">
                <a:solidFill>
                  <a:srgbClr val="6F93A3"/>
                </a:solidFill>
                <a:latin typeface="Consolas" pitchFamily="34" charset="0"/>
                <a:ea typeface="Consolas" pitchFamily="34" charset="-122"/>
                <a:cs typeface="Consolas" pitchFamily="34" charset="-120"/>
              </a:rPr>
              <a:t># [5 7 9]</a:t>
            </a:r>
            <a:endParaRPr lang="en-US" sz="980" dirty="0"/>
          </a:p>
          <a:p>
            <a:pPr marL="0" indent="0">
              <a:lnSpc>
                <a:spcPct val="102000"/>
              </a:lnSpc>
              <a:buNone/>
            </a:pPr>
            <a:r>
              <a:rPr lang="en-US" sz="980" dirty="0">
                <a:solidFill>
                  <a:srgbClr val="6FD0E4"/>
                </a:solidFill>
                <a:latin typeface="Consolas" pitchFamily="34" charset="0"/>
                <a:ea typeface="Consolas" pitchFamily="34" charset="-122"/>
                <a:cs typeface="Consolas" pitchFamily="34" charset="-120"/>
              </a:rPr>
              <a:t>print</a:t>
            </a:r>
            <a:r>
              <a:rPr lang="en-US" sz="980" dirty="0">
                <a:solidFill>
                  <a:srgbClr val="D6E6EF"/>
                </a:solidFill>
                <a:latin typeface="Consolas" pitchFamily="34" charset="0"/>
                <a:ea typeface="Consolas" pitchFamily="34" charset="-122"/>
                <a:cs typeface="Consolas" pitchFamily="34" charset="-120"/>
              </a:rPr>
              <a:t>(</a:t>
            </a:r>
            <a:r>
              <a:rPr lang="en-US" sz="980" dirty="0">
                <a:solidFill>
                  <a:srgbClr val="8AD9C0"/>
                </a:solidFill>
                <a:latin typeface="Consolas" pitchFamily="34" charset="0"/>
                <a:ea typeface="Consolas" pitchFamily="34" charset="-122"/>
                <a:cs typeface="Consolas" pitchFamily="34" charset="-120"/>
              </a:rPr>
              <a:t>np</a:t>
            </a:r>
            <a:r>
              <a:rPr lang="en-US" sz="980" dirty="0">
                <a:solidFill>
                  <a:srgbClr val="D6E6EF"/>
                </a:solidFill>
                <a:latin typeface="Consolas" pitchFamily="34" charset="0"/>
                <a:ea typeface="Consolas" pitchFamily="34" charset="-122"/>
                <a:cs typeface="Consolas" pitchFamily="34" charset="-120"/>
              </a:rPr>
              <a:t>.sum(m, axis=</a:t>
            </a:r>
            <a:r>
              <a:rPr lang="en-US" sz="980" dirty="0">
                <a:solidFill>
                  <a:srgbClr val="F08A7C"/>
                </a:solidFill>
                <a:latin typeface="Consolas" pitchFamily="34" charset="0"/>
                <a:ea typeface="Consolas" pitchFamily="34" charset="-122"/>
                <a:cs typeface="Consolas" pitchFamily="34" charset="-120"/>
              </a:rPr>
              <a:t>1</a:t>
            </a:r>
            <a:r>
              <a:rPr lang="en-US" sz="980" dirty="0">
                <a:solidFill>
                  <a:srgbClr val="D6E6EF"/>
                </a:solidFill>
                <a:latin typeface="Consolas" pitchFamily="34" charset="0"/>
                <a:ea typeface="Consolas" pitchFamily="34" charset="-122"/>
                <a:cs typeface="Consolas" pitchFamily="34" charset="-120"/>
              </a:rPr>
              <a:t>))   </a:t>
            </a:r>
            <a:r>
              <a:rPr lang="en-US" sz="980" i="1" dirty="0">
                <a:solidFill>
                  <a:srgbClr val="6F93A3"/>
                </a:solidFill>
                <a:latin typeface="Consolas" pitchFamily="34" charset="0"/>
                <a:ea typeface="Consolas" pitchFamily="34" charset="-122"/>
                <a:cs typeface="Consolas" pitchFamily="34" charset="-120"/>
              </a:rPr>
              <a:t># [ 6 15]</a:t>
            </a:r>
            <a:endParaRPr lang="en-US" sz="980" dirty="0"/>
          </a:p>
          <a:p>
            <a:pPr marL="0" indent="0">
              <a:lnSpc>
                <a:spcPct val="102000"/>
              </a:lnSpc>
              <a:buNone/>
            </a:pPr>
            <a:r>
              <a:rPr lang="en-US" sz="980" dirty="0">
                <a:solidFill>
                  <a:srgbClr val="6FD0E4"/>
                </a:solidFill>
                <a:latin typeface="Consolas" pitchFamily="34" charset="0"/>
                <a:ea typeface="Consolas" pitchFamily="34" charset="-122"/>
                <a:cs typeface="Consolas" pitchFamily="34" charset="-120"/>
              </a:rPr>
              <a:t>print</a:t>
            </a:r>
            <a:r>
              <a:rPr lang="en-US" sz="980" dirty="0">
                <a:solidFill>
                  <a:srgbClr val="D6E6EF"/>
                </a:solidFill>
                <a:latin typeface="Consolas" pitchFamily="34" charset="0"/>
                <a:ea typeface="Consolas" pitchFamily="34" charset="-122"/>
                <a:cs typeface="Consolas" pitchFamily="34" charset="-120"/>
              </a:rPr>
              <a:t>(</a:t>
            </a:r>
            <a:r>
              <a:rPr lang="en-US" sz="980" dirty="0">
                <a:solidFill>
                  <a:srgbClr val="8AD9C0"/>
                </a:solidFill>
                <a:latin typeface="Consolas" pitchFamily="34" charset="0"/>
                <a:ea typeface="Consolas" pitchFamily="34" charset="-122"/>
                <a:cs typeface="Consolas" pitchFamily="34" charset="-120"/>
              </a:rPr>
              <a:t>np</a:t>
            </a:r>
            <a:r>
              <a:rPr lang="en-US" sz="980" dirty="0">
                <a:solidFill>
                  <a:srgbClr val="D6E6EF"/>
                </a:solidFill>
                <a:latin typeface="Consolas" pitchFamily="34" charset="0"/>
                <a:ea typeface="Consolas" pitchFamily="34" charset="-122"/>
                <a:cs typeface="Consolas" pitchFamily="34" charset="-120"/>
              </a:rPr>
              <a:t>.mean(m))          </a:t>
            </a:r>
            <a:r>
              <a:rPr lang="en-US" sz="980" i="1" dirty="0">
                <a:solidFill>
                  <a:srgbClr val="6F93A3"/>
                </a:solidFill>
                <a:latin typeface="Consolas" pitchFamily="34" charset="0"/>
                <a:ea typeface="Consolas" pitchFamily="34" charset="-122"/>
                <a:cs typeface="Consolas" pitchFamily="34" charset="-120"/>
              </a:rPr>
              <a:t># 3.5</a:t>
            </a:r>
            <a:endParaRPr lang="en-US" sz="980" dirty="0"/>
          </a:p>
          <a:p>
            <a:pPr marL="0" indent="0">
              <a:lnSpc>
                <a:spcPct val="102000"/>
              </a:lnSpc>
              <a:buNone/>
            </a:pPr>
            <a:r>
              <a:rPr lang="en-US" sz="980" dirty="0">
                <a:solidFill>
                  <a:srgbClr val="6FD0E4"/>
                </a:solidFill>
                <a:latin typeface="Consolas" pitchFamily="34" charset="0"/>
                <a:ea typeface="Consolas" pitchFamily="34" charset="-122"/>
                <a:cs typeface="Consolas" pitchFamily="34" charset="-120"/>
              </a:rPr>
              <a:t>print</a:t>
            </a:r>
            <a:r>
              <a:rPr lang="en-US" sz="980" dirty="0">
                <a:solidFill>
                  <a:srgbClr val="D6E6EF"/>
                </a:solidFill>
                <a:latin typeface="Consolas" pitchFamily="34" charset="0"/>
                <a:ea typeface="Consolas" pitchFamily="34" charset="-122"/>
                <a:cs typeface="Consolas" pitchFamily="34" charset="-120"/>
              </a:rPr>
              <a:t>(</a:t>
            </a:r>
            <a:r>
              <a:rPr lang="en-US" sz="980" dirty="0">
                <a:solidFill>
                  <a:srgbClr val="8AD9C0"/>
                </a:solidFill>
                <a:latin typeface="Consolas" pitchFamily="34" charset="0"/>
                <a:ea typeface="Consolas" pitchFamily="34" charset="-122"/>
                <a:cs typeface="Consolas" pitchFamily="34" charset="-120"/>
              </a:rPr>
              <a:t>np</a:t>
            </a:r>
            <a:r>
              <a:rPr lang="en-US" sz="980" dirty="0">
                <a:solidFill>
                  <a:srgbClr val="D6E6EF"/>
                </a:solidFill>
                <a:latin typeface="Consolas" pitchFamily="34" charset="0"/>
                <a:ea typeface="Consolas" pitchFamily="34" charset="-122"/>
                <a:cs typeface="Consolas" pitchFamily="34" charset="-120"/>
              </a:rPr>
              <a:t>.min(m), </a:t>
            </a:r>
            <a:r>
              <a:rPr lang="en-US" sz="980" dirty="0">
                <a:solidFill>
                  <a:srgbClr val="8AD9C0"/>
                </a:solidFill>
                <a:latin typeface="Consolas" pitchFamily="34" charset="0"/>
                <a:ea typeface="Consolas" pitchFamily="34" charset="-122"/>
                <a:cs typeface="Consolas" pitchFamily="34" charset="-120"/>
              </a:rPr>
              <a:t>np</a:t>
            </a:r>
            <a:r>
              <a:rPr lang="en-US" sz="980" dirty="0">
                <a:solidFill>
                  <a:srgbClr val="D6E6EF"/>
                </a:solidFill>
                <a:latin typeface="Consolas" pitchFamily="34" charset="0"/>
                <a:ea typeface="Consolas" pitchFamily="34" charset="-122"/>
                <a:cs typeface="Consolas" pitchFamily="34" charset="-120"/>
              </a:rPr>
              <a:t>.max(m))  </a:t>
            </a:r>
            <a:r>
              <a:rPr lang="en-US" sz="980" i="1" dirty="0">
                <a:solidFill>
                  <a:srgbClr val="6F93A3"/>
                </a:solidFill>
                <a:latin typeface="Consolas" pitchFamily="34" charset="0"/>
                <a:ea typeface="Consolas" pitchFamily="34" charset="-122"/>
                <a:cs typeface="Consolas" pitchFamily="34" charset="-120"/>
              </a:rPr>
              <a:t># 1 6</a:t>
            </a:r>
            <a:endParaRPr lang="en-US" sz="980" dirty="0"/>
          </a:p>
        </p:txBody>
      </p:sp>
      <p:sp>
        <p:nvSpPr>
          <p:cNvPr id="33" name="Shape 31"/>
          <p:cNvSpPr/>
          <p:nvPr/>
        </p:nvSpPr>
        <p:spPr>
          <a:xfrm>
            <a:off x="5166360" y="3749040"/>
            <a:ext cx="6446520" cy="914400"/>
          </a:xfrm>
          <a:prstGeom prst="roundRect">
            <a:avLst>
              <a:gd name="adj" fmla="val 5000"/>
            </a:avLst>
          </a:prstGeom>
          <a:solidFill>
            <a:srgbClr val="FFFFFF"/>
          </a:solidFill>
          <a:ln w="9525">
            <a:solidFill>
              <a:srgbClr val="CFE5EE"/>
            </a:solidFill>
            <a:prstDash val="solid"/>
          </a:ln>
        </p:spPr>
      </p:sp>
      <p:sp>
        <p:nvSpPr>
          <p:cNvPr id="34" name="Text 32"/>
          <p:cNvSpPr/>
          <p:nvPr/>
        </p:nvSpPr>
        <p:spPr>
          <a:xfrm>
            <a:off x="5312664" y="3840480"/>
            <a:ext cx="6172200" cy="164592"/>
          </a:xfrm>
          <a:prstGeom prst="rect">
            <a:avLst/>
          </a:prstGeom>
          <a:noFill/>
          <a:ln/>
        </p:spPr>
        <p:txBody>
          <a:bodyPr wrap="square" lIns="0" tIns="0" rIns="0" bIns="0" rtlCol="0" anchor="t"/>
          <a:lstStyle/>
          <a:p>
            <a:pPr marL="0" indent="0">
              <a:buNone/>
            </a:pPr>
            <a:r>
              <a:rPr lang="en-US" sz="800" b="1" kern="0" spc="120" dirty="0">
                <a:solidFill>
                  <a:srgbClr val="2D8C6F"/>
                </a:solidFill>
                <a:latin typeface="Segoe UI" pitchFamily="34" charset="0"/>
                <a:ea typeface="Segoe UI" pitchFamily="34" charset="-122"/>
                <a:cs typeface="Segoe UI" pitchFamily="34" charset="-120"/>
              </a:rPr>
              <a:t>KẾT QUẢ</a:t>
            </a:r>
            <a:endParaRPr lang="en-US" sz="800" dirty="0"/>
          </a:p>
        </p:txBody>
      </p:sp>
      <p:sp>
        <p:nvSpPr>
          <p:cNvPr id="35" name="Text 33"/>
          <p:cNvSpPr/>
          <p:nvPr/>
        </p:nvSpPr>
        <p:spPr>
          <a:xfrm>
            <a:off x="5312664" y="4059936"/>
            <a:ext cx="6172200" cy="530352"/>
          </a:xfrm>
          <a:prstGeom prst="rect">
            <a:avLst/>
          </a:prstGeom>
          <a:noFill/>
          <a:ln/>
        </p:spPr>
        <p:txBody>
          <a:bodyPr wrap="square" lIns="0" tIns="0" rIns="0" bIns="0" rtlCol="0" anchor="t"/>
          <a:lstStyle/>
          <a:p>
            <a:pPr marL="0" indent="0">
              <a:lnSpc>
                <a:spcPct val="102000"/>
              </a:lnSpc>
              <a:buNone/>
            </a:pPr>
            <a:r>
              <a:rPr lang="en-US" sz="1000" dirty="0">
                <a:solidFill>
                  <a:srgbClr val="062A3A"/>
                </a:solidFill>
                <a:latin typeface="Consolas" pitchFamily="34" charset="0"/>
                <a:ea typeface="Consolas" pitchFamily="34" charset="-122"/>
                <a:cs typeface="Consolas" pitchFamily="34" charset="-120"/>
              </a:rPr>
              <a:t>21   ·   [5 7 9]   ·   [ 6 15]   ·   3.5   ·   1 6</a:t>
            </a:r>
            <a:endParaRPr lang="en-US" sz="1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4754880"/>
          <a:ext cx="6400800" cy="914400"/>
        </p:xfrm>
        <a:graphic>
          <a:graphicData uri="http://schemas.openxmlformats.org/drawingml/2006/table">
            <a:tbl>
              <a:tblPr/>
              <a:tblGrid>
                <a:gridCol w="141732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329184">
                <a:tc>
                  <a:txBody>
                    <a:bodyPr/>
                    <a:lstStyle/>
                    <a:p>
                      <a:pPr marL="0" indent="0">
                        <a:buNone/>
                      </a:pPr>
                      <a:r>
                        <a:rPr lang="en-US" sz="900" b="1" dirty="0">
                          <a:solidFill>
                            <a:srgbClr val="FFFFFF"/>
                          </a:solidFill>
                          <a:latin typeface="Segoe UI" pitchFamily="34" charset="0"/>
                          <a:ea typeface="Segoe UI" pitchFamily="34" charset="-122"/>
                          <a:cs typeface="Segoe UI" pitchFamily="34" charset="-120"/>
                        </a:rPr>
                        <a:t>Cách gọi</a:t>
                      </a:r>
                      <a:endParaRPr lang="en-US" sz="9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tc>
                  <a:txBody>
                    <a:bodyPr/>
                    <a:lstStyle/>
                    <a:p>
                      <a:pPr marL="0" indent="0">
                        <a:buNone/>
                      </a:pPr>
                      <a:r>
                        <a:rPr lang="en-US" sz="900" b="1" dirty="0">
                          <a:solidFill>
                            <a:srgbClr val="FFFFFF"/>
                          </a:solidFill>
                          <a:latin typeface="Segoe UI" pitchFamily="34" charset="0"/>
                          <a:ea typeface="Segoe UI" pitchFamily="34" charset="-122"/>
                          <a:cs typeface="Segoe UI" pitchFamily="34" charset="-120"/>
                        </a:rPr>
                        <a:t>Chiều bị gộp</a:t>
                      </a:r>
                      <a:endParaRPr lang="en-US" sz="9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tc>
                  <a:txBody>
                    <a:bodyPr/>
                    <a:lstStyle/>
                    <a:p>
                      <a:pPr marL="0" indent="0">
                        <a:buNone/>
                      </a:pPr>
                      <a:r>
                        <a:rPr lang="en-US" sz="900" b="1" dirty="0">
                          <a:solidFill>
                            <a:srgbClr val="FFFFFF"/>
                          </a:solidFill>
                          <a:latin typeface="Segoe UI" pitchFamily="34" charset="0"/>
                          <a:ea typeface="Segoe UI" pitchFamily="34" charset="-122"/>
                          <a:cs typeface="Segoe UI" pitchFamily="34" charset="-120"/>
                        </a:rPr>
                        <a:t>Shape kết quả</a:t>
                      </a:r>
                      <a:endParaRPr lang="en-US" sz="9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tc>
                  <a:txBody>
                    <a:bodyPr/>
                    <a:lstStyle/>
                    <a:p>
                      <a:pPr marL="0" indent="0">
                        <a:buNone/>
                      </a:pPr>
                      <a:r>
                        <a:rPr lang="en-US" sz="900" b="1" dirty="0">
                          <a:solidFill>
                            <a:srgbClr val="FFFFFF"/>
                          </a:solidFill>
                          <a:latin typeface="Segoe UI" pitchFamily="34" charset="0"/>
                          <a:ea typeface="Segoe UI" pitchFamily="34" charset="-122"/>
                          <a:cs typeface="Segoe UI" pitchFamily="34" charset="-120"/>
                        </a:rPr>
                        <a:t>Kết quả</a:t>
                      </a:r>
                      <a:endParaRPr lang="en-US" sz="9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extLst>
                  <a:ext uri="{0D108BD9-81ED-4DB2-BD59-A6C34878D82A}">
                    <a16:rowId xmlns:a16="http://schemas.microsoft.com/office/drawing/2014/main" val="10000"/>
                  </a:ext>
                </a:extLst>
              </a:tr>
              <a:tr h="347472">
                <a:tc>
                  <a:txBody>
                    <a:bodyPr/>
                    <a:lstStyle/>
                    <a:p>
                      <a:pPr marL="0" indent="0">
                        <a:buNone/>
                      </a:pPr>
                      <a:r>
                        <a:rPr lang="en-US" sz="900" b="1" dirty="0">
                          <a:solidFill>
                            <a:srgbClr val="062A3A"/>
                          </a:solidFill>
                          <a:latin typeface="Consolas" pitchFamily="34" charset="0"/>
                          <a:ea typeface="Consolas" pitchFamily="34" charset="-122"/>
                          <a:cs typeface="Consolas" pitchFamily="34" charset="-120"/>
                        </a:rPr>
                        <a:t>m.sum()</a:t>
                      </a:r>
                      <a:endParaRPr lang="en-US" sz="900" dirty="0">
                        <a:latin typeface="Consolas" charset="0"/>
                        <a:ea typeface="Consolas" charset="0"/>
                        <a:cs typeface="Consolas"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marL="0" indent="0">
                        <a:buNone/>
                      </a:pPr>
                      <a:r>
                        <a:rPr lang="en-US" sz="900" dirty="0">
                          <a:solidFill>
                            <a:srgbClr val="415A6B"/>
                          </a:solidFill>
                          <a:latin typeface="Segoe UI" pitchFamily="34" charset="0"/>
                          <a:ea typeface="Segoe UI" pitchFamily="34" charset="-122"/>
                          <a:cs typeface="Segoe UI" pitchFamily="34" charset="-120"/>
                        </a:rPr>
                        <a:t>toàn bộ</a:t>
                      </a:r>
                      <a:endParaRPr lang="en-US" sz="9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marL="0" indent="0">
                        <a:buNone/>
                      </a:pPr>
                      <a:r>
                        <a:rPr lang="en-US" sz="900" dirty="0">
                          <a:solidFill>
                            <a:srgbClr val="415A6B"/>
                          </a:solidFill>
                          <a:latin typeface="Segoe UI" pitchFamily="34" charset="0"/>
                          <a:ea typeface="Segoe UI" pitchFamily="34" charset="-122"/>
                          <a:cs typeface="Segoe UI" pitchFamily="34" charset="-120"/>
                        </a:rPr>
                        <a:t>()</a:t>
                      </a:r>
                      <a:endParaRPr lang="en-US" sz="9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marL="0" indent="0">
                        <a:buNone/>
                      </a:pPr>
                      <a:r>
                        <a:rPr lang="en-US" sz="900" dirty="0">
                          <a:solidFill>
                            <a:srgbClr val="415A6B"/>
                          </a:solidFill>
                          <a:latin typeface="Consolas" pitchFamily="34" charset="0"/>
                          <a:ea typeface="Consolas" pitchFamily="34" charset="-122"/>
                          <a:cs typeface="Consolas" pitchFamily="34" charset="-120"/>
                        </a:rPr>
                        <a:t>21</a:t>
                      </a:r>
                      <a:endParaRPr lang="en-US" sz="900" dirty="0">
                        <a:latin typeface="Consolas" charset="0"/>
                        <a:ea typeface="Consolas" charset="0"/>
                        <a:cs typeface="Consolas"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lang="en-US" sz="900" b="1" dirty="0">
                          <a:solidFill>
                            <a:srgbClr val="062A3A"/>
                          </a:solidFill>
                          <a:latin typeface="Consolas" pitchFamily="34" charset="0"/>
                          <a:ea typeface="Consolas" pitchFamily="34" charset="-122"/>
                          <a:cs typeface="Consolas" pitchFamily="34" charset="-120"/>
                        </a:rPr>
                        <a:t>m.sum(axis=0)</a:t>
                      </a:r>
                      <a:endParaRPr lang="en-US" sz="900" dirty="0">
                        <a:latin typeface="Consolas" charset="0"/>
                        <a:ea typeface="Consolas" charset="0"/>
                        <a:cs typeface="Consolas"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marL="0" indent="0">
                        <a:buNone/>
                      </a:pPr>
                      <a:r>
                        <a:rPr lang="en-US" sz="900" dirty="0">
                          <a:solidFill>
                            <a:srgbClr val="415A6B"/>
                          </a:solidFill>
                          <a:latin typeface="Segoe UI" pitchFamily="34" charset="0"/>
                          <a:ea typeface="Segoe UI" pitchFamily="34" charset="-122"/>
                          <a:cs typeface="Segoe UI" pitchFamily="34" charset="-120"/>
                        </a:rPr>
                        <a:t>hàng (trục 0)</a:t>
                      </a:r>
                      <a:endParaRPr lang="en-US" sz="9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marL="0" indent="0">
                        <a:buNone/>
                      </a:pPr>
                      <a:r>
                        <a:rPr lang="en-US" sz="900" dirty="0">
                          <a:solidFill>
                            <a:srgbClr val="415A6B"/>
                          </a:solidFill>
                          <a:latin typeface="Segoe UI" pitchFamily="34" charset="0"/>
                          <a:ea typeface="Segoe UI" pitchFamily="34" charset="-122"/>
                          <a:cs typeface="Segoe UI" pitchFamily="34" charset="-120"/>
                        </a:rPr>
                        <a:t>(3,)</a:t>
                      </a:r>
                      <a:endParaRPr lang="en-US" sz="9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marL="0" indent="0">
                        <a:buNone/>
                      </a:pPr>
                      <a:r>
                        <a:rPr lang="en-US" sz="900" dirty="0">
                          <a:solidFill>
                            <a:srgbClr val="415A6B"/>
                          </a:solidFill>
                          <a:latin typeface="Consolas" pitchFamily="34" charset="0"/>
                          <a:ea typeface="Consolas" pitchFamily="34" charset="-122"/>
                          <a:cs typeface="Consolas" pitchFamily="34" charset="-120"/>
                        </a:rPr>
                        <a:t>[5 7 9]</a:t>
                      </a:r>
                      <a:endParaRPr lang="en-US" sz="900" dirty="0">
                        <a:latin typeface="Consolas" charset="0"/>
                        <a:ea typeface="Consolas" charset="0"/>
                        <a:cs typeface="Consolas"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extLst>
                  <a:ext uri="{0D108BD9-81ED-4DB2-BD59-A6C34878D82A}">
                    <a16:rowId xmlns:a16="http://schemas.microsoft.com/office/drawing/2014/main" val="10002"/>
                  </a:ext>
                </a:extLst>
              </a:tr>
              <a:tr h="347472">
                <a:tc>
                  <a:txBody>
                    <a:bodyPr/>
                    <a:lstStyle/>
                    <a:p>
                      <a:pPr marL="0" indent="0">
                        <a:buNone/>
                      </a:pPr>
                      <a:r>
                        <a:rPr lang="en-US" sz="900" b="1" dirty="0">
                          <a:solidFill>
                            <a:srgbClr val="062A3A"/>
                          </a:solidFill>
                          <a:latin typeface="Consolas" pitchFamily="34" charset="0"/>
                          <a:ea typeface="Consolas" pitchFamily="34" charset="-122"/>
                          <a:cs typeface="Consolas" pitchFamily="34" charset="-120"/>
                        </a:rPr>
                        <a:t>m.sum(axis=1)</a:t>
                      </a:r>
                      <a:endParaRPr lang="en-US" sz="900" dirty="0">
                        <a:latin typeface="Consolas" charset="0"/>
                        <a:ea typeface="Consolas" charset="0"/>
                        <a:cs typeface="Consolas"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marL="0" indent="0">
                        <a:buNone/>
                      </a:pPr>
                      <a:r>
                        <a:rPr lang="en-US" sz="900" dirty="0">
                          <a:solidFill>
                            <a:srgbClr val="415A6B"/>
                          </a:solidFill>
                          <a:latin typeface="Segoe UI" pitchFamily="34" charset="0"/>
                          <a:ea typeface="Segoe UI" pitchFamily="34" charset="-122"/>
                          <a:cs typeface="Segoe UI" pitchFamily="34" charset="-120"/>
                        </a:rPr>
                        <a:t>cột (trục 1)</a:t>
                      </a:r>
                      <a:endParaRPr lang="en-US" sz="9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marL="0" indent="0">
                        <a:buNone/>
                      </a:pPr>
                      <a:r>
                        <a:rPr lang="en-US" sz="900" dirty="0">
                          <a:solidFill>
                            <a:srgbClr val="415A6B"/>
                          </a:solidFill>
                          <a:latin typeface="Segoe UI" pitchFamily="34" charset="0"/>
                          <a:ea typeface="Segoe UI" pitchFamily="34" charset="-122"/>
                          <a:cs typeface="Segoe UI" pitchFamily="34" charset="-120"/>
                        </a:rPr>
                        <a:t>(2,)</a:t>
                      </a:r>
                      <a:endParaRPr lang="en-US" sz="9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marL="0" indent="0">
                        <a:buNone/>
                      </a:pPr>
                      <a:r>
                        <a:rPr lang="en-US" sz="900" dirty="0">
                          <a:solidFill>
                            <a:srgbClr val="415A6B"/>
                          </a:solidFill>
                          <a:latin typeface="Consolas" pitchFamily="34" charset="0"/>
                          <a:ea typeface="Consolas" pitchFamily="34" charset="-122"/>
                          <a:cs typeface="Consolas" pitchFamily="34" charset="-120"/>
                        </a:rPr>
                        <a:t>[ 6 15]</a:t>
                      </a:r>
                      <a:endParaRPr lang="en-US" sz="900" dirty="0">
                        <a:latin typeface="Consolas" charset="0"/>
                        <a:ea typeface="Consolas" charset="0"/>
                        <a:cs typeface="Consolas"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37" name="Text 34"/>
          <p:cNvSpPr/>
          <p:nvPr/>
        </p:nvSpPr>
        <p:spPr>
          <a:xfrm>
            <a:off x="7269480" y="4983480"/>
            <a:ext cx="4389120" cy="548640"/>
          </a:xfrm>
          <a:prstGeom prst="rect">
            <a:avLst/>
          </a:prstGeom>
          <a:noFill/>
          <a:ln/>
        </p:spPr>
        <p:txBody>
          <a:bodyPr wrap="square" lIns="0" tIns="0" rIns="0" bIns="0" rtlCol="0" anchor="t"/>
          <a:lstStyle/>
          <a:p>
            <a:pPr marL="0" indent="0">
              <a:buNone/>
            </a:pPr>
            <a:r>
              <a:rPr lang="en-US" sz="1000" i="1" dirty="0">
                <a:solidFill>
                  <a:srgbClr val="728694"/>
                </a:solidFill>
                <a:latin typeface="Segoe UI" pitchFamily="34" charset="0"/>
                <a:ea typeface="Segoe UI" pitchFamily="34" charset="-122"/>
                <a:cs typeface="Segoe UI" pitchFamily="34" charset="-120"/>
              </a:rPr>
              <a:t>axis là chiều bị gộp: axis=0 gộp các hàng, axis=1 gộp các cột.</a:t>
            </a:r>
            <a:endParaRPr lang="en-US" sz="1000" dirty="0"/>
          </a:p>
        </p:txBody>
      </p:sp>
      <p:sp>
        <p:nvSpPr>
          <p:cNvPr id="38" name="Shape 35"/>
          <p:cNvSpPr/>
          <p:nvPr/>
        </p:nvSpPr>
        <p:spPr>
          <a:xfrm>
            <a:off x="548640" y="6391656"/>
            <a:ext cx="11091672" cy="9144"/>
          </a:xfrm>
          <a:prstGeom prst="rect">
            <a:avLst/>
          </a:prstGeom>
          <a:solidFill>
            <a:srgbClr val="D7E5EC"/>
          </a:solidFill>
          <a:ln w="12700">
            <a:solidFill>
              <a:srgbClr val="D7E5EC"/>
            </a:solidFill>
            <a:prstDash val="solid"/>
          </a:ln>
        </p:spPr>
      </p:sp>
      <p:sp>
        <p:nvSpPr>
          <p:cNvPr id="39" name="Text 36"/>
          <p:cNvSpPr/>
          <p:nvPr/>
        </p:nvSpPr>
        <p:spPr>
          <a:xfrm>
            <a:off x="548640" y="6473952"/>
            <a:ext cx="7772400" cy="182880"/>
          </a:xfrm>
          <a:prstGeom prst="rect">
            <a:avLst/>
          </a:prstGeom>
          <a:noFill/>
          <a:ln/>
        </p:spPr>
        <p:txBody>
          <a:bodyPr wrap="square" lIns="0" tIns="0" rIns="0" bIns="0" rtlCol="0" anchor="t"/>
          <a:lstStyle/>
          <a:p>
            <a:pPr marL="0" indent="0">
              <a:buNone/>
            </a:pPr>
            <a:r>
              <a:rPr lang="en-US" sz="850" dirty="0">
                <a:solidFill>
                  <a:srgbClr val="728694"/>
                </a:solidFill>
                <a:latin typeface="Segoe UI" pitchFamily="34" charset="0"/>
                <a:ea typeface="Segoe UI" pitchFamily="34" charset="-122"/>
                <a:cs typeface="Segoe UI" pitchFamily="34" charset="-120"/>
              </a:rPr>
              <a:t>Tìm hiểu thư viện NumPy trong Python</a:t>
            </a:r>
            <a:endParaRPr lang="en-US" sz="850" dirty="0"/>
          </a:p>
        </p:txBody>
      </p:sp>
      <p:sp>
        <p:nvSpPr>
          <p:cNvPr id="40" name="Text 37"/>
          <p:cNvSpPr/>
          <p:nvPr/>
        </p:nvSpPr>
        <p:spPr>
          <a:xfrm>
            <a:off x="10698480" y="6473952"/>
            <a:ext cx="941832" cy="182880"/>
          </a:xfrm>
          <a:prstGeom prst="rect">
            <a:avLst/>
          </a:prstGeom>
          <a:noFill/>
          <a:ln/>
        </p:spPr>
        <p:txBody>
          <a:bodyPr wrap="square" lIns="0" tIns="0" rIns="0" bIns="0" rtlCol="0" anchor="t"/>
          <a:lstStyle/>
          <a:p>
            <a:pPr marL="0" indent="0" algn="r">
              <a:buNone/>
            </a:pPr>
            <a:r>
              <a:rPr lang="en-US" sz="850" dirty="0">
                <a:solidFill>
                  <a:srgbClr val="728694"/>
                </a:solidFill>
                <a:latin typeface="Segoe UI" pitchFamily="34" charset="0"/>
                <a:ea typeface="Segoe UI" pitchFamily="34" charset="-122"/>
                <a:cs typeface="Segoe UI" pitchFamily="34" charset="-120"/>
              </a:rPr>
              <a:t>19 / 25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301752"/>
            <a:ext cx="10881360" cy="201168"/>
          </a:xfrm>
          <a:prstGeom prst="rect">
            <a:avLst/>
          </a:prstGeom>
          <a:noFill/>
          <a:ln/>
        </p:spPr>
        <p:txBody>
          <a:bodyPr wrap="square" lIns="0" tIns="0" rIns="0" bIns="0" rtlCol="0" anchor="t"/>
          <a:lstStyle/>
          <a:p>
            <a:pPr marL="0" indent="0">
              <a:buNone/>
            </a:pPr>
            <a:r>
              <a:rPr lang="en-US" sz="950" b="1" kern="0" spc="160" dirty="0">
                <a:solidFill>
                  <a:srgbClr val="1B8EA8"/>
                </a:solidFill>
                <a:latin typeface="Segoe UI" pitchFamily="34" charset="0"/>
                <a:ea typeface="Segoe UI" pitchFamily="34" charset="-122"/>
                <a:cs typeface="Segoe UI" pitchFamily="34" charset="-120"/>
              </a:rPr>
              <a:t>05 · TÍNH TOÁN</a:t>
            </a:r>
            <a:endParaRPr lang="en-US" sz="950" dirty="0"/>
          </a:p>
        </p:txBody>
      </p:sp>
      <p:sp>
        <p:nvSpPr>
          <p:cNvPr id="3" name="Text 1"/>
          <p:cNvSpPr/>
          <p:nvPr/>
        </p:nvSpPr>
        <p:spPr>
          <a:xfrm>
            <a:off x="548640" y="502920"/>
            <a:ext cx="10881360" cy="640080"/>
          </a:xfrm>
          <a:prstGeom prst="rect">
            <a:avLst/>
          </a:prstGeom>
          <a:noFill/>
          <a:ln/>
        </p:spPr>
        <p:txBody>
          <a:bodyPr wrap="square" lIns="0" tIns="0" rIns="0" bIns="0" rtlCol="0" anchor="ctr"/>
          <a:lstStyle/>
          <a:p>
            <a:pPr marL="0" indent="0">
              <a:buNone/>
            </a:pPr>
            <a:r>
              <a:rPr lang="en-US" sz="2800" b="1" dirty="0">
                <a:solidFill>
                  <a:srgbClr val="062A3A"/>
                </a:solidFill>
                <a:latin typeface="Segoe UI" pitchFamily="34" charset="0"/>
                <a:ea typeface="Segoe UI" pitchFamily="34" charset="-122"/>
                <a:cs typeface="Segoe UI" pitchFamily="34" charset="-120"/>
              </a:rPr>
              <a:t>Broadcasting: tính giữa các shape khác nhau</a:t>
            </a:r>
            <a:endParaRPr lang="en-US" sz="2800" dirty="0"/>
          </a:p>
        </p:txBody>
      </p:sp>
      <p:sp>
        <p:nvSpPr>
          <p:cNvPr id="4" name="Shape 2"/>
          <p:cNvSpPr/>
          <p:nvPr/>
        </p:nvSpPr>
        <p:spPr>
          <a:xfrm>
            <a:off x="548640" y="1225296"/>
            <a:ext cx="868680" cy="41148"/>
          </a:xfrm>
          <a:prstGeom prst="rect">
            <a:avLst/>
          </a:prstGeom>
          <a:solidFill>
            <a:srgbClr val="1B8EA8"/>
          </a:solidFill>
          <a:ln w="12700">
            <a:solidFill>
              <a:srgbClr val="1B8EA8"/>
            </a:solidFill>
            <a:prstDash val="solid"/>
          </a:ln>
        </p:spPr>
      </p:sp>
      <p:sp>
        <p:nvSpPr>
          <p:cNvPr id="5" name="Text 3"/>
          <p:cNvSpPr/>
          <p:nvPr/>
        </p:nvSpPr>
        <p:spPr>
          <a:xfrm>
            <a:off x="548640" y="1417320"/>
            <a:ext cx="5212080" cy="914400"/>
          </a:xfrm>
          <a:prstGeom prst="rect">
            <a:avLst/>
          </a:prstGeom>
          <a:noFill/>
          <a:ln/>
        </p:spPr>
        <p:txBody>
          <a:bodyPr wrap="square" lIns="0" tIns="0" rIns="0" bIns="0" rtlCol="0" anchor="t"/>
          <a:lstStyle/>
          <a:p>
            <a:pPr marL="0" indent="0">
              <a:lnSpc>
                <a:spcPct val="120000"/>
              </a:lnSpc>
              <a:buNone/>
            </a:pPr>
            <a:r>
              <a:rPr lang="en-US" sz="1350" dirty="0">
                <a:solidFill>
                  <a:srgbClr val="062A3A"/>
                </a:solidFill>
                <a:latin typeface="Segoe UI" pitchFamily="34" charset="0"/>
                <a:ea typeface="Segoe UI" pitchFamily="34" charset="-122"/>
                <a:cs typeface="Segoe UI" pitchFamily="34" charset="-120"/>
              </a:rPr>
              <a:t>Broadcasting cho phép mảng nhỏ được “trải” lên mảng lớn để hai bên tương thích — vòng lặp chạy trong C, không sao chép dữ liệu không cần thiết.</a:t>
            </a:r>
            <a:endParaRPr lang="en-US" sz="1350" dirty="0"/>
          </a:p>
        </p:txBody>
      </p:sp>
      <p:sp>
        <p:nvSpPr>
          <p:cNvPr id="6" name="Shape 4"/>
          <p:cNvSpPr/>
          <p:nvPr/>
        </p:nvSpPr>
        <p:spPr>
          <a:xfrm>
            <a:off x="548640" y="2560320"/>
            <a:ext cx="457200" cy="457200"/>
          </a:xfrm>
          <a:prstGeom prst="roundRect">
            <a:avLst>
              <a:gd name="adj" fmla="val 30000"/>
            </a:avLst>
          </a:prstGeom>
          <a:solidFill>
            <a:srgbClr val="1B8EA8"/>
          </a:solidFill>
          <a:ln w="12700">
            <a:solidFill>
              <a:srgbClr val="FFFFFF"/>
            </a:solidFill>
            <a:prstDash val="solid"/>
          </a:ln>
        </p:spPr>
      </p:sp>
      <p:sp>
        <p:nvSpPr>
          <p:cNvPr id="7" name="Text 5"/>
          <p:cNvSpPr/>
          <p:nvPr/>
        </p:nvSpPr>
        <p:spPr>
          <a:xfrm>
            <a:off x="548640" y="256032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1</a:t>
            </a:r>
            <a:endParaRPr lang="en-US" sz="1300" dirty="0"/>
          </a:p>
        </p:txBody>
      </p:sp>
      <p:sp>
        <p:nvSpPr>
          <p:cNvPr id="8" name="Text 6"/>
          <p:cNvSpPr/>
          <p:nvPr/>
        </p:nvSpPr>
        <p:spPr>
          <a:xfrm>
            <a:off x="1143000" y="2514600"/>
            <a:ext cx="4480560" cy="777240"/>
          </a:xfrm>
          <a:prstGeom prst="rect">
            <a:avLst/>
          </a:prstGeom>
          <a:noFill/>
          <a:ln/>
        </p:spPr>
        <p:txBody>
          <a:bodyPr wrap="square" lIns="0" tIns="0" rIns="0" bIns="0" rtlCol="0" anchor="t"/>
          <a:lstStyle/>
          <a:p>
            <a:pPr marL="0" indent="0">
              <a:lnSpc>
                <a:spcPct val="115000"/>
              </a:lnSpc>
              <a:buNone/>
            </a:pPr>
            <a:r>
              <a:rPr lang="en-US" sz="1150" dirty="0">
                <a:solidFill>
                  <a:srgbClr val="415A6B"/>
                </a:solidFill>
                <a:latin typeface="Segoe UI" pitchFamily="34" charset="0"/>
                <a:ea typeface="Segoe UI" pitchFamily="34" charset="-122"/>
                <a:cs typeface="Segoe UI" pitchFamily="34" charset="-120"/>
              </a:rPr>
              <a:t>So sánh shape từ phải sang trái.</a:t>
            </a:r>
            <a:endParaRPr lang="en-US" sz="1150" dirty="0"/>
          </a:p>
        </p:txBody>
      </p:sp>
      <p:sp>
        <p:nvSpPr>
          <p:cNvPr id="9" name="Shape 7"/>
          <p:cNvSpPr/>
          <p:nvPr/>
        </p:nvSpPr>
        <p:spPr>
          <a:xfrm>
            <a:off x="548640" y="3584448"/>
            <a:ext cx="457200" cy="457200"/>
          </a:xfrm>
          <a:prstGeom prst="roundRect">
            <a:avLst>
              <a:gd name="adj" fmla="val 30000"/>
            </a:avLst>
          </a:prstGeom>
          <a:solidFill>
            <a:srgbClr val="1B8EA8"/>
          </a:solidFill>
          <a:ln w="12700">
            <a:solidFill>
              <a:srgbClr val="FFFFFF"/>
            </a:solidFill>
            <a:prstDash val="solid"/>
          </a:ln>
        </p:spPr>
      </p:sp>
      <p:sp>
        <p:nvSpPr>
          <p:cNvPr id="10" name="Text 8"/>
          <p:cNvSpPr/>
          <p:nvPr/>
        </p:nvSpPr>
        <p:spPr>
          <a:xfrm>
            <a:off x="548640" y="358444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2</a:t>
            </a:r>
            <a:endParaRPr lang="en-US" sz="1300" dirty="0"/>
          </a:p>
        </p:txBody>
      </p:sp>
      <p:sp>
        <p:nvSpPr>
          <p:cNvPr id="11" name="Text 9"/>
          <p:cNvSpPr/>
          <p:nvPr/>
        </p:nvSpPr>
        <p:spPr>
          <a:xfrm>
            <a:off x="1143000" y="3538728"/>
            <a:ext cx="4480560" cy="777240"/>
          </a:xfrm>
          <a:prstGeom prst="rect">
            <a:avLst/>
          </a:prstGeom>
          <a:noFill/>
          <a:ln/>
        </p:spPr>
        <p:txBody>
          <a:bodyPr wrap="square" lIns="0" tIns="0" rIns="0" bIns="0" rtlCol="0" anchor="t"/>
          <a:lstStyle/>
          <a:p>
            <a:pPr marL="0" indent="0">
              <a:lnSpc>
                <a:spcPct val="115000"/>
              </a:lnSpc>
              <a:buNone/>
            </a:pPr>
            <a:r>
              <a:rPr lang="en-US" sz="1150" dirty="0">
                <a:solidFill>
                  <a:srgbClr val="415A6B"/>
                </a:solidFill>
                <a:latin typeface="Segoe UI" pitchFamily="34" charset="0"/>
                <a:ea typeface="Segoe UI" pitchFamily="34" charset="-122"/>
                <a:cs typeface="Segoe UI" pitchFamily="34" charset="-120"/>
              </a:rPr>
              <a:t>Mỗi cặp chiều tương thích nếu bằng nhau, hoặc một bên bằng 1.</a:t>
            </a:r>
            <a:endParaRPr lang="en-US" sz="1150" dirty="0"/>
          </a:p>
        </p:txBody>
      </p:sp>
      <p:sp>
        <p:nvSpPr>
          <p:cNvPr id="12" name="Shape 10"/>
          <p:cNvSpPr/>
          <p:nvPr/>
        </p:nvSpPr>
        <p:spPr>
          <a:xfrm>
            <a:off x="548640" y="4608576"/>
            <a:ext cx="457200" cy="457200"/>
          </a:xfrm>
          <a:prstGeom prst="roundRect">
            <a:avLst>
              <a:gd name="adj" fmla="val 30000"/>
            </a:avLst>
          </a:prstGeom>
          <a:solidFill>
            <a:srgbClr val="1B8EA8"/>
          </a:solidFill>
          <a:ln w="12700">
            <a:solidFill>
              <a:srgbClr val="FFFFFF"/>
            </a:solidFill>
            <a:prstDash val="solid"/>
          </a:ln>
        </p:spPr>
      </p:sp>
      <p:sp>
        <p:nvSpPr>
          <p:cNvPr id="13" name="Text 11"/>
          <p:cNvSpPr/>
          <p:nvPr/>
        </p:nvSpPr>
        <p:spPr>
          <a:xfrm>
            <a:off x="548640" y="4608576"/>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3</a:t>
            </a:r>
            <a:endParaRPr lang="en-US" sz="1300" dirty="0"/>
          </a:p>
        </p:txBody>
      </p:sp>
      <p:sp>
        <p:nvSpPr>
          <p:cNvPr id="14" name="Text 12"/>
          <p:cNvSpPr/>
          <p:nvPr/>
        </p:nvSpPr>
        <p:spPr>
          <a:xfrm>
            <a:off x="1143000" y="4562856"/>
            <a:ext cx="4480560" cy="777240"/>
          </a:xfrm>
          <a:prstGeom prst="rect">
            <a:avLst/>
          </a:prstGeom>
          <a:noFill/>
          <a:ln/>
        </p:spPr>
        <p:txBody>
          <a:bodyPr wrap="square" lIns="0" tIns="0" rIns="0" bIns="0" rtlCol="0" anchor="t"/>
          <a:lstStyle/>
          <a:p>
            <a:pPr marL="0" indent="0">
              <a:lnSpc>
                <a:spcPct val="115000"/>
              </a:lnSpc>
              <a:buNone/>
            </a:pPr>
            <a:r>
              <a:rPr lang="en-US" sz="1150" dirty="0">
                <a:solidFill>
                  <a:srgbClr val="415A6B"/>
                </a:solidFill>
                <a:latin typeface="Segoe UI" pitchFamily="34" charset="0"/>
                <a:ea typeface="Segoe UI" pitchFamily="34" charset="-122"/>
                <a:cs typeface="Segoe UI" pitchFamily="34" charset="-120"/>
              </a:rPr>
              <a:t>Mảng ít chiều hơn được coi là có các chiều thiếu bằng 1 ở bên trái.</a:t>
            </a:r>
            <a:endParaRPr lang="en-US" sz="1150" dirty="0"/>
          </a:p>
        </p:txBody>
      </p:sp>
      <p:sp>
        <p:nvSpPr>
          <p:cNvPr id="15" name="Shape 13"/>
          <p:cNvSpPr/>
          <p:nvPr/>
        </p:nvSpPr>
        <p:spPr>
          <a:xfrm>
            <a:off x="6035040" y="1463040"/>
            <a:ext cx="5577840" cy="3246120"/>
          </a:xfrm>
          <a:prstGeom prst="roundRect">
            <a:avLst>
              <a:gd name="adj" fmla="val 1690"/>
            </a:avLst>
          </a:prstGeom>
          <a:solidFill>
            <a:srgbClr val="062A3A"/>
          </a:solidFill>
          <a:ln w="9525">
            <a:solidFill>
              <a:srgbClr val="062A3A"/>
            </a:solidFill>
            <a:prstDash val="solid"/>
          </a:ln>
          <a:effectLst>
            <a:outerShdw blurRad="63500" dist="12700" dir="5400000" algn="bl" rotWithShape="0">
              <a:srgbClr val="062A3A">
                <a:alpha val="7000"/>
              </a:srgbClr>
            </a:outerShdw>
          </a:effectLst>
        </p:spPr>
      </p:sp>
      <p:sp>
        <p:nvSpPr>
          <p:cNvPr id="16" name="Text 14"/>
          <p:cNvSpPr/>
          <p:nvPr/>
        </p:nvSpPr>
        <p:spPr>
          <a:xfrm>
            <a:off x="6263640" y="1627632"/>
            <a:ext cx="5120640" cy="201168"/>
          </a:xfrm>
          <a:prstGeom prst="rect">
            <a:avLst/>
          </a:prstGeom>
          <a:noFill/>
          <a:ln/>
        </p:spPr>
        <p:txBody>
          <a:bodyPr wrap="square" lIns="0" tIns="0" rIns="0" bIns="0" rtlCol="0" anchor="t"/>
          <a:lstStyle/>
          <a:p>
            <a:pPr marL="0" indent="0">
              <a:buNone/>
            </a:pPr>
            <a:r>
              <a:rPr lang="en-US" sz="850" b="1" kern="0" spc="150" dirty="0">
                <a:solidFill>
                  <a:srgbClr val="4DB8D4"/>
                </a:solidFill>
                <a:latin typeface="Segoe UI" pitchFamily="34" charset="0"/>
                <a:ea typeface="Segoe UI" pitchFamily="34" charset="-122"/>
                <a:cs typeface="Segoe UI" pitchFamily="34" charset="-120"/>
              </a:rPr>
              <a:t>SO SÁNH TỪ PHẢI SANG TRÁI</a:t>
            </a:r>
            <a:endParaRPr lang="en-US" sz="850" dirty="0"/>
          </a:p>
        </p:txBody>
      </p:sp>
      <p:sp>
        <p:nvSpPr>
          <p:cNvPr id="17" name="Text 15"/>
          <p:cNvSpPr/>
          <p:nvPr/>
        </p:nvSpPr>
        <p:spPr>
          <a:xfrm>
            <a:off x="6263640" y="1965960"/>
            <a:ext cx="2377440" cy="384048"/>
          </a:xfrm>
          <a:prstGeom prst="rect">
            <a:avLst/>
          </a:prstGeom>
          <a:noFill/>
          <a:ln/>
        </p:spPr>
        <p:txBody>
          <a:bodyPr wrap="square" lIns="0" tIns="0" rIns="0" bIns="0" rtlCol="0" anchor="t"/>
          <a:lstStyle/>
          <a:p>
            <a:pPr marL="0" indent="0" algn="r">
              <a:buNone/>
            </a:pPr>
            <a:r>
              <a:rPr lang="en-US" sz="2100" b="1" dirty="0">
                <a:solidFill>
                  <a:srgbClr val="FFFFFF"/>
                </a:solidFill>
                <a:latin typeface="Consolas" pitchFamily="34" charset="0"/>
                <a:ea typeface="Consolas" pitchFamily="34" charset="-122"/>
                <a:cs typeface="Consolas" pitchFamily="34" charset="-120"/>
              </a:rPr>
              <a:t>(2, 3)</a:t>
            </a:r>
            <a:endParaRPr lang="en-US" sz="2100" dirty="0"/>
          </a:p>
        </p:txBody>
      </p:sp>
      <p:sp>
        <p:nvSpPr>
          <p:cNvPr id="18" name="Text 16"/>
          <p:cNvSpPr/>
          <p:nvPr/>
        </p:nvSpPr>
        <p:spPr>
          <a:xfrm>
            <a:off x="6263640" y="2487168"/>
            <a:ext cx="2377440" cy="384048"/>
          </a:xfrm>
          <a:prstGeom prst="rect">
            <a:avLst/>
          </a:prstGeom>
          <a:noFill/>
          <a:ln/>
        </p:spPr>
        <p:txBody>
          <a:bodyPr wrap="square" lIns="0" tIns="0" rIns="0" bIns="0" rtlCol="0" anchor="t"/>
          <a:lstStyle/>
          <a:p>
            <a:pPr marL="0" indent="0" algn="r">
              <a:buNone/>
            </a:pPr>
            <a:r>
              <a:rPr lang="en-US" sz="2100" b="1" dirty="0">
                <a:solidFill>
                  <a:srgbClr val="4DB8D4"/>
                </a:solidFill>
                <a:latin typeface="Consolas" pitchFamily="34" charset="0"/>
                <a:ea typeface="Consolas" pitchFamily="34" charset="-122"/>
                <a:cs typeface="Consolas" pitchFamily="34" charset="-120"/>
              </a:rPr>
              <a:t>(   3,)</a:t>
            </a:r>
            <a:endParaRPr lang="en-US" sz="2100" dirty="0"/>
          </a:p>
        </p:txBody>
      </p:sp>
      <p:sp>
        <p:nvSpPr>
          <p:cNvPr id="19" name="Shape 17"/>
          <p:cNvSpPr/>
          <p:nvPr/>
        </p:nvSpPr>
        <p:spPr>
          <a:xfrm>
            <a:off x="6263640" y="2999232"/>
            <a:ext cx="2377440" cy="9144"/>
          </a:xfrm>
          <a:prstGeom prst="rect">
            <a:avLst/>
          </a:prstGeom>
          <a:solidFill>
            <a:srgbClr val="2A5668"/>
          </a:solidFill>
          <a:ln w="12700">
            <a:solidFill>
              <a:srgbClr val="2A5668"/>
            </a:solidFill>
            <a:prstDash val="solid"/>
          </a:ln>
        </p:spPr>
      </p:sp>
      <p:sp>
        <p:nvSpPr>
          <p:cNvPr id="20" name="Text 18"/>
          <p:cNvSpPr/>
          <p:nvPr/>
        </p:nvSpPr>
        <p:spPr>
          <a:xfrm>
            <a:off x="6263640" y="3108960"/>
            <a:ext cx="2377440" cy="384048"/>
          </a:xfrm>
          <a:prstGeom prst="rect">
            <a:avLst/>
          </a:prstGeom>
          <a:noFill/>
          <a:ln/>
        </p:spPr>
        <p:txBody>
          <a:bodyPr wrap="square" lIns="0" tIns="0" rIns="0" bIns="0" rtlCol="0" anchor="t"/>
          <a:lstStyle/>
          <a:p>
            <a:pPr marL="0" indent="0" algn="r">
              <a:buNone/>
            </a:pPr>
            <a:r>
              <a:rPr lang="en-US" sz="2100" b="1" dirty="0">
                <a:solidFill>
                  <a:srgbClr val="E8A33D"/>
                </a:solidFill>
                <a:latin typeface="Consolas" pitchFamily="34" charset="0"/>
                <a:ea typeface="Consolas" pitchFamily="34" charset="-122"/>
                <a:cs typeface="Consolas" pitchFamily="34" charset="-120"/>
              </a:rPr>
              <a:t>(2, 3)</a:t>
            </a:r>
            <a:endParaRPr lang="en-US" sz="2100" dirty="0"/>
          </a:p>
        </p:txBody>
      </p:sp>
      <p:sp>
        <p:nvSpPr>
          <p:cNvPr id="21" name="Text 19"/>
          <p:cNvSpPr/>
          <p:nvPr/>
        </p:nvSpPr>
        <p:spPr>
          <a:xfrm>
            <a:off x="8915400" y="1993392"/>
            <a:ext cx="1097280" cy="274320"/>
          </a:xfrm>
          <a:prstGeom prst="rect">
            <a:avLst/>
          </a:prstGeom>
          <a:noFill/>
          <a:ln/>
        </p:spPr>
        <p:txBody>
          <a:bodyPr wrap="square" lIns="0" tIns="0" rIns="0" bIns="0" rtlCol="0" anchor="t"/>
          <a:lstStyle/>
          <a:p>
            <a:pPr marL="0" indent="0">
              <a:buNone/>
            </a:pPr>
            <a:r>
              <a:rPr lang="en-US" sz="950" dirty="0">
                <a:solidFill>
                  <a:srgbClr val="8AD9C0"/>
                </a:solidFill>
                <a:latin typeface="Consolas" pitchFamily="34" charset="0"/>
                <a:ea typeface="Consolas" pitchFamily="34" charset="-122"/>
                <a:cs typeface="Consolas" pitchFamily="34" charset="-120"/>
              </a:rPr>
              <a:t>3 = 3</a:t>
            </a:r>
            <a:endParaRPr lang="en-US" sz="950" dirty="0"/>
          </a:p>
        </p:txBody>
      </p:sp>
      <p:sp>
        <p:nvSpPr>
          <p:cNvPr id="22" name="Text 20"/>
          <p:cNvSpPr/>
          <p:nvPr/>
        </p:nvSpPr>
        <p:spPr>
          <a:xfrm>
            <a:off x="8915400" y="3154680"/>
            <a:ext cx="2194560" cy="274320"/>
          </a:xfrm>
          <a:prstGeom prst="rect">
            <a:avLst/>
          </a:prstGeom>
          <a:noFill/>
          <a:ln/>
        </p:spPr>
        <p:txBody>
          <a:bodyPr wrap="square" lIns="0" tIns="0" rIns="0" bIns="0" rtlCol="0" anchor="t"/>
          <a:lstStyle/>
          <a:p>
            <a:pPr marL="0" indent="0">
              <a:buNone/>
            </a:pPr>
            <a:r>
              <a:rPr lang="en-US" sz="950" dirty="0">
                <a:solidFill>
                  <a:srgbClr val="8AD9C0"/>
                </a:solidFill>
                <a:latin typeface="Consolas" pitchFamily="34" charset="0"/>
                <a:ea typeface="Consolas" pitchFamily="34" charset="-122"/>
                <a:cs typeface="Consolas" pitchFamily="34" charset="-120"/>
              </a:rPr>
              <a:t>2 vs 1 (thiếu) → 2</a:t>
            </a:r>
            <a:endParaRPr lang="en-US" sz="950" dirty="0"/>
          </a:p>
        </p:txBody>
      </p:sp>
      <p:sp>
        <p:nvSpPr>
          <p:cNvPr id="23" name="Shape 21"/>
          <p:cNvSpPr/>
          <p:nvPr/>
        </p:nvSpPr>
        <p:spPr>
          <a:xfrm>
            <a:off x="8732520" y="2176272"/>
            <a:ext cx="0" cy="1024128"/>
          </a:xfrm>
          <a:prstGeom prst="line">
            <a:avLst/>
          </a:prstGeom>
          <a:noFill/>
          <a:ln w="12700">
            <a:solidFill>
              <a:srgbClr val="4DB8D4"/>
            </a:solidFill>
            <a:prstDash val="dash"/>
            <a:headEnd type="none"/>
            <a:tailEnd type="none"/>
          </a:ln>
        </p:spPr>
      </p:sp>
      <p:sp>
        <p:nvSpPr>
          <p:cNvPr id="24" name="Text 22"/>
          <p:cNvSpPr/>
          <p:nvPr/>
        </p:nvSpPr>
        <p:spPr>
          <a:xfrm>
            <a:off x="6263640" y="4069080"/>
            <a:ext cx="2377440" cy="182880"/>
          </a:xfrm>
          <a:prstGeom prst="rect">
            <a:avLst/>
          </a:prstGeom>
          <a:noFill/>
          <a:ln/>
        </p:spPr>
        <p:txBody>
          <a:bodyPr wrap="square" lIns="0" tIns="0" rIns="0" bIns="0" rtlCol="0" anchor="t"/>
          <a:lstStyle/>
          <a:p>
            <a:pPr marL="0" indent="0" algn="r">
              <a:buNone/>
            </a:pPr>
            <a:r>
              <a:rPr lang="en-US" sz="850" b="1" kern="0" spc="120" dirty="0">
                <a:solidFill>
                  <a:srgbClr val="4DB8D4"/>
                </a:solidFill>
                <a:latin typeface="Segoe UI" pitchFamily="34" charset="0"/>
                <a:ea typeface="Segoe UI" pitchFamily="34" charset="-122"/>
                <a:cs typeface="Segoe UI" pitchFamily="34" charset="-120"/>
              </a:rPr>
              <a:t>KẾT QUẢ</a:t>
            </a:r>
            <a:endParaRPr lang="en-US" sz="850" dirty="0"/>
          </a:p>
        </p:txBody>
      </p:sp>
      <p:sp>
        <p:nvSpPr>
          <p:cNvPr id="25" name="Text 23"/>
          <p:cNvSpPr/>
          <p:nvPr/>
        </p:nvSpPr>
        <p:spPr>
          <a:xfrm>
            <a:off x="6263640" y="4297680"/>
            <a:ext cx="2377440" cy="365760"/>
          </a:xfrm>
          <a:prstGeom prst="rect">
            <a:avLst/>
          </a:prstGeom>
          <a:noFill/>
          <a:ln/>
        </p:spPr>
        <p:txBody>
          <a:bodyPr wrap="square" lIns="0" tIns="0" rIns="0" bIns="0" rtlCol="0" anchor="t"/>
          <a:lstStyle/>
          <a:p>
            <a:pPr marL="0" indent="0" algn="r">
              <a:buNone/>
            </a:pPr>
            <a:r>
              <a:rPr lang="en-US" sz="1900" b="1" dirty="0">
                <a:solidFill>
                  <a:srgbClr val="E8A33D"/>
                </a:solidFill>
                <a:latin typeface="Consolas" pitchFamily="34" charset="0"/>
                <a:ea typeface="Consolas" pitchFamily="34" charset="-122"/>
                <a:cs typeface="Consolas" pitchFamily="34" charset="-120"/>
              </a:rPr>
              <a:t>(2, 3)</a:t>
            </a:r>
            <a:endParaRPr lang="en-US" sz="1900" dirty="0"/>
          </a:p>
        </p:txBody>
      </p:sp>
      <p:sp>
        <p:nvSpPr>
          <p:cNvPr id="26" name="Text 24"/>
          <p:cNvSpPr/>
          <p:nvPr/>
        </p:nvSpPr>
        <p:spPr>
          <a:xfrm>
            <a:off x="8732520" y="4224528"/>
            <a:ext cx="2651760" cy="502920"/>
          </a:xfrm>
          <a:prstGeom prst="rect">
            <a:avLst/>
          </a:prstGeom>
          <a:noFill/>
          <a:ln/>
        </p:spPr>
        <p:txBody>
          <a:bodyPr wrap="square" lIns="0" tIns="0" rIns="0" bIns="0" rtlCol="0" anchor="t"/>
          <a:lstStyle/>
          <a:p>
            <a:pPr marL="0" indent="0">
              <a:lnSpc>
                <a:spcPct val="110000"/>
              </a:lnSpc>
              <a:buNone/>
            </a:pPr>
            <a:r>
              <a:rPr lang="en-US" sz="850" dirty="0">
                <a:solidFill>
                  <a:srgbClr val="B8D2DD"/>
                </a:solidFill>
                <a:latin typeface="Segoe UI" pitchFamily="34" charset="0"/>
                <a:ea typeface="Segoe UI" pitchFamily="34" charset="-122"/>
                <a:cs typeface="Segoe UI" pitchFamily="34" charset="-120"/>
              </a:rPr>
              <a:t>shape của mảng lớn</a:t>
            </a:r>
            <a:endParaRPr lang="en-US" sz="850" dirty="0"/>
          </a:p>
          <a:p>
            <a:pPr marL="0" indent="0">
              <a:lnSpc>
                <a:spcPct val="110000"/>
              </a:lnSpc>
              <a:buNone/>
            </a:pPr>
            <a:r>
              <a:rPr lang="en-US" sz="850" dirty="0">
                <a:solidFill>
                  <a:srgbClr val="B8D2DD"/>
                </a:solidFill>
                <a:latin typeface="Segoe UI" pitchFamily="34" charset="0"/>
                <a:ea typeface="Segoe UI" pitchFamily="34" charset="-122"/>
                <a:cs typeface="Segoe UI" pitchFamily="34" charset="-120"/>
              </a:rPr>
              <a:t>được giữ nguyên</a:t>
            </a:r>
            <a:endParaRPr lang="en-US" sz="850" dirty="0"/>
          </a:p>
        </p:txBody>
      </p:sp>
      <p:sp>
        <p:nvSpPr>
          <p:cNvPr id="27" name="Shape 25"/>
          <p:cNvSpPr/>
          <p:nvPr/>
        </p:nvSpPr>
        <p:spPr>
          <a:xfrm>
            <a:off x="6035040" y="4892040"/>
            <a:ext cx="5577840" cy="777240"/>
          </a:xfrm>
          <a:prstGeom prst="roundRect">
            <a:avLst>
              <a:gd name="adj" fmla="val 7059"/>
            </a:avLst>
          </a:prstGeom>
          <a:solidFill>
            <a:srgbClr val="EAF4F8"/>
          </a:solidFill>
          <a:ln w="9525">
            <a:solidFill>
              <a:srgbClr val="CFE5EE"/>
            </a:solidFill>
            <a:prstDash val="solid"/>
          </a:ln>
        </p:spPr>
      </p:sp>
      <p:sp>
        <p:nvSpPr>
          <p:cNvPr id="28" name="Text 26"/>
          <p:cNvSpPr/>
          <p:nvPr/>
        </p:nvSpPr>
        <p:spPr>
          <a:xfrm>
            <a:off x="6263640" y="4892040"/>
            <a:ext cx="2926080" cy="777240"/>
          </a:xfrm>
          <a:prstGeom prst="rect">
            <a:avLst/>
          </a:prstGeom>
          <a:noFill/>
          <a:ln/>
        </p:spPr>
        <p:txBody>
          <a:bodyPr wrap="square" lIns="0" tIns="0" rIns="0" bIns="0" rtlCol="0" anchor="ctr"/>
          <a:lstStyle/>
          <a:p>
            <a:pPr marL="0" indent="0">
              <a:buNone/>
            </a:pPr>
            <a:r>
              <a:rPr lang="en-US" sz="1200" b="1" dirty="0">
                <a:solidFill>
                  <a:srgbClr val="062A3A"/>
                </a:solidFill>
                <a:latin typeface="Consolas" pitchFamily="34" charset="0"/>
                <a:ea typeface="Consolas" pitchFamily="34" charset="-122"/>
                <a:cs typeface="Consolas" pitchFamily="34" charset="-120"/>
              </a:rPr>
              <a:t>a * 2.0  →  [2. 4. 6.]</a:t>
            </a:r>
            <a:endParaRPr lang="en-US" sz="1200" dirty="0"/>
          </a:p>
        </p:txBody>
      </p:sp>
      <p:sp>
        <p:nvSpPr>
          <p:cNvPr id="29" name="Text 27"/>
          <p:cNvSpPr/>
          <p:nvPr/>
        </p:nvSpPr>
        <p:spPr>
          <a:xfrm>
            <a:off x="9052560" y="4956048"/>
            <a:ext cx="2423160" cy="658368"/>
          </a:xfrm>
          <a:prstGeom prst="rect">
            <a:avLst/>
          </a:prstGeom>
          <a:noFill/>
          <a:ln/>
        </p:spPr>
        <p:txBody>
          <a:bodyPr wrap="square" lIns="0" tIns="0" rIns="0" bIns="0" rtlCol="0" anchor="t"/>
          <a:lstStyle/>
          <a:p>
            <a:pPr marL="0" indent="0">
              <a:lnSpc>
                <a:spcPct val="110000"/>
              </a:lnSpc>
              <a:buNone/>
            </a:pPr>
            <a:r>
              <a:rPr lang="en-US" sz="850" dirty="0">
                <a:solidFill>
                  <a:srgbClr val="728694"/>
                </a:solidFill>
                <a:latin typeface="Segoe UI" pitchFamily="34" charset="0"/>
                <a:ea typeface="Segoe UI" pitchFamily="34" charset="-122"/>
                <a:cs typeface="Segoe UI" pitchFamily="34" charset="-120"/>
              </a:rPr>
              <a:t>scalar trải như shape (3,),</a:t>
            </a:r>
            <a:endParaRPr lang="en-US" sz="850" dirty="0"/>
          </a:p>
          <a:p>
            <a:pPr marL="0" indent="0">
              <a:lnSpc>
                <a:spcPct val="110000"/>
              </a:lnSpc>
              <a:buNone/>
            </a:pPr>
            <a:r>
              <a:rPr lang="en-US" sz="850" dirty="0">
                <a:solidFill>
                  <a:srgbClr val="728694"/>
                </a:solidFill>
                <a:latin typeface="Segoe UI" pitchFamily="34" charset="0"/>
                <a:ea typeface="Segoe UI" pitchFamily="34" charset="-122"/>
                <a:cs typeface="Segoe UI" pitchFamily="34" charset="-120"/>
              </a:rPr>
              <a:t>không sao chép thật</a:t>
            </a:r>
            <a:endParaRPr lang="en-US" sz="850" dirty="0"/>
          </a:p>
        </p:txBody>
      </p:sp>
      <p:sp>
        <p:nvSpPr>
          <p:cNvPr id="30" name="Text 28"/>
          <p:cNvSpPr/>
          <p:nvPr/>
        </p:nvSpPr>
        <p:spPr>
          <a:xfrm>
            <a:off x="548640" y="5760720"/>
            <a:ext cx="5120640" cy="228600"/>
          </a:xfrm>
          <a:prstGeom prst="rect">
            <a:avLst/>
          </a:prstGeom>
          <a:noFill/>
          <a:ln/>
        </p:spPr>
        <p:txBody>
          <a:bodyPr wrap="square" lIns="0" tIns="0" rIns="0" bIns="0" rtlCol="0" anchor="t"/>
          <a:lstStyle/>
          <a:p>
            <a:pPr marL="0" indent="0">
              <a:buNone/>
            </a:pPr>
            <a:r>
              <a:rPr lang="en-US" sz="850" dirty="0">
                <a:solidFill>
                  <a:srgbClr val="728694"/>
                </a:solidFill>
                <a:latin typeface="Segoe UI" pitchFamily="34" charset="0"/>
                <a:ea typeface="Segoe UI" pitchFamily="34" charset="-122"/>
                <a:cs typeface="Segoe UI" pitchFamily="34" charset="-120"/>
              </a:rPr>
              <a:t>Nguồn: NumPy Documentation — Broadcasting [3]</a:t>
            </a:r>
            <a:endParaRPr lang="en-US" sz="850" dirty="0"/>
          </a:p>
        </p:txBody>
      </p:sp>
      <p:sp>
        <p:nvSpPr>
          <p:cNvPr id="31" name="Shape 29"/>
          <p:cNvSpPr/>
          <p:nvPr/>
        </p:nvSpPr>
        <p:spPr>
          <a:xfrm>
            <a:off x="548640" y="6391656"/>
            <a:ext cx="11091672" cy="9144"/>
          </a:xfrm>
          <a:prstGeom prst="rect">
            <a:avLst/>
          </a:prstGeom>
          <a:solidFill>
            <a:srgbClr val="D7E5EC"/>
          </a:solidFill>
          <a:ln w="12700">
            <a:solidFill>
              <a:srgbClr val="D7E5EC"/>
            </a:solidFill>
            <a:prstDash val="solid"/>
          </a:ln>
        </p:spPr>
      </p:sp>
      <p:sp>
        <p:nvSpPr>
          <p:cNvPr id="32" name="Text 30"/>
          <p:cNvSpPr/>
          <p:nvPr/>
        </p:nvSpPr>
        <p:spPr>
          <a:xfrm>
            <a:off x="548640" y="6473952"/>
            <a:ext cx="7772400" cy="182880"/>
          </a:xfrm>
          <a:prstGeom prst="rect">
            <a:avLst/>
          </a:prstGeom>
          <a:noFill/>
          <a:ln/>
        </p:spPr>
        <p:txBody>
          <a:bodyPr wrap="square" lIns="0" tIns="0" rIns="0" bIns="0" rtlCol="0" anchor="t"/>
          <a:lstStyle/>
          <a:p>
            <a:pPr marL="0" indent="0">
              <a:buNone/>
            </a:pPr>
            <a:r>
              <a:rPr lang="en-US" sz="850" dirty="0">
                <a:solidFill>
                  <a:srgbClr val="728694"/>
                </a:solidFill>
                <a:latin typeface="Segoe UI" pitchFamily="34" charset="0"/>
                <a:ea typeface="Segoe UI" pitchFamily="34" charset="-122"/>
                <a:cs typeface="Segoe UI" pitchFamily="34" charset="-120"/>
              </a:rPr>
              <a:t>Tìm hiểu thư viện NumPy trong Python</a:t>
            </a:r>
            <a:endParaRPr lang="en-US" sz="850" dirty="0"/>
          </a:p>
        </p:txBody>
      </p:sp>
      <p:sp>
        <p:nvSpPr>
          <p:cNvPr id="33" name="Text 31"/>
          <p:cNvSpPr/>
          <p:nvPr/>
        </p:nvSpPr>
        <p:spPr>
          <a:xfrm>
            <a:off x="10698480" y="6473952"/>
            <a:ext cx="941832" cy="182880"/>
          </a:xfrm>
          <a:prstGeom prst="rect">
            <a:avLst/>
          </a:prstGeom>
          <a:noFill/>
          <a:ln/>
        </p:spPr>
        <p:txBody>
          <a:bodyPr wrap="square" lIns="0" tIns="0" rIns="0" bIns="0" rtlCol="0" anchor="t"/>
          <a:lstStyle/>
          <a:p>
            <a:pPr marL="0" indent="0" algn="r">
              <a:buNone/>
            </a:pPr>
            <a:r>
              <a:rPr lang="en-US" sz="850" dirty="0">
                <a:solidFill>
                  <a:srgbClr val="728694"/>
                </a:solidFill>
                <a:latin typeface="Segoe UI" pitchFamily="34" charset="0"/>
                <a:ea typeface="Segoe UI" pitchFamily="34" charset="-122"/>
                <a:cs typeface="Segoe UI" pitchFamily="34" charset="-120"/>
              </a:rPr>
              <a:t>20 / 25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301752"/>
            <a:ext cx="10881360" cy="201168"/>
          </a:xfrm>
          <a:prstGeom prst="rect">
            <a:avLst/>
          </a:prstGeom>
          <a:noFill/>
          <a:ln/>
        </p:spPr>
        <p:txBody>
          <a:bodyPr wrap="square" lIns="0" tIns="0" rIns="0" bIns="0" rtlCol="0" anchor="t"/>
          <a:lstStyle/>
          <a:p>
            <a:pPr marL="0" indent="0">
              <a:buNone/>
            </a:pPr>
            <a:r>
              <a:rPr lang="en-US" sz="950" b="1" kern="0" spc="160" dirty="0">
                <a:solidFill>
                  <a:srgbClr val="1B8EA8"/>
                </a:solidFill>
                <a:latin typeface="Segoe UI" pitchFamily="34" charset="0"/>
                <a:ea typeface="Segoe UI" pitchFamily="34" charset="-122"/>
                <a:cs typeface="Segoe UI" pitchFamily="34" charset="-120"/>
              </a:rPr>
              <a:t>05 · TÍNH TOÁN</a:t>
            </a:r>
            <a:endParaRPr lang="en-US" sz="950" dirty="0"/>
          </a:p>
        </p:txBody>
      </p:sp>
      <p:sp>
        <p:nvSpPr>
          <p:cNvPr id="3" name="Text 1"/>
          <p:cNvSpPr/>
          <p:nvPr/>
        </p:nvSpPr>
        <p:spPr>
          <a:xfrm>
            <a:off x="548640" y="502920"/>
            <a:ext cx="10881360" cy="640080"/>
          </a:xfrm>
          <a:prstGeom prst="rect">
            <a:avLst/>
          </a:prstGeom>
          <a:noFill/>
          <a:ln/>
        </p:spPr>
        <p:txBody>
          <a:bodyPr wrap="square" lIns="0" tIns="0" rIns="0" bIns="0" rtlCol="0" anchor="ctr"/>
          <a:lstStyle/>
          <a:p>
            <a:pPr marL="0" indent="0">
              <a:buNone/>
            </a:pPr>
            <a:r>
              <a:rPr lang="en-US" sz="2800" b="1" dirty="0">
                <a:solidFill>
                  <a:srgbClr val="062A3A"/>
                </a:solidFill>
                <a:latin typeface="Segoe UI" pitchFamily="34" charset="0"/>
                <a:ea typeface="Segoe UI" pitchFamily="34" charset="-122"/>
                <a:cs typeface="Segoe UI" pitchFamily="34" charset="-120"/>
              </a:rPr>
              <a:t>Broadcasting: thành công và thất bại</a:t>
            </a:r>
            <a:endParaRPr lang="en-US" sz="2800" dirty="0"/>
          </a:p>
        </p:txBody>
      </p:sp>
      <p:sp>
        <p:nvSpPr>
          <p:cNvPr id="4" name="Shape 2"/>
          <p:cNvSpPr/>
          <p:nvPr/>
        </p:nvSpPr>
        <p:spPr>
          <a:xfrm>
            <a:off x="548640" y="1225296"/>
            <a:ext cx="868680" cy="41148"/>
          </a:xfrm>
          <a:prstGeom prst="rect">
            <a:avLst/>
          </a:prstGeom>
          <a:solidFill>
            <a:srgbClr val="1B8EA8"/>
          </a:solidFill>
          <a:ln w="12700">
            <a:solidFill>
              <a:srgbClr val="1B8EA8"/>
            </a:solidFill>
            <a:prstDash val="solid"/>
          </a:ln>
        </p:spPr>
      </p:sp>
      <p:sp>
        <p:nvSpPr>
          <p:cNvPr id="5" name="Shape 3"/>
          <p:cNvSpPr/>
          <p:nvPr/>
        </p:nvSpPr>
        <p:spPr>
          <a:xfrm>
            <a:off x="548640" y="1463040"/>
            <a:ext cx="3547872" cy="2286000"/>
          </a:xfrm>
          <a:prstGeom prst="roundRect">
            <a:avLst>
              <a:gd name="adj" fmla="val 2400"/>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6" name="Text 4"/>
          <p:cNvSpPr/>
          <p:nvPr/>
        </p:nvSpPr>
        <p:spPr>
          <a:xfrm>
            <a:off x="768096" y="1627632"/>
            <a:ext cx="3108960" cy="320040"/>
          </a:xfrm>
          <a:prstGeom prst="rect">
            <a:avLst/>
          </a:prstGeom>
          <a:noFill/>
          <a:ln/>
        </p:spPr>
        <p:txBody>
          <a:bodyPr wrap="square" lIns="0" tIns="0" rIns="0" bIns="0" rtlCol="0" anchor="t"/>
          <a:lstStyle/>
          <a:p>
            <a:pPr marL="0" indent="0">
              <a:buNone/>
            </a:pPr>
            <a:r>
              <a:rPr lang="en-US" sz="1400" b="1" dirty="0">
                <a:solidFill>
                  <a:srgbClr val="062A3A"/>
                </a:solidFill>
                <a:latin typeface="Consolas" pitchFamily="34" charset="0"/>
                <a:ea typeface="Consolas" pitchFamily="34" charset="-122"/>
                <a:cs typeface="Consolas" pitchFamily="34" charset="-120"/>
              </a:rPr>
              <a:t>(2, 3) + (3,)</a:t>
            </a:r>
            <a:endParaRPr lang="en-US" sz="1400" dirty="0"/>
          </a:p>
        </p:txBody>
      </p:sp>
      <p:sp>
        <p:nvSpPr>
          <p:cNvPr id="7" name="Text 5"/>
          <p:cNvSpPr/>
          <p:nvPr/>
        </p:nvSpPr>
        <p:spPr>
          <a:xfrm>
            <a:off x="768096" y="1975104"/>
            <a:ext cx="3108960" cy="457200"/>
          </a:xfrm>
          <a:prstGeom prst="rect">
            <a:avLst/>
          </a:prstGeom>
          <a:noFill/>
          <a:ln/>
        </p:spPr>
        <p:txBody>
          <a:bodyPr wrap="square" lIns="0" tIns="0" rIns="0" bIns="0" rtlCol="0" anchor="t"/>
          <a:lstStyle/>
          <a:p>
            <a:pPr marL="0" indent="0">
              <a:lnSpc>
                <a:spcPct val="110000"/>
              </a:lnSpc>
              <a:buNone/>
            </a:pPr>
            <a:r>
              <a:rPr lang="en-US" sz="950" dirty="0">
                <a:solidFill>
                  <a:srgbClr val="728694"/>
                </a:solidFill>
                <a:latin typeface="Segoe UI" pitchFamily="34" charset="0"/>
                <a:ea typeface="Segoe UI" pitchFamily="34" charset="-122"/>
                <a:cs typeface="Segoe UI" pitchFamily="34" charset="-120"/>
              </a:rPr>
              <a:t>(3,) coi là (1, 3),</a:t>
            </a:r>
            <a:endParaRPr lang="en-US" sz="950" dirty="0"/>
          </a:p>
          <a:p>
            <a:pPr marL="0" indent="0">
              <a:lnSpc>
                <a:spcPct val="110000"/>
              </a:lnSpc>
              <a:buNone/>
            </a:pPr>
            <a:r>
              <a:rPr lang="en-US" sz="950" dirty="0">
                <a:solidFill>
                  <a:srgbClr val="728694"/>
                </a:solidFill>
                <a:latin typeface="Segoe UI" pitchFamily="34" charset="0"/>
                <a:ea typeface="Segoe UI" pitchFamily="34" charset="-122"/>
                <a:cs typeface="Segoe UI" pitchFamily="34" charset="-120"/>
              </a:rPr>
              <a:t>trải xuống 2 hàng</a:t>
            </a:r>
            <a:endParaRPr lang="en-US" sz="950" dirty="0"/>
          </a:p>
        </p:txBody>
      </p:sp>
      <p:sp>
        <p:nvSpPr>
          <p:cNvPr id="8" name="Text 6"/>
          <p:cNvSpPr/>
          <p:nvPr/>
        </p:nvSpPr>
        <p:spPr>
          <a:xfrm>
            <a:off x="768096" y="2542032"/>
            <a:ext cx="3108960" cy="1005840"/>
          </a:xfrm>
          <a:prstGeom prst="rect">
            <a:avLst/>
          </a:prstGeom>
          <a:noFill/>
          <a:ln/>
        </p:spPr>
        <p:txBody>
          <a:bodyPr wrap="square" lIns="0" tIns="0" rIns="0" bIns="0" rtlCol="0" anchor="t"/>
          <a:lstStyle/>
          <a:p>
            <a:pPr marL="0" indent="0">
              <a:lnSpc>
                <a:spcPct val="115000"/>
              </a:lnSpc>
              <a:buNone/>
            </a:pPr>
            <a:r>
              <a:rPr lang="en-US" sz="1200" dirty="0">
                <a:solidFill>
                  <a:srgbClr val="2D8C6F"/>
                </a:solidFill>
                <a:latin typeface="Consolas" pitchFamily="34" charset="0"/>
                <a:ea typeface="Consolas" pitchFamily="34" charset="-122"/>
                <a:cs typeface="Consolas" pitchFamily="34" charset="-120"/>
              </a:rPr>
              <a:t>[[11 22 33]</a:t>
            </a:r>
            <a:endParaRPr lang="en-US" sz="1200" dirty="0"/>
          </a:p>
          <a:p>
            <a:pPr marL="0" indent="0">
              <a:lnSpc>
                <a:spcPct val="115000"/>
              </a:lnSpc>
              <a:buNone/>
            </a:pPr>
            <a:r>
              <a:rPr lang="en-US" sz="1200" dirty="0">
                <a:solidFill>
                  <a:srgbClr val="2D8C6F"/>
                </a:solidFill>
                <a:latin typeface="Consolas" pitchFamily="34" charset="0"/>
                <a:ea typeface="Consolas" pitchFamily="34" charset="-122"/>
                <a:cs typeface="Consolas" pitchFamily="34" charset="-120"/>
              </a:rPr>
              <a:t> [14 25 36]]</a:t>
            </a:r>
            <a:endParaRPr lang="en-US" sz="1200" dirty="0"/>
          </a:p>
        </p:txBody>
      </p:sp>
      <p:sp>
        <p:nvSpPr>
          <p:cNvPr id="9" name="Text 7"/>
          <p:cNvSpPr/>
          <p:nvPr/>
        </p:nvSpPr>
        <p:spPr>
          <a:xfrm>
            <a:off x="768096" y="3346704"/>
            <a:ext cx="1371600" cy="219456"/>
          </a:xfrm>
          <a:prstGeom prst="rect">
            <a:avLst/>
          </a:prstGeom>
          <a:noFill/>
          <a:ln/>
        </p:spPr>
        <p:txBody>
          <a:bodyPr wrap="square" lIns="0" tIns="0" rIns="0" bIns="0" rtlCol="0" anchor="t"/>
          <a:lstStyle/>
          <a:p>
            <a:pPr marL="0" indent="0">
              <a:buNone/>
            </a:pPr>
            <a:r>
              <a:rPr lang="en-US" sz="900" b="1" dirty="0">
                <a:solidFill>
                  <a:srgbClr val="2D8C6F"/>
                </a:solidFill>
                <a:latin typeface="Segoe UI" pitchFamily="34" charset="0"/>
                <a:ea typeface="Segoe UI" pitchFamily="34" charset="-122"/>
                <a:cs typeface="Segoe UI" pitchFamily="34" charset="-120"/>
              </a:rPr>
              <a:t>✓ hợp lệ</a:t>
            </a:r>
            <a:endParaRPr lang="en-US" sz="900" dirty="0"/>
          </a:p>
        </p:txBody>
      </p:sp>
      <p:sp>
        <p:nvSpPr>
          <p:cNvPr id="10" name="Shape 8"/>
          <p:cNvSpPr/>
          <p:nvPr/>
        </p:nvSpPr>
        <p:spPr>
          <a:xfrm>
            <a:off x="4315968" y="1463040"/>
            <a:ext cx="3547872" cy="2286000"/>
          </a:xfrm>
          <a:prstGeom prst="roundRect">
            <a:avLst>
              <a:gd name="adj" fmla="val 2400"/>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11" name="Text 9"/>
          <p:cNvSpPr/>
          <p:nvPr/>
        </p:nvSpPr>
        <p:spPr>
          <a:xfrm>
            <a:off x="4535424" y="1627632"/>
            <a:ext cx="3108960" cy="320040"/>
          </a:xfrm>
          <a:prstGeom prst="rect">
            <a:avLst/>
          </a:prstGeom>
          <a:noFill/>
          <a:ln/>
        </p:spPr>
        <p:txBody>
          <a:bodyPr wrap="square" lIns="0" tIns="0" rIns="0" bIns="0" rtlCol="0" anchor="t"/>
          <a:lstStyle/>
          <a:p>
            <a:pPr marL="0" indent="0">
              <a:buNone/>
            </a:pPr>
            <a:r>
              <a:rPr lang="en-US" sz="1400" b="1" dirty="0">
                <a:solidFill>
                  <a:srgbClr val="062A3A"/>
                </a:solidFill>
                <a:latin typeface="Consolas" pitchFamily="34" charset="0"/>
                <a:ea typeface="Consolas" pitchFamily="34" charset="-122"/>
                <a:cs typeface="Consolas" pitchFamily="34" charset="-120"/>
              </a:rPr>
              <a:t>(2, 3) + (2, 1)</a:t>
            </a:r>
            <a:endParaRPr lang="en-US" sz="1400" dirty="0"/>
          </a:p>
        </p:txBody>
      </p:sp>
      <p:sp>
        <p:nvSpPr>
          <p:cNvPr id="12" name="Text 10"/>
          <p:cNvSpPr/>
          <p:nvPr/>
        </p:nvSpPr>
        <p:spPr>
          <a:xfrm>
            <a:off x="4535424" y="1975104"/>
            <a:ext cx="3108960" cy="457200"/>
          </a:xfrm>
          <a:prstGeom prst="rect">
            <a:avLst/>
          </a:prstGeom>
          <a:noFill/>
          <a:ln/>
        </p:spPr>
        <p:txBody>
          <a:bodyPr wrap="square" lIns="0" tIns="0" rIns="0" bIns="0" rtlCol="0" anchor="t"/>
          <a:lstStyle/>
          <a:p>
            <a:pPr marL="0" indent="0">
              <a:lnSpc>
                <a:spcPct val="110000"/>
              </a:lnSpc>
              <a:buNone/>
            </a:pPr>
            <a:r>
              <a:rPr lang="en-US" sz="950" dirty="0">
                <a:solidFill>
                  <a:srgbClr val="728694"/>
                </a:solidFill>
                <a:latin typeface="Segoe UI" pitchFamily="34" charset="0"/>
                <a:ea typeface="Segoe UI" pitchFamily="34" charset="-122"/>
                <a:cs typeface="Segoe UI" pitchFamily="34" charset="-120"/>
              </a:rPr>
              <a:t>(2, 1) trải sang 3 cột,</a:t>
            </a:r>
            <a:endParaRPr lang="en-US" sz="950" dirty="0"/>
          </a:p>
          <a:p>
            <a:pPr marL="0" indent="0">
              <a:lnSpc>
                <a:spcPct val="110000"/>
              </a:lnSpc>
              <a:buNone/>
            </a:pPr>
            <a:r>
              <a:rPr lang="en-US" sz="950" dirty="0">
                <a:solidFill>
                  <a:srgbClr val="728694"/>
                </a:solidFill>
                <a:latin typeface="Segoe UI" pitchFamily="34" charset="0"/>
                <a:ea typeface="Segoe UI" pitchFamily="34" charset="-122"/>
                <a:cs typeface="Segoe UI" pitchFamily="34" charset="-120"/>
              </a:rPr>
              <a:t>mỗi hàng cộng một số</a:t>
            </a:r>
            <a:endParaRPr lang="en-US" sz="950" dirty="0"/>
          </a:p>
        </p:txBody>
      </p:sp>
      <p:sp>
        <p:nvSpPr>
          <p:cNvPr id="13" name="Text 11"/>
          <p:cNvSpPr/>
          <p:nvPr/>
        </p:nvSpPr>
        <p:spPr>
          <a:xfrm>
            <a:off x="4535424" y="2542032"/>
            <a:ext cx="3108960" cy="1005840"/>
          </a:xfrm>
          <a:prstGeom prst="rect">
            <a:avLst/>
          </a:prstGeom>
          <a:noFill/>
          <a:ln/>
        </p:spPr>
        <p:txBody>
          <a:bodyPr wrap="square" lIns="0" tIns="0" rIns="0" bIns="0" rtlCol="0" anchor="t"/>
          <a:lstStyle/>
          <a:p>
            <a:pPr marL="0" indent="0">
              <a:lnSpc>
                <a:spcPct val="115000"/>
              </a:lnSpc>
              <a:buNone/>
            </a:pPr>
            <a:r>
              <a:rPr lang="en-US" sz="1200" dirty="0">
                <a:solidFill>
                  <a:srgbClr val="2D8C6F"/>
                </a:solidFill>
                <a:latin typeface="Consolas" pitchFamily="34" charset="0"/>
                <a:ea typeface="Consolas" pitchFamily="34" charset="-122"/>
                <a:cs typeface="Consolas" pitchFamily="34" charset="-120"/>
              </a:rPr>
              <a:t>[[11 12 13]</a:t>
            </a:r>
            <a:endParaRPr lang="en-US" sz="1200" dirty="0"/>
          </a:p>
          <a:p>
            <a:pPr marL="0" indent="0">
              <a:lnSpc>
                <a:spcPct val="115000"/>
              </a:lnSpc>
              <a:buNone/>
            </a:pPr>
            <a:r>
              <a:rPr lang="en-US" sz="1200" dirty="0">
                <a:solidFill>
                  <a:srgbClr val="2D8C6F"/>
                </a:solidFill>
                <a:latin typeface="Consolas" pitchFamily="34" charset="0"/>
                <a:ea typeface="Consolas" pitchFamily="34" charset="-122"/>
                <a:cs typeface="Consolas" pitchFamily="34" charset="-120"/>
              </a:rPr>
              <a:t> [24 25 26]]</a:t>
            </a:r>
            <a:endParaRPr lang="en-US" sz="1200" dirty="0"/>
          </a:p>
        </p:txBody>
      </p:sp>
      <p:sp>
        <p:nvSpPr>
          <p:cNvPr id="14" name="Text 12"/>
          <p:cNvSpPr/>
          <p:nvPr/>
        </p:nvSpPr>
        <p:spPr>
          <a:xfrm>
            <a:off x="4535424" y="3346704"/>
            <a:ext cx="1371600" cy="219456"/>
          </a:xfrm>
          <a:prstGeom prst="rect">
            <a:avLst/>
          </a:prstGeom>
          <a:noFill/>
          <a:ln/>
        </p:spPr>
        <p:txBody>
          <a:bodyPr wrap="square" lIns="0" tIns="0" rIns="0" bIns="0" rtlCol="0" anchor="t"/>
          <a:lstStyle/>
          <a:p>
            <a:pPr marL="0" indent="0">
              <a:buNone/>
            </a:pPr>
            <a:r>
              <a:rPr lang="en-US" sz="900" b="1" dirty="0">
                <a:solidFill>
                  <a:srgbClr val="2D8C6F"/>
                </a:solidFill>
                <a:latin typeface="Segoe UI" pitchFamily="34" charset="0"/>
                <a:ea typeface="Segoe UI" pitchFamily="34" charset="-122"/>
                <a:cs typeface="Segoe UI" pitchFamily="34" charset="-120"/>
              </a:rPr>
              <a:t>✓ hợp lệ</a:t>
            </a:r>
            <a:endParaRPr lang="en-US" sz="900" dirty="0"/>
          </a:p>
        </p:txBody>
      </p:sp>
      <p:sp>
        <p:nvSpPr>
          <p:cNvPr id="15" name="Shape 13"/>
          <p:cNvSpPr/>
          <p:nvPr/>
        </p:nvSpPr>
        <p:spPr>
          <a:xfrm>
            <a:off x="8083296" y="1463040"/>
            <a:ext cx="3557016" cy="2286000"/>
          </a:xfrm>
          <a:prstGeom prst="roundRect">
            <a:avLst>
              <a:gd name="adj" fmla="val 2400"/>
            </a:avLst>
          </a:prstGeom>
          <a:solidFill>
            <a:srgbClr val="FBEDEA"/>
          </a:solidFill>
          <a:ln w="9525">
            <a:solidFill>
              <a:srgbClr val="EBC3BB"/>
            </a:solidFill>
            <a:prstDash val="solid"/>
          </a:ln>
          <a:effectLst>
            <a:outerShdw blurRad="63500" dist="12700" dir="5400000" algn="bl" rotWithShape="0">
              <a:srgbClr val="062A3A">
                <a:alpha val="7000"/>
              </a:srgbClr>
            </a:outerShdw>
          </a:effectLst>
        </p:spPr>
      </p:sp>
      <p:sp>
        <p:nvSpPr>
          <p:cNvPr id="16" name="Text 14"/>
          <p:cNvSpPr/>
          <p:nvPr/>
        </p:nvSpPr>
        <p:spPr>
          <a:xfrm>
            <a:off x="8302752" y="1627632"/>
            <a:ext cx="3108960" cy="320040"/>
          </a:xfrm>
          <a:prstGeom prst="rect">
            <a:avLst/>
          </a:prstGeom>
          <a:noFill/>
          <a:ln/>
        </p:spPr>
        <p:txBody>
          <a:bodyPr wrap="square" lIns="0" tIns="0" rIns="0" bIns="0" rtlCol="0" anchor="t"/>
          <a:lstStyle/>
          <a:p>
            <a:pPr marL="0" indent="0">
              <a:buNone/>
            </a:pPr>
            <a:r>
              <a:rPr lang="en-US" sz="1400" b="1" dirty="0">
                <a:solidFill>
                  <a:srgbClr val="062A3A"/>
                </a:solidFill>
                <a:latin typeface="Consolas" pitchFamily="34" charset="0"/>
                <a:ea typeface="Consolas" pitchFamily="34" charset="-122"/>
                <a:cs typeface="Consolas" pitchFamily="34" charset="-120"/>
              </a:rPr>
              <a:t>(2, 3) + (2,)</a:t>
            </a:r>
            <a:endParaRPr lang="en-US" sz="1400" dirty="0"/>
          </a:p>
        </p:txBody>
      </p:sp>
      <p:sp>
        <p:nvSpPr>
          <p:cNvPr id="17" name="Text 15"/>
          <p:cNvSpPr/>
          <p:nvPr/>
        </p:nvSpPr>
        <p:spPr>
          <a:xfrm>
            <a:off x="8302752" y="1975104"/>
            <a:ext cx="3108960" cy="457200"/>
          </a:xfrm>
          <a:prstGeom prst="rect">
            <a:avLst/>
          </a:prstGeom>
          <a:noFill/>
          <a:ln/>
        </p:spPr>
        <p:txBody>
          <a:bodyPr wrap="square" lIns="0" tIns="0" rIns="0" bIns="0" rtlCol="0" anchor="t"/>
          <a:lstStyle/>
          <a:p>
            <a:pPr marL="0" indent="0">
              <a:lnSpc>
                <a:spcPct val="110000"/>
              </a:lnSpc>
              <a:buNone/>
            </a:pPr>
            <a:r>
              <a:rPr lang="en-US" sz="950" dirty="0">
                <a:solidFill>
                  <a:srgbClr val="728694"/>
                </a:solidFill>
                <a:latin typeface="Segoe UI" pitchFamily="34" charset="0"/>
                <a:ea typeface="Segoe UI" pitchFamily="34" charset="-122"/>
                <a:cs typeface="Segoe UI" pitchFamily="34" charset="-120"/>
              </a:rPr>
              <a:t>Chiều cuối 3 ≠ 2,</a:t>
            </a:r>
            <a:endParaRPr lang="en-US" sz="950" dirty="0"/>
          </a:p>
          <a:p>
            <a:pPr marL="0" indent="0">
              <a:lnSpc>
                <a:spcPct val="110000"/>
              </a:lnSpc>
              <a:buNone/>
            </a:pPr>
            <a:r>
              <a:rPr lang="en-US" sz="950" dirty="0">
                <a:solidFill>
                  <a:srgbClr val="728694"/>
                </a:solidFill>
                <a:latin typeface="Segoe UI" pitchFamily="34" charset="0"/>
                <a:ea typeface="Segoe UI" pitchFamily="34" charset="-122"/>
                <a:cs typeface="Segoe UI" pitchFamily="34" charset="-120"/>
              </a:rPr>
              <a:t>không bên nào bằng 1</a:t>
            </a:r>
            <a:endParaRPr lang="en-US" sz="950" dirty="0"/>
          </a:p>
        </p:txBody>
      </p:sp>
      <p:sp>
        <p:nvSpPr>
          <p:cNvPr id="18" name="Text 16"/>
          <p:cNvSpPr/>
          <p:nvPr/>
        </p:nvSpPr>
        <p:spPr>
          <a:xfrm>
            <a:off x="8302752" y="2578608"/>
            <a:ext cx="3108960" cy="320040"/>
          </a:xfrm>
          <a:prstGeom prst="rect">
            <a:avLst/>
          </a:prstGeom>
          <a:noFill/>
          <a:ln/>
        </p:spPr>
        <p:txBody>
          <a:bodyPr wrap="square" lIns="0" tIns="0" rIns="0" bIns="0" rtlCol="0" anchor="t"/>
          <a:lstStyle/>
          <a:p>
            <a:pPr marL="0" indent="0">
              <a:buNone/>
            </a:pPr>
            <a:r>
              <a:rPr lang="en-US" sz="1400" b="1" dirty="0">
                <a:solidFill>
                  <a:srgbClr val="D96C5F"/>
                </a:solidFill>
                <a:latin typeface="Consolas" pitchFamily="34" charset="0"/>
                <a:ea typeface="Consolas" pitchFamily="34" charset="-122"/>
                <a:cs typeface="Consolas" pitchFamily="34" charset="-120"/>
              </a:rPr>
              <a:t>ValueError</a:t>
            </a:r>
            <a:endParaRPr lang="en-US" sz="1400" dirty="0"/>
          </a:p>
        </p:txBody>
      </p:sp>
      <p:sp>
        <p:nvSpPr>
          <p:cNvPr id="19" name="Text 17"/>
          <p:cNvSpPr/>
          <p:nvPr/>
        </p:nvSpPr>
        <p:spPr>
          <a:xfrm>
            <a:off x="8302752" y="2889504"/>
            <a:ext cx="3108960" cy="566928"/>
          </a:xfrm>
          <a:prstGeom prst="rect">
            <a:avLst/>
          </a:prstGeom>
          <a:noFill/>
          <a:ln/>
        </p:spPr>
        <p:txBody>
          <a:bodyPr wrap="square" lIns="0" tIns="0" rIns="0" bIns="0" rtlCol="0" anchor="t"/>
          <a:lstStyle/>
          <a:p>
            <a:pPr marL="0" indent="0">
              <a:lnSpc>
                <a:spcPct val="100000"/>
              </a:lnSpc>
              <a:buNone/>
            </a:pPr>
            <a:r>
              <a:rPr lang="en-US" sz="820" dirty="0">
                <a:solidFill>
                  <a:srgbClr val="D96C5F"/>
                </a:solidFill>
                <a:latin typeface="Consolas" pitchFamily="34" charset="0"/>
                <a:ea typeface="Consolas" pitchFamily="34" charset="-122"/>
                <a:cs typeface="Consolas" pitchFamily="34" charset="-120"/>
              </a:rPr>
              <a:t>operands could not be</a:t>
            </a:r>
            <a:endParaRPr lang="en-US" sz="820" dirty="0"/>
          </a:p>
          <a:p>
            <a:pPr marL="0" indent="0">
              <a:lnSpc>
                <a:spcPct val="100000"/>
              </a:lnSpc>
              <a:buNone/>
            </a:pPr>
            <a:r>
              <a:rPr lang="en-US" sz="820" dirty="0">
                <a:solidFill>
                  <a:srgbClr val="D96C5F"/>
                </a:solidFill>
                <a:latin typeface="Consolas" pitchFamily="34" charset="0"/>
                <a:ea typeface="Consolas" pitchFamily="34" charset="-122"/>
                <a:cs typeface="Consolas" pitchFamily="34" charset="-120"/>
              </a:rPr>
              <a:t>broadcast together with</a:t>
            </a:r>
            <a:endParaRPr lang="en-US" sz="820" dirty="0"/>
          </a:p>
          <a:p>
            <a:pPr marL="0" indent="0">
              <a:lnSpc>
                <a:spcPct val="100000"/>
              </a:lnSpc>
              <a:buNone/>
            </a:pPr>
            <a:r>
              <a:rPr lang="en-US" sz="820" dirty="0">
                <a:solidFill>
                  <a:srgbClr val="D96C5F"/>
                </a:solidFill>
                <a:latin typeface="Consolas" pitchFamily="34" charset="0"/>
                <a:ea typeface="Consolas" pitchFamily="34" charset="-122"/>
                <a:cs typeface="Consolas" pitchFamily="34" charset="-120"/>
              </a:rPr>
              <a:t>shapes (2,3) (2,)</a:t>
            </a:r>
            <a:endParaRPr lang="en-US" sz="820" dirty="0"/>
          </a:p>
        </p:txBody>
      </p:sp>
      <p:sp>
        <p:nvSpPr>
          <p:cNvPr id="20" name="Text 18"/>
          <p:cNvSpPr/>
          <p:nvPr/>
        </p:nvSpPr>
        <p:spPr>
          <a:xfrm>
            <a:off x="8302752" y="3493008"/>
            <a:ext cx="1371600" cy="182880"/>
          </a:xfrm>
          <a:prstGeom prst="rect">
            <a:avLst/>
          </a:prstGeom>
          <a:noFill/>
          <a:ln/>
        </p:spPr>
        <p:txBody>
          <a:bodyPr wrap="square" lIns="0" tIns="0" rIns="0" bIns="0" rtlCol="0" anchor="t"/>
          <a:lstStyle/>
          <a:p>
            <a:pPr marL="0" indent="0">
              <a:buNone/>
            </a:pPr>
            <a:r>
              <a:rPr lang="en-US" sz="900" b="1" dirty="0">
                <a:solidFill>
                  <a:srgbClr val="D96C5F"/>
                </a:solidFill>
                <a:latin typeface="Segoe UI" pitchFamily="34" charset="0"/>
                <a:ea typeface="Segoe UI" pitchFamily="34" charset="-122"/>
                <a:cs typeface="Segoe UI" pitchFamily="34" charset="-120"/>
              </a:rPr>
              <a:t>✕ thất bại</a:t>
            </a:r>
            <a:endParaRPr lang="en-US" sz="900" dirty="0"/>
          </a:p>
        </p:txBody>
      </p:sp>
      <p:sp>
        <p:nvSpPr>
          <p:cNvPr id="21" name="Shape 19"/>
          <p:cNvSpPr/>
          <p:nvPr/>
        </p:nvSpPr>
        <p:spPr>
          <a:xfrm>
            <a:off x="548640" y="3931920"/>
            <a:ext cx="6949440" cy="1828800"/>
          </a:xfrm>
          <a:prstGeom prst="roundRect">
            <a:avLst>
              <a:gd name="adj" fmla="val 2500"/>
            </a:avLst>
          </a:prstGeom>
          <a:solidFill>
            <a:srgbClr val="0B2230"/>
          </a:solidFill>
          <a:ln w="9525">
            <a:solidFill>
              <a:srgbClr val="163B4C"/>
            </a:solidFill>
            <a:prstDash val="solid"/>
          </a:ln>
        </p:spPr>
      </p:sp>
      <p:sp>
        <p:nvSpPr>
          <p:cNvPr id="22" name="Shape 20"/>
          <p:cNvSpPr/>
          <p:nvPr/>
        </p:nvSpPr>
        <p:spPr>
          <a:xfrm>
            <a:off x="548640" y="3931920"/>
            <a:ext cx="6949440" cy="265176"/>
          </a:xfrm>
          <a:prstGeom prst="rect">
            <a:avLst/>
          </a:prstGeom>
          <a:solidFill>
            <a:srgbClr val="103445"/>
          </a:solidFill>
          <a:ln w="12700">
            <a:solidFill>
              <a:srgbClr val="103445"/>
            </a:solidFill>
            <a:prstDash val="solid"/>
          </a:ln>
        </p:spPr>
      </p:sp>
      <p:sp>
        <p:nvSpPr>
          <p:cNvPr id="23" name="Text 21"/>
          <p:cNvSpPr/>
          <p:nvPr/>
        </p:nvSpPr>
        <p:spPr>
          <a:xfrm>
            <a:off x="694944" y="3982212"/>
            <a:ext cx="6035040" cy="182880"/>
          </a:xfrm>
          <a:prstGeom prst="rect">
            <a:avLst/>
          </a:prstGeom>
          <a:noFill/>
          <a:ln/>
        </p:spPr>
        <p:txBody>
          <a:bodyPr wrap="square" lIns="0" tIns="0" rIns="0" bIns="0" rtlCol="0" anchor="t"/>
          <a:lstStyle/>
          <a:p>
            <a:pPr marL="0" indent="0">
              <a:buNone/>
            </a:pPr>
            <a:r>
              <a:rPr lang="en-US" sz="850" dirty="0">
                <a:solidFill>
                  <a:srgbClr val="8FB6C8"/>
                </a:solidFill>
                <a:latin typeface="Consolas" pitchFamily="34" charset="0"/>
                <a:ea typeface="Consolas" pitchFamily="34" charset="-122"/>
                <a:cs typeface="Consolas" pitchFamily="34" charset="-120"/>
              </a:rPr>
              <a:t>python</a:t>
            </a:r>
            <a:endParaRPr lang="en-US" sz="850" dirty="0"/>
          </a:p>
        </p:txBody>
      </p:sp>
      <p:sp>
        <p:nvSpPr>
          <p:cNvPr id="24" name="Shape 22"/>
          <p:cNvSpPr/>
          <p:nvPr/>
        </p:nvSpPr>
        <p:spPr>
          <a:xfrm>
            <a:off x="6931152" y="4037076"/>
            <a:ext cx="77724" cy="77724"/>
          </a:xfrm>
          <a:prstGeom prst="ellipse">
            <a:avLst/>
          </a:prstGeom>
          <a:solidFill>
            <a:srgbClr val="D96C5F"/>
          </a:solidFill>
          <a:ln w="12700">
            <a:solidFill>
              <a:srgbClr val="D96C5F"/>
            </a:solidFill>
            <a:prstDash val="solid"/>
          </a:ln>
        </p:spPr>
      </p:sp>
      <p:sp>
        <p:nvSpPr>
          <p:cNvPr id="25" name="Shape 23"/>
          <p:cNvSpPr/>
          <p:nvPr/>
        </p:nvSpPr>
        <p:spPr>
          <a:xfrm>
            <a:off x="7086600" y="4037076"/>
            <a:ext cx="77724" cy="77724"/>
          </a:xfrm>
          <a:prstGeom prst="ellipse">
            <a:avLst/>
          </a:prstGeom>
          <a:solidFill>
            <a:srgbClr val="E8A33D"/>
          </a:solidFill>
          <a:ln w="12700">
            <a:solidFill>
              <a:srgbClr val="E8A33D"/>
            </a:solidFill>
            <a:prstDash val="solid"/>
          </a:ln>
        </p:spPr>
      </p:sp>
      <p:sp>
        <p:nvSpPr>
          <p:cNvPr id="26" name="Shape 24"/>
          <p:cNvSpPr/>
          <p:nvPr/>
        </p:nvSpPr>
        <p:spPr>
          <a:xfrm>
            <a:off x="7242048" y="4037076"/>
            <a:ext cx="77724" cy="77724"/>
          </a:xfrm>
          <a:prstGeom prst="ellipse">
            <a:avLst/>
          </a:prstGeom>
          <a:solidFill>
            <a:srgbClr val="2D8C6F"/>
          </a:solidFill>
          <a:ln w="12700">
            <a:solidFill>
              <a:srgbClr val="2D8C6F"/>
            </a:solidFill>
            <a:prstDash val="solid"/>
          </a:ln>
        </p:spPr>
      </p:sp>
      <p:sp>
        <p:nvSpPr>
          <p:cNvPr id="27" name="Text 25"/>
          <p:cNvSpPr/>
          <p:nvPr/>
        </p:nvSpPr>
        <p:spPr>
          <a:xfrm>
            <a:off x="713232" y="4279392"/>
            <a:ext cx="6656832" cy="1408176"/>
          </a:xfrm>
          <a:prstGeom prst="rect">
            <a:avLst/>
          </a:prstGeom>
          <a:noFill/>
          <a:ln/>
        </p:spPr>
        <p:txBody>
          <a:bodyPr wrap="square" lIns="0" tIns="0" rIns="0" bIns="0" rtlCol="0" anchor="t"/>
          <a:lstStyle/>
          <a:p>
            <a:pPr marL="0" indent="0">
              <a:lnSpc>
                <a:spcPct val="102000"/>
              </a:lnSpc>
              <a:buNone/>
            </a:pPr>
            <a:r>
              <a:rPr lang="en-US" sz="880" dirty="0">
                <a:solidFill>
                  <a:srgbClr val="D6E6EF"/>
                </a:solidFill>
                <a:latin typeface="Consolas" pitchFamily="34" charset="0"/>
                <a:ea typeface="Consolas" pitchFamily="34" charset="-122"/>
                <a:cs typeface="Consolas" pitchFamily="34" charset="-120"/>
              </a:rPr>
              <a:t>p = </a:t>
            </a:r>
            <a:r>
              <a:rPr lang="en-US" sz="880" dirty="0">
                <a:solidFill>
                  <a:srgbClr val="8AD9C0"/>
                </a:solidFill>
                <a:latin typeface="Consolas" pitchFamily="34" charset="0"/>
                <a:ea typeface="Consolas" pitchFamily="34" charset="-122"/>
                <a:cs typeface="Consolas" pitchFamily="34" charset="-120"/>
              </a:rPr>
              <a:t>np</a:t>
            </a:r>
            <a:r>
              <a:rPr lang="en-US" sz="880" dirty="0">
                <a:solidFill>
                  <a:srgbClr val="D6E6EF"/>
                </a:solidFill>
                <a:latin typeface="Consolas" pitchFamily="34" charset="0"/>
                <a:ea typeface="Consolas" pitchFamily="34" charset="-122"/>
                <a:cs typeface="Consolas" pitchFamily="34" charset="-120"/>
              </a:rPr>
              <a:t>.array([[</a:t>
            </a:r>
            <a:r>
              <a:rPr lang="en-US" sz="880" dirty="0">
                <a:solidFill>
                  <a:srgbClr val="F08A7C"/>
                </a:solidFill>
                <a:latin typeface="Consolas" pitchFamily="34" charset="0"/>
                <a:ea typeface="Consolas" pitchFamily="34" charset="-122"/>
                <a:cs typeface="Consolas" pitchFamily="34" charset="-120"/>
              </a:rPr>
              <a:t>1</a:t>
            </a:r>
            <a:r>
              <a:rPr lang="en-US" sz="880" dirty="0">
                <a:solidFill>
                  <a:srgbClr val="D6E6EF"/>
                </a:solidFill>
                <a:latin typeface="Consolas" pitchFamily="34" charset="0"/>
                <a:ea typeface="Consolas" pitchFamily="34" charset="-122"/>
                <a:cs typeface="Consolas" pitchFamily="34" charset="-120"/>
              </a:rPr>
              <a:t>, </a:t>
            </a:r>
            <a:r>
              <a:rPr lang="en-US" sz="880" dirty="0">
                <a:solidFill>
                  <a:srgbClr val="F08A7C"/>
                </a:solidFill>
                <a:latin typeface="Consolas" pitchFamily="34" charset="0"/>
                <a:ea typeface="Consolas" pitchFamily="34" charset="-122"/>
                <a:cs typeface="Consolas" pitchFamily="34" charset="-120"/>
              </a:rPr>
              <a:t>2</a:t>
            </a:r>
            <a:r>
              <a:rPr lang="en-US" sz="880" dirty="0">
                <a:solidFill>
                  <a:srgbClr val="D6E6EF"/>
                </a:solidFill>
                <a:latin typeface="Consolas" pitchFamily="34" charset="0"/>
                <a:ea typeface="Consolas" pitchFamily="34" charset="-122"/>
                <a:cs typeface="Consolas" pitchFamily="34" charset="-120"/>
              </a:rPr>
              <a:t>, </a:t>
            </a:r>
            <a:r>
              <a:rPr lang="en-US" sz="880" dirty="0">
                <a:solidFill>
                  <a:srgbClr val="F08A7C"/>
                </a:solidFill>
                <a:latin typeface="Consolas" pitchFamily="34" charset="0"/>
                <a:ea typeface="Consolas" pitchFamily="34" charset="-122"/>
                <a:cs typeface="Consolas" pitchFamily="34" charset="-120"/>
              </a:rPr>
              <a:t>3</a:t>
            </a:r>
            <a:r>
              <a:rPr lang="en-US" sz="880" dirty="0">
                <a:solidFill>
                  <a:srgbClr val="D6E6EF"/>
                </a:solidFill>
                <a:latin typeface="Consolas" pitchFamily="34" charset="0"/>
                <a:ea typeface="Consolas" pitchFamily="34" charset="-122"/>
                <a:cs typeface="Consolas" pitchFamily="34" charset="-120"/>
              </a:rPr>
              <a:t>], [</a:t>
            </a:r>
            <a:r>
              <a:rPr lang="en-US" sz="880" dirty="0">
                <a:solidFill>
                  <a:srgbClr val="F08A7C"/>
                </a:solidFill>
                <a:latin typeface="Consolas" pitchFamily="34" charset="0"/>
                <a:ea typeface="Consolas" pitchFamily="34" charset="-122"/>
                <a:cs typeface="Consolas" pitchFamily="34" charset="-120"/>
              </a:rPr>
              <a:t>4</a:t>
            </a:r>
            <a:r>
              <a:rPr lang="en-US" sz="880" dirty="0">
                <a:solidFill>
                  <a:srgbClr val="D6E6EF"/>
                </a:solidFill>
                <a:latin typeface="Consolas" pitchFamily="34" charset="0"/>
                <a:ea typeface="Consolas" pitchFamily="34" charset="-122"/>
                <a:cs typeface="Consolas" pitchFamily="34" charset="-120"/>
              </a:rPr>
              <a:t>, </a:t>
            </a:r>
            <a:r>
              <a:rPr lang="en-US" sz="880" dirty="0">
                <a:solidFill>
                  <a:srgbClr val="F08A7C"/>
                </a:solidFill>
                <a:latin typeface="Consolas" pitchFamily="34" charset="0"/>
                <a:ea typeface="Consolas" pitchFamily="34" charset="-122"/>
                <a:cs typeface="Consolas" pitchFamily="34" charset="-120"/>
              </a:rPr>
              <a:t>5</a:t>
            </a:r>
            <a:r>
              <a:rPr lang="en-US" sz="880" dirty="0">
                <a:solidFill>
                  <a:srgbClr val="D6E6EF"/>
                </a:solidFill>
                <a:latin typeface="Consolas" pitchFamily="34" charset="0"/>
                <a:ea typeface="Consolas" pitchFamily="34" charset="-122"/>
                <a:cs typeface="Consolas" pitchFamily="34" charset="-120"/>
              </a:rPr>
              <a:t>, </a:t>
            </a:r>
            <a:r>
              <a:rPr lang="en-US" sz="880" dirty="0">
                <a:solidFill>
                  <a:srgbClr val="F08A7C"/>
                </a:solidFill>
                <a:latin typeface="Consolas" pitchFamily="34" charset="0"/>
                <a:ea typeface="Consolas" pitchFamily="34" charset="-122"/>
                <a:cs typeface="Consolas" pitchFamily="34" charset="-120"/>
              </a:rPr>
              <a:t>6</a:t>
            </a:r>
            <a:r>
              <a:rPr lang="en-US" sz="880" dirty="0">
                <a:solidFill>
                  <a:srgbClr val="D6E6EF"/>
                </a:solidFill>
                <a:latin typeface="Consolas" pitchFamily="34" charset="0"/>
                <a:ea typeface="Consolas" pitchFamily="34" charset="-122"/>
                <a:cs typeface="Consolas" pitchFamily="34" charset="-120"/>
              </a:rPr>
              <a:t>]])</a:t>
            </a:r>
            <a:endParaRPr lang="en-US" sz="880" dirty="0"/>
          </a:p>
          <a:p>
            <a:pPr marL="0" indent="0">
              <a:lnSpc>
                <a:spcPct val="102000"/>
              </a:lnSpc>
              <a:buNone/>
            </a:pPr>
            <a:r>
              <a:rPr lang="en-US" sz="880" dirty="0">
                <a:solidFill>
                  <a:srgbClr val="6FD0E4"/>
                </a:solidFill>
                <a:latin typeface="Consolas" pitchFamily="34" charset="0"/>
                <a:ea typeface="Consolas" pitchFamily="34" charset="-122"/>
                <a:cs typeface="Consolas" pitchFamily="34" charset="-120"/>
              </a:rPr>
              <a:t>print</a:t>
            </a:r>
            <a:r>
              <a:rPr lang="en-US" sz="880" dirty="0">
                <a:solidFill>
                  <a:srgbClr val="D6E6EF"/>
                </a:solidFill>
                <a:latin typeface="Consolas" pitchFamily="34" charset="0"/>
                <a:ea typeface="Consolas" pitchFamily="34" charset="-122"/>
                <a:cs typeface="Consolas" pitchFamily="34" charset="-120"/>
              </a:rPr>
              <a:t>(p + </a:t>
            </a:r>
            <a:r>
              <a:rPr lang="en-US" sz="880" dirty="0">
                <a:solidFill>
                  <a:srgbClr val="8AD9C0"/>
                </a:solidFill>
                <a:latin typeface="Consolas" pitchFamily="34" charset="0"/>
                <a:ea typeface="Consolas" pitchFamily="34" charset="-122"/>
                <a:cs typeface="Consolas" pitchFamily="34" charset="-120"/>
              </a:rPr>
              <a:t>np</a:t>
            </a:r>
            <a:r>
              <a:rPr lang="en-US" sz="880" dirty="0">
                <a:solidFill>
                  <a:srgbClr val="D6E6EF"/>
                </a:solidFill>
                <a:latin typeface="Consolas" pitchFamily="34" charset="0"/>
                <a:ea typeface="Consolas" pitchFamily="34" charset="-122"/>
                <a:cs typeface="Consolas" pitchFamily="34" charset="-120"/>
              </a:rPr>
              <a:t>.array([</a:t>
            </a:r>
            <a:r>
              <a:rPr lang="en-US" sz="880" dirty="0">
                <a:solidFill>
                  <a:srgbClr val="F08A7C"/>
                </a:solidFill>
                <a:latin typeface="Consolas" pitchFamily="34" charset="0"/>
                <a:ea typeface="Consolas" pitchFamily="34" charset="-122"/>
                <a:cs typeface="Consolas" pitchFamily="34" charset="-120"/>
              </a:rPr>
              <a:t>10</a:t>
            </a:r>
            <a:r>
              <a:rPr lang="en-US" sz="880" dirty="0">
                <a:solidFill>
                  <a:srgbClr val="D6E6EF"/>
                </a:solidFill>
                <a:latin typeface="Consolas" pitchFamily="34" charset="0"/>
                <a:ea typeface="Consolas" pitchFamily="34" charset="-122"/>
                <a:cs typeface="Consolas" pitchFamily="34" charset="-120"/>
              </a:rPr>
              <a:t>, </a:t>
            </a:r>
            <a:r>
              <a:rPr lang="en-US" sz="880" dirty="0">
                <a:solidFill>
                  <a:srgbClr val="F08A7C"/>
                </a:solidFill>
                <a:latin typeface="Consolas" pitchFamily="34" charset="0"/>
                <a:ea typeface="Consolas" pitchFamily="34" charset="-122"/>
                <a:cs typeface="Consolas" pitchFamily="34" charset="-120"/>
              </a:rPr>
              <a:t>20</a:t>
            </a:r>
            <a:r>
              <a:rPr lang="en-US" sz="880" dirty="0">
                <a:solidFill>
                  <a:srgbClr val="D6E6EF"/>
                </a:solidFill>
                <a:latin typeface="Consolas" pitchFamily="34" charset="0"/>
                <a:ea typeface="Consolas" pitchFamily="34" charset="-122"/>
                <a:cs typeface="Consolas" pitchFamily="34" charset="-120"/>
              </a:rPr>
              <a:t>, </a:t>
            </a:r>
            <a:r>
              <a:rPr lang="en-US" sz="880" dirty="0">
                <a:solidFill>
                  <a:srgbClr val="F08A7C"/>
                </a:solidFill>
                <a:latin typeface="Consolas" pitchFamily="34" charset="0"/>
                <a:ea typeface="Consolas" pitchFamily="34" charset="-122"/>
                <a:cs typeface="Consolas" pitchFamily="34" charset="-120"/>
              </a:rPr>
              <a:t>30</a:t>
            </a:r>
            <a:r>
              <a:rPr lang="en-US" sz="880" dirty="0">
                <a:solidFill>
                  <a:srgbClr val="D6E6EF"/>
                </a:solidFill>
                <a:latin typeface="Consolas" pitchFamily="34" charset="0"/>
                <a:ea typeface="Consolas" pitchFamily="34" charset="-122"/>
                <a:cs typeface="Consolas" pitchFamily="34" charset="-120"/>
              </a:rPr>
              <a:t>]))</a:t>
            </a:r>
            <a:endParaRPr lang="en-US" sz="880" dirty="0"/>
          </a:p>
          <a:p>
            <a:pPr marL="0" indent="0">
              <a:lnSpc>
                <a:spcPct val="102000"/>
              </a:lnSpc>
              <a:buNone/>
            </a:pPr>
            <a:r>
              <a:rPr lang="en-US" sz="880" dirty="0">
                <a:solidFill>
                  <a:srgbClr val="6FD0E4"/>
                </a:solidFill>
                <a:latin typeface="Consolas" pitchFamily="34" charset="0"/>
                <a:ea typeface="Consolas" pitchFamily="34" charset="-122"/>
                <a:cs typeface="Consolas" pitchFamily="34" charset="-120"/>
              </a:rPr>
              <a:t>print</a:t>
            </a:r>
            <a:r>
              <a:rPr lang="en-US" sz="880" dirty="0">
                <a:solidFill>
                  <a:srgbClr val="D6E6EF"/>
                </a:solidFill>
                <a:latin typeface="Consolas" pitchFamily="34" charset="0"/>
                <a:ea typeface="Consolas" pitchFamily="34" charset="-122"/>
                <a:cs typeface="Consolas" pitchFamily="34" charset="-120"/>
              </a:rPr>
              <a:t>(p + </a:t>
            </a:r>
            <a:r>
              <a:rPr lang="en-US" sz="880" dirty="0">
                <a:solidFill>
                  <a:srgbClr val="8AD9C0"/>
                </a:solidFill>
                <a:latin typeface="Consolas" pitchFamily="34" charset="0"/>
                <a:ea typeface="Consolas" pitchFamily="34" charset="-122"/>
                <a:cs typeface="Consolas" pitchFamily="34" charset="-120"/>
              </a:rPr>
              <a:t>np</a:t>
            </a:r>
            <a:r>
              <a:rPr lang="en-US" sz="880" dirty="0">
                <a:solidFill>
                  <a:srgbClr val="D6E6EF"/>
                </a:solidFill>
                <a:latin typeface="Consolas" pitchFamily="34" charset="0"/>
                <a:ea typeface="Consolas" pitchFamily="34" charset="-122"/>
                <a:cs typeface="Consolas" pitchFamily="34" charset="-120"/>
              </a:rPr>
              <a:t>.array([[</a:t>
            </a:r>
            <a:r>
              <a:rPr lang="en-US" sz="880" dirty="0">
                <a:solidFill>
                  <a:srgbClr val="F08A7C"/>
                </a:solidFill>
                <a:latin typeface="Consolas" pitchFamily="34" charset="0"/>
                <a:ea typeface="Consolas" pitchFamily="34" charset="-122"/>
                <a:cs typeface="Consolas" pitchFamily="34" charset="-120"/>
              </a:rPr>
              <a:t>10</a:t>
            </a:r>
            <a:r>
              <a:rPr lang="en-US" sz="880" dirty="0">
                <a:solidFill>
                  <a:srgbClr val="D6E6EF"/>
                </a:solidFill>
                <a:latin typeface="Consolas" pitchFamily="34" charset="0"/>
                <a:ea typeface="Consolas" pitchFamily="34" charset="-122"/>
                <a:cs typeface="Consolas" pitchFamily="34" charset="-120"/>
              </a:rPr>
              <a:t>], [</a:t>
            </a:r>
            <a:r>
              <a:rPr lang="en-US" sz="880" dirty="0">
                <a:solidFill>
                  <a:srgbClr val="F08A7C"/>
                </a:solidFill>
                <a:latin typeface="Consolas" pitchFamily="34" charset="0"/>
                <a:ea typeface="Consolas" pitchFamily="34" charset="-122"/>
                <a:cs typeface="Consolas" pitchFamily="34" charset="-120"/>
              </a:rPr>
              <a:t>20</a:t>
            </a:r>
            <a:r>
              <a:rPr lang="en-US" sz="880" dirty="0">
                <a:solidFill>
                  <a:srgbClr val="D6E6EF"/>
                </a:solidFill>
                <a:latin typeface="Consolas" pitchFamily="34" charset="0"/>
                <a:ea typeface="Consolas" pitchFamily="34" charset="-122"/>
                <a:cs typeface="Consolas" pitchFamily="34" charset="-120"/>
              </a:rPr>
              <a:t>]]))</a:t>
            </a:r>
            <a:endParaRPr lang="en-US" sz="880" dirty="0"/>
          </a:p>
          <a:p>
            <a:pPr marL="0" indent="0">
              <a:lnSpc>
                <a:spcPct val="102000"/>
              </a:lnSpc>
              <a:buNone/>
            </a:pPr>
            <a:r>
              <a:rPr lang="en-US" sz="880" dirty="0">
                <a:solidFill>
                  <a:srgbClr val="D6E6EF"/>
                </a:solidFill>
                <a:latin typeface="Consolas" pitchFamily="34" charset="0"/>
                <a:ea typeface="Consolas" pitchFamily="34" charset="-122"/>
                <a:cs typeface="Consolas" pitchFamily="34" charset="-120"/>
              </a:rPr>
              <a:t> </a:t>
            </a:r>
            <a:endParaRPr lang="en-US" sz="880" dirty="0"/>
          </a:p>
          <a:p>
            <a:pPr marL="0" indent="0">
              <a:lnSpc>
                <a:spcPct val="102000"/>
              </a:lnSpc>
              <a:buNone/>
            </a:pPr>
            <a:r>
              <a:rPr lang="en-US" sz="880" dirty="0">
                <a:solidFill>
                  <a:srgbClr val="6FD0E4"/>
                </a:solidFill>
                <a:latin typeface="Consolas" pitchFamily="34" charset="0"/>
                <a:ea typeface="Consolas" pitchFamily="34" charset="-122"/>
                <a:cs typeface="Consolas" pitchFamily="34" charset="-120"/>
              </a:rPr>
              <a:t>try</a:t>
            </a:r>
            <a:r>
              <a:rPr lang="en-US" sz="880" dirty="0">
                <a:solidFill>
                  <a:srgbClr val="D6E6EF"/>
                </a:solidFill>
                <a:latin typeface="Consolas" pitchFamily="34" charset="0"/>
                <a:ea typeface="Consolas" pitchFamily="34" charset="-122"/>
                <a:cs typeface="Consolas" pitchFamily="34" charset="-120"/>
              </a:rPr>
              <a:t>:</a:t>
            </a:r>
            <a:endParaRPr lang="en-US" sz="880" dirty="0"/>
          </a:p>
          <a:p>
            <a:pPr marL="0" indent="0">
              <a:lnSpc>
                <a:spcPct val="102000"/>
              </a:lnSpc>
              <a:buNone/>
            </a:pPr>
            <a:r>
              <a:rPr lang="en-US" sz="880" dirty="0">
                <a:solidFill>
                  <a:srgbClr val="D6E6EF"/>
                </a:solidFill>
                <a:latin typeface="Consolas" pitchFamily="34" charset="0"/>
                <a:ea typeface="Consolas" pitchFamily="34" charset="-122"/>
                <a:cs typeface="Consolas" pitchFamily="34" charset="-120"/>
              </a:rPr>
              <a:t>    </a:t>
            </a:r>
            <a:r>
              <a:rPr lang="en-US" sz="880" dirty="0">
                <a:solidFill>
                  <a:srgbClr val="6FD0E4"/>
                </a:solidFill>
                <a:latin typeface="Consolas" pitchFamily="34" charset="0"/>
                <a:ea typeface="Consolas" pitchFamily="34" charset="-122"/>
                <a:cs typeface="Consolas" pitchFamily="34" charset="-120"/>
              </a:rPr>
              <a:t>print</a:t>
            </a:r>
            <a:r>
              <a:rPr lang="en-US" sz="880" dirty="0">
                <a:solidFill>
                  <a:srgbClr val="D6E6EF"/>
                </a:solidFill>
                <a:latin typeface="Consolas" pitchFamily="34" charset="0"/>
                <a:ea typeface="Consolas" pitchFamily="34" charset="-122"/>
                <a:cs typeface="Consolas" pitchFamily="34" charset="-120"/>
              </a:rPr>
              <a:t>(p + </a:t>
            </a:r>
            <a:r>
              <a:rPr lang="en-US" sz="880" dirty="0">
                <a:solidFill>
                  <a:srgbClr val="8AD9C0"/>
                </a:solidFill>
                <a:latin typeface="Consolas" pitchFamily="34" charset="0"/>
                <a:ea typeface="Consolas" pitchFamily="34" charset="-122"/>
                <a:cs typeface="Consolas" pitchFamily="34" charset="-120"/>
              </a:rPr>
              <a:t>np</a:t>
            </a:r>
            <a:r>
              <a:rPr lang="en-US" sz="880" dirty="0">
                <a:solidFill>
                  <a:srgbClr val="D6E6EF"/>
                </a:solidFill>
                <a:latin typeface="Consolas" pitchFamily="34" charset="0"/>
                <a:ea typeface="Consolas" pitchFamily="34" charset="-122"/>
                <a:cs typeface="Consolas" pitchFamily="34" charset="-120"/>
              </a:rPr>
              <a:t>.array([</a:t>
            </a:r>
            <a:r>
              <a:rPr lang="en-US" sz="880" dirty="0">
                <a:solidFill>
                  <a:srgbClr val="F08A7C"/>
                </a:solidFill>
                <a:latin typeface="Consolas" pitchFamily="34" charset="0"/>
                <a:ea typeface="Consolas" pitchFamily="34" charset="-122"/>
                <a:cs typeface="Consolas" pitchFamily="34" charset="-120"/>
              </a:rPr>
              <a:t>10</a:t>
            </a:r>
            <a:r>
              <a:rPr lang="en-US" sz="880" dirty="0">
                <a:solidFill>
                  <a:srgbClr val="D6E6EF"/>
                </a:solidFill>
                <a:latin typeface="Consolas" pitchFamily="34" charset="0"/>
                <a:ea typeface="Consolas" pitchFamily="34" charset="-122"/>
                <a:cs typeface="Consolas" pitchFamily="34" charset="-120"/>
              </a:rPr>
              <a:t>, </a:t>
            </a:r>
            <a:r>
              <a:rPr lang="en-US" sz="880" dirty="0">
                <a:solidFill>
                  <a:srgbClr val="F08A7C"/>
                </a:solidFill>
                <a:latin typeface="Consolas" pitchFamily="34" charset="0"/>
                <a:ea typeface="Consolas" pitchFamily="34" charset="-122"/>
                <a:cs typeface="Consolas" pitchFamily="34" charset="-120"/>
              </a:rPr>
              <a:t>20</a:t>
            </a:r>
            <a:r>
              <a:rPr lang="en-US" sz="880" dirty="0">
                <a:solidFill>
                  <a:srgbClr val="D6E6EF"/>
                </a:solidFill>
                <a:latin typeface="Consolas" pitchFamily="34" charset="0"/>
                <a:ea typeface="Consolas" pitchFamily="34" charset="-122"/>
                <a:cs typeface="Consolas" pitchFamily="34" charset="-120"/>
              </a:rPr>
              <a:t>]))</a:t>
            </a:r>
            <a:endParaRPr lang="en-US" sz="880" dirty="0"/>
          </a:p>
          <a:p>
            <a:pPr marL="0" indent="0">
              <a:lnSpc>
                <a:spcPct val="102000"/>
              </a:lnSpc>
              <a:buNone/>
            </a:pPr>
            <a:r>
              <a:rPr lang="en-US" sz="880" dirty="0">
                <a:solidFill>
                  <a:srgbClr val="6FD0E4"/>
                </a:solidFill>
                <a:latin typeface="Consolas" pitchFamily="34" charset="0"/>
                <a:ea typeface="Consolas" pitchFamily="34" charset="-122"/>
                <a:cs typeface="Consolas" pitchFamily="34" charset="-120"/>
              </a:rPr>
              <a:t>except</a:t>
            </a:r>
            <a:r>
              <a:rPr lang="en-US" sz="880" dirty="0">
                <a:solidFill>
                  <a:srgbClr val="D6E6EF"/>
                </a:solidFill>
                <a:latin typeface="Consolas" pitchFamily="34" charset="0"/>
                <a:ea typeface="Consolas" pitchFamily="34" charset="-122"/>
                <a:cs typeface="Consolas" pitchFamily="34" charset="-120"/>
              </a:rPr>
              <a:t> ValueError </a:t>
            </a:r>
            <a:r>
              <a:rPr lang="en-US" sz="880" dirty="0">
                <a:solidFill>
                  <a:srgbClr val="6FD0E4"/>
                </a:solidFill>
                <a:latin typeface="Consolas" pitchFamily="34" charset="0"/>
                <a:ea typeface="Consolas" pitchFamily="34" charset="-122"/>
                <a:cs typeface="Consolas" pitchFamily="34" charset="-120"/>
              </a:rPr>
              <a:t>as</a:t>
            </a:r>
            <a:r>
              <a:rPr lang="en-US" sz="880" dirty="0">
                <a:solidFill>
                  <a:srgbClr val="D6E6EF"/>
                </a:solidFill>
                <a:latin typeface="Consolas" pitchFamily="34" charset="0"/>
                <a:ea typeface="Consolas" pitchFamily="34" charset="-122"/>
                <a:cs typeface="Consolas" pitchFamily="34" charset="-120"/>
              </a:rPr>
              <a:t> e:</a:t>
            </a:r>
            <a:endParaRPr lang="en-US" sz="880" dirty="0"/>
          </a:p>
          <a:p>
            <a:pPr marL="0" indent="0">
              <a:lnSpc>
                <a:spcPct val="102000"/>
              </a:lnSpc>
              <a:buNone/>
            </a:pPr>
            <a:r>
              <a:rPr lang="en-US" sz="880" dirty="0">
                <a:solidFill>
                  <a:srgbClr val="D6E6EF"/>
                </a:solidFill>
                <a:latin typeface="Consolas" pitchFamily="34" charset="0"/>
                <a:ea typeface="Consolas" pitchFamily="34" charset="-122"/>
                <a:cs typeface="Consolas" pitchFamily="34" charset="-120"/>
              </a:rPr>
              <a:t>    </a:t>
            </a:r>
            <a:r>
              <a:rPr lang="en-US" sz="880" dirty="0">
                <a:solidFill>
                  <a:srgbClr val="6FD0E4"/>
                </a:solidFill>
                <a:latin typeface="Consolas" pitchFamily="34" charset="0"/>
                <a:ea typeface="Consolas" pitchFamily="34" charset="-122"/>
                <a:cs typeface="Consolas" pitchFamily="34" charset="-120"/>
              </a:rPr>
              <a:t>print</a:t>
            </a:r>
            <a:r>
              <a:rPr lang="en-US" sz="880" dirty="0">
                <a:solidFill>
                  <a:srgbClr val="D6E6EF"/>
                </a:solidFill>
                <a:latin typeface="Consolas" pitchFamily="34" charset="0"/>
                <a:ea typeface="Consolas" pitchFamily="34" charset="-122"/>
                <a:cs typeface="Consolas" pitchFamily="34" charset="-120"/>
              </a:rPr>
              <a:t>(type(e).__name__, e)</a:t>
            </a:r>
            <a:endParaRPr lang="en-US" sz="880" dirty="0"/>
          </a:p>
        </p:txBody>
      </p:sp>
      <p:sp>
        <p:nvSpPr>
          <p:cNvPr id="28" name="Shape 26"/>
          <p:cNvSpPr/>
          <p:nvPr/>
        </p:nvSpPr>
        <p:spPr>
          <a:xfrm>
            <a:off x="7680960" y="3931920"/>
            <a:ext cx="3959352" cy="1828800"/>
          </a:xfrm>
          <a:prstGeom prst="roundRect">
            <a:avLst>
              <a:gd name="adj" fmla="val 2500"/>
            </a:avLst>
          </a:prstGeom>
          <a:solidFill>
            <a:srgbClr val="FFFFFF"/>
          </a:solidFill>
          <a:ln w="9525">
            <a:solidFill>
              <a:srgbClr val="CFE5EE"/>
            </a:solidFill>
            <a:prstDash val="solid"/>
          </a:ln>
        </p:spPr>
      </p:sp>
      <p:sp>
        <p:nvSpPr>
          <p:cNvPr id="29" name="Text 27"/>
          <p:cNvSpPr/>
          <p:nvPr/>
        </p:nvSpPr>
        <p:spPr>
          <a:xfrm>
            <a:off x="7827264" y="4023360"/>
            <a:ext cx="3685032" cy="164592"/>
          </a:xfrm>
          <a:prstGeom prst="rect">
            <a:avLst/>
          </a:prstGeom>
          <a:noFill/>
          <a:ln/>
        </p:spPr>
        <p:txBody>
          <a:bodyPr wrap="square" lIns="0" tIns="0" rIns="0" bIns="0" rtlCol="0" anchor="t"/>
          <a:lstStyle/>
          <a:p>
            <a:pPr marL="0" indent="0">
              <a:buNone/>
            </a:pPr>
            <a:r>
              <a:rPr lang="en-US" sz="800" b="1" kern="0" spc="120" dirty="0">
                <a:solidFill>
                  <a:srgbClr val="2D8C6F"/>
                </a:solidFill>
                <a:latin typeface="Segoe UI" pitchFamily="34" charset="0"/>
                <a:ea typeface="Segoe UI" pitchFamily="34" charset="-122"/>
                <a:cs typeface="Segoe UI" pitchFamily="34" charset="-120"/>
              </a:rPr>
              <a:t>KẾT QUẢ</a:t>
            </a:r>
            <a:endParaRPr lang="en-US" sz="800" dirty="0"/>
          </a:p>
        </p:txBody>
      </p:sp>
      <p:sp>
        <p:nvSpPr>
          <p:cNvPr id="30" name="Text 28"/>
          <p:cNvSpPr/>
          <p:nvPr/>
        </p:nvSpPr>
        <p:spPr>
          <a:xfrm>
            <a:off x="7827264" y="4242816"/>
            <a:ext cx="3685032" cy="1444752"/>
          </a:xfrm>
          <a:prstGeom prst="rect">
            <a:avLst/>
          </a:prstGeom>
          <a:noFill/>
          <a:ln/>
        </p:spPr>
        <p:txBody>
          <a:bodyPr wrap="square" lIns="0" tIns="0" rIns="0" bIns="0" rtlCol="0" anchor="t"/>
          <a:lstStyle/>
          <a:p>
            <a:pPr marL="0" indent="0">
              <a:lnSpc>
                <a:spcPct val="102000"/>
              </a:lnSpc>
              <a:buNone/>
            </a:pPr>
            <a:r>
              <a:rPr lang="en-US" sz="820" dirty="0">
                <a:solidFill>
                  <a:srgbClr val="062A3A"/>
                </a:solidFill>
                <a:latin typeface="Consolas" pitchFamily="34" charset="0"/>
                <a:ea typeface="Consolas" pitchFamily="34" charset="-122"/>
                <a:cs typeface="Consolas" pitchFamily="34" charset="-120"/>
              </a:rPr>
              <a:t>[[11 22 33]</a:t>
            </a:r>
            <a:endParaRPr lang="en-US" sz="820" dirty="0"/>
          </a:p>
          <a:p>
            <a:pPr marL="0" indent="0">
              <a:lnSpc>
                <a:spcPct val="102000"/>
              </a:lnSpc>
              <a:buNone/>
            </a:pPr>
            <a:r>
              <a:rPr lang="en-US" sz="820" dirty="0">
                <a:solidFill>
                  <a:srgbClr val="062A3A"/>
                </a:solidFill>
                <a:latin typeface="Consolas" pitchFamily="34" charset="0"/>
                <a:ea typeface="Consolas" pitchFamily="34" charset="-122"/>
                <a:cs typeface="Consolas" pitchFamily="34" charset="-120"/>
              </a:rPr>
              <a:t> [14 25 36]]</a:t>
            </a:r>
            <a:endParaRPr lang="en-US" sz="820" dirty="0"/>
          </a:p>
          <a:p>
            <a:pPr marL="0" indent="0">
              <a:lnSpc>
                <a:spcPct val="102000"/>
              </a:lnSpc>
              <a:buNone/>
            </a:pPr>
            <a:r>
              <a:rPr lang="en-US" sz="820" dirty="0">
                <a:solidFill>
                  <a:srgbClr val="062A3A"/>
                </a:solidFill>
                <a:latin typeface="Consolas" pitchFamily="34" charset="0"/>
                <a:ea typeface="Consolas" pitchFamily="34" charset="-122"/>
                <a:cs typeface="Consolas" pitchFamily="34" charset="-120"/>
              </a:rPr>
              <a:t>[[11 12 13]</a:t>
            </a:r>
            <a:endParaRPr lang="en-US" sz="820" dirty="0"/>
          </a:p>
          <a:p>
            <a:pPr marL="0" indent="0">
              <a:lnSpc>
                <a:spcPct val="102000"/>
              </a:lnSpc>
              <a:buNone/>
            </a:pPr>
            <a:r>
              <a:rPr lang="en-US" sz="820" dirty="0">
                <a:solidFill>
                  <a:srgbClr val="062A3A"/>
                </a:solidFill>
                <a:latin typeface="Consolas" pitchFamily="34" charset="0"/>
                <a:ea typeface="Consolas" pitchFamily="34" charset="-122"/>
                <a:cs typeface="Consolas" pitchFamily="34" charset="-120"/>
              </a:rPr>
              <a:t> [24 25 26]]</a:t>
            </a:r>
            <a:endParaRPr lang="en-US" sz="820" dirty="0"/>
          </a:p>
          <a:p>
            <a:pPr marL="0" indent="0">
              <a:lnSpc>
                <a:spcPct val="102000"/>
              </a:lnSpc>
              <a:buNone/>
            </a:pPr>
            <a:r>
              <a:rPr lang="en-US" sz="820" dirty="0">
                <a:solidFill>
                  <a:srgbClr val="062A3A"/>
                </a:solidFill>
                <a:latin typeface="Consolas" pitchFamily="34" charset="0"/>
                <a:ea typeface="Consolas" pitchFamily="34" charset="-122"/>
                <a:cs typeface="Consolas" pitchFamily="34" charset="-120"/>
              </a:rPr>
              <a:t>ValueError operands could not</a:t>
            </a:r>
            <a:endParaRPr lang="en-US" sz="820" dirty="0"/>
          </a:p>
          <a:p>
            <a:pPr marL="0" indent="0">
              <a:lnSpc>
                <a:spcPct val="102000"/>
              </a:lnSpc>
              <a:buNone/>
            </a:pPr>
            <a:r>
              <a:rPr lang="en-US" sz="820" dirty="0">
                <a:solidFill>
                  <a:srgbClr val="062A3A"/>
                </a:solidFill>
                <a:latin typeface="Consolas" pitchFamily="34" charset="0"/>
                <a:ea typeface="Consolas" pitchFamily="34" charset="-122"/>
                <a:cs typeface="Consolas" pitchFamily="34" charset="-120"/>
              </a:rPr>
              <a:t>be broadcast together with</a:t>
            </a:r>
            <a:endParaRPr lang="en-US" sz="820" dirty="0"/>
          </a:p>
          <a:p>
            <a:pPr marL="0" indent="0">
              <a:lnSpc>
                <a:spcPct val="102000"/>
              </a:lnSpc>
              <a:buNone/>
            </a:pPr>
            <a:r>
              <a:rPr lang="en-US" sz="820" dirty="0">
                <a:solidFill>
                  <a:srgbClr val="062A3A"/>
                </a:solidFill>
                <a:latin typeface="Consolas" pitchFamily="34" charset="0"/>
                <a:ea typeface="Consolas" pitchFamily="34" charset="-122"/>
                <a:cs typeface="Consolas" pitchFamily="34" charset="-120"/>
              </a:rPr>
              <a:t>shapes (2,3) (2,)</a:t>
            </a:r>
            <a:endParaRPr lang="en-US" sz="820" dirty="0"/>
          </a:p>
        </p:txBody>
      </p:sp>
      <p:sp>
        <p:nvSpPr>
          <p:cNvPr id="31" name="Text 29"/>
          <p:cNvSpPr/>
          <p:nvPr/>
        </p:nvSpPr>
        <p:spPr>
          <a:xfrm>
            <a:off x="548640" y="5897880"/>
            <a:ext cx="11064240" cy="274320"/>
          </a:xfrm>
          <a:prstGeom prst="rect">
            <a:avLst/>
          </a:prstGeom>
          <a:noFill/>
          <a:ln/>
        </p:spPr>
        <p:txBody>
          <a:bodyPr wrap="square" lIns="0" tIns="0" rIns="0" bIns="0" rtlCol="0" anchor="t"/>
          <a:lstStyle/>
          <a:p>
            <a:pPr marL="0" indent="0">
              <a:buNone/>
            </a:pPr>
            <a:r>
              <a:rPr lang="en-US" sz="950" i="1" dirty="0">
                <a:solidFill>
                  <a:srgbClr val="728694"/>
                </a:solidFill>
                <a:latin typeface="Segoe UI" pitchFamily="34" charset="0"/>
                <a:ea typeface="Segoe UI" pitchFamily="34" charset="-122"/>
                <a:cs typeface="Segoe UI" pitchFamily="34" charset="-120"/>
              </a:rPr>
              <a:t>Khi chiều cuối không khớp và không bên nào bằng 1, NumPy báo lỗi ngay — không tự “đoán” ý người viết.</a:t>
            </a:r>
            <a:endParaRPr lang="en-US" sz="950" dirty="0"/>
          </a:p>
        </p:txBody>
      </p:sp>
      <p:sp>
        <p:nvSpPr>
          <p:cNvPr id="32" name="Shape 30"/>
          <p:cNvSpPr/>
          <p:nvPr/>
        </p:nvSpPr>
        <p:spPr>
          <a:xfrm>
            <a:off x="548640" y="6391656"/>
            <a:ext cx="11091672" cy="9144"/>
          </a:xfrm>
          <a:prstGeom prst="rect">
            <a:avLst/>
          </a:prstGeom>
          <a:solidFill>
            <a:srgbClr val="D7E5EC"/>
          </a:solidFill>
          <a:ln w="12700">
            <a:solidFill>
              <a:srgbClr val="D7E5EC"/>
            </a:solidFill>
            <a:prstDash val="solid"/>
          </a:ln>
        </p:spPr>
      </p:sp>
      <p:sp>
        <p:nvSpPr>
          <p:cNvPr id="33" name="Text 31"/>
          <p:cNvSpPr/>
          <p:nvPr/>
        </p:nvSpPr>
        <p:spPr>
          <a:xfrm>
            <a:off x="548640" y="6473952"/>
            <a:ext cx="7772400" cy="182880"/>
          </a:xfrm>
          <a:prstGeom prst="rect">
            <a:avLst/>
          </a:prstGeom>
          <a:noFill/>
          <a:ln/>
        </p:spPr>
        <p:txBody>
          <a:bodyPr wrap="square" lIns="0" tIns="0" rIns="0" bIns="0" rtlCol="0" anchor="t"/>
          <a:lstStyle/>
          <a:p>
            <a:pPr marL="0" indent="0">
              <a:buNone/>
            </a:pPr>
            <a:r>
              <a:rPr lang="en-US" sz="850" dirty="0">
                <a:solidFill>
                  <a:srgbClr val="728694"/>
                </a:solidFill>
                <a:latin typeface="Segoe UI" pitchFamily="34" charset="0"/>
                <a:ea typeface="Segoe UI" pitchFamily="34" charset="-122"/>
                <a:cs typeface="Segoe UI" pitchFamily="34" charset="-120"/>
              </a:rPr>
              <a:t>Tìm hiểu thư viện NumPy trong Python</a:t>
            </a:r>
            <a:endParaRPr lang="en-US" sz="850" dirty="0"/>
          </a:p>
        </p:txBody>
      </p:sp>
      <p:sp>
        <p:nvSpPr>
          <p:cNvPr id="34" name="Text 32"/>
          <p:cNvSpPr/>
          <p:nvPr/>
        </p:nvSpPr>
        <p:spPr>
          <a:xfrm>
            <a:off x="10698480" y="6473952"/>
            <a:ext cx="941832" cy="182880"/>
          </a:xfrm>
          <a:prstGeom prst="rect">
            <a:avLst/>
          </a:prstGeom>
          <a:noFill/>
          <a:ln/>
        </p:spPr>
        <p:txBody>
          <a:bodyPr wrap="square" lIns="0" tIns="0" rIns="0" bIns="0" rtlCol="0" anchor="t"/>
          <a:lstStyle/>
          <a:p>
            <a:pPr marL="0" indent="0" algn="r">
              <a:buNone/>
            </a:pPr>
            <a:r>
              <a:rPr lang="en-US" sz="850" dirty="0">
                <a:solidFill>
                  <a:srgbClr val="728694"/>
                </a:solidFill>
                <a:latin typeface="Segoe UI" pitchFamily="34" charset="0"/>
                <a:ea typeface="Segoe UI" pitchFamily="34" charset="-122"/>
                <a:cs typeface="Segoe UI" pitchFamily="34" charset="-120"/>
              </a:rPr>
              <a:t>21 / 25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301752"/>
            <a:ext cx="10881360" cy="201168"/>
          </a:xfrm>
          <a:prstGeom prst="rect">
            <a:avLst/>
          </a:prstGeom>
          <a:noFill/>
          <a:ln/>
        </p:spPr>
        <p:txBody>
          <a:bodyPr wrap="square" lIns="0" tIns="0" rIns="0" bIns="0" rtlCol="0" anchor="t"/>
          <a:lstStyle/>
          <a:p>
            <a:pPr marL="0" indent="0">
              <a:buNone/>
            </a:pPr>
            <a:r>
              <a:rPr lang="en-US" sz="950" b="1" kern="0" spc="160" dirty="0">
                <a:solidFill>
                  <a:srgbClr val="1B8EA8"/>
                </a:solidFill>
                <a:latin typeface="Segoe UI" pitchFamily="34" charset="0"/>
                <a:ea typeface="Segoe UI" pitchFamily="34" charset="-122"/>
                <a:cs typeface="Segoe UI" pitchFamily="34" charset="-120"/>
              </a:rPr>
              <a:t>06 · THỰC HÀNH</a:t>
            </a:r>
            <a:endParaRPr lang="en-US" sz="950" dirty="0"/>
          </a:p>
        </p:txBody>
      </p:sp>
      <p:sp>
        <p:nvSpPr>
          <p:cNvPr id="3" name="Text 1"/>
          <p:cNvSpPr/>
          <p:nvPr/>
        </p:nvSpPr>
        <p:spPr>
          <a:xfrm>
            <a:off x="548640" y="502920"/>
            <a:ext cx="10881360" cy="640080"/>
          </a:xfrm>
          <a:prstGeom prst="rect">
            <a:avLst/>
          </a:prstGeom>
          <a:noFill/>
          <a:ln/>
        </p:spPr>
        <p:txBody>
          <a:bodyPr wrap="square" lIns="0" tIns="0" rIns="0" bIns="0" rtlCol="0" anchor="ctr"/>
          <a:lstStyle/>
          <a:p>
            <a:pPr marL="0" indent="0">
              <a:buNone/>
            </a:pPr>
            <a:r>
              <a:rPr lang="en-US" sz="2800" b="1" dirty="0">
                <a:solidFill>
                  <a:srgbClr val="062A3A"/>
                </a:solidFill>
                <a:latin typeface="Segoe UI" pitchFamily="34" charset="0"/>
                <a:ea typeface="Segoe UI" pitchFamily="34" charset="-122"/>
                <a:cs typeface="Segoe UI" pitchFamily="34" charset="-120"/>
              </a:rPr>
              <a:t>Ví dụ 1 — Thống kê điểm kiểm tra</a:t>
            </a:r>
            <a:endParaRPr lang="en-US" sz="2800" dirty="0"/>
          </a:p>
        </p:txBody>
      </p:sp>
      <p:sp>
        <p:nvSpPr>
          <p:cNvPr id="4" name="Shape 2"/>
          <p:cNvSpPr/>
          <p:nvPr/>
        </p:nvSpPr>
        <p:spPr>
          <a:xfrm>
            <a:off x="548640" y="1225296"/>
            <a:ext cx="868680" cy="41148"/>
          </a:xfrm>
          <a:prstGeom prst="rect">
            <a:avLst/>
          </a:prstGeom>
          <a:solidFill>
            <a:srgbClr val="1B8EA8"/>
          </a:solidFill>
          <a:ln w="12700">
            <a:solidFill>
              <a:srgbClr val="1B8EA8"/>
            </a:solidFill>
            <a:prstDash val="solid"/>
          </a:ln>
        </p:spPr>
      </p:sp>
      <p:sp>
        <p:nvSpPr>
          <p:cNvPr id="5" name="Text 3"/>
          <p:cNvSpPr/>
          <p:nvPr/>
        </p:nvSpPr>
        <p:spPr>
          <a:xfrm>
            <a:off x="548640" y="1389888"/>
            <a:ext cx="11064240" cy="457200"/>
          </a:xfrm>
          <a:prstGeom prst="rect">
            <a:avLst/>
          </a:prstGeom>
          <a:noFill/>
          <a:ln/>
        </p:spPr>
        <p:txBody>
          <a:bodyPr wrap="square" lIns="0" tIns="0" rIns="0" bIns="0" rtlCol="0" anchor="t"/>
          <a:lstStyle/>
          <a:p>
            <a:pPr marL="0" indent="0">
              <a:lnSpc>
                <a:spcPct val="110000"/>
              </a:lnSpc>
              <a:buNone/>
            </a:pPr>
            <a:r>
              <a:rPr lang="en-US" sz="1150" dirty="0">
                <a:solidFill>
                  <a:srgbClr val="415A6B"/>
                </a:solidFill>
                <a:latin typeface="Segoe UI" pitchFamily="34" charset="0"/>
                <a:ea typeface="Segoe UI" pitchFamily="34" charset="-122"/>
                <a:cs typeface="Segoe UI" pitchFamily="34" charset="-120"/>
              </a:rPr>
              <a:t>5 bài kiểm tra: 8.0, 7.5, 9.0, 6.5, 8.5. Tính trung bình, cao nhất, thấp nhất, độ lệch chuẩn; đếm bài đạt từ 8.0; cộng 0.5 điểm thưởng.</a:t>
            </a:r>
            <a:endParaRPr lang="en-US" sz="1150" dirty="0"/>
          </a:p>
        </p:txBody>
      </p:sp>
      <p:sp>
        <p:nvSpPr>
          <p:cNvPr id="6" name="Shape 4"/>
          <p:cNvSpPr/>
          <p:nvPr/>
        </p:nvSpPr>
        <p:spPr>
          <a:xfrm>
            <a:off x="548640" y="1920240"/>
            <a:ext cx="5074920" cy="2606040"/>
          </a:xfrm>
          <a:prstGeom prst="roundRect">
            <a:avLst>
              <a:gd name="adj" fmla="val 1754"/>
            </a:avLst>
          </a:prstGeom>
          <a:solidFill>
            <a:srgbClr val="0B2230"/>
          </a:solidFill>
          <a:ln w="9525">
            <a:solidFill>
              <a:srgbClr val="163B4C"/>
            </a:solidFill>
            <a:prstDash val="solid"/>
          </a:ln>
        </p:spPr>
      </p:sp>
      <p:sp>
        <p:nvSpPr>
          <p:cNvPr id="7" name="Shape 5"/>
          <p:cNvSpPr/>
          <p:nvPr/>
        </p:nvSpPr>
        <p:spPr>
          <a:xfrm>
            <a:off x="548640" y="1920240"/>
            <a:ext cx="5074920" cy="265176"/>
          </a:xfrm>
          <a:prstGeom prst="rect">
            <a:avLst/>
          </a:prstGeom>
          <a:solidFill>
            <a:srgbClr val="103445"/>
          </a:solidFill>
          <a:ln w="12700">
            <a:solidFill>
              <a:srgbClr val="103445"/>
            </a:solidFill>
            <a:prstDash val="solid"/>
          </a:ln>
        </p:spPr>
      </p:sp>
      <p:sp>
        <p:nvSpPr>
          <p:cNvPr id="8" name="Text 6"/>
          <p:cNvSpPr/>
          <p:nvPr/>
        </p:nvSpPr>
        <p:spPr>
          <a:xfrm>
            <a:off x="694944" y="1970532"/>
            <a:ext cx="4160520" cy="182880"/>
          </a:xfrm>
          <a:prstGeom prst="rect">
            <a:avLst/>
          </a:prstGeom>
          <a:noFill/>
          <a:ln/>
        </p:spPr>
        <p:txBody>
          <a:bodyPr wrap="square" lIns="0" tIns="0" rIns="0" bIns="0" rtlCol="0" anchor="t"/>
          <a:lstStyle/>
          <a:p>
            <a:pPr marL="0" indent="0">
              <a:buNone/>
            </a:pPr>
            <a:r>
              <a:rPr lang="en-US" sz="850" dirty="0">
                <a:solidFill>
                  <a:srgbClr val="8FB6C8"/>
                </a:solidFill>
                <a:latin typeface="Consolas" pitchFamily="34" charset="0"/>
                <a:ea typeface="Consolas" pitchFamily="34" charset="-122"/>
                <a:cs typeface="Consolas" pitchFamily="34" charset="-120"/>
              </a:rPr>
              <a:t>python</a:t>
            </a:r>
            <a:endParaRPr lang="en-US" sz="850" dirty="0"/>
          </a:p>
        </p:txBody>
      </p:sp>
      <p:sp>
        <p:nvSpPr>
          <p:cNvPr id="9" name="Shape 7"/>
          <p:cNvSpPr/>
          <p:nvPr/>
        </p:nvSpPr>
        <p:spPr>
          <a:xfrm>
            <a:off x="5056632" y="2025396"/>
            <a:ext cx="77724" cy="77724"/>
          </a:xfrm>
          <a:prstGeom prst="ellipse">
            <a:avLst/>
          </a:prstGeom>
          <a:solidFill>
            <a:srgbClr val="D96C5F"/>
          </a:solidFill>
          <a:ln w="12700">
            <a:solidFill>
              <a:srgbClr val="D96C5F"/>
            </a:solidFill>
            <a:prstDash val="solid"/>
          </a:ln>
        </p:spPr>
      </p:sp>
      <p:sp>
        <p:nvSpPr>
          <p:cNvPr id="10" name="Shape 8"/>
          <p:cNvSpPr/>
          <p:nvPr/>
        </p:nvSpPr>
        <p:spPr>
          <a:xfrm>
            <a:off x="5212080" y="2025396"/>
            <a:ext cx="77724" cy="77724"/>
          </a:xfrm>
          <a:prstGeom prst="ellipse">
            <a:avLst/>
          </a:prstGeom>
          <a:solidFill>
            <a:srgbClr val="E8A33D"/>
          </a:solidFill>
          <a:ln w="12700">
            <a:solidFill>
              <a:srgbClr val="E8A33D"/>
            </a:solidFill>
            <a:prstDash val="solid"/>
          </a:ln>
        </p:spPr>
      </p:sp>
      <p:sp>
        <p:nvSpPr>
          <p:cNvPr id="11" name="Shape 9"/>
          <p:cNvSpPr/>
          <p:nvPr/>
        </p:nvSpPr>
        <p:spPr>
          <a:xfrm>
            <a:off x="5367528" y="2025396"/>
            <a:ext cx="77724" cy="77724"/>
          </a:xfrm>
          <a:prstGeom prst="ellipse">
            <a:avLst/>
          </a:prstGeom>
          <a:solidFill>
            <a:srgbClr val="2D8C6F"/>
          </a:solidFill>
          <a:ln w="12700">
            <a:solidFill>
              <a:srgbClr val="2D8C6F"/>
            </a:solidFill>
            <a:prstDash val="solid"/>
          </a:ln>
        </p:spPr>
      </p:sp>
      <p:sp>
        <p:nvSpPr>
          <p:cNvPr id="12" name="Text 10"/>
          <p:cNvSpPr/>
          <p:nvPr/>
        </p:nvSpPr>
        <p:spPr>
          <a:xfrm>
            <a:off x="713232" y="2267712"/>
            <a:ext cx="4782312" cy="2185416"/>
          </a:xfrm>
          <a:prstGeom prst="rect">
            <a:avLst/>
          </a:prstGeom>
          <a:noFill/>
          <a:ln/>
        </p:spPr>
        <p:txBody>
          <a:bodyPr wrap="square" lIns="0" tIns="0" rIns="0" bIns="0" rtlCol="0" anchor="t"/>
          <a:lstStyle/>
          <a:p>
            <a:pPr marL="0" indent="0">
              <a:lnSpc>
                <a:spcPct val="102000"/>
              </a:lnSpc>
              <a:buNone/>
            </a:pPr>
            <a:r>
              <a:rPr lang="en-US" sz="930" dirty="0">
                <a:solidFill>
                  <a:srgbClr val="D6E6EF"/>
                </a:solidFill>
                <a:latin typeface="Consolas" pitchFamily="34" charset="0"/>
                <a:ea typeface="Consolas" pitchFamily="34" charset="-122"/>
                <a:cs typeface="Consolas" pitchFamily="34" charset="-120"/>
              </a:rPr>
              <a:t>d = </a:t>
            </a:r>
            <a:r>
              <a:rPr lang="en-US" sz="930" dirty="0">
                <a:solidFill>
                  <a:srgbClr val="8AD9C0"/>
                </a:solidFill>
                <a:latin typeface="Consolas" pitchFamily="34" charset="0"/>
                <a:ea typeface="Consolas" pitchFamily="34" charset="-122"/>
                <a:cs typeface="Consolas" pitchFamily="34" charset="-120"/>
              </a:rPr>
              <a:t>np</a:t>
            </a:r>
            <a:r>
              <a:rPr lang="en-US" sz="930" dirty="0">
                <a:solidFill>
                  <a:srgbClr val="D6E6EF"/>
                </a:solidFill>
                <a:latin typeface="Consolas" pitchFamily="34" charset="0"/>
                <a:ea typeface="Consolas" pitchFamily="34" charset="-122"/>
                <a:cs typeface="Consolas" pitchFamily="34" charset="-120"/>
              </a:rPr>
              <a:t>.array([</a:t>
            </a:r>
            <a:r>
              <a:rPr lang="en-US" sz="930" dirty="0">
                <a:solidFill>
                  <a:srgbClr val="F08A7C"/>
                </a:solidFill>
                <a:latin typeface="Consolas" pitchFamily="34" charset="0"/>
                <a:ea typeface="Consolas" pitchFamily="34" charset="-122"/>
                <a:cs typeface="Consolas" pitchFamily="34" charset="-120"/>
              </a:rPr>
              <a:t>8.0</a:t>
            </a:r>
            <a:r>
              <a:rPr lang="en-US" sz="930" dirty="0">
                <a:solidFill>
                  <a:srgbClr val="D6E6EF"/>
                </a:solidFill>
                <a:latin typeface="Consolas" pitchFamily="34" charset="0"/>
                <a:ea typeface="Consolas" pitchFamily="34" charset="-122"/>
                <a:cs typeface="Consolas" pitchFamily="34" charset="-120"/>
              </a:rPr>
              <a:t>, </a:t>
            </a:r>
            <a:r>
              <a:rPr lang="en-US" sz="930" dirty="0">
                <a:solidFill>
                  <a:srgbClr val="F08A7C"/>
                </a:solidFill>
                <a:latin typeface="Consolas" pitchFamily="34" charset="0"/>
                <a:ea typeface="Consolas" pitchFamily="34" charset="-122"/>
                <a:cs typeface="Consolas" pitchFamily="34" charset="-120"/>
              </a:rPr>
              <a:t>7.5</a:t>
            </a:r>
            <a:r>
              <a:rPr lang="en-US" sz="930" dirty="0">
                <a:solidFill>
                  <a:srgbClr val="D6E6EF"/>
                </a:solidFill>
                <a:latin typeface="Consolas" pitchFamily="34" charset="0"/>
                <a:ea typeface="Consolas" pitchFamily="34" charset="-122"/>
                <a:cs typeface="Consolas" pitchFamily="34" charset="-120"/>
              </a:rPr>
              <a:t>, </a:t>
            </a:r>
            <a:r>
              <a:rPr lang="en-US" sz="930" dirty="0">
                <a:solidFill>
                  <a:srgbClr val="F08A7C"/>
                </a:solidFill>
                <a:latin typeface="Consolas" pitchFamily="34" charset="0"/>
                <a:ea typeface="Consolas" pitchFamily="34" charset="-122"/>
                <a:cs typeface="Consolas" pitchFamily="34" charset="-120"/>
              </a:rPr>
              <a:t>9.0</a:t>
            </a:r>
            <a:r>
              <a:rPr lang="en-US" sz="930" dirty="0">
                <a:solidFill>
                  <a:srgbClr val="D6E6EF"/>
                </a:solidFill>
                <a:latin typeface="Consolas" pitchFamily="34" charset="0"/>
                <a:ea typeface="Consolas" pitchFamily="34" charset="-122"/>
                <a:cs typeface="Consolas" pitchFamily="34" charset="-120"/>
              </a:rPr>
              <a:t>, </a:t>
            </a:r>
            <a:r>
              <a:rPr lang="en-US" sz="930" dirty="0">
                <a:solidFill>
                  <a:srgbClr val="F08A7C"/>
                </a:solidFill>
                <a:latin typeface="Consolas" pitchFamily="34" charset="0"/>
                <a:ea typeface="Consolas" pitchFamily="34" charset="-122"/>
                <a:cs typeface="Consolas" pitchFamily="34" charset="-120"/>
              </a:rPr>
              <a:t>6.5</a:t>
            </a:r>
            <a:r>
              <a:rPr lang="en-US" sz="930" dirty="0">
                <a:solidFill>
                  <a:srgbClr val="D6E6EF"/>
                </a:solidFill>
                <a:latin typeface="Consolas" pitchFamily="34" charset="0"/>
                <a:ea typeface="Consolas" pitchFamily="34" charset="-122"/>
                <a:cs typeface="Consolas" pitchFamily="34" charset="-120"/>
              </a:rPr>
              <a:t>, </a:t>
            </a:r>
            <a:r>
              <a:rPr lang="en-US" sz="930" dirty="0">
                <a:solidFill>
                  <a:srgbClr val="F08A7C"/>
                </a:solidFill>
                <a:latin typeface="Consolas" pitchFamily="34" charset="0"/>
                <a:ea typeface="Consolas" pitchFamily="34" charset="-122"/>
                <a:cs typeface="Consolas" pitchFamily="34" charset="-120"/>
              </a:rPr>
              <a:t>8.5</a:t>
            </a:r>
            <a:r>
              <a:rPr lang="en-US" sz="930" dirty="0">
                <a:solidFill>
                  <a:srgbClr val="D6E6EF"/>
                </a:solidFill>
                <a:latin typeface="Consolas" pitchFamily="34" charset="0"/>
                <a:ea typeface="Consolas" pitchFamily="34" charset="-122"/>
                <a:cs typeface="Consolas" pitchFamily="34" charset="-120"/>
              </a:rPr>
              <a:t>])</a:t>
            </a:r>
            <a:endParaRPr lang="en-US" sz="930" dirty="0"/>
          </a:p>
          <a:p>
            <a:pPr marL="0" indent="0">
              <a:lnSpc>
                <a:spcPct val="102000"/>
              </a:lnSpc>
              <a:buNone/>
            </a:pPr>
            <a:r>
              <a:rPr lang="en-US" sz="930" dirty="0">
                <a:solidFill>
                  <a:srgbClr val="6FD0E4"/>
                </a:solidFill>
                <a:latin typeface="Consolas" pitchFamily="34" charset="0"/>
                <a:ea typeface="Consolas" pitchFamily="34" charset="-122"/>
                <a:cs typeface="Consolas" pitchFamily="34" charset="-120"/>
              </a:rPr>
              <a:t>print</a:t>
            </a:r>
            <a:r>
              <a:rPr lang="en-US" sz="930" dirty="0">
                <a:solidFill>
                  <a:srgbClr val="D6E6EF"/>
                </a:solidFill>
                <a:latin typeface="Consolas" pitchFamily="34" charset="0"/>
                <a:ea typeface="Consolas" pitchFamily="34" charset="-122"/>
                <a:cs typeface="Consolas" pitchFamily="34" charset="-120"/>
              </a:rPr>
              <a:t>(</a:t>
            </a:r>
            <a:r>
              <a:rPr lang="en-US" sz="930" dirty="0">
                <a:solidFill>
                  <a:srgbClr val="E8A33D"/>
                </a:solidFill>
                <a:latin typeface="Consolas" pitchFamily="34" charset="0"/>
                <a:ea typeface="Consolas" pitchFamily="34" charset="-122"/>
                <a:cs typeface="Consolas" pitchFamily="34" charset="-120"/>
              </a:rPr>
              <a:t>"Diem TB:"</a:t>
            </a:r>
            <a:r>
              <a:rPr lang="en-US" sz="930" dirty="0">
                <a:solidFill>
                  <a:srgbClr val="D6E6EF"/>
                </a:solidFill>
                <a:latin typeface="Consolas" pitchFamily="34" charset="0"/>
                <a:ea typeface="Consolas" pitchFamily="34" charset="-122"/>
                <a:cs typeface="Consolas" pitchFamily="34" charset="-120"/>
              </a:rPr>
              <a:t>, </a:t>
            </a:r>
            <a:r>
              <a:rPr lang="en-US" sz="930" dirty="0">
                <a:solidFill>
                  <a:srgbClr val="8AD9C0"/>
                </a:solidFill>
                <a:latin typeface="Consolas" pitchFamily="34" charset="0"/>
                <a:ea typeface="Consolas" pitchFamily="34" charset="-122"/>
                <a:cs typeface="Consolas" pitchFamily="34" charset="-120"/>
              </a:rPr>
              <a:t>np</a:t>
            </a:r>
            <a:r>
              <a:rPr lang="en-US" sz="930" dirty="0">
                <a:solidFill>
                  <a:srgbClr val="D6E6EF"/>
                </a:solidFill>
                <a:latin typeface="Consolas" pitchFamily="34" charset="0"/>
                <a:ea typeface="Consolas" pitchFamily="34" charset="-122"/>
                <a:cs typeface="Consolas" pitchFamily="34" charset="-120"/>
              </a:rPr>
              <a:t>.mean(d))</a:t>
            </a:r>
            <a:endParaRPr lang="en-US" sz="930" dirty="0"/>
          </a:p>
          <a:p>
            <a:pPr marL="0" indent="0">
              <a:lnSpc>
                <a:spcPct val="102000"/>
              </a:lnSpc>
              <a:buNone/>
            </a:pPr>
            <a:r>
              <a:rPr lang="en-US" sz="930" dirty="0">
                <a:solidFill>
                  <a:srgbClr val="6FD0E4"/>
                </a:solidFill>
                <a:latin typeface="Consolas" pitchFamily="34" charset="0"/>
                <a:ea typeface="Consolas" pitchFamily="34" charset="-122"/>
                <a:cs typeface="Consolas" pitchFamily="34" charset="-120"/>
              </a:rPr>
              <a:t>print</a:t>
            </a:r>
            <a:r>
              <a:rPr lang="en-US" sz="930" dirty="0">
                <a:solidFill>
                  <a:srgbClr val="D6E6EF"/>
                </a:solidFill>
                <a:latin typeface="Consolas" pitchFamily="34" charset="0"/>
                <a:ea typeface="Consolas" pitchFamily="34" charset="-122"/>
                <a:cs typeface="Consolas" pitchFamily="34" charset="-120"/>
              </a:rPr>
              <a:t>(</a:t>
            </a:r>
            <a:r>
              <a:rPr lang="en-US" sz="930" dirty="0">
                <a:solidFill>
                  <a:srgbClr val="E8A33D"/>
                </a:solidFill>
                <a:latin typeface="Consolas" pitchFamily="34" charset="0"/>
                <a:ea typeface="Consolas" pitchFamily="34" charset="-122"/>
                <a:cs typeface="Consolas" pitchFamily="34" charset="-120"/>
              </a:rPr>
              <a:t>"Cao nhat:"</a:t>
            </a:r>
            <a:r>
              <a:rPr lang="en-US" sz="930" dirty="0">
                <a:solidFill>
                  <a:srgbClr val="D6E6EF"/>
                </a:solidFill>
                <a:latin typeface="Consolas" pitchFamily="34" charset="0"/>
                <a:ea typeface="Consolas" pitchFamily="34" charset="-122"/>
                <a:cs typeface="Consolas" pitchFamily="34" charset="-120"/>
              </a:rPr>
              <a:t>, </a:t>
            </a:r>
            <a:r>
              <a:rPr lang="en-US" sz="930" dirty="0">
                <a:solidFill>
                  <a:srgbClr val="8AD9C0"/>
                </a:solidFill>
                <a:latin typeface="Consolas" pitchFamily="34" charset="0"/>
                <a:ea typeface="Consolas" pitchFamily="34" charset="-122"/>
                <a:cs typeface="Consolas" pitchFamily="34" charset="-120"/>
              </a:rPr>
              <a:t>np</a:t>
            </a:r>
            <a:r>
              <a:rPr lang="en-US" sz="930" dirty="0">
                <a:solidFill>
                  <a:srgbClr val="D6E6EF"/>
                </a:solidFill>
                <a:latin typeface="Consolas" pitchFamily="34" charset="0"/>
                <a:ea typeface="Consolas" pitchFamily="34" charset="-122"/>
                <a:cs typeface="Consolas" pitchFamily="34" charset="-120"/>
              </a:rPr>
              <a:t>.max(d))</a:t>
            </a:r>
            <a:endParaRPr lang="en-US" sz="930" dirty="0"/>
          </a:p>
          <a:p>
            <a:pPr marL="0" indent="0">
              <a:lnSpc>
                <a:spcPct val="102000"/>
              </a:lnSpc>
              <a:buNone/>
            </a:pPr>
            <a:r>
              <a:rPr lang="en-US" sz="930" dirty="0">
                <a:solidFill>
                  <a:srgbClr val="6FD0E4"/>
                </a:solidFill>
                <a:latin typeface="Consolas" pitchFamily="34" charset="0"/>
                <a:ea typeface="Consolas" pitchFamily="34" charset="-122"/>
                <a:cs typeface="Consolas" pitchFamily="34" charset="-120"/>
              </a:rPr>
              <a:t>print</a:t>
            </a:r>
            <a:r>
              <a:rPr lang="en-US" sz="930" dirty="0">
                <a:solidFill>
                  <a:srgbClr val="D6E6EF"/>
                </a:solidFill>
                <a:latin typeface="Consolas" pitchFamily="34" charset="0"/>
                <a:ea typeface="Consolas" pitchFamily="34" charset="-122"/>
                <a:cs typeface="Consolas" pitchFamily="34" charset="-120"/>
              </a:rPr>
              <a:t>(</a:t>
            </a:r>
            <a:r>
              <a:rPr lang="en-US" sz="930" dirty="0">
                <a:solidFill>
                  <a:srgbClr val="E8A33D"/>
                </a:solidFill>
                <a:latin typeface="Consolas" pitchFamily="34" charset="0"/>
                <a:ea typeface="Consolas" pitchFamily="34" charset="-122"/>
                <a:cs typeface="Consolas" pitchFamily="34" charset="-120"/>
              </a:rPr>
              <a:t>"Thap nhat:"</a:t>
            </a:r>
            <a:r>
              <a:rPr lang="en-US" sz="930" dirty="0">
                <a:solidFill>
                  <a:srgbClr val="D6E6EF"/>
                </a:solidFill>
                <a:latin typeface="Consolas" pitchFamily="34" charset="0"/>
                <a:ea typeface="Consolas" pitchFamily="34" charset="-122"/>
                <a:cs typeface="Consolas" pitchFamily="34" charset="-120"/>
              </a:rPr>
              <a:t>, </a:t>
            </a:r>
            <a:r>
              <a:rPr lang="en-US" sz="930" dirty="0">
                <a:solidFill>
                  <a:srgbClr val="8AD9C0"/>
                </a:solidFill>
                <a:latin typeface="Consolas" pitchFamily="34" charset="0"/>
                <a:ea typeface="Consolas" pitchFamily="34" charset="-122"/>
                <a:cs typeface="Consolas" pitchFamily="34" charset="-120"/>
              </a:rPr>
              <a:t>np</a:t>
            </a:r>
            <a:r>
              <a:rPr lang="en-US" sz="930" dirty="0">
                <a:solidFill>
                  <a:srgbClr val="D6E6EF"/>
                </a:solidFill>
                <a:latin typeface="Consolas" pitchFamily="34" charset="0"/>
                <a:ea typeface="Consolas" pitchFamily="34" charset="-122"/>
                <a:cs typeface="Consolas" pitchFamily="34" charset="-120"/>
              </a:rPr>
              <a:t>.min(d))</a:t>
            </a:r>
            <a:endParaRPr lang="en-US" sz="930" dirty="0"/>
          </a:p>
          <a:p>
            <a:pPr marL="0" indent="0">
              <a:lnSpc>
                <a:spcPct val="102000"/>
              </a:lnSpc>
              <a:buNone/>
            </a:pPr>
            <a:r>
              <a:rPr lang="en-US" sz="930" dirty="0">
                <a:solidFill>
                  <a:srgbClr val="6FD0E4"/>
                </a:solidFill>
                <a:latin typeface="Consolas" pitchFamily="34" charset="0"/>
                <a:ea typeface="Consolas" pitchFamily="34" charset="-122"/>
                <a:cs typeface="Consolas" pitchFamily="34" charset="-120"/>
              </a:rPr>
              <a:t>print</a:t>
            </a:r>
            <a:r>
              <a:rPr lang="en-US" sz="930" dirty="0">
                <a:solidFill>
                  <a:srgbClr val="D6E6EF"/>
                </a:solidFill>
                <a:latin typeface="Consolas" pitchFamily="34" charset="0"/>
                <a:ea typeface="Consolas" pitchFamily="34" charset="-122"/>
                <a:cs typeface="Consolas" pitchFamily="34" charset="-120"/>
              </a:rPr>
              <a:t>(</a:t>
            </a:r>
            <a:r>
              <a:rPr lang="en-US" sz="930" dirty="0">
                <a:solidFill>
                  <a:srgbClr val="E8A33D"/>
                </a:solidFill>
                <a:latin typeface="Consolas" pitchFamily="34" charset="0"/>
                <a:ea typeface="Consolas" pitchFamily="34" charset="-122"/>
                <a:cs typeface="Consolas" pitchFamily="34" charset="-120"/>
              </a:rPr>
              <a:t>"Do lech chuan:"</a:t>
            </a:r>
            <a:r>
              <a:rPr lang="en-US" sz="930" dirty="0">
                <a:solidFill>
                  <a:srgbClr val="D6E6EF"/>
                </a:solidFill>
                <a:latin typeface="Consolas" pitchFamily="34" charset="0"/>
                <a:ea typeface="Consolas" pitchFamily="34" charset="-122"/>
                <a:cs typeface="Consolas" pitchFamily="34" charset="-120"/>
              </a:rPr>
              <a:t>, </a:t>
            </a:r>
            <a:r>
              <a:rPr lang="en-US" sz="930" dirty="0">
                <a:solidFill>
                  <a:srgbClr val="8AD9C0"/>
                </a:solidFill>
                <a:latin typeface="Consolas" pitchFamily="34" charset="0"/>
                <a:ea typeface="Consolas" pitchFamily="34" charset="-122"/>
                <a:cs typeface="Consolas" pitchFamily="34" charset="-120"/>
              </a:rPr>
              <a:t>np</a:t>
            </a:r>
            <a:r>
              <a:rPr lang="en-US" sz="930" dirty="0">
                <a:solidFill>
                  <a:srgbClr val="D6E6EF"/>
                </a:solidFill>
                <a:latin typeface="Consolas" pitchFamily="34" charset="0"/>
                <a:ea typeface="Consolas" pitchFamily="34" charset="-122"/>
                <a:cs typeface="Consolas" pitchFamily="34" charset="-120"/>
              </a:rPr>
              <a:t>.std(d))</a:t>
            </a:r>
            <a:endParaRPr lang="en-US" sz="930" dirty="0"/>
          </a:p>
          <a:p>
            <a:pPr marL="0" indent="0">
              <a:lnSpc>
                <a:spcPct val="102000"/>
              </a:lnSpc>
              <a:buNone/>
            </a:pPr>
            <a:r>
              <a:rPr lang="en-US" sz="930" dirty="0">
                <a:solidFill>
                  <a:srgbClr val="6FD0E4"/>
                </a:solidFill>
                <a:latin typeface="Consolas" pitchFamily="34" charset="0"/>
                <a:ea typeface="Consolas" pitchFamily="34" charset="-122"/>
                <a:cs typeface="Consolas" pitchFamily="34" charset="-120"/>
              </a:rPr>
              <a:t>print</a:t>
            </a:r>
            <a:r>
              <a:rPr lang="en-US" sz="930" dirty="0">
                <a:solidFill>
                  <a:srgbClr val="D6E6EF"/>
                </a:solidFill>
                <a:latin typeface="Consolas" pitchFamily="34" charset="0"/>
                <a:ea typeface="Consolas" pitchFamily="34" charset="-122"/>
                <a:cs typeface="Consolas" pitchFamily="34" charset="-120"/>
              </a:rPr>
              <a:t>(</a:t>
            </a:r>
            <a:r>
              <a:rPr lang="en-US" sz="930" dirty="0">
                <a:solidFill>
                  <a:srgbClr val="E8A33D"/>
                </a:solidFill>
                <a:latin typeface="Consolas" pitchFamily="34" charset="0"/>
                <a:ea typeface="Consolas" pitchFamily="34" charset="-122"/>
                <a:cs typeface="Consolas" pitchFamily="34" charset="-120"/>
              </a:rPr>
              <a:t>"So bai &gt;= 8:"</a:t>
            </a:r>
            <a:r>
              <a:rPr lang="en-US" sz="930" dirty="0">
                <a:solidFill>
                  <a:srgbClr val="D6E6EF"/>
                </a:solidFill>
                <a:latin typeface="Consolas" pitchFamily="34" charset="0"/>
                <a:ea typeface="Consolas" pitchFamily="34" charset="-122"/>
                <a:cs typeface="Consolas" pitchFamily="34" charset="-120"/>
              </a:rPr>
              <a:t>, </a:t>
            </a:r>
            <a:r>
              <a:rPr lang="en-US" sz="930" dirty="0">
                <a:solidFill>
                  <a:srgbClr val="8AD9C0"/>
                </a:solidFill>
                <a:latin typeface="Consolas" pitchFamily="34" charset="0"/>
                <a:ea typeface="Consolas" pitchFamily="34" charset="-122"/>
                <a:cs typeface="Consolas" pitchFamily="34" charset="-120"/>
              </a:rPr>
              <a:t>np</a:t>
            </a:r>
            <a:r>
              <a:rPr lang="en-US" sz="930" dirty="0">
                <a:solidFill>
                  <a:srgbClr val="D6E6EF"/>
                </a:solidFill>
                <a:latin typeface="Consolas" pitchFamily="34" charset="0"/>
                <a:ea typeface="Consolas" pitchFamily="34" charset="-122"/>
                <a:cs typeface="Consolas" pitchFamily="34" charset="-120"/>
              </a:rPr>
              <a:t>.sum(d &gt;= </a:t>
            </a:r>
            <a:r>
              <a:rPr lang="en-US" sz="930" dirty="0">
                <a:solidFill>
                  <a:srgbClr val="F08A7C"/>
                </a:solidFill>
                <a:latin typeface="Consolas" pitchFamily="34" charset="0"/>
                <a:ea typeface="Consolas" pitchFamily="34" charset="-122"/>
                <a:cs typeface="Consolas" pitchFamily="34" charset="-120"/>
              </a:rPr>
              <a:t>8.0</a:t>
            </a:r>
            <a:r>
              <a:rPr lang="en-US" sz="930" dirty="0">
                <a:solidFill>
                  <a:srgbClr val="D6E6EF"/>
                </a:solidFill>
                <a:latin typeface="Consolas" pitchFamily="34" charset="0"/>
                <a:ea typeface="Consolas" pitchFamily="34" charset="-122"/>
                <a:cs typeface="Consolas" pitchFamily="34" charset="-120"/>
              </a:rPr>
              <a:t>), </a:t>
            </a:r>
            <a:r>
              <a:rPr lang="en-US" sz="930" dirty="0">
                <a:solidFill>
                  <a:srgbClr val="E8A33D"/>
                </a:solidFill>
                <a:latin typeface="Consolas" pitchFamily="34" charset="0"/>
                <a:ea typeface="Consolas" pitchFamily="34" charset="-122"/>
                <a:cs typeface="Consolas" pitchFamily="34" charset="-120"/>
              </a:rPr>
              <a:t>"/"</a:t>
            </a:r>
            <a:r>
              <a:rPr lang="en-US" sz="930" dirty="0">
                <a:solidFill>
                  <a:srgbClr val="D6E6EF"/>
                </a:solidFill>
                <a:latin typeface="Consolas" pitchFamily="34" charset="0"/>
                <a:ea typeface="Consolas" pitchFamily="34" charset="-122"/>
                <a:cs typeface="Consolas" pitchFamily="34" charset="-120"/>
              </a:rPr>
              <a:t>, d.size)</a:t>
            </a:r>
            <a:endParaRPr lang="en-US" sz="930" dirty="0"/>
          </a:p>
          <a:p>
            <a:pPr marL="0" indent="0">
              <a:lnSpc>
                <a:spcPct val="102000"/>
              </a:lnSpc>
              <a:buNone/>
            </a:pPr>
            <a:r>
              <a:rPr lang="en-US" sz="930" dirty="0">
                <a:solidFill>
                  <a:srgbClr val="6FD0E4"/>
                </a:solidFill>
                <a:latin typeface="Consolas" pitchFamily="34" charset="0"/>
                <a:ea typeface="Consolas" pitchFamily="34" charset="-122"/>
                <a:cs typeface="Consolas" pitchFamily="34" charset="-120"/>
              </a:rPr>
              <a:t>print</a:t>
            </a:r>
            <a:r>
              <a:rPr lang="en-US" sz="930" dirty="0">
                <a:solidFill>
                  <a:srgbClr val="D6E6EF"/>
                </a:solidFill>
                <a:latin typeface="Consolas" pitchFamily="34" charset="0"/>
                <a:ea typeface="Consolas" pitchFamily="34" charset="-122"/>
                <a:cs typeface="Consolas" pitchFamily="34" charset="-120"/>
              </a:rPr>
              <a:t>(</a:t>
            </a:r>
            <a:r>
              <a:rPr lang="en-US" sz="930" dirty="0">
                <a:solidFill>
                  <a:srgbClr val="E8A33D"/>
                </a:solidFill>
                <a:latin typeface="Consolas" pitchFamily="34" charset="0"/>
                <a:ea typeface="Consolas" pitchFamily="34" charset="-122"/>
                <a:cs typeface="Consolas" pitchFamily="34" charset="-120"/>
              </a:rPr>
              <a:t>"Sau thuong:"</a:t>
            </a:r>
            <a:r>
              <a:rPr lang="en-US" sz="930" dirty="0">
                <a:solidFill>
                  <a:srgbClr val="D6E6EF"/>
                </a:solidFill>
                <a:latin typeface="Consolas" pitchFamily="34" charset="0"/>
                <a:ea typeface="Consolas" pitchFamily="34" charset="-122"/>
                <a:cs typeface="Consolas" pitchFamily="34" charset="-120"/>
              </a:rPr>
              <a:t>, d + </a:t>
            </a:r>
            <a:r>
              <a:rPr lang="en-US" sz="930" dirty="0">
                <a:solidFill>
                  <a:srgbClr val="F08A7C"/>
                </a:solidFill>
                <a:latin typeface="Consolas" pitchFamily="34" charset="0"/>
                <a:ea typeface="Consolas" pitchFamily="34" charset="-122"/>
                <a:cs typeface="Consolas" pitchFamily="34" charset="-120"/>
              </a:rPr>
              <a:t>0.5</a:t>
            </a:r>
            <a:r>
              <a:rPr lang="en-US" sz="930" dirty="0">
                <a:solidFill>
                  <a:srgbClr val="D6E6EF"/>
                </a:solidFill>
                <a:latin typeface="Consolas" pitchFamily="34" charset="0"/>
                <a:ea typeface="Consolas" pitchFamily="34" charset="-122"/>
                <a:cs typeface="Consolas" pitchFamily="34" charset="-120"/>
              </a:rPr>
              <a:t>)</a:t>
            </a:r>
            <a:endParaRPr lang="en-US" sz="930" dirty="0"/>
          </a:p>
        </p:txBody>
      </p:sp>
      <p:sp>
        <p:nvSpPr>
          <p:cNvPr id="13" name="Shape 11"/>
          <p:cNvSpPr/>
          <p:nvPr/>
        </p:nvSpPr>
        <p:spPr>
          <a:xfrm>
            <a:off x="548640" y="4663440"/>
            <a:ext cx="5074920" cy="1188720"/>
          </a:xfrm>
          <a:prstGeom prst="roundRect">
            <a:avLst>
              <a:gd name="adj" fmla="val 3846"/>
            </a:avLst>
          </a:prstGeom>
          <a:solidFill>
            <a:srgbClr val="FFFFFF"/>
          </a:solidFill>
          <a:ln w="9525">
            <a:solidFill>
              <a:srgbClr val="CFE5EE"/>
            </a:solidFill>
            <a:prstDash val="solid"/>
          </a:ln>
        </p:spPr>
      </p:sp>
      <p:sp>
        <p:nvSpPr>
          <p:cNvPr id="14" name="Text 12"/>
          <p:cNvSpPr/>
          <p:nvPr/>
        </p:nvSpPr>
        <p:spPr>
          <a:xfrm>
            <a:off x="694944" y="4754880"/>
            <a:ext cx="4800600" cy="164592"/>
          </a:xfrm>
          <a:prstGeom prst="rect">
            <a:avLst/>
          </a:prstGeom>
          <a:noFill/>
          <a:ln/>
        </p:spPr>
        <p:txBody>
          <a:bodyPr wrap="square" lIns="0" tIns="0" rIns="0" bIns="0" rtlCol="0" anchor="t"/>
          <a:lstStyle/>
          <a:p>
            <a:pPr marL="0" indent="0">
              <a:buNone/>
            </a:pPr>
            <a:r>
              <a:rPr lang="en-US" sz="800" b="1" kern="0" spc="120" dirty="0">
                <a:solidFill>
                  <a:srgbClr val="2D8C6F"/>
                </a:solidFill>
                <a:latin typeface="Segoe UI" pitchFamily="34" charset="0"/>
                <a:ea typeface="Segoe UI" pitchFamily="34" charset="-122"/>
                <a:cs typeface="Segoe UI" pitchFamily="34" charset="-120"/>
              </a:rPr>
              <a:t>KẾT QUẢ</a:t>
            </a:r>
            <a:endParaRPr lang="en-US" sz="800" dirty="0"/>
          </a:p>
        </p:txBody>
      </p:sp>
      <p:sp>
        <p:nvSpPr>
          <p:cNvPr id="15" name="Text 13"/>
          <p:cNvSpPr/>
          <p:nvPr/>
        </p:nvSpPr>
        <p:spPr>
          <a:xfrm>
            <a:off x="694944" y="4974336"/>
            <a:ext cx="4800600" cy="804672"/>
          </a:xfrm>
          <a:prstGeom prst="rect">
            <a:avLst/>
          </a:prstGeom>
          <a:noFill/>
          <a:ln/>
        </p:spPr>
        <p:txBody>
          <a:bodyPr wrap="square" lIns="0" tIns="0" rIns="0" bIns="0" rtlCol="0" anchor="t"/>
          <a:lstStyle/>
          <a:p>
            <a:pPr marL="0" indent="0">
              <a:lnSpc>
                <a:spcPct val="102000"/>
              </a:lnSpc>
              <a:buNone/>
            </a:pPr>
            <a:r>
              <a:rPr lang="en-US" sz="860" dirty="0">
                <a:solidFill>
                  <a:srgbClr val="062A3A"/>
                </a:solidFill>
                <a:latin typeface="Consolas" pitchFamily="34" charset="0"/>
                <a:ea typeface="Consolas" pitchFamily="34" charset="-122"/>
                <a:cs typeface="Consolas" pitchFamily="34" charset="-120"/>
              </a:rPr>
              <a:t>Diem TB: 7.9</a:t>
            </a:r>
            <a:endParaRPr lang="en-US" sz="860" dirty="0"/>
          </a:p>
          <a:p>
            <a:pPr marL="0" indent="0">
              <a:lnSpc>
                <a:spcPct val="102000"/>
              </a:lnSpc>
              <a:buNone/>
            </a:pPr>
            <a:r>
              <a:rPr lang="en-US" sz="860" dirty="0">
                <a:solidFill>
                  <a:srgbClr val="062A3A"/>
                </a:solidFill>
                <a:latin typeface="Consolas" pitchFamily="34" charset="0"/>
                <a:ea typeface="Consolas" pitchFamily="34" charset="-122"/>
                <a:cs typeface="Consolas" pitchFamily="34" charset="-120"/>
              </a:rPr>
              <a:t>Cao nhat: 9.0   Thap nhat: 6.5</a:t>
            </a:r>
            <a:endParaRPr lang="en-US" sz="860" dirty="0"/>
          </a:p>
          <a:p>
            <a:pPr marL="0" indent="0">
              <a:lnSpc>
                <a:spcPct val="102000"/>
              </a:lnSpc>
              <a:buNone/>
            </a:pPr>
            <a:r>
              <a:rPr lang="en-US" sz="860" dirty="0">
                <a:solidFill>
                  <a:srgbClr val="062A3A"/>
                </a:solidFill>
                <a:latin typeface="Consolas" pitchFamily="34" charset="0"/>
                <a:ea typeface="Consolas" pitchFamily="34" charset="-122"/>
                <a:cs typeface="Consolas" pitchFamily="34" charset="-120"/>
              </a:rPr>
              <a:t>Do lech chuan: 0.8602325267042626</a:t>
            </a:r>
            <a:endParaRPr lang="en-US" sz="860" dirty="0"/>
          </a:p>
          <a:p>
            <a:pPr marL="0" indent="0">
              <a:lnSpc>
                <a:spcPct val="102000"/>
              </a:lnSpc>
              <a:buNone/>
            </a:pPr>
            <a:r>
              <a:rPr lang="en-US" sz="860" dirty="0">
                <a:solidFill>
                  <a:srgbClr val="062A3A"/>
                </a:solidFill>
                <a:latin typeface="Consolas" pitchFamily="34" charset="0"/>
                <a:ea typeface="Consolas" pitchFamily="34" charset="-122"/>
                <a:cs typeface="Consolas" pitchFamily="34" charset="-120"/>
              </a:rPr>
              <a:t>So bai &gt;= 8: 3 / 5</a:t>
            </a:r>
            <a:endParaRPr lang="en-US" sz="860" dirty="0"/>
          </a:p>
          <a:p>
            <a:pPr marL="0" indent="0">
              <a:lnSpc>
                <a:spcPct val="102000"/>
              </a:lnSpc>
              <a:buNone/>
            </a:pPr>
            <a:r>
              <a:rPr lang="en-US" sz="860" dirty="0">
                <a:solidFill>
                  <a:srgbClr val="062A3A"/>
                </a:solidFill>
                <a:latin typeface="Consolas" pitchFamily="34" charset="0"/>
                <a:ea typeface="Consolas" pitchFamily="34" charset="-122"/>
                <a:cs typeface="Consolas" pitchFamily="34" charset="-120"/>
              </a:rPr>
              <a:t>Sau thuong: [8.5 8.  9.5 7.  9. ]</a:t>
            </a:r>
            <a:endParaRPr lang="en-US" sz="860" dirty="0"/>
          </a:p>
        </p:txBody>
      </p:sp>
      <p:sp>
        <p:nvSpPr>
          <p:cNvPr id="16" name="Shape 14"/>
          <p:cNvSpPr/>
          <p:nvPr/>
        </p:nvSpPr>
        <p:spPr>
          <a:xfrm>
            <a:off x="5897880" y="1920240"/>
            <a:ext cx="2770632" cy="914400"/>
          </a:xfrm>
          <a:prstGeom prst="roundRect">
            <a:avLst>
              <a:gd name="adj" fmla="val 6000"/>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17" name="Text 15"/>
          <p:cNvSpPr/>
          <p:nvPr/>
        </p:nvSpPr>
        <p:spPr>
          <a:xfrm>
            <a:off x="6062472" y="2029968"/>
            <a:ext cx="1325880" cy="457200"/>
          </a:xfrm>
          <a:prstGeom prst="rect">
            <a:avLst/>
          </a:prstGeom>
          <a:noFill/>
          <a:ln/>
        </p:spPr>
        <p:txBody>
          <a:bodyPr wrap="square" lIns="0" tIns="0" rIns="0" bIns="0" rtlCol="0" anchor="t"/>
          <a:lstStyle/>
          <a:p>
            <a:pPr marL="0" indent="0">
              <a:buNone/>
            </a:pPr>
            <a:r>
              <a:rPr lang="en-US" sz="2000" b="1" dirty="0">
                <a:solidFill>
                  <a:srgbClr val="1B8EA8"/>
                </a:solidFill>
                <a:latin typeface="Consolas" pitchFamily="34" charset="0"/>
                <a:ea typeface="Consolas" pitchFamily="34" charset="-122"/>
                <a:cs typeface="Consolas" pitchFamily="34" charset="-120"/>
              </a:rPr>
              <a:t>7.9</a:t>
            </a:r>
            <a:endParaRPr lang="en-US" sz="2000" dirty="0"/>
          </a:p>
        </p:txBody>
      </p:sp>
      <p:sp>
        <p:nvSpPr>
          <p:cNvPr id="18" name="Text 16"/>
          <p:cNvSpPr/>
          <p:nvPr/>
        </p:nvSpPr>
        <p:spPr>
          <a:xfrm>
            <a:off x="7269480" y="2103120"/>
            <a:ext cx="1280160" cy="548640"/>
          </a:xfrm>
          <a:prstGeom prst="rect">
            <a:avLst/>
          </a:prstGeom>
          <a:noFill/>
          <a:ln/>
        </p:spPr>
        <p:txBody>
          <a:bodyPr wrap="square" lIns="0" tIns="0" rIns="0" bIns="0" rtlCol="0" anchor="t"/>
          <a:lstStyle/>
          <a:p>
            <a:pPr marL="0" indent="0">
              <a:lnSpc>
                <a:spcPct val="105000"/>
              </a:lnSpc>
              <a:buNone/>
            </a:pPr>
            <a:r>
              <a:rPr lang="en-US" sz="850" dirty="0">
                <a:solidFill>
                  <a:srgbClr val="728694"/>
                </a:solidFill>
                <a:latin typeface="Segoe UI" pitchFamily="34" charset="0"/>
                <a:ea typeface="Segoe UI" pitchFamily="34" charset="-122"/>
                <a:cs typeface="Segoe UI" pitchFamily="34" charset="-120"/>
              </a:rPr>
              <a:t>Điểm trung bình</a:t>
            </a:r>
            <a:endParaRPr lang="en-US" sz="850" dirty="0"/>
          </a:p>
        </p:txBody>
      </p:sp>
      <p:sp>
        <p:nvSpPr>
          <p:cNvPr id="19" name="Shape 17"/>
          <p:cNvSpPr/>
          <p:nvPr/>
        </p:nvSpPr>
        <p:spPr>
          <a:xfrm>
            <a:off x="8805672" y="1920240"/>
            <a:ext cx="2770632" cy="914400"/>
          </a:xfrm>
          <a:prstGeom prst="roundRect">
            <a:avLst>
              <a:gd name="adj" fmla="val 6000"/>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20" name="Text 18"/>
          <p:cNvSpPr/>
          <p:nvPr/>
        </p:nvSpPr>
        <p:spPr>
          <a:xfrm>
            <a:off x="8970264" y="2029968"/>
            <a:ext cx="1325880" cy="457200"/>
          </a:xfrm>
          <a:prstGeom prst="rect">
            <a:avLst/>
          </a:prstGeom>
          <a:noFill/>
          <a:ln/>
        </p:spPr>
        <p:txBody>
          <a:bodyPr wrap="square" lIns="0" tIns="0" rIns="0" bIns="0" rtlCol="0" anchor="t"/>
          <a:lstStyle/>
          <a:p>
            <a:pPr marL="0" indent="0">
              <a:buNone/>
            </a:pPr>
            <a:r>
              <a:rPr lang="en-US" sz="2000" b="1" dirty="0">
                <a:solidFill>
                  <a:srgbClr val="1B8EA8"/>
                </a:solidFill>
                <a:latin typeface="Consolas" pitchFamily="34" charset="0"/>
                <a:ea typeface="Consolas" pitchFamily="34" charset="-122"/>
                <a:cs typeface="Consolas" pitchFamily="34" charset="-120"/>
              </a:rPr>
              <a:t>9.0</a:t>
            </a:r>
            <a:endParaRPr lang="en-US" sz="2000" dirty="0"/>
          </a:p>
        </p:txBody>
      </p:sp>
      <p:sp>
        <p:nvSpPr>
          <p:cNvPr id="21" name="Text 19"/>
          <p:cNvSpPr/>
          <p:nvPr/>
        </p:nvSpPr>
        <p:spPr>
          <a:xfrm>
            <a:off x="10177272" y="2103120"/>
            <a:ext cx="1280160" cy="548640"/>
          </a:xfrm>
          <a:prstGeom prst="rect">
            <a:avLst/>
          </a:prstGeom>
          <a:noFill/>
          <a:ln/>
        </p:spPr>
        <p:txBody>
          <a:bodyPr wrap="square" lIns="0" tIns="0" rIns="0" bIns="0" rtlCol="0" anchor="t"/>
          <a:lstStyle/>
          <a:p>
            <a:pPr marL="0" indent="0">
              <a:lnSpc>
                <a:spcPct val="105000"/>
              </a:lnSpc>
              <a:buNone/>
            </a:pPr>
            <a:r>
              <a:rPr lang="en-US" sz="850" dirty="0">
                <a:solidFill>
                  <a:srgbClr val="728694"/>
                </a:solidFill>
                <a:latin typeface="Segoe UI" pitchFamily="34" charset="0"/>
                <a:ea typeface="Segoe UI" pitchFamily="34" charset="-122"/>
                <a:cs typeface="Segoe UI" pitchFamily="34" charset="-120"/>
              </a:rPr>
              <a:t>Cao nhất</a:t>
            </a:r>
            <a:endParaRPr lang="en-US" sz="850" dirty="0"/>
          </a:p>
        </p:txBody>
      </p:sp>
      <p:sp>
        <p:nvSpPr>
          <p:cNvPr id="22" name="Shape 20"/>
          <p:cNvSpPr/>
          <p:nvPr/>
        </p:nvSpPr>
        <p:spPr>
          <a:xfrm>
            <a:off x="5897880" y="2944368"/>
            <a:ext cx="2770632" cy="914400"/>
          </a:xfrm>
          <a:prstGeom prst="roundRect">
            <a:avLst>
              <a:gd name="adj" fmla="val 6000"/>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23" name="Text 21"/>
          <p:cNvSpPr/>
          <p:nvPr/>
        </p:nvSpPr>
        <p:spPr>
          <a:xfrm>
            <a:off x="6062472" y="3054096"/>
            <a:ext cx="1325880" cy="457200"/>
          </a:xfrm>
          <a:prstGeom prst="rect">
            <a:avLst/>
          </a:prstGeom>
          <a:noFill/>
          <a:ln/>
        </p:spPr>
        <p:txBody>
          <a:bodyPr wrap="square" lIns="0" tIns="0" rIns="0" bIns="0" rtlCol="0" anchor="t"/>
          <a:lstStyle/>
          <a:p>
            <a:pPr marL="0" indent="0">
              <a:buNone/>
            </a:pPr>
            <a:r>
              <a:rPr lang="en-US" sz="2000" b="1" dirty="0">
                <a:solidFill>
                  <a:srgbClr val="1B8EA8"/>
                </a:solidFill>
                <a:latin typeface="Consolas" pitchFamily="34" charset="0"/>
                <a:ea typeface="Consolas" pitchFamily="34" charset="-122"/>
                <a:cs typeface="Consolas" pitchFamily="34" charset="-120"/>
              </a:rPr>
              <a:t>6.5</a:t>
            </a:r>
            <a:endParaRPr lang="en-US" sz="2000" dirty="0"/>
          </a:p>
        </p:txBody>
      </p:sp>
      <p:sp>
        <p:nvSpPr>
          <p:cNvPr id="24" name="Text 22"/>
          <p:cNvSpPr/>
          <p:nvPr/>
        </p:nvSpPr>
        <p:spPr>
          <a:xfrm>
            <a:off x="7269480" y="3127248"/>
            <a:ext cx="1280160" cy="548640"/>
          </a:xfrm>
          <a:prstGeom prst="rect">
            <a:avLst/>
          </a:prstGeom>
          <a:noFill/>
          <a:ln/>
        </p:spPr>
        <p:txBody>
          <a:bodyPr wrap="square" lIns="0" tIns="0" rIns="0" bIns="0" rtlCol="0" anchor="t"/>
          <a:lstStyle/>
          <a:p>
            <a:pPr marL="0" indent="0">
              <a:lnSpc>
                <a:spcPct val="105000"/>
              </a:lnSpc>
              <a:buNone/>
            </a:pPr>
            <a:r>
              <a:rPr lang="en-US" sz="850" dirty="0">
                <a:solidFill>
                  <a:srgbClr val="728694"/>
                </a:solidFill>
                <a:latin typeface="Segoe UI" pitchFamily="34" charset="0"/>
                <a:ea typeface="Segoe UI" pitchFamily="34" charset="-122"/>
                <a:cs typeface="Segoe UI" pitchFamily="34" charset="-120"/>
              </a:rPr>
              <a:t>Thấp nhất</a:t>
            </a:r>
            <a:endParaRPr lang="en-US" sz="850" dirty="0"/>
          </a:p>
        </p:txBody>
      </p:sp>
      <p:sp>
        <p:nvSpPr>
          <p:cNvPr id="25" name="Shape 23"/>
          <p:cNvSpPr/>
          <p:nvPr/>
        </p:nvSpPr>
        <p:spPr>
          <a:xfrm>
            <a:off x="8805672" y="2944368"/>
            <a:ext cx="2770632" cy="914400"/>
          </a:xfrm>
          <a:prstGeom prst="roundRect">
            <a:avLst>
              <a:gd name="adj" fmla="val 6000"/>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26" name="Text 24"/>
          <p:cNvSpPr/>
          <p:nvPr/>
        </p:nvSpPr>
        <p:spPr>
          <a:xfrm>
            <a:off x="8970264" y="3054096"/>
            <a:ext cx="1325880" cy="457200"/>
          </a:xfrm>
          <a:prstGeom prst="rect">
            <a:avLst/>
          </a:prstGeom>
          <a:noFill/>
          <a:ln/>
        </p:spPr>
        <p:txBody>
          <a:bodyPr wrap="square" lIns="0" tIns="0" rIns="0" bIns="0" rtlCol="0" anchor="t"/>
          <a:lstStyle/>
          <a:p>
            <a:pPr marL="0" indent="0">
              <a:buNone/>
            </a:pPr>
            <a:r>
              <a:rPr lang="en-US" sz="2000" b="1" dirty="0">
                <a:solidFill>
                  <a:srgbClr val="1B8EA8"/>
                </a:solidFill>
                <a:latin typeface="Consolas" pitchFamily="34" charset="0"/>
                <a:ea typeface="Consolas" pitchFamily="34" charset="-122"/>
                <a:cs typeface="Consolas" pitchFamily="34" charset="-120"/>
              </a:rPr>
              <a:t>0.860</a:t>
            </a:r>
            <a:endParaRPr lang="en-US" sz="2000" dirty="0"/>
          </a:p>
        </p:txBody>
      </p:sp>
      <p:sp>
        <p:nvSpPr>
          <p:cNvPr id="27" name="Text 25"/>
          <p:cNvSpPr/>
          <p:nvPr/>
        </p:nvSpPr>
        <p:spPr>
          <a:xfrm>
            <a:off x="10177272" y="3127248"/>
            <a:ext cx="1280160" cy="548640"/>
          </a:xfrm>
          <a:prstGeom prst="rect">
            <a:avLst/>
          </a:prstGeom>
          <a:noFill/>
          <a:ln/>
        </p:spPr>
        <p:txBody>
          <a:bodyPr wrap="square" lIns="0" tIns="0" rIns="0" bIns="0" rtlCol="0" anchor="t"/>
          <a:lstStyle/>
          <a:p>
            <a:pPr marL="0" indent="0">
              <a:lnSpc>
                <a:spcPct val="105000"/>
              </a:lnSpc>
              <a:buNone/>
            </a:pPr>
            <a:r>
              <a:rPr lang="en-US" sz="850" dirty="0">
                <a:solidFill>
                  <a:srgbClr val="728694"/>
                </a:solidFill>
                <a:latin typeface="Segoe UI" pitchFamily="34" charset="0"/>
                <a:ea typeface="Segoe UI" pitchFamily="34" charset="-122"/>
                <a:cs typeface="Segoe UI" pitchFamily="34" charset="-120"/>
              </a:rPr>
              <a:t>Độ lệch chuẩn</a:t>
            </a:r>
            <a:endParaRPr lang="en-US" sz="850" dirty="0"/>
          </a:p>
        </p:txBody>
      </p:sp>
      <p:sp>
        <p:nvSpPr>
          <p:cNvPr id="28" name="Text 26"/>
          <p:cNvSpPr/>
          <p:nvPr/>
        </p:nvSpPr>
        <p:spPr>
          <a:xfrm>
            <a:off x="5897880" y="4023360"/>
            <a:ext cx="5669280" cy="219456"/>
          </a:xfrm>
          <a:prstGeom prst="rect">
            <a:avLst/>
          </a:prstGeom>
          <a:noFill/>
          <a:ln/>
        </p:spPr>
        <p:txBody>
          <a:bodyPr wrap="square" lIns="0" tIns="0" rIns="0" bIns="0" rtlCol="0" anchor="t"/>
          <a:lstStyle/>
          <a:p>
            <a:pPr marL="0" indent="0">
              <a:buNone/>
            </a:pPr>
            <a:r>
              <a:rPr lang="en-US" sz="950" b="1" dirty="0">
                <a:solidFill>
                  <a:srgbClr val="415A6B"/>
                </a:solidFill>
                <a:latin typeface="Segoe UI" pitchFamily="34" charset="0"/>
                <a:ea typeface="Segoe UI" pitchFamily="34" charset="-122"/>
                <a:cs typeface="Segoe UI" pitchFamily="34" charset="-120"/>
              </a:rPr>
              <a:t>Điểm từng bài và đường trung bình 7.9</a:t>
            </a:r>
            <a:endParaRPr lang="en-US" sz="950" dirty="0"/>
          </a:p>
        </p:txBody>
      </p:sp>
      <p:sp>
        <p:nvSpPr>
          <p:cNvPr id="29" name="Shape 27"/>
          <p:cNvSpPr/>
          <p:nvPr/>
        </p:nvSpPr>
        <p:spPr>
          <a:xfrm>
            <a:off x="6126480" y="4599432"/>
            <a:ext cx="530352" cy="1133856"/>
          </a:xfrm>
          <a:prstGeom prst="rect">
            <a:avLst/>
          </a:prstGeom>
          <a:solidFill>
            <a:srgbClr val="1B8EA8"/>
          </a:solidFill>
          <a:ln w="6350">
            <a:solidFill>
              <a:srgbClr val="FFFFFF"/>
            </a:solidFill>
            <a:prstDash val="solid"/>
          </a:ln>
        </p:spPr>
      </p:sp>
      <p:sp>
        <p:nvSpPr>
          <p:cNvPr id="30" name="Text 28"/>
          <p:cNvSpPr/>
          <p:nvPr/>
        </p:nvSpPr>
        <p:spPr>
          <a:xfrm>
            <a:off x="6053328" y="4398264"/>
            <a:ext cx="676656" cy="182880"/>
          </a:xfrm>
          <a:prstGeom prst="rect">
            <a:avLst/>
          </a:prstGeom>
          <a:noFill/>
          <a:ln/>
        </p:spPr>
        <p:txBody>
          <a:bodyPr wrap="square" lIns="0" tIns="0" rIns="0" bIns="0" rtlCol="0" anchor="t"/>
          <a:lstStyle/>
          <a:p>
            <a:pPr marL="0" indent="0" algn="ctr">
              <a:buNone/>
            </a:pPr>
            <a:r>
              <a:rPr lang="en-US" sz="850" dirty="0">
                <a:solidFill>
                  <a:srgbClr val="062A3A"/>
                </a:solidFill>
                <a:latin typeface="Consolas" pitchFamily="34" charset="0"/>
                <a:ea typeface="Consolas" pitchFamily="34" charset="-122"/>
                <a:cs typeface="Consolas" pitchFamily="34" charset="-120"/>
              </a:rPr>
              <a:t>8.0</a:t>
            </a:r>
            <a:endParaRPr lang="en-US" sz="850" dirty="0"/>
          </a:p>
        </p:txBody>
      </p:sp>
      <p:sp>
        <p:nvSpPr>
          <p:cNvPr id="31" name="Shape 29"/>
          <p:cNvSpPr/>
          <p:nvPr/>
        </p:nvSpPr>
        <p:spPr>
          <a:xfrm>
            <a:off x="7059168" y="4670298"/>
            <a:ext cx="530352" cy="1062990"/>
          </a:xfrm>
          <a:prstGeom prst="rect">
            <a:avLst/>
          </a:prstGeom>
          <a:solidFill>
            <a:srgbClr val="4DB8D4"/>
          </a:solidFill>
          <a:ln w="6350">
            <a:solidFill>
              <a:srgbClr val="FFFFFF"/>
            </a:solidFill>
            <a:prstDash val="solid"/>
          </a:ln>
        </p:spPr>
      </p:sp>
      <p:sp>
        <p:nvSpPr>
          <p:cNvPr id="32" name="Text 30"/>
          <p:cNvSpPr/>
          <p:nvPr/>
        </p:nvSpPr>
        <p:spPr>
          <a:xfrm>
            <a:off x="6986016" y="4469130"/>
            <a:ext cx="676656" cy="182880"/>
          </a:xfrm>
          <a:prstGeom prst="rect">
            <a:avLst/>
          </a:prstGeom>
          <a:noFill/>
          <a:ln/>
        </p:spPr>
        <p:txBody>
          <a:bodyPr wrap="square" lIns="0" tIns="0" rIns="0" bIns="0" rtlCol="0" anchor="t"/>
          <a:lstStyle/>
          <a:p>
            <a:pPr marL="0" indent="0" algn="ctr">
              <a:buNone/>
            </a:pPr>
            <a:r>
              <a:rPr lang="en-US" sz="850" dirty="0">
                <a:solidFill>
                  <a:srgbClr val="062A3A"/>
                </a:solidFill>
                <a:latin typeface="Consolas" pitchFamily="34" charset="0"/>
                <a:ea typeface="Consolas" pitchFamily="34" charset="-122"/>
                <a:cs typeface="Consolas" pitchFamily="34" charset="-120"/>
              </a:rPr>
              <a:t>7.5</a:t>
            </a:r>
            <a:endParaRPr lang="en-US" sz="850" dirty="0"/>
          </a:p>
        </p:txBody>
      </p:sp>
      <p:sp>
        <p:nvSpPr>
          <p:cNvPr id="33" name="Shape 31"/>
          <p:cNvSpPr/>
          <p:nvPr/>
        </p:nvSpPr>
        <p:spPr>
          <a:xfrm>
            <a:off x="7991856" y="4457700"/>
            <a:ext cx="530352" cy="1275588"/>
          </a:xfrm>
          <a:prstGeom prst="rect">
            <a:avLst/>
          </a:prstGeom>
          <a:solidFill>
            <a:srgbClr val="1B8EA8"/>
          </a:solidFill>
          <a:ln w="6350">
            <a:solidFill>
              <a:srgbClr val="FFFFFF"/>
            </a:solidFill>
            <a:prstDash val="solid"/>
          </a:ln>
        </p:spPr>
      </p:sp>
      <p:sp>
        <p:nvSpPr>
          <p:cNvPr id="34" name="Text 32"/>
          <p:cNvSpPr/>
          <p:nvPr/>
        </p:nvSpPr>
        <p:spPr>
          <a:xfrm>
            <a:off x="7918704" y="4256532"/>
            <a:ext cx="676656" cy="182880"/>
          </a:xfrm>
          <a:prstGeom prst="rect">
            <a:avLst/>
          </a:prstGeom>
          <a:noFill/>
          <a:ln/>
        </p:spPr>
        <p:txBody>
          <a:bodyPr wrap="square" lIns="0" tIns="0" rIns="0" bIns="0" rtlCol="0" anchor="t"/>
          <a:lstStyle/>
          <a:p>
            <a:pPr marL="0" indent="0" algn="ctr">
              <a:buNone/>
            </a:pPr>
            <a:r>
              <a:rPr lang="en-US" sz="850" dirty="0">
                <a:solidFill>
                  <a:srgbClr val="062A3A"/>
                </a:solidFill>
                <a:latin typeface="Consolas" pitchFamily="34" charset="0"/>
                <a:ea typeface="Consolas" pitchFamily="34" charset="-122"/>
                <a:cs typeface="Consolas" pitchFamily="34" charset="-120"/>
              </a:rPr>
              <a:t>9.0</a:t>
            </a:r>
            <a:endParaRPr lang="en-US" sz="850" dirty="0"/>
          </a:p>
        </p:txBody>
      </p:sp>
      <p:sp>
        <p:nvSpPr>
          <p:cNvPr id="35" name="Shape 33"/>
          <p:cNvSpPr/>
          <p:nvPr/>
        </p:nvSpPr>
        <p:spPr>
          <a:xfrm>
            <a:off x="8924544" y="4812030"/>
            <a:ext cx="530352" cy="921258"/>
          </a:xfrm>
          <a:prstGeom prst="rect">
            <a:avLst/>
          </a:prstGeom>
          <a:solidFill>
            <a:srgbClr val="1B8EA8"/>
          </a:solidFill>
          <a:ln w="6350">
            <a:solidFill>
              <a:srgbClr val="FFFFFF"/>
            </a:solidFill>
            <a:prstDash val="solid"/>
          </a:ln>
        </p:spPr>
      </p:sp>
      <p:sp>
        <p:nvSpPr>
          <p:cNvPr id="36" name="Text 34"/>
          <p:cNvSpPr/>
          <p:nvPr/>
        </p:nvSpPr>
        <p:spPr>
          <a:xfrm>
            <a:off x="8851392" y="4610862"/>
            <a:ext cx="676656" cy="182880"/>
          </a:xfrm>
          <a:prstGeom prst="rect">
            <a:avLst/>
          </a:prstGeom>
          <a:noFill/>
          <a:ln/>
        </p:spPr>
        <p:txBody>
          <a:bodyPr wrap="square" lIns="0" tIns="0" rIns="0" bIns="0" rtlCol="0" anchor="t"/>
          <a:lstStyle/>
          <a:p>
            <a:pPr marL="0" indent="0" algn="ctr">
              <a:buNone/>
            </a:pPr>
            <a:r>
              <a:rPr lang="en-US" sz="850" dirty="0">
                <a:solidFill>
                  <a:srgbClr val="062A3A"/>
                </a:solidFill>
                <a:latin typeface="Consolas" pitchFamily="34" charset="0"/>
                <a:ea typeface="Consolas" pitchFamily="34" charset="-122"/>
                <a:cs typeface="Consolas" pitchFamily="34" charset="-120"/>
              </a:rPr>
              <a:t>6.5</a:t>
            </a:r>
            <a:endParaRPr lang="en-US" sz="850" dirty="0"/>
          </a:p>
        </p:txBody>
      </p:sp>
      <p:sp>
        <p:nvSpPr>
          <p:cNvPr id="37" name="Shape 35"/>
          <p:cNvSpPr/>
          <p:nvPr/>
        </p:nvSpPr>
        <p:spPr>
          <a:xfrm>
            <a:off x="9857232" y="4528566"/>
            <a:ext cx="530352" cy="1204722"/>
          </a:xfrm>
          <a:prstGeom prst="rect">
            <a:avLst/>
          </a:prstGeom>
          <a:solidFill>
            <a:srgbClr val="1B8EA8"/>
          </a:solidFill>
          <a:ln w="6350">
            <a:solidFill>
              <a:srgbClr val="FFFFFF"/>
            </a:solidFill>
            <a:prstDash val="solid"/>
          </a:ln>
        </p:spPr>
      </p:sp>
      <p:sp>
        <p:nvSpPr>
          <p:cNvPr id="38" name="Text 36"/>
          <p:cNvSpPr/>
          <p:nvPr/>
        </p:nvSpPr>
        <p:spPr>
          <a:xfrm>
            <a:off x="9784080" y="4327398"/>
            <a:ext cx="676656" cy="182880"/>
          </a:xfrm>
          <a:prstGeom prst="rect">
            <a:avLst/>
          </a:prstGeom>
          <a:noFill/>
          <a:ln/>
        </p:spPr>
        <p:txBody>
          <a:bodyPr wrap="square" lIns="0" tIns="0" rIns="0" bIns="0" rtlCol="0" anchor="t"/>
          <a:lstStyle/>
          <a:p>
            <a:pPr marL="0" indent="0" algn="ctr">
              <a:buNone/>
            </a:pPr>
            <a:r>
              <a:rPr lang="en-US" sz="850" dirty="0">
                <a:solidFill>
                  <a:srgbClr val="062A3A"/>
                </a:solidFill>
                <a:latin typeface="Consolas" pitchFamily="34" charset="0"/>
                <a:ea typeface="Consolas" pitchFamily="34" charset="-122"/>
                <a:cs typeface="Consolas" pitchFamily="34" charset="-120"/>
              </a:rPr>
              <a:t>8.5</a:t>
            </a:r>
            <a:endParaRPr lang="en-US" sz="850" dirty="0"/>
          </a:p>
        </p:txBody>
      </p:sp>
      <p:sp>
        <p:nvSpPr>
          <p:cNvPr id="39" name="Shape 37"/>
          <p:cNvSpPr/>
          <p:nvPr/>
        </p:nvSpPr>
        <p:spPr>
          <a:xfrm>
            <a:off x="6080760" y="4613605"/>
            <a:ext cx="4754880" cy="0"/>
          </a:xfrm>
          <a:prstGeom prst="line">
            <a:avLst/>
          </a:prstGeom>
          <a:noFill/>
          <a:ln w="15875">
            <a:solidFill>
              <a:srgbClr val="E8A33D"/>
            </a:solidFill>
            <a:prstDash val="dash"/>
          </a:ln>
        </p:spPr>
      </p:sp>
      <p:sp>
        <p:nvSpPr>
          <p:cNvPr id="40" name="Text 38"/>
          <p:cNvSpPr/>
          <p:nvPr/>
        </p:nvSpPr>
        <p:spPr>
          <a:xfrm>
            <a:off x="10378440" y="4394149"/>
            <a:ext cx="685800" cy="182880"/>
          </a:xfrm>
          <a:prstGeom prst="rect">
            <a:avLst/>
          </a:prstGeom>
          <a:noFill/>
          <a:ln/>
        </p:spPr>
        <p:txBody>
          <a:bodyPr wrap="square" lIns="0" tIns="0" rIns="0" bIns="0" rtlCol="0" anchor="t"/>
          <a:lstStyle/>
          <a:p>
            <a:pPr marL="0" indent="0">
              <a:buNone/>
            </a:pPr>
            <a:r>
              <a:rPr lang="en-US" sz="800" b="1" dirty="0">
                <a:solidFill>
                  <a:srgbClr val="B7771B"/>
                </a:solidFill>
                <a:latin typeface="Consolas" pitchFamily="34" charset="0"/>
                <a:ea typeface="Consolas" pitchFamily="34" charset="-122"/>
                <a:cs typeface="Consolas" pitchFamily="34" charset="-120"/>
              </a:rPr>
              <a:t>TB 7.9</a:t>
            </a:r>
            <a:endParaRPr lang="en-US" sz="800" dirty="0"/>
          </a:p>
        </p:txBody>
      </p:sp>
      <p:sp>
        <p:nvSpPr>
          <p:cNvPr id="41" name="Text 39"/>
          <p:cNvSpPr/>
          <p:nvPr/>
        </p:nvSpPr>
        <p:spPr>
          <a:xfrm>
            <a:off x="5897880" y="5870448"/>
            <a:ext cx="5669280" cy="219456"/>
          </a:xfrm>
          <a:prstGeom prst="rect">
            <a:avLst/>
          </a:prstGeom>
          <a:noFill/>
          <a:ln/>
        </p:spPr>
        <p:txBody>
          <a:bodyPr wrap="square" lIns="0" tIns="0" rIns="0" bIns="0" rtlCol="0" anchor="t"/>
          <a:lstStyle/>
          <a:p>
            <a:pPr marL="0" indent="0">
              <a:buNone/>
            </a:pPr>
            <a:r>
              <a:rPr lang="en-US" sz="950" b="1" dirty="0">
                <a:solidFill>
                  <a:srgbClr val="2D8C6F"/>
                </a:solidFill>
                <a:latin typeface="Segoe UI" pitchFamily="34" charset="0"/>
                <a:ea typeface="Segoe UI" pitchFamily="34" charset="-122"/>
                <a:cs typeface="Segoe UI" pitchFamily="34" charset="-120"/>
              </a:rPr>
              <a:t>3/5 bài đạt ngưỡng 8.0</a:t>
            </a:r>
            <a:endParaRPr lang="en-US" sz="950" dirty="0"/>
          </a:p>
        </p:txBody>
      </p:sp>
      <p:sp>
        <p:nvSpPr>
          <p:cNvPr id="42" name="Shape 40"/>
          <p:cNvSpPr/>
          <p:nvPr/>
        </p:nvSpPr>
        <p:spPr>
          <a:xfrm>
            <a:off x="548640" y="6391656"/>
            <a:ext cx="11091672" cy="9144"/>
          </a:xfrm>
          <a:prstGeom prst="rect">
            <a:avLst/>
          </a:prstGeom>
          <a:solidFill>
            <a:srgbClr val="D7E5EC"/>
          </a:solidFill>
          <a:ln w="12700">
            <a:solidFill>
              <a:srgbClr val="D7E5EC"/>
            </a:solidFill>
            <a:prstDash val="solid"/>
          </a:ln>
        </p:spPr>
      </p:sp>
      <p:sp>
        <p:nvSpPr>
          <p:cNvPr id="43" name="Text 41"/>
          <p:cNvSpPr/>
          <p:nvPr/>
        </p:nvSpPr>
        <p:spPr>
          <a:xfrm>
            <a:off x="548640" y="6473952"/>
            <a:ext cx="7772400" cy="182880"/>
          </a:xfrm>
          <a:prstGeom prst="rect">
            <a:avLst/>
          </a:prstGeom>
          <a:noFill/>
          <a:ln/>
        </p:spPr>
        <p:txBody>
          <a:bodyPr wrap="square" lIns="0" tIns="0" rIns="0" bIns="0" rtlCol="0" anchor="t"/>
          <a:lstStyle/>
          <a:p>
            <a:pPr marL="0" indent="0">
              <a:buNone/>
            </a:pPr>
            <a:r>
              <a:rPr lang="en-US" sz="850" dirty="0">
                <a:solidFill>
                  <a:srgbClr val="728694"/>
                </a:solidFill>
                <a:latin typeface="Segoe UI" pitchFamily="34" charset="0"/>
                <a:ea typeface="Segoe UI" pitchFamily="34" charset="-122"/>
                <a:cs typeface="Segoe UI" pitchFamily="34" charset="-120"/>
              </a:rPr>
              <a:t>Tìm hiểu thư viện NumPy trong Python</a:t>
            </a:r>
            <a:endParaRPr lang="en-US" sz="850" dirty="0"/>
          </a:p>
        </p:txBody>
      </p:sp>
      <p:sp>
        <p:nvSpPr>
          <p:cNvPr id="44" name="Text 42"/>
          <p:cNvSpPr/>
          <p:nvPr/>
        </p:nvSpPr>
        <p:spPr>
          <a:xfrm>
            <a:off x="10698480" y="6473952"/>
            <a:ext cx="941832" cy="182880"/>
          </a:xfrm>
          <a:prstGeom prst="rect">
            <a:avLst/>
          </a:prstGeom>
          <a:noFill/>
          <a:ln/>
        </p:spPr>
        <p:txBody>
          <a:bodyPr wrap="square" lIns="0" tIns="0" rIns="0" bIns="0" rtlCol="0" anchor="t"/>
          <a:lstStyle/>
          <a:p>
            <a:pPr marL="0" indent="0" algn="r">
              <a:buNone/>
            </a:pPr>
            <a:r>
              <a:rPr lang="en-US" sz="850" dirty="0">
                <a:solidFill>
                  <a:srgbClr val="728694"/>
                </a:solidFill>
                <a:latin typeface="Segoe UI" pitchFamily="34" charset="0"/>
                <a:ea typeface="Segoe UI" pitchFamily="34" charset="-122"/>
                <a:cs typeface="Segoe UI" pitchFamily="34" charset="-120"/>
              </a:rPr>
              <a:t>22 / 25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301752"/>
            <a:ext cx="10881360" cy="201168"/>
          </a:xfrm>
          <a:prstGeom prst="rect">
            <a:avLst/>
          </a:prstGeom>
          <a:noFill/>
          <a:ln/>
        </p:spPr>
        <p:txBody>
          <a:bodyPr wrap="square" lIns="0" tIns="0" rIns="0" bIns="0" rtlCol="0" anchor="t"/>
          <a:lstStyle/>
          <a:p>
            <a:pPr marL="0" indent="0">
              <a:buNone/>
            </a:pPr>
            <a:r>
              <a:rPr lang="en-US" sz="950" b="1" kern="0" spc="160" dirty="0">
                <a:solidFill>
                  <a:srgbClr val="1B8EA8"/>
                </a:solidFill>
                <a:latin typeface="Segoe UI" pitchFamily="34" charset="0"/>
                <a:ea typeface="Segoe UI" pitchFamily="34" charset="-122"/>
                <a:cs typeface="Segoe UI" pitchFamily="34" charset="-120"/>
              </a:rPr>
              <a:t>06 · THỰC HÀNH</a:t>
            </a:r>
            <a:endParaRPr lang="en-US" sz="950" dirty="0"/>
          </a:p>
        </p:txBody>
      </p:sp>
      <p:sp>
        <p:nvSpPr>
          <p:cNvPr id="3" name="Text 1"/>
          <p:cNvSpPr/>
          <p:nvPr/>
        </p:nvSpPr>
        <p:spPr>
          <a:xfrm>
            <a:off x="548640" y="502920"/>
            <a:ext cx="10881360" cy="640080"/>
          </a:xfrm>
          <a:prstGeom prst="rect">
            <a:avLst/>
          </a:prstGeom>
          <a:noFill/>
          <a:ln/>
        </p:spPr>
        <p:txBody>
          <a:bodyPr wrap="square" lIns="0" tIns="0" rIns="0" bIns="0" rtlCol="0" anchor="ctr"/>
          <a:lstStyle/>
          <a:p>
            <a:pPr marL="0" indent="0">
              <a:buNone/>
            </a:pPr>
            <a:r>
              <a:rPr lang="en-US" sz="2800" b="1" dirty="0">
                <a:solidFill>
                  <a:srgbClr val="062A3A"/>
                </a:solidFill>
                <a:latin typeface="Segoe UI" pitchFamily="34" charset="0"/>
                <a:ea typeface="Segoe UI" pitchFamily="34" charset="-122"/>
                <a:cs typeface="Segoe UI" pitchFamily="34" charset="-120"/>
              </a:rPr>
              <a:t>Ví dụ 2 — Chuẩn hóa và thay vòng lặp</a:t>
            </a:r>
            <a:endParaRPr lang="en-US" sz="2800" dirty="0"/>
          </a:p>
        </p:txBody>
      </p:sp>
      <p:sp>
        <p:nvSpPr>
          <p:cNvPr id="4" name="Shape 2"/>
          <p:cNvSpPr/>
          <p:nvPr/>
        </p:nvSpPr>
        <p:spPr>
          <a:xfrm>
            <a:off x="548640" y="1225296"/>
            <a:ext cx="868680" cy="41148"/>
          </a:xfrm>
          <a:prstGeom prst="rect">
            <a:avLst/>
          </a:prstGeom>
          <a:solidFill>
            <a:srgbClr val="1B8EA8"/>
          </a:solidFill>
          <a:ln w="12700">
            <a:solidFill>
              <a:srgbClr val="1B8EA8"/>
            </a:solidFill>
            <a:prstDash val="solid"/>
          </a:ln>
        </p:spPr>
      </p:sp>
      <p:sp>
        <p:nvSpPr>
          <p:cNvPr id="5" name="Shape 3"/>
          <p:cNvSpPr/>
          <p:nvPr/>
        </p:nvSpPr>
        <p:spPr>
          <a:xfrm>
            <a:off x="548640" y="1463040"/>
            <a:ext cx="5440680" cy="3977640"/>
          </a:xfrm>
          <a:prstGeom prst="roundRect">
            <a:avLst>
              <a:gd name="adj" fmla="val 1379"/>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6" name="Text 4"/>
          <p:cNvSpPr/>
          <p:nvPr/>
        </p:nvSpPr>
        <p:spPr>
          <a:xfrm>
            <a:off x="786384" y="1609344"/>
            <a:ext cx="4937760" cy="292608"/>
          </a:xfrm>
          <a:prstGeom prst="rect">
            <a:avLst/>
          </a:prstGeom>
          <a:noFill/>
          <a:ln/>
        </p:spPr>
        <p:txBody>
          <a:bodyPr wrap="square" lIns="0" tIns="0" rIns="0" bIns="0" rtlCol="0" anchor="t"/>
          <a:lstStyle/>
          <a:p>
            <a:pPr marL="0" indent="0">
              <a:buNone/>
            </a:pPr>
            <a:r>
              <a:rPr lang="en-US" sz="1350" b="1" dirty="0">
                <a:solidFill>
                  <a:srgbClr val="062A3A"/>
                </a:solidFill>
                <a:latin typeface="Segoe UI" pitchFamily="34" charset="0"/>
                <a:ea typeface="Segoe UI" pitchFamily="34" charset="-122"/>
                <a:cs typeface="Segoe UI" pitchFamily="34" charset="-120"/>
              </a:rPr>
              <a:t>Chuẩn hóa z-score</a:t>
            </a:r>
            <a:endParaRPr lang="en-US" sz="1350" dirty="0"/>
          </a:p>
        </p:txBody>
      </p:sp>
      <p:sp>
        <p:nvSpPr>
          <p:cNvPr id="7" name="Shape 5"/>
          <p:cNvSpPr/>
          <p:nvPr/>
        </p:nvSpPr>
        <p:spPr>
          <a:xfrm>
            <a:off x="749808" y="1993392"/>
            <a:ext cx="5029200" cy="1572768"/>
          </a:xfrm>
          <a:prstGeom prst="roundRect">
            <a:avLst>
              <a:gd name="adj" fmla="val 2907"/>
            </a:avLst>
          </a:prstGeom>
          <a:solidFill>
            <a:srgbClr val="0B2230"/>
          </a:solidFill>
          <a:ln w="9525">
            <a:solidFill>
              <a:srgbClr val="163B4C"/>
            </a:solidFill>
            <a:prstDash val="solid"/>
          </a:ln>
        </p:spPr>
      </p:sp>
      <p:sp>
        <p:nvSpPr>
          <p:cNvPr id="8" name="Shape 6"/>
          <p:cNvSpPr/>
          <p:nvPr/>
        </p:nvSpPr>
        <p:spPr>
          <a:xfrm>
            <a:off x="749808" y="1993392"/>
            <a:ext cx="5029200" cy="265176"/>
          </a:xfrm>
          <a:prstGeom prst="rect">
            <a:avLst/>
          </a:prstGeom>
          <a:solidFill>
            <a:srgbClr val="103445"/>
          </a:solidFill>
          <a:ln w="12700">
            <a:solidFill>
              <a:srgbClr val="103445"/>
            </a:solidFill>
            <a:prstDash val="solid"/>
          </a:ln>
        </p:spPr>
      </p:sp>
      <p:sp>
        <p:nvSpPr>
          <p:cNvPr id="9" name="Text 7"/>
          <p:cNvSpPr/>
          <p:nvPr/>
        </p:nvSpPr>
        <p:spPr>
          <a:xfrm>
            <a:off x="896112" y="2043684"/>
            <a:ext cx="4114800" cy="182880"/>
          </a:xfrm>
          <a:prstGeom prst="rect">
            <a:avLst/>
          </a:prstGeom>
          <a:noFill/>
          <a:ln/>
        </p:spPr>
        <p:txBody>
          <a:bodyPr wrap="square" lIns="0" tIns="0" rIns="0" bIns="0" rtlCol="0" anchor="t"/>
          <a:lstStyle/>
          <a:p>
            <a:pPr marL="0" indent="0">
              <a:buNone/>
            </a:pPr>
            <a:r>
              <a:rPr lang="en-US" sz="850" dirty="0">
                <a:solidFill>
                  <a:srgbClr val="8FB6C8"/>
                </a:solidFill>
                <a:latin typeface="Consolas" pitchFamily="34" charset="0"/>
                <a:ea typeface="Consolas" pitchFamily="34" charset="-122"/>
                <a:cs typeface="Consolas" pitchFamily="34" charset="-120"/>
              </a:rPr>
              <a:t>python</a:t>
            </a:r>
            <a:endParaRPr lang="en-US" sz="850" dirty="0"/>
          </a:p>
        </p:txBody>
      </p:sp>
      <p:sp>
        <p:nvSpPr>
          <p:cNvPr id="10" name="Shape 8"/>
          <p:cNvSpPr/>
          <p:nvPr/>
        </p:nvSpPr>
        <p:spPr>
          <a:xfrm>
            <a:off x="5212080" y="2098548"/>
            <a:ext cx="77724" cy="77724"/>
          </a:xfrm>
          <a:prstGeom prst="ellipse">
            <a:avLst/>
          </a:prstGeom>
          <a:solidFill>
            <a:srgbClr val="D96C5F"/>
          </a:solidFill>
          <a:ln w="12700">
            <a:solidFill>
              <a:srgbClr val="D96C5F"/>
            </a:solidFill>
            <a:prstDash val="solid"/>
          </a:ln>
        </p:spPr>
      </p:sp>
      <p:sp>
        <p:nvSpPr>
          <p:cNvPr id="11" name="Shape 9"/>
          <p:cNvSpPr/>
          <p:nvPr/>
        </p:nvSpPr>
        <p:spPr>
          <a:xfrm>
            <a:off x="5367528" y="2098548"/>
            <a:ext cx="77724" cy="77724"/>
          </a:xfrm>
          <a:prstGeom prst="ellipse">
            <a:avLst/>
          </a:prstGeom>
          <a:solidFill>
            <a:srgbClr val="E8A33D"/>
          </a:solidFill>
          <a:ln w="12700">
            <a:solidFill>
              <a:srgbClr val="E8A33D"/>
            </a:solidFill>
            <a:prstDash val="solid"/>
          </a:ln>
        </p:spPr>
      </p:sp>
      <p:sp>
        <p:nvSpPr>
          <p:cNvPr id="12" name="Shape 10"/>
          <p:cNvSpPr/>
          <p:nvPr/>
        </p:nvSpPr>
        <p:spPr>
          <a:xfrm>
            <a:off x="5522976" y="2098548"/>
            <a:ext cx="77724" cy="77724"/>
          </a:xfrm>
          <a:prstGeom prst="ellipse">
            <a:avLst/>
          </a:prstGeom>
          <a:solidFill>
            <a:srgbClr val="2D8C6F"/>
          </a:solidFill>
          <a:ln w="12700">
            <a:solidFill>
              <a:srgbClr val="2D8C6F"/>
            </a:solidFill>
            <a:prstDash val="solid"/>
          </a:ln>
        </p:spPr>
      </p:sp>
      <p:sp>
        <p:nvSpPr>
          <p:cNvPr id="13" name="Text 11"/>
          <p:cNvSpPr/>
          <p:nvPr/>
        </p:nvSpPr>
        <p:spPr>
          <a:xfrm>
            <a:off x="914400" y="2340864"/>
            <a:ext cx="4736592" cy="1152144"/>
          </a:xfrm>
          <a:prstGeom prst="rect">
            <a:avLst/>
          </a:prstGeom>
          <a:noFill/>
          <a:ln/>
        </p:spPr>
        <p:txBody>
          <a:bodyPr wrap="square" lIns="0" tIns="0" rIns="0" bIns="0" rtlCol="0" anchor="t"/>
          <a:lstStyle/>
          <a:p>
            <a:pPr marL="0" indent="0">
              <a:lnSpc>
                <a:spcPct val="102000"/>
              </a:lnSpc>
              <a:buNone/>
            </a:pPr>
            <a:r>
              <a:rPr lang="en-US" sz="920" dirty="0">
                <a:solidFill>
                  <a:srgbClr val="D6E6EF"/>
                </a:solidFill>
                <a:latin typeface="Consolas" pitchFamily="34" charset="0"/>
                <a:ea typeface="Consolas" pitchFamily="34" charset="-122"/>
                <a:cs typeface="Consolas" pitchFamily="34" charset="-120"/>
              </a:rPr>
              <a:t>x = </a:t>
            </a:r>
            <a:r>
              <a:rPr lang="en-US" sz="920" dirty="0">
                <a:solidFill>
                  <a:srgbClr val="8AD9C0"/>
                </a:solidFill>
                <a:latin typeface="Consolas" pitchFamily="34" charset="0"/>
                <a:ea typeface="Consolas" pitchFamily="34" charset="-122"/>
                <a:cs typeface="Consolas" pitchFamily="34" charset="-120"/>
              </a:rPr>
              <a:t>np</a:t>
            </a:r>
            <a:r>
              <a:rPr lang="en-US" sz="920" dirty="0">
                <a:solidFill>
                  <a:srgbClr val="D6E6EF"/>
                </a:solidFill>
                <a:latin typeface="Consolas" pitchFamily="34" charset="0"/>
                <a:ea typeface="Consolas" pitchFamily="34" charset="-122"/>
                <a:cs typeface="Consolas" pitchFamily="34" charset="-120"/>
              </a:rPr>
              <a:t>.array([</a:t>
            </a:r>
            <a:r>
              <a:rPr lang="en-US" sz="920" dirty="0">
                <a:solidFill>
                  <a:srgbClr val="F08A7C"/>
                </a:solidFill>
                <a:latin typeface="Consolas" pitchFamily="34" charset="0"/>
                <a:ea typeface="Consolas" pitchFamily="34" charset="-122"/>
                <a:cs typeface="Consolas" pitchFamily="34" charset="-120"/>
              </a:rPr>
              <a:t>2.0</a:t>
            </a:r>
            <a:r>
              <a:rPr lang="en-US" sz="920" dirty="0">
                <a:solidFill>
                  <a:srgbClr val="D6E6EF"/>
                </a:solidFill>
                <a:latin typeface="Consolas" pitchFamily="34" charset="0"/>
                <a:ea typeface="Consolas" pitchFamily="34" charset="-122"/>
                <a:cs typeface="Consolas" pitchFamily="34" charset="-120"/>
              </a:rPr>
              <a:t>, </a:t>
            </a:r>
            <a:r>
              <a:rPr lang="en-US" sz="920" dirty="0">
                <a:solidFill>
                  <a:srgbClr val="F08A7C"/>
                </a:solidFill>
                <a:latin typeface="Consolas" pitchFamily="34" charset="0"/>
                <a:ea typeface="Consolas" pitchFamily="34" charset="-122"/>
                <a:cs typeface="Consolas" pitchFamily="34" charset="-120"/>
              </a:rPr>
              <a:t>4.0</a:t>
            </a:r>
            <a:r>
              <a:rPr lang="en-US" sz="920" dirty="0">
                <a:solidFill>
                  <a:srgbClr val="D6E6EF"/>
                </a:solidFill>
                <a:latin typeface="Consolas" pitchFamily="34" charset="0"/>
                <a:ea typeface="Consolas" pitchFamily="34" charset="-122"/>
                <a:cs typeface="Consolas" pitchFamily="34" charset="-120"/>
              </a:rPr>
              <a:t>, </a:t>
            </a:r>
            <a:r>
              <a:rPr lang="en-US" sz="920" dirty="0">
                <a:solidFill>
                  <a:srgbClr val="F08A7C"/>
                </a:solidFill>
                <a:latin typeface="Consolas" pitchFamily="34" charset="0"/>
                <a:ea typeface="Consolas" pitchFamily="34" charset="-122"/>
                <a:cs typeface="Consolas" pitchFamily="34" charset="-120"/>
              </a:rPr>
              <a:t>6.0</a:t>
            </a:r>
            <a:r>
              <a:rPr lang="en-US" sz="920" dirty="0">
                <a:solidFill>
                  <a:srgbClr val="D6E6EF"/>
                </a:solidFill>
                <a:latin typeface="Consolas" pitchFamily="34" charset="0"/>
                <a:ea typeface="Consolas" pitchFamily="34" charset="-122"/>
                <a:cs typeface="Consolas" pitchFamily="34" charset="-120"/>
              </a:rPr>
              <a:t>, </a:t>
            </a:r>
            <a:r>
              <a:rPr lang="en-US" sz="920" dirty="0">
                <a:solidFill>
                  <a:srgbClr val="F08A7C"/>
                </a:solidFill>
                <a:latin typeface="Consolas" pitchFamily="34" charset="0"/>
                <a:ea typeface="Consolas" pitchFamily="34" charset="-122"/>
                <a:cs typeface="Consolas" pitchFamily="34" charset="-120"/>
              </a:rPr>
              <a:t>8.0</a:t>
            </a:r>
            <a:r>
              <a:rPr lang="en-US" sz="920" dirty="0">
                <a:solidFill>
                  <a:srgbClr val="D6E6EF"/>
                </a:solidFill>
                <a:latin typeface="Consolas" pitchFamily="34" charset="0"/>
                <a:ea typeface="Consolas" pitchFamily="34" charset="-122"/>
                <a:cs typeface="Consolas" pitchFamily="34" charset="-120"/>
              </a:rPr>
              <a:t>])</a:t>
            </a:r>
            <a:endParaRPr lang="en-US" sz="920" dirty="0"/>
          </a:p>
          <a:p>
            <a:pPr marL="0" indent="0">
              <a:lnSpc>
                <a:spcPct val="102000"/>
              </a:lnSpc>
              <a:buNone/>
            </a:pPr>
            <a:r>
              <a:rPr lang="en-US" sz="920" dirty="0">
                <a:solidFill>
                  <a:srgbClr val="D6E6EF"/>
                </a:solidFill>
                <a:latin typeface="Consolas" pitchFamily="34" charset="0"/>
                <a:ea typeface="Consolas" pitchFamily="34" charset="-122"/>
                <a:cs typeface="Consolas" pitchFamily="34" charset="-120"/>
              </a:rPr>
              <a:t>z = (x - </a:t>
            </a:r>
            <a:r>
              <a:rPr lang="en-US" sz="920" dirty="0">
                <a:solidFill>
                  <a:srgbClr val="8AD9C0"/>
                </a:solidFill>
                <a:latin typeface="Consolas" pitchFamily="34" charset="0"/>
                <a:ea typeface="Consolas" pitchFamily="34" charset="-122"/>
                <a:cs typeface="Consolas" pitchFamily="34" charset="-120"/>
              </a:rPr>
              <a:t>np</a:t>
            </a:r>
            <a:r>
              <a:rPr lang="en-US" sz="920" dirty="0">
                <a:solidFill>
                  <a:srgbClr val="D6E6EF"/>
                </a:solidFill>
                <a:latin typeface="Consolas" pitchFamily="34" charset="0"/>
                <a:ea typeface="Consolas" pitchFamily="34" charset="-122"/>
                <a:cs typeface="Consolas" pitchFamily="34" charset="-120"/>
              </a:rPr>
              <a:t>.mean(x)) / </a:t>
            </a:r>
            <a:r>
              <a:rPr lang="en-US" sz="920" dirty="0">
                <a:solidFill>
                  <a:srgbClr val="8AD9C0"/>
                </a:solidFill>
                <a:latin typeface="Consolas" pitchFamily="34" charset="0"/>
                <a:ea typeface="Consolas" pitchFamily="34" charset="-122"/>
                <a:cs typeface="Consolas" pitchFamily="34" charset="-120"/>
              </a:rPr>
              <a:t>np</a:t>
            </a:r>
            <a:r>
              <a:rPr lang="en-US" sz="920" dirty="0">
                <a:solidFill>
                  <a:srgbClr val="D6E6EF"/>
                </a:solidFill>
                <a:latin typeface="Consolas" pitchFamily="34" charset="0"/>
                <a:ea typeface="Consolas" pitchFamily="34" charset="-122"/>
                <a:cs typeface="Consolas" pitchFamily="34" charset="-120"/>
              </a:rPr>
              <a:t>.std(x)</a:t>
            </a:r>
            <a:endParaRPr lang="en-US" sz="920" dirty="0"/>
          </a:p>
          <a:p>
            <a:pPr marL="0" indent="0">
              <a:lnSpc>
                <a:spcPct val="102000"/>
              </a:lnSpc>
              <a:buNone/>
            </a:pPr>
            <a:r>
              <a:rPr lang="en-US" sz="920" dirty="0">
                <a:solidFill>
                  <a:srgbClr val="6FD0E4"/>
                </a:solidFill>
                <a:latin typeface="Consolas" pitchFamily="34" charset="0"/>
                <a:ea typeface="Consolas" pitchFamily="34" charset="-122"/>
                <a:cs typeface="Consolas" pitchFamily="34" charset="-120"/>
              </a:rPr>
              <a:t>print</a:t>
            </a:r>
            <a:r>
              <a:rPr lang="en-US" sz="920" dirty="0">
                <a:solidFill>
                  <a:srgbClr val="D6E6EF"/>
                </a:solidFill>
                <a:latin typeface="Consolas" pitchFamily="34" charset="0"/>
                <a:ea typeface="Consolas" pitchFamily="34" charset="-122"/>
                <a:cs typeface="Consolas" pitchFamily="34" charset="-120"/>
              </a:rPr>
              <a:t>(z)</a:t>
            </a:r>
            <a:endParaRPr lang="en-US" sz="920" dirty="0"/>
          </a:p>
          <a:p>
            <a:pPr marL="0" indent="0">
              <a:lnSpc>
                <a:spcPct val="102000"/>
              </a:lnSpc>
              <a:buNone/>
            </a:pPr>
            <a:r>
              <a:rPr lang="en-US" sz="920" dirty="0">
                <a:solidFill>
                  <a:srgbClr val="6FD0E4"/>
                </a:solidFill>
                <a:latin typeface="Consolas" pitchFamily="34" charset="0"/>
                <a:ea typeface="Consolas" pitchFamily="34" charset="-122"/>
                <a:cs typeface="Consolas" pitchFamily="34" charset="-120"/>
              </a:rPr>
              <a:t>print</a:t>
            </a:r>
            <a:r>
              <a:rPr lang="en-US" sz="920" dirty="0">
                <a:solidFill>
                  <a:srgbClr val="D6E6EF"/>
                </a:solidFill>
                <a:latin typeface="Consolas" pitchFamily="34" charset="0"/>
                <a:ea typeface="Consolas" pitchFamily="34" charset="-122"/>
                <a:cs typeface="Consolas" pitchFamily="34" charset="-120"/>
              </a:rPr>
              <a:t>(</a:t>
            </a:r>
            <a:r>
              <a:rPr lang="en-US" sz="920" dirty="0">
                <a:solidFill>
                  <a:srgbClr val="8AD9C0"/>
                </a:solidFill>
                <a:latin typeface="Consolas" pitchFamily="34" charset="0"/>
                <a:ea typeface="Consolas" pitchFamily="34" charset="-122"/>
                <a:cs typeface="Consolas" pitchFamily="34" charset="-120"/>
              </a:rPr>
              <a:t>np</a:t>
            </a:r>
            <a:r>
              <a:rPr lang="en-US" sz="920" dirty="0">
                <a:solidFill>
                  <a:srgbClr val="D6E6EF"/>
                </a:solidFill>
                <a:latin typeface="Consolas" pitchFamily="34" charset="0"/>
                <a:ea typeface="Consolas" pitchFamily="34" charset="-122"/>
                <a:cs typeface="Consolas" pitchFamily="34" charset="-120"/>
              </a:rPr>
              <a:t>.mean(z), </a:t>
            </a:r>
            <a:r>
              <a:rPr lang="en-US" sz="920" dirty="0">
                <a:solidFill>
                  <a:srgbClr val="8AD9C0"/>
                </a:solidFill>
                <a:latin typeface="Consolas" pitchFamily="34" charset="0"/>
                <a:ea typeface="Consolas" pitchFamily="34" charset="-122"/>
                <a:cs typeface="Consolas" pitchFamily="34" charset="-120"/>
              </a:rPr>
              <a:t>np</a:t>
            </a:r>
            <a:r>
              <a:rPr lang="en-US" sz="920" dirty="0">
                <a:solidFill>
                  <a:srgbClr val="D6E6EF"/>
                </a:solidFill>
                <a:latin typeface="Consolas" pitchFamily="34" charset="0"/>
                <a:ea typeface="Consolas" pitchFamily="34" charset="-122"/>
                <a:cs typeface="Consolas" pitchFamily="34" charset="-120"/>
              </a:rPr>
              <a:t>.std(z))</a:t>
            </a:r>
            <a:endParaRPr lang="en-US" sz="920" dirty="0"/>
          </a:p>
        </p:txBody>
      </p:sp>
      <p:sp>
        <p:nvSpPr>
          <p:cNvPr id="14" name="Shape 12"/>
          <p:cNvSpPr/>
          <p:nvPr/>
        </p:nvSpPr>
        <p:spPr>
          <a:xfrm>
            <a:off x="749808" y="3675888"/>
            <a:ext cx="5029200" cy="1078992"/>
          </a:xfrm>
          <a:prstGeom prst="roundRect">
            <a:avLst>
              <a:gd name="adj" fmla="val 4237"/>
            </a:avLst>
          </a:prstGeom>
          <a:solidFill>
            <a:srgbClr val="FFFFFF"/>
          </a:solidFill>
          <a:ln w="9525">
            <a:solidFill>
              <a:srgbClr val="CFE5EE"/>
            </a:solidFill>
            <a:prstDash val="solid"/>
          </a:ln>
        </p:spPr>
      </p:sp>
      <p:sp>
        <p:nvSpPr>
          <p:cNvPr id="15" name="Text 13"/>
          <p:cNvSpPr/>
          <p:nvPr/>
        </p:nvSpPr>
        <p:spPr>
          <a:xfrm>
            <a:off x="896112" y="3767328"/>
            <a:ext cx="4754880" cy="164592"/>
          </a:xfrm>
          <a:prstGeom prst="rect">
            <a:avLst/>
          </a:prstGeom>
          <a:noFill/>
          <a:ln/>
        </p:spPr>
        <p:txBody>
          <a:bodyPr wrap="square" lIns="0" tIns="0" rIns="0" bIns="0" rtlCol="0" anchor="t"/>
          <a:lstStyle/>
          <a:p>
            <a:pPr marL="0" indent="0">
              <a:buNone/>
            </a:pPr>
            <a:r>
              <a:rPr lang="en-US" sz="800" b="1" kern="0" spc="120" dirty="0">
                <a:solidFill>
                  <a:srgbClr val="2D8C6F"/>
                </a:solidFill>
                <a:latin typeface="Segoe UI" pitchFamily="34" charset="0"/>
                <a:ea typeface="Segoe UI" pitchFamily="34" charset="-122"/>
                <a:cs typeface="Segoe UI" pitchFamily="34" charset="-120"/>
              </a:rPr>
              <a:t>KẾT QUẢ</a:t>
            </a:r>
            <a:endParaRPr lang="en-US" sz="800" dirty="0"/>
          </a:p>
        </p:txBody>
      </p:sp>
      <p:sp>
        <p:nvSpPr>
          <p:cNvPr id="16" name="Text 14"/>
          <p:cNvSpPr/>
          <p:nvPr/>
        </p:nvSpPr>
        <p:spPr>
          <a:xfrm>
            <a:off x="896112" y="3986784"/>
            <a:ext cx="4754880" cy="694944"/>
          </a:xfrm>
          <a:prstGeom prst="rect">
            <a:avLst/>
          </a:prstGeom>
          <a:noFill/>
          <a:ln/>
        </p:spPr>
        <p:txBody>
          <a:bodyPr wrap="square" lIns="0" tIns="0" rIns="0" bIns="0" rtlCol="0" anchor="t"/>
          <a:lstStyle/>
          <a:p>
            <a:pPr marL="0" indent="0">
              <a:lnSpc>
                <a:spcPct val="102000"/>
              </a:lnSpc>
              <a:buNone/>
            </a:pPr>
            <a:r>
              <a:rPr lang="en-US" sz="880" dirty="0">
                <a:solidFill>
                  <a:srgbClr val="062A3A"/>
                </a:solidFill>
                <a:latin typeface="Consolas" pitchFamily="34" charset="0"/>
                <a:ea typeface="Consolas" pitchFamily="34" charset="-122"/>
                <a:cs typeface="Consolas" pitchFamily="34" charset="-120"/>
              </a:rPr>
              <a:t>[-1.34164079 -0.4472136</a:t>
            </a:r>
            <a:endParaRPr lang="en-US" sz="880" dirty="0"/>
          </a:p>
          <a:p>
            <a:pPr marL="0" indent="0">
              <a:lnSpc>
                <a:spcPct val="102000"/>
              </a:lnSpc>
              <a:buNone/>
            </a:pPr>
            <a:r>
              <a:rPr lang="en-US" sz="880" dirty="0">
                <a:solidFill>
                  <a:srgbClr val="062A3A"/>
                </a:solidFill>
                <a:latin typeface="Consolas" pitchFamily="34" charset="0"/>
                <a:ea typeface="Consolas" pitchFamily="34" charset="-122"/>
                <a:cs typeface="Consolas" pitchFamily="34" charset="-120"/>
              </a:rPr>
              <a:t>  0.4472136   1.34164079]</a:t>
            </a:r>
            <a:endParaRPr lang="en-US" sz="880" dirty="0"/>
          </a:p>
          <a:p>
            <a:pPr marL="0" indent="0">
              <a:lnSpc>
                <a:spcPct val="102000"/>
              </a:lnSpc>
              <a:buNone/>
            </a:pPr>
            <a:r>
              <a:rPr lang="en-US" sz="880" dirty="0">
                <a:solidFill>
                  <a:srgbClr val="062A3A"/>
                </a:solidFill>
                <a:latin typeface="Consolas" pitchFamily="34" charset="0"/>
                <a:ea typeface="Consolas" pitchFamily="34" charset="-122"/>
                <a:cs typeface="Consolas" pitchFamily="34" charset="-120"/>
              </a:rPr>
              <a:t>mean: 0.0  std: 1.0</a:t>
            </a:r>
            <a:endParaRPr lang="en-US" sz="880" dirty="0"/>
          </a:p>
        </p:txBody>
      </p:sp>
      <p:sp>
        <p:nvSpPr>
          <p:cNvPr id="17" name="Text 15"/>
          <p:cNvSpPr/>
          <p:nvPr/>
        </p:nvSpPr>
        <p:spPr>
          <a:xfrm>
            <a:off x="786384" y="4846320"/>
            <a:ext cx="4937760" cy="457200"/>
          </a:xfrm>
          <a:prstGeom prst="rect">
            <a:avLst/>
          </a:prstGeom>
          <a:noFill/>
          <a:ln/>
        </p:spPr>
        <p:txBody>
          <a:bodyPr wrap="square" lIns="0" tIns="0" rIns="0" bIns="0" rtlCol="0" anchor="t"/>
          <a:lstStyle/>
          <a:p>
            <a:pPr marL="0" indent="0">
              <a:lnSpc>
                <a:spcPct val="110000"/>
              </a:lnSpc>
              <a:buNone/>
            </a:pPr>
            <a:r>
              <a:rPr lang="en-US" sz="920" i="1" dirty="0">
                <a:solidFill>
                  <a:srgbClr val="728694"/>
                </a:solidFill>
                <a:latin typeface="Segoe UI" pitchFamily="34" charset="0"/>
                <a:ea typeface="Segoe UI" pitchFamily="34" charset="-122"/>
                <a:cs typeface="Segoe UI" pitchFamily="34" charset="-120"/>
              </a:rPr>
              <a:t>Hai lần broadcasting với scalar: trừ 5.0 rồi chia 2.236. Kết quả có trung bình 0, độ lệch chuẩn 1.</a:t>
            </a:r>
            <a:endParaRPr lang="en-US" sz="920" dirty="0"/>
          </a:p>
        </p:txBody>
      </p:sp>
      <p:sp>
        <p:nvSpPr>
          <p:cNvPr id="18" name="Shape 16"/>
          <p:cNvSpPr/>
          <p:nvPr/>
        </p:nvSpPr>
        <p:spPr>
          <a:xfrm>
            <a:off x="6199632" y="1463040"/>
            <a:ext cx="5440680" cy="3977640"/>
          </a:xfrm>
          <a:prstGeom prst="roundRect">
            <a:avLst>
              <a:gd name="adj" fmla="val 1379"/>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19" name="Text 17"/>
          <p:cNvSpPr/>
          <p:nvPr/>
        </p:nvSpPr>
        <p:spPr>
          <a:xfrm>
            <a:off x="6437376" y="1609344"/>
            <a:ext cx="4937760" cy="292608"/>
          </a:xfrm>
          <a:prstGeom prst="rect">
            <a:avLst/>
          </a:prstGeom>
          <a:noFill/>
          <a:ln/>
        </p:spPr>
        <p:txBody>
          <a:bodyPr wrap="square" lIns="0" tIns="0" rIns="0" bIns="0" rtlCol="0" anchor="t"/>
          <a:lstStyle/>
          <a:p>
            <a:pPr marL="0" indent="0">
              <a:buNone/>
            </a:pPr>
            <a:r>
              <a:rPr lang="en-US" sz="1350" b="1" dirty="0">
                <a:solidFill>
                  <a:srgbClr val="062A3A"/>
                </a:solidFill>
                <a:latin typeface="Segoe UI" pitchFamily="34" charset="0"/>
                <a:ea typeface="Segoe UI" pitchFamily="34" charset="-122"/>
                <a:cs typeface="Segoe UI" pitchFamily="34" charset="-120"/>
              </a:rPr>
              <a:t>Vector hóa và lọc dữ liệu</a:t>
            </a:r>
            <a:endParaRPr lang="en-US" sz="1350" dirty="0"/>
          </a:p>
        </p:txBody>
      </p:sp>
      <p:sp>
        <p:nvSpPr>
          <p:cNvPr id="20" name="Shape 18"/>
          <p:cNvSpPr/>
          <p:nvPr/>
        </p:nvSpPr>
        <p:spPr>
          <a:xfrm>
            <a:off x="6400800" y="1993392"/>
            <a:ext cx="5029200" cy="1572768"/>
          </a:xfrm>
          <a:prstGeom prst="roundRect">
            <a:avLst>
              <a:gd name="adj" fmla="val 2907"/>
            </a:avLst>
          </a:prstGeom>
          <a:solidFill>
            <a:srgbClr val="0B2230"/>
          </a:solidFill>
          <a:ln w="9525">
            <a:solidFill>
              <a:srgbClr val="163B4C"/>
            </a:solidFill>
            <a:prstDash val="solid"/>
          </a:ln>
        </p:spPr>
      </p:sp>
      <p:sp>
        <p:nvSpPr>
          <p:cNvPr id="21" name="Shape 19"/>
          <p:cNvSpPr/>
          <p:nvPr/>
        </p:nvSpPr>
        <p:spPr>
          <a:xfrm>
            <a:off x="6400800" y="1993392"/>
            <a:ext cx="5029200" cy="265176"/>
          </a:xfrm>
          <a:prstGeom prst="rect">
            <a:avLst/>
          </a:prstGeom>
          <a:solidFill>
            <a:srgbClr val="103445"/>
          </a:solidFill>
          <a:ln w="12700">
            <a:solidFill>
              <a:srgbClr val="103445"/>
            </a:solidFill>
            <a:prstDash val="solid"/>
          </a:ln>
        </p:spPr>
      </p:sp>
      <p:sp>
        <p:nvSpPr>
          <p:cNvPr id="22" name="Text 20"/>
          <p:cNvSpPr/>
          <p:nvPr/>
        </p:nvSpPr>
        <p:spPr>
          <a:xfrm>
            <a:off x="6547104" y="2043684"/>
            <a:ext cx="4114800" cy="182880"/>
          </a:xfrm>
          <a:prstGeom prst="rect">
            <a:avLst/>
          </a:prstGeom>
          <a:noFill/>
          <a:ln/>
        </p:spPr>
        <p:txBody>
          <a:bodyPr wrap="square" lIns="0" tIns="0" rIns="0" bIns="0" rtlCol="0" anchor="t"/>
          <a:lstStyle/>
          <a:p>
            <a:pPr marL="0" indent="0">
              <a:buNone/>
            </a:pPr>
            <a:r>
              <a:rPr lang="en-US" sz="850" dirty="0">
                <a:solidFill>
                  <a:srgbClr val="8FB6C8"/>
                </a:solidFill>
                <a:latin typeface="Consolas" pitchFamily="34" charset="0"/>
                <a:ea typeface="Consolas" pitchFamily="34" charset="-122"/>
                <a:cs typeface="Consolas" pitchFamily="34" charset="-120"/>
              </a:rPr>
              <a:t>python</a:t>
            </a:r>
            <a:endParaRPr lang="en-US" sz="850" dirty="0"/>
          </a:p>
        </p:txBody>
      </p:sp>
      <p:sp>
        <p:nvSpPr>
          <p:cNvPr id="23" name="Shape 21"/>
          <p:cNvSpPr/>
          <p:nvPr/>
        </p:nvSpPr>
        <p:spPr>
          <a:xfrm>
            <a:off x="10863072" y="2098548"/>
            <a:ext cx="77724" cy="77724"/>
          </a:xfrm>
          <a:prstGeom prst="ellipse">
            <a:avLst/>
          </a:prstGeom>
          <a:solidFill>
            <a:srgbClr val="D96C5F"/>
          </a:solidFill>
          <a:ln w="12700">
            <a:solidFill>
              <a:srgbClr val="D96C5F"/>
            </a:solidFill>
            <a:prstDash val="solid"/>
          </a:ln>
        </p:spPr>
      </p:sp>
      <p:sp>
        <p:nvSpPr>
          <p:cNvPr id="24" name="Shape 22"/>
          <p:cNvSpPr/>
          <p:nvPr/>
        </p:nvSpPr>
        <p:spPr>
          <a:xfrm>
            <a:off x="11018520" y="2098548"/>
            <a:ext cx="77724" cy="77724"/>
          </a:xfrm>
          <a:prstGeom prst="ellipse">
            <a:avLst/>
          </a:prstGeom>
          <a:solidFill>
            <a:srgbClr val="E8A33D"/>
          </a:solidFill>
          <a:ln w="12700">
            <a:solidFill>
              <a:srgbClr val="E8A33D"/>
            </a:solidFill>
            <a:prstDash val="solid"/>
          </a:ln>
        </p:spPr>
      </p:sp>
      <p:sp>
        <p:nvSpPr>
          <p:cNvPr id="25" name="Shape 23"/>
          <p:cNvSpPr/>
          <p:nvPr/>
        </p:nvSpPr>
        <p:spPr>
          <a:xfrm>
            <a:off x="11173968" y="2098548"/>
            <a:ext cx="77724" cy="77724"/>
          </a:xfrm>
          <a:prstGeom prst="ellipse">
            <a:avLst/>
          </a:prstGeom>
          <a:solidFill>
            <a:srgbClr val="2D8C6F"/>
          </a:solidFill>
          <a:ln w="12700">
            <a:solidFill>
              <a:srgbClr val="2D8C6F"/>
            </a:solidFill>
            <a:prstDash val="solid"/>
          </a:ln>
        </p:spPr>
      </p:sp>
      <p:sp>
        <p:nvSpPr>
          <p:cNvPr id="26" name="Text 24"/>
          <p:cNvSpPr/>
          <p:nvPr/>
        </p:nvSpPr>
        <p:spPr>
          <a:xfrm>
            <a:off x="6565392" y="2340864"/>
            <a:ext cx="4736592" cy="1152144"/>
          </a:xfrm>
          <a:prstGeom prst="rect">
            <a:avLst/>
          </a:prstGeom>
          <a:noFill/>
          <a:ln/>
        </p:spPr>
        <p:txBody>
          <a:bodyPr wrap="square" lIns="0" tIns="0" rIns="0" bIns="0" rtlCol="0" anchor="t"/>
          <a:lstStyle/>
          <a:p>
            <a:pPr marL="0" indent="0">
              <a:lnSpc>
                <a:spcPct val="102000"/>
              </a:lnSpc>
              <a:buNone/>
            </a:pPr>
            <a:r>
              <a:rPr lang="en-US" sz="920" dirty="0">
                <a:solidFill>
                  <a:srgbClr val="D6E6EF"/>
                </a:solidFill>
                <a:latin typeface="Consolas" pitchFamily="34" charset="0"/>
                <a:ea typeface="Consolas" pitchFamily="34" charset="-122"/>
                <a:cs typeface="Consolas" pitchFamily="34" charset="-120"/>
              </a:rPr>
              <a:t>prices = </a:t>
            </a:r>
            <a:r>
              <a:rPr lang="en-US" sz="920" dirty="0">
                <a:solidFill>
                  <a:srgbClr val="8AD9C0"/>
                </a:solidFill>
                <a:latin typeface="Consolas" pitchFamily="34" charset="0"/>
                <a:ea typeface="Consolas" pitchFamily="34" charset="-122"/>
                <a:cs typeface="Consolas" pitchFamily="34" charset="-120"/>
              </a:rPr>
              <a:t>np</a:t>
            </a:r>
            <a:r>
              <a:rPr lang="en-US" sz="920" dirty="0">
                <a:solidFill>
                  <a:srgbClr val="D6E6EF"/>
                </a:solidFill>
                <a:latin typeface="Consolas" pitchFamily="34" charset="0"/>
                <a:ea typeface="Consolas" pitchFamily="34" charset="-122"/>
                <a:cs typeface="Consolas" pitchFamily="34" charset="-120"/>
              </a:rPr>
              <a:t>.array([</a:t>
            </a:r>
            <a:r>
              <a:rPr lang="en-US" sz="920" dirty="0">
                <a:solidFill>
                  <a:srgbClr val="F08A7C"/>
                </a:solidFill>
                <a:latin typeface="Consolas" pitchFamily="34" charset="0"/>
                <a:ea typeface="Consolas" pitchFamily="34" charset="-122"/>
                <a:cs typeface="Consolas" pitchFamily="34" charset="-120"/>
              </a:rPr>
              <a:t>100</a:t>
            </a:r>
            <a:r>
              <a:rPr lang="en-US" sz="920" dirty="0">
                <a:solidFill>
                  <a:srgbClr val="D6E6EF"/>
                </a:solidFill>
                <a:latin typeface="Consolas" pitchFamily="34" charset="0"/>
                <a:ea typeface="Consolas" pitchFamily="34" charset="-122"/>
                <a:cs typeface="Consolas" pitchFamily="34" charset="-120"/>
              </a:rPr>
              <a:t>, </a:t>
            </a:r>
            <a:r>
              <a:rPr lang="en-US" sz="920" dirty="0">
                <a:solidFill>
                  <a:srgbClr val="F08A7C"/>
                </a:solidFill>
                <a:latin typeface="Consolas" pitchFamily="34" charset="0"/>
                <a:ea typeface="Consolas" pitchFamily="34" charset="-122"/>
                <a:cs typeface="Consolas" pitchFamily="34" charset="-120"/>
              </a:rPr>
              <a:t>250</a:t>
            </a:r>
            <a:r>
              <a:rPr lang="en-US" sz="920" dirty="0">
                <a:solidFill>
                  <a:srgbClr val="D6E6EF"/>
                </a:solidFill>
                <a:latin typeface="Consolas" pitchFamily="34" charset="0"/>
                <a:ea typeface="Consolas" pitchFamily="34" charset="-122"/>
                <a:cs typeface="Consolas" pitchFamily="34" charset="-120"/>
              </a:rPr>
              <a:t>, </a:t>
            </a:r>
            <a:r>
              <a:rPr lang="en-US" sz="920" dirty="0">
                <a:solidFill>
                  <a:srgbClr val="F08A7C"/>
                </a:solidFill>
                <a:latin typeface="Consolas" pitchFamily="34" charset="0"/>
                <a:ea typeface="Consolas" pitchFamily="34" charset="-122"/>
                <a:cs typeface="Consolas" pitchFamily="34" charset="-120"/>
              </a:rPr>
              <a:t>80</a:t>
            </a:r>
            <a:r>
              <a:rPr lang="en-US" sz="920" dirty="0">
                <a:solidFill>
                  <a:srgbClr val="D6E6EF"/>
                </a:solidFill>
                <a:latin typeface="Consolas" pitchFamily="34" charset="0"/>
                <a:ea typeface="Consolas" pitchFamily="34" charset="-122"/>
                <a:cs typeface="Consolas" pitchFamily="34" charset="-120"/>
              </a:rPr>
              <a:t>, </a:t>
            </a:r>
            <a:r>
              <a:rPr lang="en-US" sz="920" dirty="0">
                <a:solidFill>
                  <a:srgbClr val="F08A7C"/>
                </a:solidFill>
                <a:latin typeface="Consolas" pitchFamily="34" charset="0"/>
                <a:ea typeface="Consolas" pitchFamily="34" charset="-122"/>
                <a:cs typeface="Consolas" pitchFamily="34" charset="-120"/>
              </a:rPr>
              <a:t>320</a:t>
            </a:r>
            <a:r>
              <a:rPr lang="en-US" sz="920" dirty="0">
                <a:solidFill>
                  <a:srgbClr val="D6E6EF"/>
                </a:solidFill>
                <a:latin typeface="Consolas" pitchFamily="34" charset="0"/>
                <a:ea typeface="Consolas" pitchFamily="34" charset="-122"/>
                <a:cs typeface="Consolas" pitchFamily="34" charset="-120"/>
              </a:rPr>
              <a:t>])</a:t>
            </a:r>
            <a:endParaRPr lang="en-US" sz="920" dirty="0"/>
          </a:p>
          <a:p>
            <a:pPr marL="0" indent="0">
              <a:lnSpc>
                <a:spcPct val="102000"/>
              </a:lnSpc>
              <a:buNone/>
            </a:pPr>
            <a:r>
              <a:rPr lang="en-US" sz="920" dirty="0">
                <a:solidFill>
                  <a:srgbClr val="D6E6EF"/>
                </a:solidFill>
                <a:latin typeface="Consolas" pitchFamily="34" charset="0"/>
                <a:ea typeface="Consolas" pitchFamily="34" charset="-122"/>
                <a:cs typeface="Consolas" pitchFamily="34" charset="-120"/>
              </a:rPr>
              <a:t>new = prices * </a:t>
            </a:r>
            <a:r>
              <a:rPr lang="en-US" sz="920" dirty="0">
                <a:solidFill>
                  <a:srgbClr val="F08A7C"/>
                </a:solidFill>
                <a:latin typeface="Consolas" pitchFamily="34" charset="0"/>
                <a:ea typeface="Consolas" pitchFamily="34" charset="-122"/>
                <a:cs typeface="Consolas" pitchFamily="34" charset="-120"/>
              </a:rPr>
              <a:t>1.1</a:t>
            </a:r>
            <a:endParaRPr lang="en-US" sz="920" dirty="0"/>
          </a:p>
          <a:p>
            <a:pPr marL="0" indent="0">
              <a:lnSpc>
                <a:spcPct val="102000"/>
              </a:lnSpc>
              <a:buNone/>
            </a:pPr>
            <a:r>
              <a:rPr lang="en-US" sz="920" dirty="0">
                <a:solidFill>
                  <a:srgbClr val="6FD0E4"/>
                </a:solidFill>
                <a:latin typeface="Consolas" pitchFamily="34" charset="0"/>
                <a:ea typeface="Consolas" pitchFamily="34" charset="-122"/>
                <a:cs typeface="Consolas" pitchFamily="34" charset="-120"/>
              </a:rPr>
              <a:t>print</a:t>
            </a:r>
            <a:r>
              <a:rPr lang="en-US" sz="920" dirty="0">
                <a:solidFill>
                  <a:srgbClr val="D6E6EF"/>
                </a:solidFill>
                <a:latin typeface="Consolas" pitchFamily="34" charset="0"/>
                <a:ea typeface="Consolas" pitchFamily="34" charset="-122"/>
                <a:cs typeface="Consolas" pitchFamily="34" charset="-120"/>
              </a:rPr>
              <a:t>(new)</a:t>
            </a:r>
            <a:endParaRPr lang="en-US" sz="920" dirty="0"/>
          </a:p>
          <a:p>
            <a:pPr marL="0" indent="0">
              <a:lnSpc>
                <a:spcPct val="102000"/>
              </a:lnSpc>
              <a:buNone/>
            </a:pPr>
            <a:r>
              <a:rPr lang="en-US" sz="920" dirty="0">
                <a:solidFill>
                  <a:srgbClr val="6FD0E4"/>
                </a:solidFill>
                <a:latin typeface="Consolas" pitchFamily="34" charset="0"/>
                <a:ea typeface="Consolas" pitchFamily="34" charset="-122"/>
                <a:cs typeface="Consolas" pitchFamily="34" charset="-120"/>
              </a:rPr>
              <a:t>print</a:t>
            </a:r>
            <a:r>
              <a:rPr lang="en-US" sz="920" dirty="0">
                <a:solidFill>
                  <a:srgbClr val="D6E6EF"/>
                </a:solidFill>
                <a:latin typeface="Consolas" pitchFamily="34" charset="0"/>
                <a:ea typeface="Consolas" pitchFamily="34" charset="-122"/>
                <a:cs typeface="Consolas" pitchFamily="34" charset="-120"/>
              </a:rPr>
              <a:t>(prices &gt; </a:t>
            </a:r>
            <a:r>
              <a:rPr lang="en-US" sz="920" dirty="0">
                <a:solidFill>
                  <a:srgbClr val="F08A7C"/>
                </a:solidFill>
                <a:latin typeface="Consolas" pitchFamily="34" charset="0"/>
                <a:ea typeface="Consolas" pitchFamily="34" charset="-122"/>
                <a:cs typeface="Consolas" pitchFamily="34" charset="-120"/>
              </a:rPr>
              <a:t>200</a:t>
            </a:r>
            <a:r>
              <a:rPr lang="en-US" sz="920" dirty="0">
                <a:solidFill>
                  <a:srgbClr val="D6E6EF"/>
                </a:solidFill>
                <a:latin typeface="Consolas" pitchFamily="34" charset="0"/>
                <a:ea typeface="Consolas" pitchFamily="34" charset="-122"/>
                <a:cs typeface="Consolas" pitchFamily="34" charset="-120"/>
              </a:rPr>
              <a:t>)</a:t>
            </a:r>
            <a:endParaRPr lang="en-US" sz="920" dirty="0"/>
          </a:p>
          <a:p>
            <a:pPr marL="0" indent="0">
              <a:lnSpc>
                <a:spcPct val="102000"/>
              </a:lnSpc>
              <a:buNone/>
            </a:pPr>
            <a:r>
              <a:rPr lang="en-US" sz="920" dirty="0">
                <a:solidFill>
                  <a:srgbClr val="6FD0E4"/>
                </a:solidFill>
                <a:latin typeface="Consolas" pitchFamily="34" charset="0"/>
                <a:ea typeface="Consolas" pitchFamily="34" charset="-122"/>
                <a:cs typeface="Consolas" pitchFamily="34" charset="-120"/>
              </a:rPr>
              <a:t>print</a:t>
            </a:r>
            <a:r>
              <a:rPr lang="en-US" sz="920" dirty="0">
                <a:solidFill>
                  <a:srgbClr val="D6E6EF"/>
                </a:solidFill>
                <a:latin typeface="Consolas" pitchFamily="34" charset="0"/>
                <a:ea typeface="Consolas" pitchFamily="34" charset="-122"/>
                <a:cs typeface="Consolas" pitchFamily="34" charset="-120"/>
              </a:rPr>
              <a:t>(prices[prices &gt; </a:t>
            </a:r>
            <a:r>
              <a:rPr lang="en-US" sz="920" dirty="0">
                <a:solidFill>
                  <a:srgbClr val="F08A7C"/>
                </a:solidFill>
                <a:latin typeface="Consolas" pitchFamily="34" charset="0"/>
                <a:ea typeface="Consolas" pitchFamily="34" charset="-122"/>
                <a:cs typeface="Consolas" pitchFamily="34" charset="-120"/>
              </a:rPr>
              <a:t>200</a:t>
            </a:r>
            <a:r>
              <a:rPr lang="en-US" sz="920" dirty="0">
                <a:solidFill>
                  <a:srgbClr val="D6E6EF"/>
                </a:solidFill>
                <a:latin typeface="Consolas" pitchFamily="34" charset="0"/>
                <a:ea typeface="Consolas" pitchFamily="34" charset="-122"/>
                <a:cs typeface="Consolas" pitchFamily="34" charset="-120"/>
              </a:rPr>
              <a:t>])</a:t>
            </a:r>
            <a:endParaRPr lang="en-US" sz="920" dirty="0"/>
          </a:p>
        </p:txBody>
      </p:sp>
      <p:sp>
        <p:nvSpPr>
          <p:cNvPr id="27" name="Shape 25"/>
          <p:cNvSpPr/>
          <p:nvPr/>
        </p:nvSpPr>
        <p:spPr>
          <a:xfrm>
            <a:off x="6400800" y="3675888"/>
            <a:ext cx="5029200" cy="1078992"/>
          </a:xfrm>
          <a:prstGeom prst="roundRect">
            <a:avLst>
              <a:gd name="adj" fmla="val 4237"/>
            </a:avLst>
          </a:prstGeom>
          <a:solidFill>
            <a:srgbClr val="FFFFFF"/>
          </a:solidFill>
          <a:ln w="9525">
            <a:solidFill>
              <a:srgbClr val="CFE5EE"/>
            </a:solidFill>
            <a:prstDash val="solid"/>
          </a:ln>
        </p:spPr>
      </p:sp>
      <p:sp>
        <p:nvSpPr>
          <p:cNvPr id="28" name="Text 26"/>
          <p:cNvSpPr/>
          <p:nvPr/>
        </p:nvSpPr>
        <p:spPr>
          <a:xfrm>
            <a:off x="6547104" y="3767328"/>
            <a:ext cx="4754880" cy="164592"/>
          </a:xfrm>
          <a:prstGeom prst="rect">
            <a:avLst/>
          </a:prstGeom>
          <a:noFill/>
          <a:ln/>
        </p:spPr>
        <p:txBody>
          <a:bodyPr wrap="square" lIns="0" tIns="0" rIns="0" bIns="0" rtlCol="0" anchor="t"/>
          <a:lstStyle/>
          <a:p>
            <a:pPr marL="0" indent="0">
              <a:buNone/>
            </a:pPr>
            <a:r>
              <a:rPr lang="en-US" sz="800" b="1" kern="0" spc="120" dirty="0">
                <a:solidFill>
                  <a:srgbClr val="2D8C6F"/>
                </a:solidFill>
                <a:latin typeface="Segoe UI" pitchFamily="34" charset="0"/>
                <a:ea typeface="Segoe UI" pitchFamily="34" charset="-122"/>
                <a:cs typeface="Segoe UI" pitchFamily="34" charset="-120"/>
              </a:rPr>
              <a:t>KẾT QUẢ</a:t>
            </a:r>
            <a:endParaRPr lang="en-US" sz="800" dirty="0"/>
          </a:p>
        </p:txBody>
      </p:sp>
      <p:sp>
        <p:nvSpPr>
          <p:cNvPr id="29" name="Text 27"/>
          <p:cNvSpPr/>
          <p:nvPr/>
        </p:nvSpPr>
        <p:spPr>
          <a:xfrm>
            <a:off x="6547104" y="3986784"/>
            <a:ext cx="4754880" cy="694944"/>
          </a:xfrm>
          <a:prstGeom prst="rect">
            <a:avLst/>
          </a:prstGeom>
          <a:noFill/>
          <a:ln/>
        </p:spPr>
        <p:txBody>
          <a:bodyPr wrap="square" lIns="0" tIns="0" rIns="0" bIns="0" rtlCol="0" anchor="t"/>
          <a:lstStyle/>
          <a:p>
            <a:pPr marL="0" indent="0">
              <a:lnSpc>
                <a:spcPct val="102000"/>
              </a:lnSpc>
              <a:buNone/>
            </a:pPr>
            <a:r>
              <a:rPr lang="en-US" sz="880" dirty="0">
                <a:solidFill>
                  <a:srgbClr val="062A3A"/>
                </a:solidFill>
                <a:latin typeface="Consolas" pitchFamily="34" charset="0"/>
                <a:ea typeface="Consolas" pitchFamily="34" charset="-122"/>
                <a:cs typeface="Consolas" pitchFamily="34" charset="-120"/>
              </a:rPr>
              <a:t>[110. 275.  88. 352.]</a:t>
            </a:r>
            <a:endParaRPr lang="en-US" sz="880" dirty="0"/>
          </a:p>
          <a:p>
            <a:pPr marL="0" indent="0">
              <a:lnSpc>
                <a:spcPct val="102000"/>
              </a:lnSpc>
              <a:buNone/>
            </a:pPr>
            <a:r>
              <a:rPr lang="en-US" sz="880" dirty="0">
                <a:solidFill>
                  <a:srgbClr val="062A3A"/>
                </a:solidFill>
                <a:latin typeface="Consolas" pitchFamily="34" charset="0"/>
                <a:ea typeface="Consolas" pitchFamily="34" charset="-122"/>
                <a:cs typeface="Consolas" pitchFamily="34" charset="-120"/>
              </a:rPr>
              <a:t>[False  True False  True]</a:t>
            </a:r>
            <a:endParaRPr lang="en-US" sz="880" dirty="0"/>
          </a:p>
          <a:p>
            <a:pPr marL="0" indent="0">
              <a:lnSpc>
                <a:spcPct val="102000"/>
              </a:lnSpc>
              <a:buNone/>
            </a:pPr>
            <a:r>
              <a:rPr lang="en-US" sz="880" dirty="0">
                <a:solidFill>
                  <a:srgbClr val="062A3A"/>
                </a:solidFill>
                <a:latin typeface="Consolas" pitchFamily="34" charset="0"/>
                <a:ea typeface="Consolas" pitchFamily="34" charset="-122"/>
                <a:cs typeface="Consolas" pitchFamily="34" charset="-120"/>
              </a:rPr>
              <a:t>[250 320]</a:t>
            </a:r>
            <a:endParaRPr lang="en-US" sz="880" dirty="0"/>
          </a:p>
        </p:txBody>
      </p:sp>
      <p:sp>
        <p:nvSpPr>
          <p:cNvPr id="30" name="Text 28"/>
          <p:cNvSpPr/>
          <p:nvPr/>
        </p:nvSpPr>
        <p:spPr>
          <a:xfrm>
            <a:off x="6437376" y="4846320"/>
            <a:ext cx="4937760" cy="457200"/>
          </a:xfrm>
          <a:prstGeom prst="rect">
            <a:avLst/>
          </a:prstGeom>
          <a:noFill/>
          <a:ln/>
        </p:spPr>
        <p:txBody>
          <a:bodyPr wrap="square" lIns="0" tIns="0" rIns="0" bIns="0" rtlCol="0" anchor="t"/>
          <a:lstStyle/>
          <a:p>
            <a:pPr marL="0" indent="0">
              <a:lnSpc>
                <a:spcPct val="110000"/>
              </a:lnSpc>
              <a:buNone/>
            </a:pPr>
            <a:r>
              <a:rPr lang="en-US" sz="920" i="1" dirty="0">
                <a:solidFill>
                  <a:srgbClr val="728694"/>
                </a:solidFill>
                <a:latin typeface="Segoe UI" pitchFamily="34" charset="0"/>
                <a:ea typeface="Segoe UI" pitchFamily="34" charset="-122"/>
                <a:cs typeface="Segoe UI" pitchFamily="34" charset="-120"/>
              </a:rPr>
              <a:t>Một biểu thức thay cho vòng lặp: nhân từng phần tử, tạo mặt nạ boolean, rồi lọc.</a:t>
            </a:r>
            <a:endParaRPr lang="en-US" sz="920" dirty="0"/>
          </a:p>
        </p:txBody>
      </p:sp>
      <p:sp>
        <p:nvSpPr>
          <p:cNvPr id="31" name="Shape 29"/>
          <p:cNvSpPr/>
          <p:nvPr/>
        </p:nvSpPr>
        <p:spPr>
          <a:xfrm>
            <a:off x="548640" y="5596128"/>
            <a:ext cx="11091672" cy="566928"/>
          </a:xfrm>
          <a:prstGeom prst="roundRect">
            <a:avLst>
              <a:gd name="adj" fmla="val 9677"/>
            </a:avLst>
          </a:prstGeom>
          <a:solidFill>
            <a:srgbClr val="EAF4F8"/>
          </a:solidFill>
          <a:ln w="9525">
            <a:solidFill>
              <a:srgbClr val="CFE5EE"/>
            </a:solidFill>
            <a:prstDash val="solid"/>
          </a:ln>
        </p:spPr>
      </p:sp>
      <p:sp>
        <p:nvSpPr>
          <p:cNvPr id="32" name="Text 30"/>
          <p:cNvSpPr/>
          <p:nvPr/>
        </p:nvSpPr>
        <p:spPr>
          <a:xfrm>
            <a:off x="777240" y="5596128"/>
            <a:ext cx="10607040" cy="566928"/>
          </a:xfrm>
          <a:prstGeom prst="rect">
            <a:avLst/>
          </a:prstGeom>
          <a:noFill/>
          <a:ln/>
        </p:spPr>
        <p:txBody>
          <a:bodyPr wrap="square" lIns="0" tIns="0" rIns="0" bIns="0" rtlCol="0" anchor="ctr"/>
          <a:lstStyle/>
          <a:p>
            <a:pPr marL="0" indent="0">
              <a:buNone/>
            </a:pPr>
            <a:r>
              <a:rPr lang="en-US" sz="1100" b="1" dirty="0">
                <a:solidFill>
                  <a:srgbClr val="1B8EA8"/>
                </a:solidFill>
                <a:latin typeface="Segoe UI" pitchFamily="34" charset="0"/>
                <a:ea typeface="Segoe UI" pitchFamily="34" charset="-122"/>
                <a:cs typeface="Segoe UI" pitchFamily="34" charset="-120"/>
              </a:rPr>
              <a:t>Điểm chung: biểu thức mảng thay cho vòng lặp — ngắn hơn, ít lỗi chỉ số hơn, và đọc như công thức toán.</a:t>
            </a:r>
            <a:endParaRPr lang="en-US" sz="1100" dirty="0"/>
          </a:p>
        </p:txBody>
      </p:sp>
      <p:sp>
        <p:nvSpPr>
          <p:cNvPr id="33" name="Shape 31"/>
          <p:cNvSpPr/>
          <p:nvPr/>
        </p:nvSpPr>
        <p:spPr>
          <a:xfrm>
            <a:off x="548640" y="6391656"/>
            <a:ext cx="11091672" cy="9144"/>
          </a:xfrm>
          <a:prstGeom prst="rect">
            <a:avLst/>
          </a:prstGeom>
          <a:solidFill>
            <a:srgbClr val="D7E5EC"/>
          </a:solidFill>
          <a:ln w="12700">
            <a:solidFill>
              <a:srgbClr val="D7E5EC"/>
            </a:solidFill>
            <a:prstDash val="solid"/>
          </a:ln>
        </p:spPr>
      </p:sp>
      <p:sp>
        <p:nvSpPr>
          <p:cNvPr id="34" name="Text 32"/>
          <p:cNvSpPr/>
          <p:nvPr/>
        </p:nvSpPr>
        <p:spPr>
          <a:xfrm>
            <a:off x="548640" y="6473952"/>
            <a:ext cx="7772400" cy="182880"/>
          </a:xfrm>
          <a:prstGeom prst="rect">
            <a:avLst/>
          </a:prstGeom>
          <a:noFill/>
          <a:ln/>
        </p:spPr>
        <p:txBody>
          <a:bodyPr wrap="square" lIns="0" tIns="0" rIns="0" bIns="0" rtlCol="0" anchor="t"/>
          <a:lstStyle/>
          <a:p>
            <a:pPr marL="0" indent="0">
              <a:buNone/>
            </a:pPr>
            <a:r>
              <a:rPr lang="en-US" sz="850" dirty="0">
                <a:solidFill>
                  <a:srgbClr val="728694"/>
                </a:solidFill>
                <a:latin typeface="Segoe UI" pitchFamily="34" charset="0"/>
                <a:ea typeface="Segoe UI" pitchFamily="34" charset="-122"/>
                <a:cs typeface="Segoe UI" pitchFamily="34" charset="-120"/>
              </a:rPr>
              <a:t>Tìm hiểu thư viện NumPy trong Python</a:t>
            </a:r>
            <a:endParaRPr lang="en-US" sz="850" dirty="0"/>
          </a:p>
        </p:txBody>
      </p:sp>
      <p:sp>
        <p:nvSpPr>
          <p:cNvPr id="35" name="Text 33"/>
          <p:cNvSpPr/>
          <p:nvPr/>
        </p:nvSpPr>
        <p:spPr>
          <a:xfrm>
            <a:off x="10698480" y="6473952"/>
            <a:ext cx="941832" cy="182880"/>
          </a:xfrm>
          <a:prstGeom prst="rect">
            <a:avLst/>
          </a:prstGeom>
          <a:noFill/>
          <a:ln/>
        </p:spPr>
        <p:txBody>
          <a:bodyPr wrap="square" lIns="0" tIns="0" rIns="0" bIns="0" rtlCol="0" anchor="t"/>
          <a:lstStyle/>
          <a:p>
            <a:pPr marL="0" indent="0" algn="r">
              <a:buNone/>
            </a:pPr>
            <a:r>
              <a:rPr lang="en-US" sz="850" dirty="0">
                <a:solidFill>
                  <a:srgbClr val="728694"/>
                </a:solidFill>
                <a:latin typeface="Segoe UI" pitchFamily="34" charset="0"/>
                <a:ea typeface="Segoe UI" pitchFamily="34" charset="-122"/>
                <a:cs typeface="Segoe UI" pitchFamily="34" charset="-120"/>
              </a:rPr>
              <a:t>23 / 25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62A3A"/>
        </a:solidFill>
        <a:effectLst/>
      </p:bgPr>
    </p:bg>
    <p:spTree>
      <p:nvGrpSpPr>
        <p:cNvPr id="1" name=""/>
        <p:cNvGrpSpPr/>
        <p:nvPr/>
      </p:nvGrpSpPr>
      <p:grpSpPr>
        <a:xfrm>
          <a:off x="0" y="0"/>
          <a:ext cx="0" cy="0"/>
          <a:chOff x="0" y="0"/>
          <a:chExt cx="0" cy="0"/>
        </a:xfrm>
      </p:grpSpPr>
      <p:sp>
        <p:nvSpPr>
          <p:cNvPr id="2" name="Text 0"/>
          <p:cNvSpPr/>
          <p:nvPr/>
        </p:nvSpPr>
        <p:spPr>
          <a:xfrm>
            <a:off x="548640" y="301752"/>
            <a:ext cx="10881360" cy="201168"/>
          </a:xfrm>
          <a:prstGeom prst="rect">
            <a:avLst/>
          </a:prstGeom>
          <a:noFill/>
          <a:ln/>
        </p:spPr>
        <p:txBody>
          <a:bodyPr wrap="square" lIns="0" tIns="0" rIns="0" bIns="0" rtlCol="0" anchor="t"/>
          <a:lstStyle/>
          <a:p>
            <a:pPr marL="0" indent="0">
              <a:buNone/>
            </a:pPr>
            <a:r>
              <a:rPr lang="en-US" sz="950" b="1" kern="0" spc="160" dirty="0">
                <a:solidFill>
                  <a:srgbClr val="4DB8D4"/>
                </a:solidFill>
                <a:latin typeface="Segoe UI" pitchFamily="34" charset="0"/>
                <a:ea typeface="Segoe UI" pitchFamily="34" charset="-122"/>
                <a:cs typeface="Segoe UI" pitchFamily="34" charset="-120"/>
              </a:rPr>
              <a:t>KẾT LUẬN</a:t>
            </a:r>
            <a:endParaRPr lang="en-US" sz="950" dirty="0"/>
          </a:p>
        </p:txBody>
      </p:sp>
      <p:sp>
        <p:nvSpPr>
          <p:cNvPr id="3" name="Text 1"/>
          <p:cNvSpPr/>
          <p:nvPr/>
        </p:nvSpPr>
        <p:spPr>
          <a:xfrm>
            <a:off x="548640" y="502920"/>
            <a:ext cx="10881360" cy="640080"/>
          </a:xfrm>
          <a:prstGeom prst="rect">
            <a:avLst/>
          </a:prstGeom>
          <a:noFill/>
          <a:ln/>
        </p:spPr>
        <p:txBody>
          <a:bodyPr wrap="square" lIns="0" tIns="0" rIns="0" bIns="0" rtlCol="0" anchor="ctr"/>
          <a:lstStyle/>
          <a:p>
            <a:pPr marL="0" indent="0">
              <a:buNone/>
            </a:pPr>
            <a:r>
              <a:rPr lang="en-US" sz="2800" b="1" dirty="0">
                <a:solidFill>
                  <a:srgbClr val="FFFFFF"/>
                </a:solidFill>
                <a:latin typeface="Segoe UI" pitchFamily="34" charset="0"/>
                <a:ea typeface="Segoe UI" pitchFamily="34" charset="-122"/>
                <a:cs typeface="Segoe UI" pitchFamily="34" charset="-120"/>
              </a:rPr>
              <a:t>Ba điều cần nhớ về NumPy</a:t>
            </a:r>
            <a:endParaRPr lang="en-US" sz="2800" dirty="0"/>
          </a:p>
        </p:txBody>
      </p:sp>
      <p:sp>
        <p:nvSpPr>
          <p:cNvPr id="4" name="Shape 2"/>
          <p:cNvSpPr/>
          <p:nvPr/>
        </p:nvSpPr>
        <p:spPr>
          <a:xfrm>
            <a:off x="548640" y="1225296"/>
            <a:ext cx="868680" cy="41148"/>
          </a:xfrm>
          <a:prstGeom prst="rect">
            <a:avLst/>
          </a:prstGeom>
          <a:solidFill>
            <a:srgbClr val="E8A33D"/>
          </a:solidFill>
          <a:ln w="12700">
            <a:solidFill>
              <a:srgbClr val="E8A33D"/>
            </a:solidFill>
            <a:prstDash val="solid"/>
          </a:ln>
        </p:spPr>
      </p:sp>
      <p:sp>
        <p:nvSpPr>
          <p:cNvPr id="5" name="Text 3"/>
          <p:cNvSpPr/>
          <p:nvPr/>
        </p:nvSpPr>
        <p:spPr>
          <a:xfrm>
            <a:off x="566928" y="1554480"/>
            <a:ext cx="685800" cy="457200"/>
          </a:xfrm>
          <a:prstGeom prst="rect">
            <a:avLst/>
          </a:prstGeom>
          <a:noFill/>
          <a:ln/>
        </p:spPr>
        <p:txBody>
          <a:bodyPr wrap="square" lIns="0" tIns="0" rIns="0" bIns="0" rtlCol="0" anchor="t"/>
          <a:lstStyle/>
          <a:p>
            <a:pPr marL="0" indent="0">
              <a:buNone/>
            </a:pPr>
            <a:r>
              <a:rPr lang="en-US" sz="2200" b="1" dirty="0">
                <a:solidFill>
                  <a:srgbClr val="E8A33D"/>
                </a:solidFill>
                <a:latin typeface="Consolas" pitchFamily="34" charset="0"/>
                <a:ea typeface="Consolas" pitchFamily="34" charset="-122"/>
                <a:cs typeface="Consolas" pitchFamily="34" charset="-120"/>
              </a:rPr>
              <a:t>01</a:t>
            </a:r>
            <a:endParaRPr lang="en-US" sz="2200" dirty="0"/>
          </a:p>
        </p:txBody>
      </p:sp>
      <p:sp>
        <p:nvSpPr>
          <p:cNvPr id="6" name="Text 4"/>
          <p:cNvSpPr/>
          <p:nvPr/>
        </p:nvSpPr>
        <p:spPr>
          <a:xfrm>
            <a:off x="1280160" y="1508760"/>
            <a:ext cx="9966960" cy="329184"/>
          </a:xfrm>
          <a:prstGeom prst="rect">
            <a:avLst/>
          </a:prstGeom>
          <a:noFill/>
          <a:ln/>
        </p:spPr>
        <p:txBody>
          <a:bodyPr wrap="square" lIns="0" tIns="0" rIns="0" bIns="0" rtlCol="0" anchor="t"/>
          <a:lstStyle/>
          <a:p>
            <a:pPr marL="0" indent="0">
              <a:buNone/>
            </a:pPr>
            <a:r>
              <a:rPr lang="en-US" sz="1650" b="1" dirty="0">
                <a:solidFill>
                  <a:srgbClr val="FFFFFF"/>
                </a:solidFill>
                <a:latin typeface="Segoe UI" pitchFamily="34" charset="0"/>
                <a:ea typeface="Segoe UI" pitchFamily="34" charset="-122"/>
                <a:cs typeface="Segoe UI" pitchFamily="34" charset="-120"/>
              </a:rPr>
              <a:t>Shape quyết định mọi thứ</a:t>
            </a:r>
            <a:endParaRPr lang="en-US" sz="1650" dirty="0"/>
          </a:p>
        </p:txBody>
      </p:sp>
      <p:sp>
        <p:nvSpPr>
          <p:cNvPr id="7" name="Text 5"/>
          <p:cNvSpPr/>
          <p:nvPr/>
        </p:nvSpPr>
        <p:spPr>
          <a:xfrm>
            <a:off x="1280160" y="1874520"/>
            <a:ext cx="9966960" cy="457200"/>
          </a:xfrm>
          <a:prstGeom prst="rect">
            <a:avLst/>
          </a:prstGeom>
          <a:noFill/>
          <a:ln/>
        </p:spPr>
        <p:txBody>
          <a:bodyPr wrap="square" lIns="0" tIns="0" rIns="0" bIns="0" rtlCol="0" anchor="t"/>
          <a:lstStyle/>
          <a:p>
            <a:pPr marL="0" indent="0">
              <a:lnSpc>
                <a:spcPct val="112000"/>
              </a:lnSpc>
              <a:buNone/>
            </a:pPr>
            <a:r>
              <a:rPr lang="en-US" sz="1050" dirty="0">
                <a:solidFill>
                  <a:srgbClr val="A9C6D3"/>
                </a:solidFill>
                <a:latin typeface="Segoe UI" pitchFamily="34" charset="0"/>
                <a:ea typeface="Segoe UI" pitchFamily="34" charset="-122"/>
                <a:cs typeface="Segoe UI" pitchFamily="34" charset="-120"/>
              </a:rPr>
              <a:t>Đọc shape trước khi viết phép toán: mọi lỗi shape đều dẫn tới ValueError hoặc kết quả sai khó hiểu.</a:t>
            </a:r>
            <a:endParaRPr lang="en-US" sz="1050" dirty="0"/>
          </a:p>
        </p:txBody>
      </p:sp>
      <p:sp>
        <p:nvSpPr>
          <p:cNvPr id="8" name="Text 6"/>
          <p:cNvSpPr/>
          <p:nvPr/>
        </p:nvSpPr>
        <p:spPr>
          <a:xfrm>
            <a:off x="566928" y="2724912"/>
            <a:ext cx="685800" cy="457200"/>
          </a:xfrm>
          <a:prstGeom prst="rect">
            <a:avLst/>
          </a:prstGeom>
          <a:noFill/>
          <a:ln/>
        </p:spPr>
        <p:txBody>
          <a:bodyPr wrap="square" lIns="0" tIns="0" rIns="0" bIns="0" rtlCol="0" anchor="t"/>
          <a:lstStyle/>
          <a:p>
            <a:pPr marL="0" indent="0">
              <a:buNone/>
            </a:pPr>
            <a:r>
              <a:rPr lang="en-US" sz="2200" b="1" dirty="0">
                <a:solidFill>
                  <a:srgbClr val="E8A33D"/>
                </a:solidFill>
                <a:latin typeface="Consolas" pitchFamily="34" charset="0"/>
                <a:ea typeface="Consolas" pitchFamily="34" charset="-122"/>
                <a:cs typeface="Consolas" pitchFamily="34" charset="-120"/>
              </a:rPr>
              <a:t>02</a:t>
            </a:r>
            <a:endParaRPr lang="en-US" sz="2200" dirty="0"/>
          </a:p>
        </p:txBody>
      </p:sp>
      <p:sp>
        <p:nvSpPr>
          <p:cNvPr id="9" name="Text 7"/>
          <p:cNvSpPr/>
          <p:nvPr/>
        </p:nvSpPr>
        <p:spPr>
          <a:xfrm>
            <a:off x="1280160" y="2679192"/>
            <a:ext cx="9966960" cy="329184"/>
          </a:xfrm>
          <a:prstGeom prst="rect">
            <a:avLst/>
          </a:prstGeom>
          <a:noFill/>
          <a:ln/>
        </p:spPr>
        <p:txBody>
          <a:bodyPr wrap="square" lIns="0" tIns="0" rIns="0" bIns="0" rtlCol="0" anchor="t"/>
          <a:lstStyle/>
          <a:p>
            <a:pPr marL="0" indent="0">
              <a:buNone/>
            </a:pPr>
            <a:r>
              <a:rPr lang="en-US" sz="1650" b="1" dirty="0">
                <a:solidFill>
                  <a:srgbClr val="FFFFFF"/>
                </a:solidFill>
                <a:latin typeface="Segoe UI" pitchFamily="34" charset="0"/>
                <a:ea typeface="Segoe UI" pitchFamily="34" charset="-122"/>
                <a:cs typeface="Segoe UI" pitchFamily="34" charset="-120"/>
              </a:rPr>
              <a:t>* khác @</a:t>
            </a:r>
            <a:endParaRPr lang="en-US" sz="1650" dirty="0"/>
          </a:p>
        </p:txBody>
      </p:sp>
      <p:sp>
        <p:nvSpPr>
          <p:cNvPr id="10" name="Text 8"/>
          <p:cNvSpPr/>
          <p:nvPr/>
        </p:nvSpPr>
        <p:spPr>
          <a:xfrm>
            <a:off x="1280160" y="3044952"/>
            <a:ext cx="9966960" cy="457200"/>
          </a:xfrm>
          <a:prstGeom prst="rect">
            <a:avLst/>
          </a:prstGeom>
          <a:noFill/>
          <a:ln/>
        </p:spPr>
        <p:txBody>
          <a:bodyPr wrap="square" lIns="0" tIns="0" rIns="0" bIns="0" rtlCol="0" anchor="t"/>
          <a:lstStyle/>
          <a:p>
            <a:pPr marL="0" indent="0">
              <a:lnSpc>
                <a:spcPct val="112000"/>
              </a:lnSpc>
              <a:buNone/>
            </a:pPr>
            <a:r>
              <a:rPr lang="en-US" sz="1050" dirty="0">
                <a:solidFill>
                  <a:srgbClr val="A9C6D3"/>
                </a:solidFill>
                <a:latin typeface="Segoe UI" pitchFamily="34" charset="0"/>
                <a:ea typeface="Segoe UI" pitchFamily="34" charset="-122"/>
                <a:cs typeface="Segoe UI" pitchFamily="34" charset="-120"/>
              </a:rPr>
              <a:t>* nhân từng phần tử; @ nhân ma trận theo quy tắc hàng × cột. Hai kết quả hoàn toàn khác nhau.</a:t>
            </a:r>
            <a:endParaRPr lang="en-US" sz="1050" dirty="0"/>
          </a:p>
        </p:txBody>
      </p:sp>
      <p:sp>
        <p:nvSpPr>
          <p:cNvPr id="11" name="Text 9"/>
          <p:cNvSpPr/>
          <p:nvPr/>
        </p:nvSpPr>
        <p:spPr>
          <a:xfrm>
            <a:off x="566928" y="3895344"/>
            <a:ext cx="685800" cy="457200"/>
          </a:xfrm>
          <a:prstGeom prst="rect">
            <a:avLst/>
          </a:prstGeom>
          <a:noFill/>
          <a:ln/>
        </p:spPr>
        <p:txBody>
          <a:bodyPr wrap="square" lIns="0" tIns="0" rIns="0" bIns="0" rtlCol="0" anchor="t"/>
          <a:lstStyle/>
          <a:p>
            <a:pPr marL="0" indent="0">
              <a:buNone/>
            </a:pPr>
            <a:r>
              <a:rPr lang="en-US" sz="2200" b="1" dirty="0">
                <a:solidFill>
                  <a:srgbClr val="E8A33D"/>
                </a:solidFill>
                <a:latin typeface="Consolas" pitchFamily="34" charset="0"/>
                <a:ea typeface="Consolas" pitchFamily="34" charset="-122"/>
                <a:cs typeface="Consolas" pitchFamily="34" charset="-120"/>
              </a:rPr>
              <a:t>03</a:t>
            </a:r>
            <a:endParaRPr lang="en-US" sz="2200" dirty="0"/>
          </a:p>
        </p:txBody>
      </p:sp>
      <p:sp>
        <p:nvSpPr>
          <p:cNvPr id="12" name="Text 10"/>
          <p:cNvSpPr/>
          <p:nvPr/>
        </p:nvSpPr>
        <p:spPr>
          <a:xfrm>
            <a:off x="1280160" y="3849624"/>
            <a:ext cx="9966960" cy="329184"/>
          </a:xfrm>
          <a:prstGeom prst="rect">
            <a:avLst/>
          </a:prstGeom>
          <a:noFill/>
          <a:ln/>
        </p:spPr>
        <p:txBody>
          <a:bodyPr wrap="square" lIns="0" tIns="0" rIns="0" bIns="0" rtlCol="0" anchor="t"/>
          <a:lstStyle/>
          <a:p>
            <a:pPr marL="0" indent="0">
              <a:buNone/>
            </a:pPr>
            <a:r>
              <a:rPr lang="en-US" sz="1650" b="1" dirty="0">
                <a:solidFill>
                  <a:srgbClr val="FFFFFF"/>
                </a:solidFill>
                <a:latin typeface="Segoe UI" pitchFamily="34" charset="0"/>
                <a:ea typeface="Segoe UI" pitchFamily="34" charset="-122"/>
                <a:cs typeface="Segoe UI" pitchFamily="34" charset="-120"/>
              </a:rPr>
              <a:t>Broadcasting so sánh từ phải sang trái</a:t>
            </a:r>
            <a:endParaRPr lang="en-US" sz="1650" dirty="0"/>
          </a:p>
        </p:txBody>
      </p:sp>
      <p:sp>
        <p:nvSpPr>
          <p:cNvPr id="13" name="Text 11"/>
          <p:cNvSpPr/>
          <p:nvPr/>
        </p:nvSpPr>
        <p:spPr>
          <a:xfrm>
            <a:off x="1280160" y="4215384"/>
            <a:ext cx="9966960" cy="457200"/>
          </a:xfrm>
          <a:prstGeom prst="rect">
            <a:avLst/>
          </a:prstGeom>
          <a:noFill/>
          <a:ln/>
        </p:spPr>
        <p:txBody>
          <a:bodyPr wrap="square" lIns="0" tIns="0" rIns="0" bIns="0" rtlCol="0" anchor="t"/>
          <a:lstStyle/>
          <a:p>
            <a:pPr marL="0" indent="0">
              <a:lnSpc>
                <a:spcPct val="112000"/>
              </a:lnSpc>
              <a:buNone/>
            </a:pPr>
            <a:r>
              <a:rPr lang="en-US" sz="1050" dirty="0">
                <a:solidFill>
                  <a:srgbClr val="A9C6D3"/>
                </a:solidFill>
                <a:latin typeface="Segoe UI" pitchFamily="34" charset="0"/>
                <a:ea typeface="Segoe UI" pitchFamily="34" charset="-122"/>
                <a:cs typeface="Segoe UI" pitchFamily="34" charset="-120"/>
              </a:rPr>
              <a:t>Tương thích khi bằng nhau hoặc một bên bằng 1; chiều thiếu được coi là 1.</a:t>
            </a:r>
            <a:endParaRPr lang="en-US" sz="1050" dirty="0"/>
          </a:p>
        </p:txBody>
      </p:sp>
      <p:sp>
        <p:nvSpPr>
          <p:cNvPr id="14" name="Shape 12"/>
          <p:cNvSpPr/>
          <p:nvPr/>
        </p:nvSpPr>
        <p:spPr>
          <a:xfrm>
            <a:off x="548640" y="5138928"/>
            <a:ext cx="5486400" cy="960120"/>
          </a:xfrm>
          <a:prstGeom prst="roundRect">
            <a:avLst>
              <a:gd name="adj" fmla="val 5714"/>
            </a:avLst>
          </a:prstGeom>
          <a:solidFill>
            <a:srgbClr val="0F3A4C"/>
          </a:solidFill>
          <a:ln w="9525">
            <a:solidFill>
              <a:srgbClr val="1D566B"/>
            </a:solidFill>
            <a:prstDash val="solid"/>
          </a:ln>
        </p:spPr>
      </p:sp>
      <p:sp>
        <p:nvSpPr>
          <p:cNvPr id="15" name="Text 13"/>
          <p:cNvSpPr/>
          <p:nvPr/>
        </p:nvSpPr>
        <p:spPr>
          <a:xfrm>
            <a:off x="768096" y="5230368"/>
            <a:ext cx="5029200" cy="219456"/>
          </a:xfrm>
          <a:prstGeom prst="rect">
            <a:avLst/>
          </a:prstGeom>
          <a:noFill/>
          <a:ln/>
        </p:spPr>
        <p:txBody>
          <a:bodyPr wrap="square" lIns="0" tIns="0" rIns="0" bIns="0" rtlCol="0" anchor="t"/>
          <a:lstStyle/>
          <a:p>
            <a:pPr marL="0" indent="0">
              <a:buNone/>
            </a:pPr>
            <a:r>
              <a:rPr lang="en-US" sz="1000" b="1" kern="0" spc="80" dirty="0">
                <a:solidFill>
                  <a:srgbClr val="4DB8D4"/>
                </a:solidFill>
                <a:latin typeface="Segoe UI" pitchFamily="34" charset="0"/>
                <a:ea typeface="Segoe UI" pitchFamily="34" charset="-122"/>
                <a:cs typeface="Segoe UI" pitchFamily="34" charset="-120"/>
              </a:rPr>
              <a:t>Nên dùng khi</a:t>
            </a:r>
            <a:endParaRPr lang="en-US" sz="1000" dirty="0"/>
          </a:p>
        </p:txBody>
      </p:sp>
      <p:sp>
        <p:nvSpPr>
          <p:cNvPr id="16" name="Text 14"/>
          <p:cNvSpPr/>
          <p:nvPr/>
        </p:nvSpPr>
        <p:spPr>
          <a:xfrm>
            <a:off x="768096" y="5468112"/>
            <a:ext cx="5074920" cy="566928"/>
          </a:xfrm>
          <a:prstGeom prst="rect">
            <a:avLst/>
          </a:prstGeom>
          <a:noFill/>
          <a:ln/>
        </p:spPr>
        <p:txBody>
          <a:bodyPr wrap="square" lIns="0" tIns="0" rIns="0" bIns="0" rtlCol="0" anchor="t"/>
          <a:lstStyle/>
          <a:p>
            <a:pPr marL="0" indent="0">
              <a:lnSpc>
                <a:spcPct val="108000"/>
              </a:lnSpc>
              <a:buNone/>
            </a:pPr>
            <a:r>
              <a:rPr lang="en-US" sz="860" dirty="0">
                <a:solidFill>
                  <a:srgbClr val="B8D2DD"/>
                </a:solidFill>
                <a:latin typeface="Segoe UI" pitchFamily="34" charset="0"/>
                <a:ea typeface="Segoe UI" pitchFamily="34" charset="-122"/>
                <a:cs typeface="Segoe UI" pitchFamily="34" charset="-120"/>
              </a:rPr>
              <a:t>Dữ liệu số, đồng nhất kiểu, kích thước lớn; cần thống kê, biến đổi, đại số tuyến tính, xử lý ảnh, tiền xử lý học máy.</a:t>
            </a:r>
            <a:endParaRPr lang="en-US" sz="860" dirty="0"/>
          </a:p>
        </p:txBody>
      </p:sp>
      <p:sp>
        <p:nvSpPr>
          <p:cNvPr id="17" name="Shape 15"/>
          <p:cNvSpPr/>
          <p:nvPr/>
        </p:nvSpPr>
        <p:spPr>
          <a:xfrm>
            <a:off x="6153912" y="5138928"/>
            <a:ext cx="5486400" cy="960120"/>
          </a:xfrm>
          <a:prstGeom prst="roundRect">
            <a:avLst>
              <a:gd name="adj" fmla="val 5714"/>
            </a:avLst>
          </a:prstGeom>
          <a:solidFill>
            <a:srgbClr val="0F3A4C"/>
          </a:solidFill>
          <a:ln w="9525">
            <a:solidFill>
              <a:srgbClr val="1D566B"/>
            </a:solidFill>
            <a:prstDash val="solid"/>
          </a:ln>
        </p:spPr>
      </p:sp>
      <p:sp>
        <p:nvSpPr>
          <p:cNvPr id="18" name="Text 16"/>
          <p:cNvSpPr/>
          <p:nvPr/>
        </p:nvSpPr>
        <p:spPr>
          <a:xfrm>
            <a:off x="6373368" y="5230368"/>
            <a:ext cx="5029200" cy="219456"/>
          </a:xfrm>
          <a:prstGeom prst="rect">
            <a:avLst/>
          </a:prstGeom>
          <a:noFill/>
          <a:ln/>
        </p:spPr>
        <p:txBody>
          <a:bodyPr wrap="square" lIns="0" tIns="0" rIns="0" bIns="0" rtlCol="0" anchor="t"/>
          <a:lstStyle/>
          <a:p>
            <a:pPr marL="0" indent="0">
              <a:buNone/>
            </a:pPr>
            <a:r>
              <a:rPr lang="en-US" sz="1000" b="1" kern="0" spc="80" dirty="0">
                <a:solidFill>
                  <a:srgbClr val="4DB8D4"/>
                </a:solidFill>
                <a:latin typeface="Segoe UI" pitchFamily="34" charset="0"/>
                <a:ea typeface="Segoe UI" pitchFamily="34" charset="-122"/>
                <a:cs typeface="Segoe UI" pitchFamily="34" charset="-120"/>
              </a:rPr>
              <a:t>Cân nhắc công cụ khác</a:t>
            </a:r>
            <a:endParaRPr lang="en-US" sz="1000" dirty="0"/>
          </a:p>
        </p:txBody>
      </p:sp>
      <p:sp>
        <p:nvSpPr>
          <p:cNvPr id="19" name="Text 17"/>
          <p:cNvSpPr/>
          <p:nvPr/>
        </p:nvSpPr>
        <p:spPr>
          <a:xfrm>
            <a:off x="6373368" y="5468112"/>
            <a:ext cx="5074920" cy="566928"/>
          </a:xfrm>
          <a:prstGeom prst="rect">
            <a:avLst/>
          </a:prstGeom>
          <a:noFill/>
          <a:ln/>
        </p:spPr>
        <p:txBody>
          <a:bodyPr wrap="square" lIns="0" tIns="0" rIns="0" bIns="0" rtlCol="0" anchor="t"/>
          <a:lstStyle/>
          <a:p>
            <a:pPr marL="0" indent="0">
              <a:lnSpc>
                <a:spcPct val="108000"/>
              </a:lnSpc>
              <a:buNone/>
            </a:pPr>
            <a:r>
              <a:rPr lang="en-US" sz="860" dirty="0">
                <a:solidFill>
                  <a:srgbClr val="B8D2DD"/>
                </a:solidFill>
                <a:latin typeface="Segoe UI" pitchFamily="34" charset="0"/>
                <a:ea typeface="Segoe UI" pitchFamily="34" charset="-122"/>
                <a:cs typeface="Segoe UI" pitchFamily="34" charset="-120"/>
              </a:rPr>
              <a:t>Bảng nhiều kiểu có nhãn → pandas; dữ liệu nhỏ → list; GPU hoặc đạo hàm tự động → PyTorch.</a:t>
            </a:r>
            <a:endParaRPr lang="en-US" sz="860" dirty="0"/>
          </a:p>
        </p:txBody>
      </p:sp>
      <p:sp>
        <p:nvSpPr>
          <p:cNvPr id="20" name="Shape 18"/>
          <p:cNvSpPr/>
          <p:nvPr/>
        </p:nvSpPr>
        <p:spPr>
          <a:xfrm>
            <a:off x="548640" y="6391656"/>
            <a:ext cx="11091672" cy="9144"/>
          </a:xfrm>
          <a:prstGeom prst="rect">
            <a:avLst/>
          </a:prstGeom>
          <a:solidFill>
            <a:srgbClr val="1D4657"/>
          </a:solidFill>
          <a:ln w="12700">
            <a:solidFill>
              <a:srgbClr val="1D4657"/>
            </a:solidFill>
            <a:prstDash val="solid"/>
          </a:ln>
        </p:spPr>
      </p:sp>
      <p:sp>
        <p:nvSpPr>
          <p:cNvPr id="21" name="Text 19"/>
          <p:cNvSpPr/>
          <p:nvPr/>
        </p:nvSpPr>
        <p:spPr>
          <a:xfrm>
            <a:off x="548640" y="6473952"/>
            <a:ext cx="7772400" cy="182880"/>
          </a:xfrm>
          <a:prstGeom prst="rect">
            <a:avLst/>
          </a:prstGeom>
          <a:noFill/>
          <a:ln/>
        </p:spPr>
        <p:txBody>
          <a:bodyPr wrap="square" lIns="0" tIns="0" rIns="0" bIns="0" rtlCol="0" anchor="t"/>
          <a:lstStyle/>
          <a:p>
            <a:pPr marL="0" indent="0">
              <a:buNone/>
            </a:pPr>
            <a:r>
              <a:rPr lang="en-US" sz="850" dirty="0">
                <a:solidFill>
                  <a:srgbClr val="8FB0BF"/>
                </a:solidFill>
                <a:latin typeface="Segoe UI" pitchFamily="34" charset="0"/>
                <a:ea typeface="Segoe UI" pitchFamily="34" charset="-122"/>
                <a:cs typeface="Segoe UI" pitchFamily="34" charset="-120"/>
              </a:rPr>
              <a:t>Tìm hiểu thư viện NumPy trong Python</a:t>
            </a:r>
            <a:endParaRPr lang="en-US" sz="850" dirty="0"/>
          </a:p>
        </p:txBody>
      </p:sp>
      <p:sp>
        <p:nvSpPr>
          <p:cNvPr id="22" name="Text 20"/>
          <p:cNvSpPr/>
          <p:nvPr/>
        </p:nvSpPr>
        <p:spPr>
          <a:xfrm>
            <a:off x="10698480" y="6473952"/>
            <a:ext cx="941832" cy="182880"/>
          </a:xfrm>
          <a:prstGeom prst="rect">
            <a:avLst/>
          </a:prstGeom>
          <a:noFill/>
          <a:ln/>
        </p:spPr>
        <p:txBody>
          <a:bodyPr wrap="square" lIns="0" tIns="0" rIns="0" bIns="0" rtlCol="0" anchor="t"/>
          <a:lstStyle/>
          <a:p>
            <a:pPr marL="0" indent="0" algn="r">
              <a:buNone/>
            </a:pPr>
            <a:r>
              <a:rPr lang="en-US" sz="850" dirty="0">
                <a:solidFill>
                  <a:srgbClr val="8FB0BF"/>
                </a:solidFill>
                <a:latin typeface="Segoe UI" pitchFamily="34" charset="0"/>
                <a:ea typeface="Segoe UI" pitchFamily="34" charset="-122"/>
                <a:cs typeface="Segoe UI" pitchFamily="34" charset="-120"/>
              </a:rPr>
              <a:t>24 / 25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48640" y="301752"/>
            <a:ext cx="10881360" cy="201168"/>
          </a:xfrm>
          <a:prstGeom prst="rect">
            <a:avLst/>
          </a:prstGeom>
          <a:noFill/>
          <a:ln/>
        </p:spPr>
        <p:txBody>
          <a:bodyPr wrap="square" lIns="0" tIns="0" rIns="0" bIns="0" rtlCol="0" anchor="t"/>
          <a:lstStyle/>
          <a:p>
            <a:pPr marL="0" indent="0">
              <a:buNone/>
            </a:pPr>
            <a:r>
              <a:rPr lang="en-US" sz="950" b="1" kern="0" spc="160" dirty="0">
                <a:solidFill>
                  <a:srgbClr val="1B8EA8"/>
                </a:solidFill>
                <a:latin typeface="Segoe UI" pitchFamily="34" charset="0"/>
                <a:ea typeface="Segoe UI" pitchFamily="34" charset="-122"/>
                <a:cs typeface="Segoe UI" pitchFamily="34" charset="-120"/>
              </a:rPr>
              <a:t>TÀI LIỆU THAM KHẢO</a:t>
            </a:r>
            <a:endParaRPr lang="en-US" sz="950" dirty="0"/>
          </a:p>
        </p:txBody>
      </p:sp>
      <p:sp>
        <p:nvSpPr>
          <p:cNvPr id="3" name="Text 1"/>
          <p:cNvSpPr/>
          <p:nvPr/>
        </p:nvSpPr>
        <p:spPr>
          <a:xfrm>
            <a:off x="548640" y="502920"/>
            <a:ext cx="10881360" cy="640080"/>
          </a:xfrm>
          <a:prstGeom prst="rect">
            <a:avLst/>
          </a:prstGeom>
          <a:noFill/>
          <a:ln/>
        </p:spPr>
        <p:txBody>
          <a:bodyPr wrap="square" lIns="0" tIns="0" rIns="0" bIns="0" rtlCol="0" anchor="ctr"/>
          <a:lstStyle/>
          <a:p>
            <a:pPr marL="0" indent="0">
              <a:buNone/>
            </a:pPr>
            <a:r>
              <a:rPr lang="en-US" sz="2800" b="1" dirty="0">
                <a:solidFill>
                  <a:srgbClr val="062A3A"/>
                </a:solidFill>
                <a:latin typeface="Segoe UI" pitchFamily="34" charset="0"/>
                <a:ea typeface="Segoe UI" pitchFamily="34" charset="-122"/>
                <a:cs typeface="Segoe UI" pitchFamily="34" charset="-120"/>
              </a:rPr>
              <a:t>Nguồn và hướng tìm hiểu tiếp</a:t>
            </a:r>
            <a:endParaRPr lang="en-US" sz="2800" dirty="0"/>
          </a:p>
        </p:txBody>
      </p:sp>
      <p:sp>
        <p:nvSpPr>
          <p:cNvPr id="4" name="Shape 2"/>
          <p:cNvSpPr/>
          <p:nvPr/>
        </p:nvSpPr>
        <p:spPr>
          <a:xfrm>
            <a:off x="548640" y="1225296"/>
            <a:ext cx="868680" cy="41148"/>
          </a:xfrm>
          <a:prstGeom prst="rect">
            <a:avLst/>
          </a:prstGeom>
          <a:solidFill>
            <a:srgbClr val="1B8EA8"/>
          </a:solidFill>
          <a:ln w="12700">
            <a:solidFill>
              <a:srgbClr val="1B8EA8"/>
            </a:solidFill>
            <a:prstDash val="solid"/>
          </a:ln>
        </p:spPr>
      </p:sp>
      <p:sp>
        <p:nvSpPr>
          <p:cNvPr id="5" name="Text 3"/>
          <p:cNvSpPr/>
          <p:nvPr/>
        </p:nvSpPr>
        <p:spPr>
          <a:xfrm>
            <a:off x="548640" y="1417320"/>
            <a:ext cx="4480560" cy="274320"/>
          </a:xfrm>
          <a:prstGeom prst="rect">
            <a:avLst/>
          </a:prstGeom>
          <a:noFill/>
          <a:ln/>
        </p:spPr>
        <p:txBody>
          <a:bodyPr wrap="square" lIns="0" tIns="0" rIns="0" bIns="0" rtlCol="0" anchor="t"/>
          <a:lstStyle/>
          <a:p>
            <a:pPr marL="0" indent="0">
              <a:buNone/>
            </a:pPr>
            <a:r>
              <a:rPr lang="en-US" sz="1300" b="1" dirty="0">
                <a:solidFill>
                  <a:srgbClr val="062A3A"/>
                </a:solidFill>
                <a:latin typeface="Segoe UI" pitchFamily="34" charset="0"/>
                <a:ea typeface="Segoe UI" pitchFamily="34" charset="-122"/>
                <a:cs typeface="Segoe UI" pitchFamily="34" charset="-120"/>
              </a:rPr>
              <a:t>Hướng tìm hiểu tiếp</a:t>
            </a:r>
            <a:endParaRPr lang="en-US" sz="1300" dirty="0"/>
          </a:p>
        </p:txBody>
      </p:sp>
      <p:sp>
        <p:nvSpPr>
          <p:cNvPr id="6" name="Shape 4"/>
          <p:cNvSpPr/>
          <p:nvPr/>
        </p:nvSpPr>
        <p:spPr>
          <a:xfrm>
            <a:off x="548640" y="1810512"/>
            <a:ext cx="4434840" cy="640080"/>
          </a:xfrm>
          <a:prstGeom prst="roundRect">
            <a:avLst>
              <a:gd name="adj" fmla="val 8571"/>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7" name="Text 5"/>
          <p:cNvSpPr/>
          <p:nvPr/>
        </p:nvSpPr>
        <p:spPr>
          <a:xfrm>
            <a:off x="731520" y="1883664"/>
            <a:ext cx="1600200" cy="237744"/>
          </a:xfrm>
          <a:prstGeom prst="rect">
            <a:avLst/>
          </a:prstGeom>
          <a:noFill/>
          <a:ln/>
        </p:spPr>
        <p:txBody>
          <a:bodyPr wrap="square" lIns="0" tIns="0" rIns="0" bIns="0" rtlCol="0" anchor="t"/>
          <a:lstStyle/>
          <a:p>
            <a:pPr marL="0" indent="0">
              <a:buNone/>
            </a:pPr>
            <a:r>
              <a:rPr lang="en-US" sz="1000" b="1" dirty="0">
                <a:solidFill>
                  <a:srgbClr val="1B8EA8"/>
                </a:solidFill>
                <a:latin typeface="Consolas" pitchFamily="34" charset="0"/>
                <a:ea typeface="Consolas" pitchFamily="34" charset="-122"/>
                <a:cs typeface="Consolas" pitchFamily="34" charset="-120"/>
              </a:rPr>
              <a:t>Matplotlib</a:t>
            </a:r>
            <a:endParaRPr lang="en-US" sz="1000" dirty="0"/>
          </a:p>
        </p:txBody>
      </p:sp>
      <p:sp>
        <p:nvSpPr>
          <p:cNvPr id="8" name="Text 6"/>
          <p:cNvSpPr/>
          <p:nvPr/>
        </p:nvSpPr>
        <p:spPr>
          <a:xfrm>
            <a:off x="2286000" y="1865376"/>
            <a:ext cx="2560320" cy="530352"/>
          </a:xfrm>
          <a:prstGeom prst="rect">
            <a:avLst/>
          </a:prstGeom>
          <a:noFill/>
          <a:ln/>
        </p:spPr>
        <p:txBody>
          <a:bodyPr wrap="square" lIns="0" tIns="0" rIns="0" bIns="0" rtlCol="0" anchor="t"/>
          <a:lstStyle/>
          <a:p>
            <a:pPr marL="0" indent="0">
              <a:lnSpc>
                <a:spcPct val="105000"/>
              </a:lnSpc>
              <a:buNone/>
            </a:pPr>
            <a:r>
              <a:rPr lang="en-US" sz="830" dirty="0">
                <a:solidFill>
                  <a:srgbClr val="415A6B"/>
                </a:solidFill>
                <a:latin typeface="Segoe UI" pitchFamily="34" charset="0"/>
                <a:ea typeface="Segoe UI" pitchFamily="34" charset="-122"/>
                <a:cs typeface="Segoe UI" pitchFamily="34" charset="-120"/>
              </a:rPr>
              <a:t>Trực quan hóa mảng: đường, cột, phân tán.</a:t>
            </a:r>
            <a:endParaRPr lang="en-US" sz="830" dirty="0"/>
          </a:p>
        </p:txBody>
      </p:sp>
      <p:sp>
        <p:nvSpPr>
          <p:cNvPr id="9" name="Shape 7"/>
          <p:cNvSpPr/>
          <p:nvPr/>
        </p:nvSpPr>
        <p:spPr>
          <a:xfrm>
            <a:off x="548640" y="2569464"/>
            <a:ext cx="4434840" cy="640080"/>
          </a:xfrm>
          <a:prstGeom prst="roundRect">
            <a:avLst>
              <a:gd name="adj" fmla="val 8571"/>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10" name="Text 8"/>
          <p:cNvSpPr/>
          <p:nvPr/>
        </p:nvSpPr>
        <p:spPr>
          <a:xfrm>
            <a:off x="731520" y="2642616"/>
            <a:ext cx="1600200" cy="237744"/>
          </a:xfrm>
          <a:prstGeom prst="rect">
            <a:avLst/>
          </a:prstGeom>
          <a:noFill/>
          <a:ln/>
        </p:spPr>
        <p:txBody>
          <a:bodyPr wrap="square" lIns="0" tIns="0" rIns="0" bIns="0" rtlCol="0" anchor="t"/>
          <a:lstStyle/>
          <a:p>
            <a:pPr marL="0" indent="0">
              <a:buNone/>
            </a:pPr>
            <a:r>
              <a:rPr lang="en-US" sz="1000" b="1" dirty="0">
                <a:solidFill>
                  <a:srgbClr val="1B8EA8"/>
                </a:solidFill>
                <a:latin typeface="Consolas" pitchFamily="34" charset="0"/>
                <a:ea typeface="Consolas" pitchFamily="34" charset="-122"/>
                <a:cs typeface="Consolas" pitchFamily="34" charset="-120"/>
              </a:rPr>
              <a:t>pandas</a:t>
            </a:r>
            <a:endParaRPr lang="en-US" sz="1000" dirty="0"/>
          </a:p>
        </p:txBody>
      </p:sp>
      <p:sp>
        <p:nvSpPr>
          <p:cNvPr id="11" name="Text 9"/>
          <p:cNvSpPr/>
          <p:nvPr/>
        </p:nvSpPr>
        <p:spPr>
          <a:xfrm>
            <a:off x="2286000" y="2624328"/>
            <a:ext cx="2560320" cy="530352"/>
          </a:xfrm>
          <a:prstGeom prst="rect">
            <a:avLst/>
          </a:prstGeom>
          <a:noFill/>
          <a:ln/>
        </p:spPr>
        <p:txBody>
          <a:bodyPr wrap="square" lIns="0" tIns="0" rIns="0" bIns="0" rtlCol="0" anchor="t"/>
          <a:lstStyle/>
          <a:p>
            <a:pPr marL="0" indent="0">
              <a:lnSpc>
                <a:spcPct val="105000"/>
              </a:lnSpc>
              <a:buNone/>
            </a:pPr>
            <a:r>
              <a:rPr lang="en-US" sz="830" dirty="0">
                <a:solidFill>
                  <a:srgbClr val="415A6B"/>
                </a:solidFill>
                <a:latin typeface="Segoe UI" pitchFamily="34" charset="0"/>
                <a:ea typeface="Segoe UI" pitchFamily="34" charset="-122"/>
                <a:cs typeface="Segoe UI" pitchFamily="34" charset="-120"/>
              </a:rPr>
              <a:t>Dữ liệu bảng có nhãn cột và hàng.</a:t>
            </a:r>
            <a:endParaRPr lang="en-US" sz="830" dirty="0"/>
          </a:p>
        </p:txBody>
      </p:sp>
      <p:sp>
        <p:nvSpPr>
          <p:cNvPr id="12" name="Shape 10"/>
          <p:cNvSpPr/>
          <p:nvPr/>
        </p:nvSpPr>
        <p:spPr>
          <a:xfrm>
            <a:off x="548640" y="3328416"/>
            <a:ext cx="4434840" cy="640080"/>
          </a:xfrm>
          <a:prstGeom prst="roundRect">
            <a:avLst>
              <a:gd name="adj" fmla="val 8571"/>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13" name="Text 11"/>
          <p:cNvSpPr/>
          <p:nvPr/>
        </p:nvSpPr>
        <p:spPr>
          <a:xfrm>
            <a:off x="731520" y="3401568"/>
            <a:ext cx="1600200" cy="237744"/>
          </a:xfrm>
          <a:prstGeom prst="rect">
            <a:avLst/>
          </a:prstGeom>
          <a:noFill/>
          <a:ln/>
        </p:spPr>
        <p:txBody>
          <a:bodyPr wrap="square" lIns="0" tIns="0" rIns="0" bIns="0" rtlCol="0" anchor="t"/>
          <a:lstStyle/>
          <a:p>
            <a:pPr marL="0" indent="0">
              <a:buNone/>
            </a:pPr>
            <a:r>
              <a:rPr lang="en-US" sz="1000" b="1" dirty="0">
                <a:solidFill>
                  <a:srgbClr val="1B8EA8"/>
                </a:solidFill>
                <a:latin typeface="Consolas" pitchFamily="34" charset="0"/>
                <a:ea typeface="Consolas" pitchFamily="34" charset="-122"/>
                <a:cs typeface="Consolas" pitchFamily="34" charset="-120"/>
              </a:rPr>
              <a:t>numpy.linalg</a:t>
            </a:r>
            <a:endParaRPr lang="en-US" sz="1000" dirty="0"/>
          </a:p>
        </p:txBody>
      </p:sp>
      <p:sp>
        <p:nvSpPr>
          <p:cNvPr id="14" name="Text 12"/>
          <p:cNvSpPr/>
          <p:nvPr/>
        </p:nvSpPr>
        <p:spPr>
          <a:xfrm>
            <a:off x="2286000" y="3383280"/>
            <a:ext cx="2560320" cy="530352"/>
          </a:xfrm>
          <a:prstGeom prst="rect">
            <a:avLst/>
          </a:prstGeom>
          <a:noFill/>
          <a:ln/>
        </p:spPr>
        <p:txBody>
          <a:bodyPr wrap="square" lIns="0" tIns="0" rIns="0" bIns="0" rtlCol="0" anchor="t"/>
          <a:lstStyle/>
          <a:p>
            <a:pPr marL="0" indent="0">
              <a:lnSpc>
                <a:spcPct val="105000"/>
              </a:lnSpc>
              <a:buNone/>
            </a:pPr>
            <a:r>
              <a:rPr lang="en-US" sz="830" dirty="0">
                <a:solidFill>
                  <a:srgbClr val="415A6B"/>
                </a:solidFill>
                <a:latin typeface="Segoe UI" pitchFamily="34" charset="0"/>
                <a:ea typeface="Segoe UI" pitchFamily="34" charset="-122"/>
                <a:cs typeface="Segoe UI" pitchFamily="34" charset="-120"/>
              </a:rPr>
              <a:t>Định thức, nghịch đảo, trị riêng, giải hệ.</a:t>
            </a:r>
            <a:endParaRPr lang="en-US" sz="830" dirty="0"/>
          </a:p>
        </p:txBody>
      </p:sp>
      <p:sp>
        <p:nvSpPr>
          <p:cNvPr id="15" name="Shape 13"/>
          <p:cNvSpPr/>
          <p:nvPr/>
        </p:nvSpPr>
        <p:spPr>
          <a:xfrm>
            <a:off x="548640" y="4087368"/>
            <a:ext cx="4434840" cy="640080"/>
          </a:xfrm>
          <a:prstGeom prst="roundRect">
            <a:avLst>
              <a:gd name="adj" fmla="val 8571"/>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16" name="Text 14"/>
          <p:cNvSpPr/>
          <p:nvPr/>
        </p:nvSpPr>
        <p:spPr>
          <a:xfrm>
            <a:off x="731520" y="4160520"/>
            <a:ext cx="1600200" cy="237744"/>
          </a:xfrm>
          <a:prstGeom prst="rect">
            <a:avLst/>
          </a:prstGeom>
          <a:noFill/>
          <a:ln/>
        </p:spPr>
        <p:txBody>
          <a:bodyPr wrap="square" lIns="0" tIns="0" rIns="0" bIns="0" rtlCol="0" anchor="t"/>
          <a:lstStyle/>
          <a:p>
            <a:pPr marL="0" indent="0">
              <a:buNone/>
            </a:pPr>
            <a:r>
              <a:rPr lang="en-US" sz="1000" b="1" dirty="0">
                <a:solidFill>
                  <a:srgbClr val="1B8EA8"/>
                </a:solidFill>
                <a:latin typeface="Consolas" pitchFamily="34" charset="0"/>
                <a:ea typeface="Consolas" pitchFamily="34" charset="-122"/>
                <a:cs typeface="Consolas" pitchFamily="34" charset="-120"/>
              </a:rPr>
              <a:t>Broadcasting nâng cao</a:t>
            </a:r>
            <a:endParaRPr lang="en-US" sz="1000" dirty="0"/>
          </a:p>
        </p:txBody>
      </p:sp>
      <p:sp>
        <p:nvSpPr>
          <p:cNvPr id="17" name="Text 15"/>
          <p:cNvSpPr/>
          <p:nvPr/>
        </p:nvSpPr>
        <p:spPr>
          <a:xfrm>
            <a:off x="2286000" y="4142232"/>
            <a:ext cx="2560320" cy="530352"/>
          </a:xfrm>
          <a:prstGeom prst="rect">
            <a:avLst/>
          </a:prstGeom>
          <a:noFill/>
          <a:ln/>
        </p:spPr>
        <p:txBody>
          <a:bodyPr wrap="square" lIns="0" tIns="0" rIns="0" bIns="0" rtlCol="0" anchor="t"/>
          <a:lstStyle/>
          <a:p>
            <a:pPr marL="0" indent="0">
              <a:lnSpc>
                <a:spcPct val="105000"/>
              </a:lnSpc>
              <a:buNone/>
            </a:pPr>
            <a:r>
              <a:rPr lang="en-US" sz="830" dirty="0">
                <a:solidFill>
                  <a:srgbClr val="415A6B"/>
                </a:solidFill>
                <a:latin typeface="Segoe UI" pitchFamily="34" charset="0"/>
                <a:ea typeface="Segoe UI" pitchFamily="34" charset="-122"/>
                <a:cs typeface="Segoe UI" pitchFamily="34" charset="-120"/>
              </a:rPr>
              <a:t>np.newaxis, np.expand_dims.</a:t>
            </a:r>
            <a:endParaRPr lang="en-US" sz="830" dirty="0"/>
          </a:p>
        </p:txBody>
      </p:sp>
      <p:sp>
        <p:nvSpPr>
          <p:cNvPr id="18" name="Shape 16"/>
          <p:cNvSpPr/>
          <p:nvPr/>
        </p:nvSpPr>
        <p:spPr>
          <a:xfrm>
            <a:off x="548640" y="4846320"/>
            <a:ext cx="4434840" cy="640080"/>
          </a:xfrm>
          <a:prstGeom prst="roundRect">
            <a:avLst>
              <a:gd name="adj" fmla="val 8571"/>
            </a:avLst>
          </a:prstGeom>
          <a:solidFill>
            <a:srgbClr val="FFFFFF"/>
          </a:solidFill>
          <a:ln w="9525">
            <a:solidFill>
              <a:srgbClr val="D7E5EC"/>
            </a:solidFill>
            <a:prstDash val="solid"/>
          </a:ln>
          <a:effectLst>
            <a:outerShdw blurRad="63500" dist="12700" dir="5400000" algn="bl" rotWithShape="0">
              <a:srgbClr val="062A3A">
                <a:alpha val="7000"/>
              </a:srgbClr>
            </a:outerShdw>
          </a:effectLst>
        </p:spPr>
      </p:sp>
      <p:sp>
        <p:nvSpPr>
          <p:cNvPr id="19" name="Text 17"/>
          <p:cNvSpPr/>
          <p:nvPr/>
        </p:nvSpPr>
        <p:spPr>
          <a:xfrm>
            <a:off x="731520" y="4919472"/>
            <a:ext cx="1600200" cy="237744"/>
          </a:xfrm>
          <a:prstGeom prst="rect">
            <a:avLst/>
          </a:prstGeom>
          <a:noFill/>
          <a:ln/>
        </p:spPr>
        <p:txBody>
          <a:bodyPr wrap="square" lIns="0" tIns="0" rIns="0" bIns="0" rtlCol="0" anchor="t"/>
          <a:lstStyle/>
          <a:p>
            <a:pPr marL="0" indent="0">
              <a:buNone/>
            </a:pPr>
            <a:r>
              <a:rPr lang="en-US" sz="1000" b="1" dirty="0">
                <a:solidFill>
                  <a:srgbClr val="1B8EA8"/>
                </a:solidFill>
                <a:latin typeface="Consolas" pitchFamily="34" charset="0"/>
                <a:ea typeface="Consolas" pitchFamily="34" charset="-122"/>
                <a:cs typeface="Consolas" pitchFamily="34" charset="-120"/>
              </a:rPr>
              <a:t>Đọc / ghi dữ liệu</a:t>
            </a:r>
            <a:endParaRPr lang="en-US" sz="1000" dirty="0"/>
          </a:p>
        </p:txBody>
      </p:sp>
      <p:sp>
        <p:nvSpPr>
          <p:cNvPr id="20" name="Text 18"/>
          <p:cNvSpPr/>
          <p:nvPr/>
        </p:nvSpPr>
        <p:spPr>
          <a:xfrm>
            <a:off x="2286000" y="4901184"/>
            <a:ext cx="2560320" cy="530352"/>
          </a:xfrm>
          <a:prstGeom prst="rect">
            <a:avLst/>
          </a:prstGeom>
          <a:noFill/>
          <a:ln/>
        </p:spPr>
        <p:txBody>
          <a:bodyPr wrap="square" lIns="0" tIns="0" rIns="0" bIns="0" rtlCol="0" anchor="t"/>
          <a:lstStyle/>
          <a:p>
            <a:pPr marL="0" indent="0">
              <a:lnSpc>
                <a:spcPct val="105000"/>
              </a:lnSpc>
              <a:buNone/>
            </a:pPr>
            <a:r>
              <a:rPr lang="en-US" sz="830" dirty="0">
                <a:solidFill>
                  <a:srgbClr val="415A6B"/>
                </a:solidFill>
                <a:latin typeface="Segoe UI" pitchFamily="34" charset="0"/>
                <a:ea typeface="Segoe UI" pitchFamily="34" charset="-122"/>
                <a:cs typeface="Segoe UI" pitchFamily="34" charset="-120"/>
              </a:rPr>
              <a:t>np.loadtxt, np.savetxt, np.save, np.load.</a:t>
            </a:r>
            <a:endParaRPr lang="en-US" sz="830" dirty="0"/>
          </a:p>
        </p:txBody>
      </p:sp>
      <p:sp>
        <p:nvSpPr>
          <p:cNvPr id="21" name="Text 19"/>
          <p:cNvSpPr/>
          <p:nvPr/>
        </p:nvSpPr>
        <p:spPr>
          <a:xfrm>
            <a:off x="5349240" y="1417320"/>
            <a:ext cx="6217920" cy="274320"/>
          </a:xfrm>
          <a:prstGeom prst="rect">
            <a:avLst/>
          </a:prstGeom>
          <a:noFill/>
          <a:ln/>
        </p:spPr>
        <p:txBody>
          <a:bodyPr wrap="square" lIns="0" tIns="0" rIns="0" bIns="0" rtlCol="0" anchor="t"/>
          <a:lstStyle/>
          <a:p>
            <a:pPr marL="0" indent="0">
              <a:buNone/>
            </a:pPr>
            <a:r>
              <a:rPr lang="en-US" sz="1300" b="1" dirty="0">
                <a:solidFill>
                  <a:srgbClr val="062A3A"/>
                </a:solidFill>
                <a:latin typeface="Segoe UI" pitchFamily="34" charset="0"/>
                <a:ea typeface="Segoe UI" pitchFamily="34" charset="-122"/>
                <a:cs typeface="Segoe UI" pitchFamily="34" charset="-120"/>
              </a:rPr>
              <a:t>Tài liệu tham khảo</a:t>
            </a:r>
            <a:endParaRPr lang="en-US" sz="1300" dirty="0"/>
          </a:p>
        </p:txBody>
      </p:sp>
      <p:sp>
        <p:nvSpPr>
          <p:cNvPr id="22" name="Text 20"/>
          <p:cNvSpPr/>
          <p:nvPr/>
        </p:nvSpPr>
        <p:spPr>
          <a:xfrm>
            <a:off x="5349240" y="1700784"/>
            <a:ext cx="2743200" cy="182880"/>
          </a:xfrm>
          <a:prstGeom prst="rect">
            <a:avLst/>
          </a:prstGeom>
          <a:noFill/>
          <a:ln/>
        </p:spPr>
        <p:txBody>
          <a:bodyPr wrap="square" lIns="0" tIns="0" rIns="0" bIns="0" rtlCol="0" anchor="t"/>
          <a:lstStyle/>
          <a:p>
            <a:pPr marL="0" indent="0">
              <a:buNone/>
            </a:pPr>
            <a:r>
              <a:rPr lang="en-US" sz="850" i="1" dirty="0">
                <a:solidFill>
                  <a:srgbClr val="728694"/>
                </a:solidFill>
                <a:latin typeface="Segoe UI" pitchFamily="34" charset="0"/>
                <a:ea typeface="Segoe UI" pitchFamily="34" charset="-122"/>
                <a:cs typeface="Segoe UI" pitchFamily="34" charset="-120"/>
              </a:rPr>
              <a:t>Truy cập: 25/10/2026</a:t>
            </a:r>
            <a:endParaRPr lang="en-US" sz="850" dirty="0"/>
          </a:p>
        </p:txBody>
      </p:sp>
      <p:sp>
        <p:nvSpPr>
          <p:cNvPr id="23" name="Text 21"/>
          <p:cNvSpPr/>
          <p:nvPr/>
        </p:nvSpPr>
        <p:spPr>
          <a:xfrm>
            <a:off x="5349240" y="1938528"/>
            <a:ext cx="6309360" cy="3611880"/>
          </a:xfrm>
          <a:prstGeom prst="rect">
            <a:avLst/>
          </a:prstGeom>
          <a:noFill/>
          <a:ln/>
        </p:spPr>
        <p:txBody>
          <a:bodyPr wrap="square" lIns="0" tIns="0" rIns="0" bIns="0" rtlCol="0" anchor="t"/>
          <a:lstStyle/>
          <a:p>
            <a:pPr marL="0" indent="0">
              <a:lnSpc>
                <a:spcPct val="108000"/>
              </a:lnSpc>
              <a:spcAft>
                <a:spcPts val="600"/>
              </a:spcAft>
              <a:buNone/>
            </a:pPr>
            <a:r>
              <a:rPr lang="en-US" sz="900" dirty="0">
                <a:solidFill>
                  <a:srgbClr val="415A6B"/>
                </a:solidFill>
                <a:latin typeface="Segoe UI" pitchFamily="34" charset="0"/>
                <a:ea typeface="Segoe UI" pitchFamily="34" charset="-122"/>
                <a:cs typeface="Segoe UI" pitchFamily="34" charset="-120"/>
              </a:rPr>
              <a:t>[1] NumPy Developers. What is NumPy? NumPy v2.5 Manual. https://numpy.org/doc/stable/user/whatisnumpy.html</a:t>
            </a:r>
            <a:endParaRPr lang="en-US" sz="900" dirty="0"/>
          </a:p>
          <a:p>
            <a:pPr marL="0" indent="0">
              <a:lnSpc>
                <a:spcPct val="108000"/>
              </a:lnSpc>
              <a:spcAft>
                <a:spcPts val="600"/>
              </a:spcAft>
              <a:buNone/>
            </a:pPr>
            <a:r>
              <a:rPr lang="en-US" sz="900" dirty="0">
                <a:solidFill>
                  <a:srgbClr val="415A6B"/>
                </a:solidFill>
                <a:latin typeface="Segoe UI" pitchFamily="34" charset="0"/>
                <a:ea typeface="Segoe UI" pitchFamily="34" charset="-122"/>
                <a:cs typeface="Segoe UI" pitchFamily="34" charset="-120"/>
              </a:rPr>
              <a:t>[2] NumPy Developers. NumPy: the absolute basics for beginners. https://numpy.org/doc/stable/user/absolute_beginners.html</a:t>
            </a:r>
            <a:endParaRPr lang="en-US" sz="900" dirty="0"/>
          </a:p>
          <a:p>
            <a:pPr marL="0" indent="0">
              <a:lnSpc>
                <a:spcPct val="108000"/>
              </a:lnSpc>
              <a:spcAft>
                <a:spcPts val="600"/>
              </a:spcAft>
              <a:buNone/>
            </a:pPr>
            <a:r>
              <a:rPr lang="en-US" sz="900" dirty="0">
                <a:solidFill>
                  <a:srgbClr val="415A6B"/>
                </a:solidFill>
                <a:latin typeface="Segoe UI" pitchFamily="34" charset="0"/>
                <a:ea typeface="Segoe UI" pitchFamily="34" charset="-122"/>
                <a:cs typeface="Segoe UI" pitchFamily="34" charset="-120"/>
              </a:rPr>
              <a:t>[3] NumPy Developers. Broadcasting. https://numpy.org/doc/stable/user/basics.broadcasting.html</a:t>
            </a:r>
            <a:endParaRPr lang="en-US" sz="900" dirty="0"/>
          </a:p>
          <a:p>
            <a:pPr marL="0" indent="0">
              <a:lnSpc>
                <a:spcPct val="108000"/>
              </a:lnSpc>
              <a:spcAft>
                <a:spcPts val="600"/>
              </a:spcAft>
              <a:buNone/>
            </a:pPr>
            <a:r>
              <a:rPr lang="en-US" sz="900" dirty="0">
                <a:solidFill>
                  <a:srgbClr val="415A6B"/>
                </a:solidFill>
                <a:latin typeface="Segoe UI" pitchFamily="34" charset="0"/>
                <a:ea typeface="Segoe UI" pitchFamily="34" charset="-122"/>
                <a:cs typeface="Segoe UI" pitchFamily="34" charset="-120"/>
              </a:rPr>
              <a:t>[4] NumPy Developers. NumPy quickstart. https://numpy.org/doc/stable/user/quickstart.html</a:t>
            </a:r>
            <a:endParaRPr lang="en-US" sz="900" dirty="0"/>
          </a:p>
          <a:p>
            <a:pPr marL="0" indent="0">
              <a:lnSpc>
                <a:spcPct val="108000"/>
              </a:lnSpc>
              <a:spcAft>
                <a:spcPts val="600"/>
              </a:spcAft>
              <a:buNone/>
            </a:pPr>
            <a:r>
              <a:rPr lang="en-US" sz="900" dirty="0">
                <a:solidFill>
                  <a:srgbClr val="415A6B"/>
                </a:solidFill>
                <a:latin typeface="Segoe UI" pitchFamily="34" charset="0"/>
                <a:ea typeface="Segoe UI" pitchFamily="34" charset="-122"/>
                <a:cs typeface="Segoe UI" pitchFamily="34" charset="-120"/>
              </a:rPr>
              <a:t>[5] NumPy Developers. Array creation routines. https://numpy.org/doc/stable/reference/routines.array-creation.html</a:t>
            </a:r>
            <a:endParaRPr lang="en-US" sz="900" dirty="0"/>
          </a:p>
          <a:p>
            <a:pPr marL="0" indent="0">
              <a:lnSpc>
                <a:spcPct val="108000"/>
              </a:lnSpc>
              <a:spcAft>
                <a:spcPts val="600"/>
              </a:spcAft>
              <a:buNone/>
            </a:pPr>
            <a:r>
              <a:rPr lang="en-US" sz="900" dirty="0">
                <a:solidFill>
                  <a:srgbClr val="415A6B"/>
                </a:solidFill>
                <a:latin typeface="Segoe UI" pitchFamily="34" charset="0"/>
                <a:ea typeface="Segoe UI" pitchFamily="34" charset="-122"/>
                <a:cs typeface="Segoe UI" pitchFamily="34" charset="-120"/>
              </a:rPr>
              <a:t>[6] NumPy Developers. Linear algebra (numpy.linalg). https://numpy.org/doc/stable/reference/routines.linalg.html</a:t>
            </a:r>
            <a:endParaRPr lang="en-US" sz="900" dirty="0"/>
          </a:p>
          <a:p>
            <a:pPr marL="0" indent="0">
              <a:lnSpc>
                <a:spcPct val="108000"/>
              </a:lnSpc>
              <a:spcAft>
                <a:spcPts val="600"/>
              </a:spcAft>
              <a:buNone/>
            </a:pPr>
            <a:r>
              <a:rPr lang="en-US" sz="900" dirty="0">
                <a:solidFill>
                  <a:srgbClr val="415A6B"/>
                </a:solidFill>
                <a:latin typeface="Segoe UI" pitchFamily="34" charset="0"/>
                <a:ea typeface="Segoe UI" pitchFamily="34" charset="-122"/>
                <a:cs typeface="Segoe UI" pitchFamily="34" charset="-120"/>
              </a:rPr>
              <a:t>[7] Python Software Foundation. Data Structures — Python Tutorial. https://docs.python.org/3/tutorial/datastructures.html</a:t>
            </a:r>
            <a:endParaRPr lang="en-US" sz="900" dirty="0"/>
          </a:p>
        </p:txBody>
      </p:sp>
      <p:sp>
        <p:nvSpPr>
          <p:cNvPr id="24" name="Text 22"/>
          <p:cNvSpPr/>
          <p:nvPr/>
        </p:nvSpPr>
        <p:spPr>
          <a:xfrm>
            <a:off x="548640" y="5760720"/>
            <a:ext cx="11064240" cy="320040"/>
          </a:xfrm>
          <a:prstGeom prst="rect">
            <a:avLst/>
          </a:prstGeom>
          <a:noFill/>
          <a:ln/>
        </p:spPr>
        <p:txBody>
          <a:bodyPr wrap="square" lIns="0" tIns="0" rIns="0" bIns="0" rtlCol="0" anchor="t"/>
          <a:lstStyle/>
          <a:p>
            <a:pPr marL="0" indent="0">
              <a:buNone/>
            </a:pPr>
            <a:r>
              <a:rPr lang="en-US" sz="850" i="1" dirty="0">
                <a:solidFill>
                  <a:srgbClr val="728694"/>
                </a:solidFill>
                <a:latin typeface="Segoe UI" pitchFamily="34" charset="0"/>
                <a:ea typeface="Segoe UI" pitchFamily="34" charset="-122"/>
                <a:cs typeface="Segoe UI" pitchFamily="34" charset="-120"/>
              </a:rPr>
              <a:t>Logo: NumPy Documentation (giấy phép BSD). Các sơ đồ khác được vẽ bằng hình khối PowerPoint. Code và output kiểm chứng trên Python 3.14 + NumPy 2.5.4.</a:t>
            </a:r>
            <a:endParaRPr lang="en-US" sz="850" dirty="0"/>
          </a:p>
        </p:txBody>
      </p:sp>
      <p:sp>
        <p:nvSpPr>
          <p:cNvPr id="25" name="Shape 23"/>
          <p:cNvSpPr/>
          <p:nvPr/>
        </p:nvSpPr>
        <p:spPr>
          <a:xfrm>
            <a:off x="548640" y="6391656"/>
            <a:ext cx="11091672" cy="9144"/>
          </a:xfrm>
          <a:prstGeom prst="rect">
            <a:avLst/>
          </a:prstGeom>
          <a:solidFill>
            <a:srgbClr val="D7E5EC"/>
          </a:solidFill>
          <a:ln w="12700">
            <a:solidFill>
              <a:srgbClr val="D7E5EC"/>
            </a:solidFill>
            <a:prstDash val="solid"/>
          </a:ln>
        </p:spPr>
      </p:sp>
      <p:sp>
        <p:nvSpPr>
          <p:cNvPr id="26" name="Text 24"/>
          <p:cNvSpPr/>
          <p:nvPr/>
        </p:nvSpPr>
        <p:spPr>
          <a:xfrm>
            <a:off x="548640" y="6473952"/>
            <a:ext cx="7772400" cy="182880"/>
          </a:xfrm>
          <a:prstGeom prst="rect">
            <a:avLst/>
          </a:prstGeom>
          <a:noFill/>
          <a:ln/>
        </p:spPr>
        <p:txBody>
          <a:bodyPr wrap="square" lIns="0" tIns="0" rIns="0" bIns="0" rtlCol="0" anchor="t"/>
          <a:lstStyle/>
          <a:p>
            <a:pPr marL="0" indent="0">
              <a:buNone/>
            </a:pPr>
            <a:r>
              <a:rPr lang="en-US" sz="850" dirty="0">
                <a:solidFill>
                  <a:srgbClr val="728694"/>
                </a:solidFill>
                <a:latin typeface="Segoe UI" pitchFamily="34" charset="0"/>
                <a:ea typeface="Segoe UI" pitchFamily="34" charset="-122"/>
                <a:cs typeface="Segoe UI" pitchFamily="34" charset="-120"/>
              </a:rPr>
              <a:t>Tìm hiểu thư viện NumPy trong Python</a:t>
            </a:r>
            <a:endParaRPr lang="en-US" sz="850" dirty="0"/>
          </a:p>
        </p:txBody>
      </p:sp>
      <p:sp>
        <p:nvSpPr>
          <p:cNvPr id="27" name="Text 25"/>
          <p:cNvSpPr/>
          <p:nvPr/>
        </p:nvSpPr>
        <p:spPr>
          <a:xfrm>
            <a:off x="10698480" y="6473952"/>
            <a:ext cx="941832" cy="182880"/>
          </a:xfrm>
          <a:prstGeom prst="rect">
            <a:avLst/>
          </a:prstGeom>
          <a:noFill/>
          <a:ln/>
        </p:spPr>
        <p:txBody>
          <a:bodyPr wrap="square" lIns="0" tIns="0" rIns="0" bIns="0" rtlCol="0" anchor="t"/>
          <a:lstStyle/>
          <a:p>
            <a:pPr marL="0" indent="0" algn="r">
              <a:buNone/>
            </a:pPr>
            <a:r>
              <a:rPr lang="en-US" sz="850" dirty="0">
                <a:solidFill>
                  <a:srgbClr val="728694"/>
                </a:solidFill>
                <a:latin typeface="Segoe UI" pitchFamily="34" charset="0"/>
                <a:ea typeface="Segoe UI" pitchFamily="34" charset="-122"/>
                <a:cs typeface="Segoe UI" pitchFamily="34" charset="-120"/>
              </a:rPr>
              <a:t>25 / 25</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5764</Words>
  <Application>Microsoft Office PowerPoint</Application>
  <PresentationFormat>Widescreen</PresentationFormat>
  <Paragraphs>886</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Nhập môn Công nghệ Thông 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Tìm hiểu thư viện NumPy trong Python</dc:title>
  <dc:subject>Tìm hiểu thư viện NumPy trong Python</dc:subject>
  <dc:creator>26120072</dc:creator>
  <cp:lastModifiedBy>Admin</cp:lastModifiedBy>
  <cp:revision>2</cp:revision>
  <dcterms:created xsi:type="dcterms:W3CDTF">2026-10-25T14:24:15Z</dcterms:created>
  <dcterms:modified xsi:type="dcterms:W3CDTF">2026-10-25T14:30:44Z</dcterms:modified>
</cp:coreProperties>
</file>